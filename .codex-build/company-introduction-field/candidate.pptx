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9c717c9d184762" /><Relationship Type="http://schemas.openxmlformats.org/officeDocument/2006/relationships/extended-properties" Target="/docProps/app.xml" Id="R6379eae4885c49f2" /><Relationship Type="http://schemas.openxmlformats.org/officeDocument/2006/relationships/officeDocument" Target="/ppt/presentation.xml" Id="R2b790458fe864c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7336a3ab064c6d"/>
  </p:sldMasterIdLst>
  <p:notesMasterIdLst>
    <p:notesMasterId xmlns:r="http://schemas.openxmlformats.org/officeDocument/2006/relationships" r:id="R3ea32fdfa1af4a20"/>
  </p:notesMasterIdLst>
  <p:sldIdLst>
    <p:sldId xmlns:r="http://schemas.openxmlformats.org/officeDocument/2006/relationships" id="256" r:id="Ra260786c11db40bb"/>
    <p:sldId xmlns:r="http://schemas.openxmlformats.org/officeDocument/2006/relationships" id="257" r:id="R66bf8341727740ed"/>
    <p:sldId xmlns:r="http://schemas.openxmlformats.org/officeDocument/2006/relationships" id="258" r:id="R52038a78f34c421a"/>
    <p:sldId xmlns:r="http://schemas.openxmlformats.org/officeDocument/2006/relationships" id="259" r:id="R47f66ffe359d431f"/>
    <p:sldId xmlns:r="http://schemas.openxmlformats.org/officeDocument/2006/relationships" id="260" r:id="R97df208eb11c4b75"/>
    <p:sldId xmlns:r="http://schemas.openxmlformats.org/officeDocument/2006/relationships" id="261" r:id="R51ba985ee17641a9"/>
    <p:sldId xmlns:r="http://schemas.openxmlformats.org/officeDocument/2006/relationships" id="262" r:id="R957b70446c5449a1"/>
    <p:sldId xmlns:r="http://schemas.openxmlformats.org/officeDocument/2006/relationships" id="263" r:id="Re7b142fb0ced479c"/>
    <p:sldId xmlns:r="http://schemas.openxmlformats.org/officeDocument/2006/relationships" id="264" r:id="Reea544f6826e4541"/>
    <p:sldId xmlns:r="http://schemas.openxmlformats.org/officeDocument/2006/relationships" id="265" r:id="R4ea097c3fbad418d"/>
    <p:sldId xmlns:r="http://schemas.openxmlformats.org/officeDocument/2006/relationships" id="266" r:id="Rb70c8b5489574d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2d3fc2d6bf47b3" /><Relationship Type="http://schemas.openxmlformats.org/officeDocument/2006/relationships/slideMaster" Target="/ppt/slideMasters/slideMaster1.xml" Id="Rec7336a3ab064c6d" /><Relationship Type="http://schemas.openxmlformats.org/officeDocument/2006/relationships/notesMaster" Target="/ppt/notesMasters/notesMaster1.xml" Id="R3ea32fdfa1af4a20" /><Relationship Type="http://schemas.openxmlformats.org/officeDocument/2006/relationships/presProps" Target="/ppt/presProps.xml" Id="R210616e330f644f3" /><Relationship Type="http://schemas.openxmlformats.org/officeDocument/2006/relationships/tableStyles" Target="/ppt/tableStyles.xml" Id="R2d2fda1e51df4a69" /><Relationship Type="http://schemas.openxmlformats.org/officeDocument/2006/relationships/slide" Target="/ppt/slides/slide1.xml" Id="Ra260786c11db40bb" /><Relationship Type="http://schemas.openxmlformats.org/officeDocument/2006/relationships/slide" Target="/ppt/slides/slide2.xml" Id="R66bf8341727740ed" /><Relationship Type="http://schemas.openxmlformats.org/officeDocument/2006/relationships/slide" Target="/ppt/slides/slide3.xml" Id="R52038a78f34c421a" /><Relationship Type="http://schemas.openxmlformats.org/officeDocument/2006/relationships/slide" Target="/ppt/slides/slide4.xml" Id="R47f66ffe359d431f" /><Relationship Type="http://schemas.openxmlformats.org/officeDocument/2006/relationships/slide" Target="/ppt/slides/slide5.xml" Id="R97df208eb11c4b75" /><Relationship Type="http://schemas.openxmlformats.org/officeDocument/2006/relationships/slide" Target="/ppt/slides/slide6.xml" Id="R51ba985ee17641a9" /><Relationship Type="http://schemas.openxmlformats.org/officeDocument/2006/relationships/slide" Target="/ppt/slides/slide7.xml" Id="R957b70446c5449a1" /><Relationship Type="http://schemas.openxmlformats.org/officeDocument/2006/relationships/slide" Target="/ppt/slides/slide8.xml" Id="Re7b142fb0ced479c" /><Relationship Type="http://schemas.openxmlformats.org/officeDocument/2006/relationships/slide" Target="/ppt/slides/slide9.xml" Id="Reea544f6826e4541" /><Relationship Type="http://schemas.openxmlformats.org/officeDocument/2006/relationships/slide" Target="/ppt/slides/slide10.xml" Id="R4ea097c3fbad418d" /><Relationship Type="http://schemas.openxmlformats.org/officeDocument/2006/relationships/slide" Target="/ppt/slides/slide11.xml" Id="Rb70c8b5489574d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8e553c46f64f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8f91956db04e52" /><Relationship Type="http://schemas.openxmlformats.org/officeDocument/2006/relationships/notesMaster" Target="/ppt/notesMasters/notesMaster1.xml" Id="Raa3d4e57d0f24d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6dd5db45534261" /><Relationship Type="http://schemas.openxmlformats.org/officeDocument/2006/relationships/notesMaster" Target="/ppt/notesMasters/notesMaster1.xml" Id="R816d230b1a4441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c10838c3644269" /><Relationship Type="http://schemas.openxmlformats.org/officeDocument/2006/relationships/notesMaster" Target="/ppt/notesMasters/notesMaster1.xml" Id="Rb98495eda2c043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1f20ed699e473b" /><Relationship Type="http://schemas.openxmlformats.org/officeDocument/2006/relationships/notesMaster" Target="/ppt/notesMasters/notesMaster1.xml" Id="R0e4a5375457243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86cee9859f4558" /><Relationship Type="http://schemas.openxmlformats.org/officeDocument/2006/relationships/notesMaster" Target="/ppt/notesMasters/notesMaster1.xml" Id="R75bcc3574a0049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98b3f0be0d412d" /><Relationship Type="http://schemas.openxmlformats.org/officeDocument/2006/relationships/notesMaster" Target="/ppt/notesMasters/notesMaster1.xml" Id="R6591a49adedd41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6b89c9aa77401c" /><Relationship Type="http://schemas.openxmlformats.org/officeDocument/2006/relationships/notesMaster" Target="/ppt/notesMasters/notesMaster1.xml" Id="R4110044d89c544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280f40fa8e40d1" /><Relationship Type="http://schemas.openxmlformats.org/officeDocument/2006/relationships/notesMaster" Target="/ppt/notesMasters/notesMaster1.xml" Id="R52543fdda9d2450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b6b8b6fbc344223" /><Relationship Type="http://schemas.openxmlformats.org/officeDocument/2006/relationships/notesMaster" Target="/ppt/notesMasters/notesMaster1.xml" Id="Rc0105287d64c498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0473a16f6854cd4" /><Relationship Type="http://schemas.openxmlformats.org/officeDocument/2006/relationships/notesMaster" Target="/ppt/notesMasters/notesMaster1.xml" Id="R5268f210be814f6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ad5f2e3f3864558" /><Relationship Type="http://schemas.openxmlformats.org/officeDocument/2006/relationships/notesMaster" Target="/ppt/notesMasters/notesMaster1.xml" Id="Rb35ca1fafb044c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RootLensが何をしているのか、現場の皆さまに何をお願いしたいのか、撮影データをどう扱うのかをご説明します。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RootLensは、実際の仕事の様子を作業者の目線で撮影し、AIやロボットの研究開発に使えるデータとして整える事業です。利用目的は研究開発に限定し、提供先にも同じ条件を求めます。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根拠：撮影協力に関する基本合意書 第1条・第6条、撮影参加に関する説明・同意書『使いみち』。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通常業務を作業者の目線で撮影すると、実際の仕事に含まれる細かな動きや判断を記録できます。AIやロボットは、そのデータから現場での仕事を学びます。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撮影する場所、業務、場面は現場側で決められます。撮影範囲から外す場所や物品も指定できます。参加するスタッフは、説明を受けた上で本人が決めます。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根拠：撮影協力に関する基本合意書 第3条から第5条、プライバシーポリシー第14条。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RootLensが機材を貸与し、通常使用による故障や消耗も負担します。機材は映像、音声、向きや動きを記録します。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根拠：撮影協力に関する基本合意書 第2条・第10条、撮影参加に関する説明・同意書『撮影するもの』。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現場側には、撮影場所と業務の決定、希望者への案内、機材の保管をお願いします。RootLensは、機材、説明と同意手続き、データ管理、提供先とのやり取りを担当します。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根拠：撮影協力に関する基本合意書 第3条・第8条・第10条。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現場確認、案件条件の提示、基本合意、参加者本人の同意、機材準備の順に進めます。すべての条件を記録が残る形で確認してから撮影を始めます。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根拠：撮影協力に関する基本合意書 第4条・第7条・第13条。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撮影データの利用目的はAI・ロボット関連の研究開発です。提供契約では、個人の特定や追跡、勤務監視、人事・採用判断、広告・娯楽目的での一般公開を利用範囲から除外します。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根拠：撮影協力に関する基本合意書 第6条、撮影参加に関する説明・同意書『使いみち』、プライバシーポリシー第4条・第5条。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撮影範囲を事前に限定し、提供前にも内容を確認します。偶発的な映り込みにはマスキングを行い、同意した成人のデータから提供対象を選びます。児童や私的空間を含む映像は提供対象から除外します。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根拠：撮影協力に関する基本合意書 第5条、プライバシーポリシー第8条・第9条・第13条・第14条。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加は本人が決め、将来の撮影も本人の希望に応じて中止できます。提供前のデータは参加者の依頼に応じて削除します。提供後は提供先へ利用停止と削除を求め、対応範囲は提供先の保管状況によります。撮影協力費は提供先が採用した時間に応じて支払い、単価などは撮影前に提示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根拠：撮影協力に関する基本合意書 第7条・第9条、撮影参加に関する説明・同意書『参加の中止と削除』。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一つの業務、少人数、短い時間から始め、現場への負担を確認した上で次を相談します。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49187c27f541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c71cc3ae2d4632" /><Relationship Type="http://schemas.openxmlformats.org/officeDocument/2006/relationships/slideLayout" Target="/ppt/slideLayouts/slideLayout1.xml" Id="Rf4b0b65c4b7545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b0b65c4b7545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ea3e2dce1945c3" /><Relationship Type="http://schemas.openxmlformats.org/officeDocument/2006/relationships/notesSlide" Target="/ppt/notesSlides/notesSlide1.xml" Id="R629dbb6708984e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2f4ad2b13849c5" /><Relationship Type="http://schemas.openxmlformats.org/officeDocument/2006/relationships/notesSlide" Target="/ppt/notesSlides/notesSlide2.xml" Id="R63cee4aecf2248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b6cfb879844129" /><Relationship Type="http://schemas.openxmlformats.org/officeDocument/2006/relationships/notesSlide" Target="/ppt/notesSlides/notesSlide3.xml" Id="Rc57eb2c1e09d48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4099bc584341d1" /><Relationship Type="http://schemas.openxmlformats.org/officeDocument/2006/relationships/notesSlide" Target="/ppt/notesSlides/notesSlide4.xml" Id="R2888fbe75c054f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eeaa39c368440e" /><Relationship Type="http://schemas.openxmlformats.org/officeDocument/2006/relationships/image" Target="/ppt/media/image.jpeg" Id="R82f74eeb812e426a" /><Relationship Type="http://schemas.openxmlformats.org/officeDocument/2006/relationships/notesSlide" Target="/ppt/notesSlides/notesSlide5.xml" Id="R0effc8f58e6e41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f766cb45304cef" /><Relationship Type="http://schemas.openxmlformats.org/officeDocument/2006/relationships/notesSlide" Target="/ppt/notesSlides/notesSlide6.xml" Id="R04e2c3a5d6d649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ee1e524054461d" /><Relationship Type="http://schemas.openxmlformats.org/officeDocument/2006/relationships/notesSlide" Target="/ppt/notesSlides/notesSlide7.xml" Id="Rb9414e4e4939437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6ea2cf0b7a467b" /><Relationship Type="http://schemas.openxmlformats.org/officeDocument/2006/relationships/notesSlide" Target="/ppt/notesSlides/notesSlide8.xml" Id="Rf0cf807f3b6b452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345916da0e4d4a" /><Relationship Type="http://schemas.openxmlformats.org/officeDocument/2006/relationships/notesSlide" Target="/ppt/notesSlides/notesSlide9.xml" Id="R107641e99a6a498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b0ec7793e64727" /><Relationship Type="http://schemas.openxmlformats.org/officeDocument/2006/relationships/notesSlide" Target="/ppt/notesSlides/notesSlide10.xml" Id="R070f589cd6d044f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1090e56e8643ae" /><Relationship Type="http://schemas.openxmlformats.org/officeDocument/2006/relationships/notesSlide" Target="/ppt/notesSlides/notesSlide11.xml" Id="R64f64412a20a488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F362EE-523B-411D-B9E0-C05BAF7D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FF2E8F-BCC7-4C56-A2AD-3400B212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95375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RootLens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B51176-2EA5-420D-A8A8-AAB70A2B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8382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実際の仕事を、</a:t>
            </a:r>
          </a:p>
          <a:p xmlns:a="http://schemas.openxmlformats.org/drawingml/2006/main">
            <a:pPr algn="l">
              <a:defRPr sz="3450" b="1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AIとロボットの学習データへ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42F6FF-3D5A-4CDF-AE11-64706213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57625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rPr>
              <a:t>撮影協力をご検討いただく店舗・事業所の皆さまへ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A81C70-79A9-4340-AE51-48E6EE15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6B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EAF578-5EC3-4E6D-882E-37C17D68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340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46A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8646A"/>
                </a:solidFill>
                <a:latin typeface="Hiragino Sans"/>
                <a:ea typeface="Hiragino Sans"/>
                <a:cs typeface="Hiragino Sans"/>
              </a:rPr>
              <a:t>contact@rootlens.io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C164D8-6777-44B1-A667-011DDDE5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7340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8646A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8646A"/>
                </a:solidFill>
                <a:latin typeface="Hiragino Sans"/>
                <a:ea typeface="Hiragino Sans"/>
                <a:cs typeface="Hiragino Sans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19200292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8FAB64-921C-411D-9E1D-B4D3FE31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E365DB-A9C9-4E5B-93F5-5EEB53FE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1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RootLensが行っていること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B25253-6A09-462C-B8B5-FC16375D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6B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E13A38-6CC7-43C6-A94F-3CADC3F5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46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58646A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9DEEA0-A599-418C-B665-F86E71AD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rPr>
              <a:t>普段の仕事を、作業者の目線で撮影する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3EEE30-0437-4DEF-BDCE-C0163DE4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31432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6B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D00A17-1151-41C5-A442-5E2669B6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rPr>
              <a:t>現場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EB9ECD-1B20-4C76-A0AC-5FE7C384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95675"/>
            <a:ext cx="2724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同意したスタッフが</a:t>
            </a:r>
          </a:p>
          <a:p xmlns:a="http://schemas.openxmlformats.org/drawingml/2006/main">
            <a:pPr algn="ctr">
              <a:defRPr sz="1425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普段の作業を撮影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EAAA86-5491-4258-A119-F43F5C37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33800"/>
            <a:ext cx="1276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7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68125C-AF39-44B2-B0E9-B650D375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334000" y="3667125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15C78"/>
          </a:solidFill>
          <a:ln xmlns:a="http://schemas.openxmlformats.org/drawingml/2006/main" w="0">
            <a:solidFill>
              <a:srgbClr val="315C7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44CBF2-DAAA-4471-AEC0-DEB58C2E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57500"/>
            <a:ext cx="26670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F"/>
          </a:solidFill>
          <a:ln xmlns:a="http://schemas.openxmlformats.org/drawingml/2006/main" w="9525">
            <a:solidFill>
              <a:srgbClr val="315C7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F96C25-BF2A-4596-9BE8-91E9E57A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048000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rPr>
              <a:t>RootLens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F6E24D-0B21-4B15-8A5D-AA7091B1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495675"/>
            <a:ext cx="22479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映像を管理・確認し</a:t>
            </a:r>
          </a:p>
          <a:p xmlns:a="http://schemas.openxmlformats.org/drawingml/2006/main">
            <a:pPr algn="ctr">
              <a:defRPr sz="1425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学習データとして整える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F5FF9C-A715-481E-B1AC-4E08363A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733800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7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802756-DBFA-42CA-B96E-07DEF345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72625" y="3667125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15C78"/>
          </a:solidFill>
          <a:ln xmlns:a="http://schemas.openxmlformats.org/drawingml/2006/main" w="0">
            <a:solidFill>
              <a:srgbClr val="315C7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B7E306-067A-4DB0-B3B7-99BEEDD3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0"/>
            <a:ext cx="16192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6B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2EA080-4AB0-4064-B88E-FE8A1D09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04800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rPr>
              <a:t>研究開発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AF1E34-418E-4832-8EB7-078E26BC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495675"/>
            <a:ext cx="1200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AI・ロボットの</a:t>
            </a:r>
          </a:p>
          <a:p xmlns:a="http://schemas.openxmlformats.org/drawingml/2006/main">
            <a:pPr algn="ctr">
              <a:defRPr sz="135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学習や評価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DAA6D0-E400-4204-92D4-F7C7C913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rPr>
              <a:t>AI・ロボットの研究開発に使うデータを整えます</a:t>
            </a:r>
          </a:p>
        </p:txBody>
      </p:sp>
    </p:spTree>
    <p:extLst>
      <p:ext uri="{BB962C8B-B14F-4D97-AF65-F5344CB8AC3E}">
        <p14:creationId xmlns:p14="http://schemas.microsoft.com/office/powerpoint/2010/main" val="17280308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40888C-ADE5-402C-98CF-72146E14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E6EF9A-CB67-4FF9-BB91-EE287FD2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1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なぜ実際の仕事を撮影するのか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A4A301-256C-46CC-85BF-72A2EC10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6B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DCA530-E421-456A-BFB9-229D4A46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46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58646A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59BF57-8C72-4265-9ECD-C3BE55C0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857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AIやロボットが仕事を理解するには、</a:t>
            </a:r>
          </a:p>
          <a:p xmlns:a="http://schemas.openxmlformats.org/drawingml/2006/main">
            <a:pPr algn="l">
              <a:defRPr sz="2400" b="1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現場で人がどう動いているかを学ぶ必要がある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42AD72-E0CE-4A91-8DFB-66247970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6B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63B226-3D81-448F-A8D6-BFC3F380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rPr>
              <a:t>実際の作業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B87D0E-2252-4A30-AAB1-5D3A7FF9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38575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道具の使い方、手順、周囲を見ながら行う判断が含まれる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179644-4E03-4F89-9BC5-98706812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815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6B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21B703-994C-4A98-978A-FAB751D7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rPr>
              <a:t>作業者の目線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1344AC-6444-4642-9D58-3B4B055A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43450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何を見て、どの順番で手を動かしているかが分かる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3DA1C1-F9DF-4082-BE33-8D39DA7C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rPr>
              <a:t>実際の現場から得られる情報を、将来の技術開発に役立てます</a:t>
            </a:r>
          </a:p>
        </p:txBody>
      </p:sp>
    </p:spTree>
    <p:extLst>
      <p:ext uri="{BB962C8B-B14F-4D97-AF65-F5344CB8AC3E}">
        <p14:creationId xmlns:p14="http://schemas.microsoft.com/office/powerpoint/2010/main" val="19678645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00A17C-F659-45D5-842D-E69FCE62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58DADC-40C2-46ED-9470-B90A1E12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1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現場にお願いしたいこと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3685E6-228D-4508-9CF4-4AA74F38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6B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0FDCDF-9C64-4712-88C3-FEC3AE03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46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58646A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5AB672-BF0D-44BB-AE19-49161B47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rPr>
              <a:t>撮影場所を決める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5E032C-FDE7-47AD-966A-84C1B5C7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85950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撮影してよい場所・業務・時間を、現場の責任者と相談して決めます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950C23-B13F-47C8-B0AB-8090CDF2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6B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E2D45D-46C3-49DB-822A-6E7B6445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rPr>
              <a:t>参加者を募る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49EB27-0373-42AC-9627-1F26DF0D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81325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内容を確認し、本人の意思で同意した18歳以上のスタッフだけが参加します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6FABC0-541F-43FF-9944-07567BE7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6B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92213B-CB29-4CBF-863D-CC676BCA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rPr>
              <a:t>普段どおり作業する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184FAC-EE04-460F-AE0C-2086234F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76700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貸与する機材を装着し、決めた範囲で通常の業務を撮影します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49AA24-66CB-4E62-AF46-F0AEE8F6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6B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6BE87D-B8C7-4565-94B3-9611F8F1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9112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rPr>
              <a:t>気づいた点を伝える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86C391-6EA6-49F7-9D23-5F87AEA4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72075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装着感や業務への支障を伺い、撮影方法と機材を改善します</a:t>
            </a:r>
          </a:p>
        </p:txBody>
      </p:sp>
    </p:spTree>
    <p:extLst>
      <p:ext uri="{BB962C8B-B14F-4D97-AF65-F5344CB8AC3E}">
        <p14:creationId xmlns:p14="http://schemas.microsoft.com/office/powerpoint/2010/main" val="13755403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7BC455-AF21-4E6D-9C15-7229933A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524536-38F8-46CE-9390-BDD810A5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1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撮影機材と記録する情報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7180D4-52B0-4070-A5EC-93965057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6B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5283E9-79C3-42AF-A259-4CC193C4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46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58646A"/>
                </a:solidFill>
                <a:latin typeface="Hiragino Sans"/>
                <a:ea typeface="Hiragino Sans"/>
                <a:cs typeface="Hiragino Sans"/>
              </a:rPr>
              <a:t>05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f74eeb812e426a"/>
          <a:srcRect xmlns:a="http://schemas.openxmlformats.org/drawingml/2006/main" l="0" t="5695" r="0" b="56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1857375"/>
            <a:ext cx="4810125" cy="3381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D8DFF7-03F3-4339-9E68-DFD42052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481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rPr>
              <a:t>RootGlass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82D479-5943-4E95-B5C7-C0320EAC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481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8646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8646A"/>
                </a:solidFill>
                <a:latin typeface="Hiragino Sans"/>
                <a:ea typeface="Hiragino Sans"/>
                <a:cs typeface="Hiragino Sans"/>
              </a:rPr>
              <a:t>長時間装着の負担を減らすため、</a:t>
            </a:r>
          </a:p>
          <a:p xmlns:a="http://schemas.openxmlformats.org/drawingml/2006/main">
            <a:pPr algn="ctr">
              <a:defRPr sz="1275" b="0">
                <a:solidFill>
                  <a:srgbClr val="58646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8646A"/>
                </a:solidFill>
                <a:latin typeface="Hiragino Sans"/>
                <a:ea typeface="Hiragino Sans"/>
                <a:cs typeface="Hiragino Sans"/>
              </a:rPr>
              <a:t>軽さと見た目を改善しています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8E6724-29BA-4045-A032-D495A8BA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5105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6B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629E3B-BF1C-4509-AB64-500060F2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47875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rPr>
              <a:t>映像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6BF548-7E82-40E4-9E8D-DCA76FAC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95550"/>
            <a:ext cx="468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作業者の目線から見える、手元や周囲の様子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8CB560-938D-406B-826A-54E740CA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5105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6B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333E87-94ED-49D3-A28C-DDE7DA3E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2900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rPr>
              <a:t>音声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EE4E88-1D3E-490B-A99D-4372E982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76675"/>
            <a:ext cx="468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作業中に機材が拾う周囲の音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C46A04-08AB-4BE5-A94C-CD803B2F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19625"/>
            <a:ext cx="5105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6B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F3330E-9F06-4D27-BFB0-668F89E3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10125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rPr>
              <a:t>機材の動き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3595A2-4650-4461-A5BD-2A1B947F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257800"/>
            <a:ext cx="468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向きや動きを記録するセンサーデータ</a:t>
            </a:r>
          </a:p>
        </p:txBody>
      </p:sp>
    </p:spTree>
    <p:extLst>
      <p:ext uri="{BB962C8B-B14F-4D97-AF65-F5344CB8AC3E}">
        <p14:creationId xmlns:p14="http://schemas.microsoft.com/office/powerpoint/2010/main" val="15233827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64492E-EB51-4903-AA58-5E421471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CFA2A6-1A05-416F-91AF-A109B7E6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1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現場とRootLensの役割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7BDFEB-162C-41D1-9D55-68DB68D3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6B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7E421C-EFDA-4E55-8CB0-6ADA1AE9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46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58646A"/>
                </a:solidFill>
                <a:latin typeface="Hiragino Sans"/>
                <a:ea typeface="Hiragino Sans"/>
                <a:cs typeface="Hiragino San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F7D5DB-B811-44CB-86A4-A454381B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485775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6B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230DAC-ED32-4F3F-B8F7-88595082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43125"/>
            <a:ext cx="443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rPr>
              <a:t>店舗・事業所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0F35C6-3C3E-4C40-A9CF-9EE47092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90800"/>
            <a:ext cx="4438650" cy="2581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撮影してよい場所と業務を決める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参加を希望するスタッフへ説明・同意手続きを案内する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貸与された撮影機材を保管する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48B0D6-E280-4620-9E9F-A04B6277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52625"/>
            <a:ext cx="485775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F"/>
          </a:solidFill>
          <a:ln xmlns:a="http://schemas.openxmlformats.org/drawingml/2006/main" w="9525">
            <a:solidFill>
              <a:srgbClr val="315C7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98A914-AF90-4B78-8D7C-8914FD1F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143125"/>
            <a:ext cx="443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rPr>
              <a:t>RootLens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09F336-D7DD-4CE8-AB06-7580A888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590800"/>
            <a:ext cx="4438650" cy="2581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撮影機材と説明資料を用意する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参加者本人の同意を記録する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撮影データを管理・確認・加工する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販売先への提案と提供を行う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AC6151-A1C1-4AAD-A89C-B153FBBA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rPr>
              <a:t>撮影範囲と運用は、現場ごとに相談して決めます</a:t>
            </a:r>
          </a:p>
        </p:txBody>
      </p:sp>
    </p:spTree>
    <p:extLst>
      <p:ext uri="{BB962C8B-B14F-4D97-AF65-F5344CB8AC3E}">
        <p14:creationId xmlns:p14="http://schemas.microsoft.com/office/powerpoint/2010/main" val="15147173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556510-9597-4E7A-9557-DF74285A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C726E7-45F4-4B91-BB17-5BC0BA00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1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撮影開始までの流れ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64FE6-BDC0-42E3-9B51-3F552891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6B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583AC1-4F66-493F-AAB5-F9A16B9C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46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58646A"/>
                </a:solidFill>
                <a:latin typeface="Hiragino Sans"/>
                <a:ea typeface="Hiragino Sans"/>
                <a:cs typeface="Hiragino San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1365B2-1D0E-4CCA-A214-E9D83C08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63ADE2-09A4-42D7-82EC-976B182B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6B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55D307-036D-4290-B614-792E9A6B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765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現場確認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CDA8F6-AFF5-4400-A9B0-A2B61253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476625"/>
            <a:ext cx="152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撮影できる場所と</a:t>
            </a:r>
          </a:p>
          <a:p xmlns:a="http://schemas.openxmlformats.org/drawingml/2006/main">
            <a:pPr algn="ctr">
              <a:defRPr sz="1275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業務を相談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839575-42C5-4540-9612-97A96192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5242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6B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232D98-F358-422A-9EF1-06A4A92D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667000" y="3457575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AB6BC"/>
          </a:solidFill>
          <a:ln xmlns:a="http://schemas.openxmlformats.org/drawingml/2006/main" w="0">
            <a:solidFill>
              <a:srgbClr val="AAB6B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BD3DA1-8CB9-4EDF-A3AA-AF490963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4312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8C4FEB-F497-4F60-998C-5AF72A3E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19375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6B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23B3A3-47FB-41DC-9604-6E69FD5D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8765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条件提示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F8E2E8-FC11-4B6E-8505-8963AA4A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476625"/>
            <a:ext cx="152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実施時間と協力費を</a:t>
            </a:r>
          </a:p>
          <a:p xmlns:a="http://schemas.openxmlformats.org/drawingml/2006/main">
            <a:pPr algn="ctr">
              <a:defRPr sz="1275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撮影前に提示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5F6E9F-67D5-4C97-9071-3BC011E2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242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6B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D2844F-02D4-4353-95B7-249D60E4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800600" y="3457575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AB6BC"/>
          </a:solidFill>
          <a:ln xmlns:a="http://schemas.openxmlformats.org/drawingml/2006/main" w="0">
            <a:solidFill>
              <a:srgbClr val="AAB6B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2F30AF-EFEA-47E7-821B-9DE4766F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14312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AE98E2-3A17-4361-8C45-C4B6EC45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619375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6B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E18272-5122-428E-9AFB-E91BD24C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8765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合意・同意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E8089F-A580-4124-A887-D7BED206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476625"/>
            <a:ext cx="152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現場との合意と</a:t>
            </a:r>
          </a:p>
          <a:p xmlns:a="http://schemas.openxmlformats.org/drawingml/2006/main">
            <a:pPr algn="ctr">
              <a:defRPr sz="1275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参加者本人の同意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6C40E5-6A55-4D3C-BF5A-2247F651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242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6BC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0B5ACF-6974-4297-925B-DB6B3253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934200" y="3457575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AB6BC"/>
          </a:solidFill>
          <a:ln xmlns:a="http://schemas.openxmlformats.org/drawingml/2006/main" w="0">
            <a:solidFill>
              <a:srgbClr val="AAB6B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BFF4EB-EA34-49C1-9CEC-10B63862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4312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D87CE6-777B-4271-AEF3-73C23839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19375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6B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F26827-EB27-4E01-A27D-9D83A8A2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8765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機材準備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21FF8C-E6DB-4D9B-B0FA-3E2B79A6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476625"/>
            <a:ext cx="152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使い方を説明し</a:t>
            </a:r>
          </a:p>
          <a:p xmlns:a="http://schemas.openxmlformats.org/drawingml/2006/main">
            <a:pPr algn="ctr">
              <a:defRPr sz="1275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機材を貸与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B0995F-98AA-483F-937F-844BD952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5242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6BC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C8FCFD-7E1D-4051-9307-C165C2C7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067800" y="3457575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AB6BC"/>
          </a:solidFill>
          <a:ln xmlns:a="http://schemas.openxmlformats.org/drawingml/2006/main" w="0">
            <a:solidFill>
              <a:srgbClr val="AAB6BC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640622-DE1C-45D4-965D-01EE66C1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4312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429BFC-E750-4C9C-B570-C45FCF81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19375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F"/>
          </a:solidFill>
          <a:ln xmlns:a="http://schemas.openxmlformats.org/drawingml/2006/main" w="19050">
            <a:solidFill>
              <a:srgbClr val="315C7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3D8512-FE89-4AC3-962C-CCEB3251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8765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撮影開始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4E008F-152D-4FE4-BAB1-05F60C2F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476625"/>
            <a:ext cx="152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決めた範囲で</a:t>
            </a:r>
          </a:p>
          <a:p xmlns:a="http://schemas.openxmlformats.org/drawingml/2006/main">
            <a:pPr algn="ctr">
              <a:defRPr sz="1275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普段の作業を撮影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76C40F-DAB7-4F8A-919C-6A84AD21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rPr>
              <a:t>範囲を絞った試行から始められます</a:t>
            </a:r>
          </a:p>
        </p:txBody>
      </p:sp>
    </p:spTree>
    <p:extLst>
      <p:ext uri="{BB962C8B-B14F-4D97-AF65-F5344CB8AC3E}">
        <p14:creationId xmlns:p14="http://schemas.microsoft.com/office/powerpoint/2010/main" val="2504494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F2469F-3FB8-4BB9-9AB8-942388F9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B88AF2-8711-4AF8-9DA7-6840442D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1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データの利用先と契約条件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27C1F6-DF59-4755-81D9-CD5EC0D9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6B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319317-A788-4E3E-B37A-C505F527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46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58646A"/>
                </a:solidFill>
                <a:latin typeface="Hiragino Sans"/>
                <a:ea typeface="Hiragino Sans"/>
                <a:cs typeface="Hiragino San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BAE228-F392-47C5-8758-DAE4FE6E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4857750" cy="3571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E7"/>
          </a:solidFill>
          <a:ln xmlns:a="http://schemas.openxmlformats.org/drawingml/2006/main" w="9525">
            <a:solidFill>
              <a:srgbClr val="476B5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1C20A0-37C8-4D6A-8538-B40BA51E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43125"/>
            <a:ext cx="443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76B5B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476B5B"/>
                </a:solidFill>
                <a:latin typeface="Hiragino Sans"/>
                <a:ea typeface="Hiragino Sans"/>
                <a:cs typeface="Hiragino Sans"/>
              </a:rPr>
              <a:t>利用先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3EECFC-130D-4751-A5FF-B3638689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90800"/>
            <a:ext cx="4438650" cy="277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AI・ロボットに関する技術、製品、サービスの研究・開発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学習データの作成、品質確認、評価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国内外の企業・研究機関への提供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FD384E-7AB4-4201-8D56-FD004D7C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52625"/>
            <a:ext cx="4857750" cy="3571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6B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DB0925-E63A-4AFD-BA81-128D2994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143125"/>
            <a:ext cx="443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提供先との契約条件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D0A45E-0339-4C46-A8A9-E4736227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590800"/>
            <a:ext cx="4438650" cy="277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利用目的を研究開発に限定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個人の特定・追跡、勤務監視、人事・採用判断を利用範囲から除外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広告・娯楽目的の一般公開を利用範囲から除外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5E17F6-7E1C-401B-AFC4-0F23D6ED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rPr>
              <a:t>RootLensと提供先が、同じ利用条件を共有します</a:t>
            </a:r>
          </a:p>
        </p:txBody>
      </p:sp>
    </p:spTree>
    <p:extLst>
      <p:ext uri="{BB962C8B-B14F-4D97-AF65-F5344CB8AC3E}">
        <p14:creationId xmlns:p14="http://schemas.microsoft.com/office/powerpoint/2010/main" val="1131032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2C7CD2-9FEE-4714-B432-FB4F1F72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D35425-B3E0-4798-B9C4-15CA43B9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1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映り込みとデータ管理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8395BA-BFC8-4449-8E83-80A1987A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6B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3E38AA-F5D6-4DED-BD50-53A6E381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46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58646A"/>
                </a:solidFill>
                <a:latin typeface="Hiragino Sans"/>
                <a:ea typeface="Hiragino Sans"/>
                <a:cs typeface="Hiragino San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6B82CF-2C28-45DC-B6E1-861A825C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573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rPr>
              <a:t>撮影範囲を限定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18F510-4EDA-477A-96BA-A059C3EA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38325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同意した成人だけが映る作業を選び、避ける場所・場面・物品を事前に決めます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EF9A82-106F-4774-8FFE-121AAFD3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6B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21D846-5073-4EB0-8E70-DB322357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rPr>
              <a:t>提供対象を選別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EA24E2-88F5-42E7-B2DA-63E30989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38450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同意した成人のデータを選び、児童や私的空間を含む映像を除外します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6D6137-DCCB-4B0A-A478-C1CC15D8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6B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10C522-8C04-43DF-8603-E9CD4931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rPr>
              <a:t>必要な部分を隠す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FAB6F9-4646-4AEA-B2DA-D7D1EB27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38575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偶発的な映り込みでは、顔、名札、書類、ナンバープレートなどをマスキングします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AE41B4-53A7-46D7-938E-59438EC1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386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6B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E40534-22D7-476E-8AC2-6D036C2D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rPr>
              <a:t>保管を制限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E60E91-4150-4C1F-9D2A-37985FD1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38700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通信と保存時の暗号化、アクセス制御を行い、扱える人を必要最小限にします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9D49EE-21A1-48E9-8BED-EF53FC64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rPr>
              <a:t>確認と必要な処理を終えたデータを提供します</a:t>
            </a:r>
          </a:p>
        </p:txBody>
      </p:sp>
    </p:spTree>
    <p:extLst>
      <p:ext uri="{BB962C8B-B14F-4D97-AF65-F5344CB8AC3E}">
        <p14:creationId xmlns:p14="http://schemas.microsoft.com/office/powerpoint/2010/main" val="14778141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931692-B21A-4865-B4AD-0C6C516D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06E92C-A6A7-45AB-86FA-D92DE0E6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1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参加の中止・削除・協力費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D2C038-9AFC-4CA8-9799-71511E32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6B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2D212F-AB82-4515-9309-D4EB765D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46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58646A"/>
                </a:solidFill>
                <a:latin typeface="Hiragino Sans"/>
                <a:ea typeface="Hiragino Sans"/>
                <a:cs typeface="Hiragino San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2AF91D-38AE-4FCB-94F8-1F2B2CE5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3238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6B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CD0CAB-CACD-414F-ADD6-CE3168D8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431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rPr>
              <a:t>参加の中止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99370F-59D6-45D9-A03A-A8CE112B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90800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参加するかは本人が自由に決められます。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一度同意した後でも、将来の撮影はいつでもやめられます。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AA05E7-CB2A-470F-90D2-93F349C6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52625"/>
            <a:ext cx="3238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6B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8F2E90-3612-464E-B4E1-FFE4EB75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431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rPr>
              <a:t>データの削除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20CC49-880F-4CE2-B831-F0DE60FA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90800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提供前のデータは、参加者の依頼に応じて削除します。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提供後は提供先へ利用停止・削除を求めます。対応範囲は提供先の保管状況によります。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C73195-CE9D-4F73-BB02-3C874402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52625"/>
            <a:ext cx="3238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F"/>
          </a:solidFill>
          <a:ln xmlns:a="http://schemas.openxmlformats.org/drawingml/2006/main" w="9525">
            <a:solidFill>
              <a:srgbClr val="315C7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15DB68-F095-4633-B700-B7624F52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431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rPr>
              <a:t>撮影協力費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1CE244-C350-42BC-89D8-827EB48A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90800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提供先が採用したデータの時間に応じて、現場へ支払います。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単価と案件条件は、撮影前に記録が残る方法で提示します。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20AB99-946E-4083-9B2D-9DE175AB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rPr>
              <a:t>疑問点を確認し、双方が合意してから撮影を始めます</a:t>
            </a:r>
          </a:p>
        </p:txBody>
      </p:sp>
    </p:spTree>
    <p:extLst>
      <p:ext uri="{BB962C8B-B14F-4D97-AF65-F5344CB8AC3E}">
        <p14:creationId xmlns:p14="http://schemas.microsoft.com/office/powerpoint/2010/main" val="17613018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63C896-A404-49FF-AD1E-625D675C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E92928-A5BD-4795-8B6B-7FA0FB40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1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小規模な試行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0E280B-5112-4108-A56F-786C654E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6B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19C882-D5F0-4295-9049-01A87086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46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58646A"/>
                </a:solidFill>
                <a:latin typeface="Hiragino Sans"/>
                <a:ea typeface="Hiragino Sans"/>
                <a:cs typeface="Hiragino San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4CCAC3-D3FB-475D-9127-50ECFCE7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rPr>
              <a:t>一つの業務、少人数、短い時間から始められます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518786-B290-4764-A2B4-7008AAAE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6B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D635FA-C0B4-4A8D-BECD-DCBAC05B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3375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rPr>
              <a:t>範囲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96FF79-5E22-4CA7-83A3-408502F8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81425"/>
            <a:ext cx="2438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撮影する場所と業務を限定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18B164-2BB2-4351-B70C-DFEAA3B6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6B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A835D4-2AD7-4BD4-9837-5F8A2610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33375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rPr>
              <a:t>参加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ACD9E3-A4EC-4E99-AE69-C48ECB6F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81425"/>
            <a:ext cx="2438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内容を理解し、希望した方だけ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84E0F1-46FC-48C5-BF6B-3E96ED2C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6B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B57F60-8B25-444E-B824-16586566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3375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315C78"/>
                </a:solidFill>
                <a:latin typeface="Hiragino Sans"/>
                <a:ea typeface="Hiragino Sans"/>
                <a:cs typeface="Hiragino Sans"/>
              </a:rPr>
              <a:t>確認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620733-3C3E-4CD1-9AFC-5F4E0F35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81425"/>
            <a:ext cx="2438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実際の負担を見てから拡大を判断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FF327C-C521-4000-8C28-E4B709BD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191B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5191B"/>
                </a:solidFill>
                <a:latin typeface="Hiragino Sans"/>
                <a:ea typeface="Hiragino Sans"/>
                <a:cs typeface="Hiragino Sans"/>
              </a:rPr>
              <a:t>RootLens　森 雄大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8DA371-1BC0-486C-98E4-1F1C85A8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315C78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315C78"/>
                </a:solidFill>
                <a:latin typeface="Hiragino Sans"/>
                <a:ea typeface="Hiragino Sans"/>
                <a:cs typeface="Hiragino Sans"/>
              </a:rPr>
              <a:t>contact@rootlens.io</a:t>
            </a:r>
          </a:p>
        </p:txBody>
      </p:sp>
    </p:spTree>
    <p:extLst>
      <p:ext uri="{BB962C8B-B14F-4D97-AF65-F5344CB8AC3E}">
        <p14:creationId xmlns:p14="http://schemas.microsoft.com/office/powerpoint/2010/main" val="3976786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2026-09-15T17:29:13.0120000Z</dcterms:created>
  <dcterms:modified xsi:type="dcterms:W3CDTF">2026-09-15T17:29:13.0120000Z</dcterms:modified>
</coreProperties>
</file>
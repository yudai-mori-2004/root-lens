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225122706e4c91" /><Relationship Type="http://schemas.openxmlformats.org/officeDocument/2006/relationships/extended-properties" Target="/docProps/app.xml" Id="Rdc8812f24dde47e5" /><Relationship Type="http://schemas.openxmlformats.org/officeDocument/2006/relationships/officeDocument" Target="/ppt/presentation.xml" Id="R726722b5177e4adf" /></Relationships>
</file>

<file path=ppt/presentation.xml><?xml version="1.0" encoding="utf-8"?>
<p:presentation xmlns:p="http://schemas.openxmlformats.org/presentationml/2006/main">
  <p:sldMasterIdLst>
    <p:sldMasterId xmlns:r="http://schemas.openxmlformats.org/officeDocument/2006/relationships" id="2147483648" r:id="Rc7b440564d8248d6"/>
  </p:sldMasterIdLst>
  <p:notesMasterIdLst>
    <p:notesMasterId xmlns:r="http://schemas.openxmlformats.org/officeDocument/2006/relationships" r:id="Reca7ce684fcc4ea2"/>
  </p:notesMasterIdLst>
  <p:sldIdLst>
    <p:sldId xmlns:r="http://schemas.openxmlformats.org/officeDocument/2006/relationships" id="256" r:id="R75d22517a6954081"/>
    <p:sldId xmlns:r="http://schemas.openxmlformats.org/officeDocument/2006/relationships" id="257" r:id="R7f70dca0fc794d36"/>
    <p:sldId xmlns:r="http://schemas.openxmlformats.org/officeDocument/2006/relationships" id="258" r:id="Raad6869fc88841f1"/>
    <p:sldId xmlns:r="http://schemas.openxmlformats.org/officeDocument/2006/relationships" id="259" r:id="Re5303ac283b545c3"/>
    <p:sldId xmlns:r="http://schemas.openxmlformats.org/officeDocument/2006/relationships" id="260" r:id="Rd391c06f1ef14982"/>
    <p:sldId xmlns:r="http://schemas.openxmlformats.org/officeDocument/2006/relationships" id="261" r:id="R457073bf39e8403f"/>
    <p:sldId xmlns:r="http://schemas.openxmlformats.org/officeDocument/2006/relationships" id="262" r:id="Re4adfe7b8dde4e99"/>
    <p:sldId xmlns:r="http://schemas.openxmlformats.org/officeDocument/2006/relationships" id="263" r:id="R1738fb4477b6480c"/>
    <p:sldId xmlns:r="http://schemas.openxmlformats.org/officeDocument/2006/relationships" id="264" r:id="Ra5ab8b23caa44676"/>
    <p:sldId xmlns:r="http://schemas.openxmlformats.org/officeDocument/2006/relationships" id="265" r:id="R4bb5546e7a004c7e"/>
    <p:sldId xmlns:r="http://schemas.openxmlformats.org/officeDocument/2006/relationships" id="266" r:id="Rb1307dae472e421a"/>
    <p:sldId xmlns:r="http://schemas.openxmlformats.org/officeDocument/2006/relationships" id="267" r:id="R4d1501712ef14a59"/>
    <p:sldId xmlns:r="http://schemas.openxmlformats.org/officeDocument/2006/relationships" id="268" r:id="R7980e13fedb74445"/>
    <p:sldId xmlns:r="http://schemas.openxmlformats.org/officeDocument/2006/relationships" id="269" r:id="R9d4f02e799bb47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f79af0913047d7" /><Relationship Type="http://schemas.openxmlformats.org/officeDocument/2006/relationships/slideMaster" Target="/ppt/slideMasters/slideMaster1.xml" Id="Rc7b440564d8248d6" /><Relationship Type="http://schemas.openxmlformats.org/officeDocument/2006/relationships/notesMaster" Target="/ppt/notesMasters/notesMaster1.xml" Id="Reca7ce684fcc4ea2" /><Relationship Type="http://schemas.openxmlformats.org/officeDocument/2006/relationships/presProps" Target="/ppt/presProps.xml" Id="R9edc3bc7f914471e" /><Relationship Type="http://schemas.openxmlformats.org/officeDocument/2006/relationships/tableStyles" Target="/ppt/tableStyles.xml" Id="R67f69770b9694d79" /><Relationship Type="http://schemas.openxmlformats.org/officeDocument/2006/relationships/slide" Target="/ppt/slides/slide1.xml" Id="R75d22517a6954081" /><Relationship Type="http://schemas.openxmlformats.org/officeDocument/2006/relationships/slide" Target="/ppt/slides/slide2.xml" Id="R7f70dca0fc794d36" /><Relationship Type="http://schemas.openxmlformats.org/officeDocument/2006/relationships/slide" Target="/ppt/slides/slide3.xml" Id="Raad6869fc88841f1" /><Relationship Type="http://schemas.openxmlformats.org/officeDocument/2006/relationships/slide" Target="/ppt/slides/slide4.xml" Id="Re5303ac283b545c3" /><Relationship Type="http://schemas.openxmlformats.org/officeDocument/2006/relationships/slide" Target="/ppt/slides/slide5.xml" Id="Rd391c06f1ef14982" /><Relationship Type="http://schemas.openxmlformats.org/officeDocument/2006/relationships/slide" Target="/ppt/slides/slide6.xml" Id="R457073bf39e8403f" /><Relationship Type="http://schemas.openxmlformats.org/officeDocument/2006/relationships/slide" Target="/ppt/slides/slide7.xml" Id="Re4adfe7b8dde4e99" /><Relationship Type="http://schemas.openxmlformats.org/officeDocument/2006/relationships/slide" Target="/ppt/slides/slide8.xml" Id="R1738fb4477b6480c" /><Relationship Type="http://schemas.openxmlformats.org/officeDocument/2006/relationships/slide" Target="/ppt/slides/slide9.xml" Id="Ra5ab8b23caa44676" /><Relationship Type="http://schemas.openxmlformats.org/officeDocument/2006/relationships/slide" Target="/ppt/slides/slide10.xml" Id="R4bb5546e7a004c7e" /><Relationship Type="http://schemas.openxmlformats.org/officeDocument/2006/relationships/slide" Target="/ppt/slides/slide11.xml" Id="Rb1307dae472e421a" /><Relationship Type="http://schemas.openxmlformats.org/officeDocument/2006/relationships/slide" Target="/ppt/slides/slide12.xml" Id="R4d1501712ef14a59" /><Relationship Type="http://schemas.openxmlformats.org/officeDocument/2006/relationships/slide" Target="/ppt/slides/slide13.xml" Id="R7980e13fedb74445" /><Relationship Type="http://schemas.openxmlformats.org/officeDocument/2006/relationships/slide" Target="/ppt/slides/slide14.xml" Id="R9d4f02e799bb47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d59d78ebc846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67b2b5bf6b4c43" /><Relationship Type="http://schemas.openxmlformats.org/officeDocument/2006/relationships/notesMaster" Target="/ppt/notesMasters/notesMaster1.xml" Id="Rf42e366cfaa441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fc9bb4964f47b6" /><Relationship Type="http://schemas.openxmlformats.org/officeDocument/2006/relationships/notesMaster" Target="/ppt/notesMasters/notesMaster1.xml" Id="Rac3a276b731f4f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298a1d61224f38" /><Relationship Type="http://schemas.openxmlformats.org/officeDocument/2006/relationships/notesMaster" Target="/ppt/notesMasters/notesMaster1.xml" Id="R88d83ecd623447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8b2ece541948ab" /><Relationship Type="http://schemas.openxmlformats.org/officeDocument/2006/relationships/notesMaster" Target="/ppt/notesMasters/notesMaster1.xml" Id="Rb7dc052f96c348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5d4ca7b7f9478e" /><Relationship Type="http://schemas.openxmlformats.org/officeDocument/2006/relationships/notesMaster" Target="/ppt/notesMasters/notesMaster1.xml" Id="R0163838b70e047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4dc2375b354b95" /><Relationship Type="http://schemas.openxmlformats.org/officeDocument/2006/relationships/notesMaster" Target="/ppt/notesMasters/notesMaster1.xml" Id="R44dbbd4ee1b947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f8e209a50a4250" /><Relationship Type="http://schemas.openxmlformats.org/officeDocument/2006/relationships/notesMaster" Target="/ppt/notesMasters/notesMaster1.xml" Id="Re949348e714a48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7fbe2c31224b14" /><Relationship Type="http://schemas.openxmlformats.org/officeDocument/2006/relationships/notesMaster" Target="/ppt/notesMasters/notesMaster1.xml" Id="Ree068a76a2f84d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5bcea664b241b2" /><Relationship Type="http://schemas.openxmlformats.org/officeDocument/2006/relationships/notesMaster" Target="/ppt/notesMasters/notesMaster1.xml" Id="Rf89978e6754a48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2d876a2cb0461d" /><Relationship Type="http://schemas.openxmlformats.org/officeDocument/2006/relationships/notesMaster" Target="/ppt/notesMasters/notesMaster1.xml" Id="Rbe3d16f6504645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d828e636e34b0b" /><Relationship Type="http://schemas.openxmlformats.org/officeDocument/2006/relationships/notesMaster" Target="/ppt/notesMasters/notesMaster1.xml" Id="R43bb29bc2e2448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849f18164b4a95" /><Relationship Type="http://schemas.openxmlformats.org/officeDocument/2006/relationships/notesMaster" Target="/ppt/notesMasters/notesMaster1.xml" Id="R11194ecb422c40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30d6ce678a4d57" /><Relationship Type="http://schemas.openxmlformats.org/officeDocument/2006/relationships/notesMaster" Target="/ppt/notesMasters/notesMaster1.xml" Id="Rd4a5a33d9daf47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92366c3f0784064" /><Relationship Type="http://schemas.openxmlformats.org/officeDocument/2006/relationships/notesMaster" Target="/ppt/notesMasters/notesMaster1.xml" Id="Ra18964c34f004a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RootLensは、現場で人間が行っている作業のデータ収集から事業を始めています。この資料では、現在行っていることと、その先に何を見ているかを分けて話します。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横方向は、企業が接続する業種や現場の広さです。縦方向は、その企業が担う技術レイヤーの広さです。特定タスクをモデルから現場統合まで持つ企業は縦に長く、データ収集など一つのレイヤーから多くの現場へ接続する企業は横に長くなります。データ収集層と現場統合層の両方が現場へ直接入ることも、この図に含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現在の実績ではなく、私たちの業界仮説です。ロボットが現場で稼働すれば、その稼働自体がデータ収集になります。そのため長期的には、データ収集を含む改善ループを自社で持つ企業が強いと考え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企業を最終形と考えているわけではありません。現時点で複数業種の現場へ入れる方法として、データ収集が最も実行しやすく、その過程で将来の現場統合に必要な情報と関係が残ると考え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撮影先と販売先の両面を開拓する事業です。現在は現場側が先行しています。海外の販売先との会話では、データの内容以前に、継続してまとまった時間を供給できるかが重要でした。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現場側では、約30件への営業と、ベーカリーでの実撮影まで進みました。カフェチェーンとスーパーマーケットは、まだ契約済みや撮影済みではありません。現在進んでいる話として分けて説明します。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先については、需要の有無よりも、私たちが供給できる規模が商談上の課題になっています。海外8社とはサンプルのやり取りまで進みましたが、契約実績はまだありません。国内ではNextremerと実際の運用フローを詰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回撮影ではヘルメット型の構成を使いました。その後、帽子型を試し、現在はスマートグラスによる撮影も導入しています。ベーカリーでは、メガネ型に変えたことで『これならつけてもいい』という反応が増えました。デバイスの快適性は撮影先の拡大に直結する課題だと分かりま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現在はこの4名で活動しています。共同創業者の二人に加えて、最初の現場で出会った川島さんと、小売・製造業界のネットワークと経営管理経験を持つ大崎さんに協力してもらっています。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を1時間1,600円、その半分を現場へ還元する前提です。1台が月110時間動く場合、デバイス償却は1時間あたり約73円です。ここまでは機材だけを見た試算で、現場運用の人件費などはまだ含め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集時間に比例してデバイス台数も増えるため、機材費の比率は大きく変わりません。ただし、運用人員が同じ比率で増えるかはまだ分かっていません。また、同じデータを複数回販売できる可能性はありますが、この表には入れ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の数字で問題が見えにくいのはデバイス費です。実際に事業の採算を決めるのは、現場を増やす営業と運用の人件費、そして収集したデータを継続して売れるかだと考えています。ここを今後の収集拡大の中で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ここから先はロードマップではありません。今の時点で、データ収集を入口にするとどこまで進める可能性が見えるかを示しています。環境や技術、収集したデータによって進み方は変わります。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直近では、長期構想よりも収集規模と運用の検証を優先します。10月に500時間、12月に1,000時間を目標とし、同時に販売先が必要とする条件と、現場運用にかかる実際の負担を確認します。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211864b9ab42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cfe62f98f04c51" /><Relationship Type="http://schemas.openxmlformats.org/officeDocument/2006/relationships/slideLayout" Target="/ppt/slideLayouts/slideLayout1.xml" Id="R71f9aa6de9a84d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f9aa6de9a84d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46c7c4d8cf4a61" /><Relationship Type="http://schemas.openxmlformats.org/officeDocument/2006/relationships/notesSlide" Target="/ppt/notesSlides/notesSlide1.xml" Id="R589fb860939347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1c325ba5814df3" /><Relationship Type="http://schemas.openxmlformats.org/officeDocument/2006/relationships/notesSlide" Target="/ppt/notesSlides/notesSlide2.xml" Id="R57f0b0d68b0341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8234f5c17e455c" /><Relationship Type="http://schemas.openxmlformats.org/officeDocument/2006/relationships/notesSlide" Target="/ppt/notesSlides/notesSlide3.xml" Id="R817d796fafba4e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7f4870f0cf48fe" /><Relationship Type="http://schemas.openxmlformats.org/officeDocument/2006/relationships/notesSlide" Target="/ppt/notesSlides/notesSlide4.xml" Id="Rcb7c16e418d145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114ffdf669415e" /><Relationship Type="http://schemas.openxmlformats.org/officeDocument/2006/relationships/notesSlide" Target="/ppt/notesSlides/notesSlide5.xml" Id="R1bb7aec57eaa41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01b78769c64acf" /><Relationship Type="http://schemas.openxmlformats.org/officeDocument/2006/relationships/notesSlide" Target="/ppt/notesSlides/notesSlide6.xml" Id="R6769a952ac1b45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15ff43c140b4df1" /><Relationship Type="http://schemas.openxmlformats.org/officeDocument/2006/relationships/notesSlide" Target="/ppt/notesSlides/notesSlide7.xml" Id="Rce8ed8596da540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b49ba42f5c4bb5" /><Relationship Type="http://schemas.openxmlformats.org/officeDocument/2006/relationships/image" Target="/ppt/media/image.jpeg" Id="R9f01e380783644d1" /><Relationship Type="http://schemas.openxmlformats.org/officeDocument/2006/relationships/image" Target="/ppt/media/image2.jpeg" Id="Rb97ca2fe1328423b" /><Relationship Type="http://schemas.openxmlformats.org/officeDocument/2006/relationships/image" Target="/ppt/media/image3.jpeg" Id="Rd27715078042452a" /><Relationship Type="http://schemas.openxmlformats.org/officeDocument/2006/relationships/notesSlide" Target="/ppt/notesSlides/notesSlide8.xml" Id="R519a5058f9cb4f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b9201fec51a4fa2" /><Relationship Type="http://schemas.openxmlformats.org/officeDocument/2006/relationships/notesSlide" Target="/ppt/notesSlides/notesSlide9.xml" Id="R6ed9848db2414b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11e2b9165cd4168" /><Relationship Type="http://schemas.openxmlformats.org/officeDocument/2006/relationships/notesSlide" Target="/ppt/notesSlides/notesSlide10.xml" Id="R1a20de47e24147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fedb92e552f46c3" /><Relationship Type="http://schemas.openxmlformats.org/officeDocument/2006/relationships/notesSlide" Target="/ppt/notesSlides/notesSlide11.xml" Id="R2beaa24a76b54cd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1d95d5418204575" /><Relationship Type="http://schemas.openxmlformats.org/officeDocument/2006/relationships/notesSlide" Target="/ppt/notesSlides/notesSlide12.xml" Id="Ra7e6cc55ab904d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b5f4a22814d4f69" /><Relationship Type="http://schemas.openxmlformats.org/officeDocument/2006/relationships/notesSlide" Target="/ppt/notesSlides/notesSlide13.xml" Id="R2bec15d4565147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d448a4c0233423f" /><Relationship Type="http://schemas.openxmlformats.org/officeDocument/2006/relationships/notesSlide" Target="/ppt/notesSlides/notesSlide14.xml" Id="R3cdac0be1a5142cb"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7C5F3B-6FF1-4175-A458-3A0FEB4B22A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BC2880-419F-437C-96AF-924A548F4DCF}"/>
              </a:ext>
            </a:extLst>
          </p:cNvPr>
          <p:cNvSpPr>
            <a:spLocks xmlns:a="http://schemas.openxmlformats.org/drawingml/2006/main" noGrp="1"/>
          </p:cNvSpPr>
          <p:nvPr/>
        </p:nvSpPr>
        <p:spPr>
          <a:xfrm xmlns:a="http://schemas.openxmlformats.org/drawingml/2006/main">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C43E9B37-36AB-438F-A5F4-14C88B679942}"/>
              </a:ext>
            </a:extLst>
          </p:cNvPr>
          <p:cNvSpPr>
            <a:spLocks xmlns:a="http://schemas.openxmlformats.org/drawingml/2006/main" noGrp="1"/>
          </p:cNvSpPr>
          <p:nvPr/>
        </p:nvSpPr>
        <p:spPr>
          <a:xfrm xmlns:a="http://schemas.openxmlformats.org/drawingml/2006/main">
            <a:off x="666750" y="2543175"/>
            <a:ext cx="9334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200" b="1">
                <a:solidFill>
                  <a:srgbClr val="15191B"/>
                </a:solidFill>
                <a:latin typeface="Hiragino Sans"/>
                <a:ea typeface="Hiragino Sans"/>
                <a:cs typeface="Hiragino Sans"/>
              </a:defRPr>
            </a:pPr>
            <a:r>
              <a:rPr sz="4200" b="1">
                <a:solidFill>
                  <a:srgbClr val="15191B"/>
                </a:solidFill>
                <a:latin typeface="Hiragino Sans"/>
                <a:ea typeface="Hiragino Sans"/>
                <a:cs typeface="Hiragino Sans"/>
              </a:rPr>
              <a:t>現場データ収集から始める</a:t>
            </a:r>
          </a:p>
          <a:p xmlns:a="http://schemas.openxmlformats.org/drawingml/2006/main">
            <a:pPr algn="l">
              <a:defRPr sz="4200" b="1">
                <a:solidFill>
                  <a:srgbClr val="15191B"/>
                </a:solidFill>
                <a:latin typeface="Hiragino Sans"/>
                <a:ea typeface="Hiragino Sans"/>
                <a:cs typeface="Hiragino Sans"/>
              </a:defRPr>
            </a:pPr>
            <a:r>
              <a:rPr sz="4200" b="1">
                <a:solidFill>
                  <a:srgbClr val="15191B"/>
                </a:solidFill>
                <a:latin typeface="Hiragino Sans"/>
                <a:ea typeface="Hiragino Sans"/>
                <a:cs typeface="Hiragino Sans"/>
              </a:rPr>
              <a:t>フィジカルAI企業</a:t>
            </a:r>
          </a:p>
        </p:txBody>
      </p:sp>
      <p:sp>
        <p:nvSpPr>
          <p:cNvPr id="4" name="">
            <a:extLst xmlns:a="http://schemas.openxmlformats.org/drawingml/2006/main">
              <a:ext uri="{FF2B5EF4-FFF2-40B4-BE49-F238E27FC236}">
                <a16:creationId xmlns:a16="http://schemas.microsoft.com/office/drawing/2014/main" id="{ADD08669-3FF0-4BFD-8315-3A7DCB388931}"/>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0F63B8-3BB1-4C9D-84A6-5DBF29A3943B}"/>
              </a:ext>
            </a:extLst>
          </p:cNvPr>
          <p:cNvSpPr>
            <a:spLocks xmlns:a="http://schemas.openxmlformats.org/drawingml/2006/main" noGrp="1"/>
          </p:cNvSpPr>
          <p:nvPr/>
        </p:nvSpPr>
        <p:spPr>
          <a:xfrm xmlns:a="http://schemas.openxmlformats.org/drawingml/2006/main">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4CFF0FC3-5DBF-4B3F-BC32-6BCF4646FB8D}"/>
              </a:ext>
            </a:extLst>
          </p:cNvPr>
          <p:cNvSpPr>
            <a:spLocks xmlns:a="http://schemas.openxmlformats.org/drawingml/2006/main" noGrp="1"/>
          </p:cNvSpPr>
          <p:nvPr/>
        </p:nvSpPr>
        <p:spPr>
          <a:xfrm xmlns:a="http://schemas.openxmlformats.org/drawingml/2006/main">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137534251"/>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5DCF0100-6C3D-4D1F-8824-666CF76789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F03D44-B672-4C15-94FA-09721F8382F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D001D830-30A4-4ED8-82CF-42F6088E972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E14A10-2F42-42CD-B830-55E2A431950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001A210F-7878-47B9-9B9E-4778C8E6A5B2}"/>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6BDA0D1B-A740-463C-88A4-5ABC4E17D716}"/>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BFDDD681-E743-4982-B155-D749DBA250A1}"/>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63B527A8-6298-4340-96FA-4766972EE0D9}"/>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F20031D6-8824-4DFB-9A59-1CD4A84ECB1A}"/>
              </a:ext>
            </a:extLst>
          </p:cNvPr>
          <p:cNvSpPr>
            <a:spLocks xmlns:a="http://schemas.openxmlformats.org/drawingml/2006/main" noGrp="1"/>
          </p:cNvSpPr>
          <p:nvPr/>
        </p:nvSpPr>
        <p:spPr>
          <a:xfrm xmlns:a="http://schemas.openxmlformats.org/drawingml/2006/main">
            <a:off x="723900" y="30384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913A4095-74FC-4258-ACC9-C8810E2E10D0}"/>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81C333A9-5A35-4549-BF8E-C47E425A5C4B}"/>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A2A76E26-C551-48CE-B7F3-602D4699614D}"/>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E1B3D648-6CF6-4992-BB29-7A897F1AE444}"/>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B3366E03-0410-4DD9-A712-B3AC819E4640}"/>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780C2829-2758-4095-868B-352FDC9525C1}"/>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C7BE5F2-08BF-469C-AD0D-A18E7D8A1113}"/>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65E59A58-0E9F-44AF-9808-BBB3BAFB288D}"/>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DDC53F6-ECD7-4DE3-A641-A9E6C8960006}"/>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F8A4D4F1-A8E7-4315-8139-9571F0BC2A68}"/>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C16025C-BACA-4902-BA3B-4327BAF63C64}"/>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7137D25A-BF3D-46B9-8031-01898E8FD523}"/>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7313F5F-EA1D-4EBA-9C8C-4ADA951C8A27}"/>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A99163D2-45E2-4A8A-8E8D-B238495CAAB0}"/>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E7E5827-050C-4C95-B475-EE830C0271B4}"/>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11791FC9-F158-44ED-A699-EBFF347387BC}"/>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6" name="">
            <a:extLst xmlns:a="http://schemas.openxmlformats.org/drawingml/2006/main">
              <a:ext uri="{FF2B5EF4-FFF2-40B4-BE49-F238E27FC236}">
                <a16:creationId xmlns:a16="http://schemas.microsoft.com/office/drawing/2014/main" id="{5F0B1CA9-51AF-4C48-8C06-F6E4AA891FC2}"/>
              </a:ext>
            </a:extLst>
          </p:cNvPr>
          <p:cNvSpPr>
            <a:spLocks xmlns:a="http://schemas.openxmlformats.org/drawingml/2006/main" noGrp="1"/>
          </p:cNvSpPr>
          <p:nvPr/>
        </p:nvSpPr>
        <p:spPr>
          <a:xfrm xmlns:a="http://schemas.openxmlformats.org/drawingml/2006/main">
            <a:off x="2819400" y="3105150"/>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27" name="">
            <a:extLst xmlns:a="http://schemas.openxmlformats.org/drawingml/2006/main">
              <a:ext uri="{FF2B5EF4-FFF2-40B4-BE49-F238E27FC236}">
                <a16:creationId xmlns:a16="http://schemas.microsoft.com/office/drawing/2014/main" id="{3C27B92C-5AC3-4514-BC1F-0A53837361A1}"/>
              </a:ext>
            </a:extLst>
          </p:cNvPr>
          <p:cNvSpPr>
            <a:spLocks xmlns:a="http://schemas.openxmlformats.org/drawingml/2006/main" noGrp="1"/>
          </p:cNvSpPr>
          <p:nvPr/>
        </p:nvSpPr>
        <p:spPr>
          <a:xfrm xmlns:a="http://schemas.openxmlformats.org/drawingml/2006/main">
            <a:off x="2905125" y="347662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モデル</a:t>
            </a:r>
          </a:p>
        </p:txBody>
      </p:sp>
      <p:sp>
        <p:nvSpPr>
          <p:cNvPr id="28" name="">
            <a:extLst xmlns:a="http://schemas.openxmlformats.org/drawingml/2006/main">
              <a:ext uri="{FF2B5EF4-FFF2-40B4-BE49-F238E27FC236}">
                <a16:creationId xmlns:a16="http://schemas.microsoft.com/office/drawing/2014/main" id="{83996D02-6F94-4C5D-AA1C-C55B3871E20A}"/>
              </a:ext>
            </a:extLst>
          </p:cNvPr>
          <p:cNvSpPr>
            <a:spLocks xmlns:a="http://schemas.openxmlformats.org/drawingml/2006/main" noGrp="1"/>
          </p:cNvSpPr>
          <p:nvPr/>
        </p:nvSpPr>
        <p:spPr>
          <a:xfrm xmlns:a="http://schemas.openxmlformats.org/drawingml/2006/main">
            <a:off x="2905125" y="39243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DB0B8815-4281-46CF-AF1D-539CD825022D}"/>
              </a:ext>
            </a:extLst>
          </p:cNvPr>
          <p:cNvSpPr>
            <a:spLocks xmlns:a="http://schemas.openxmlformats.org/drawingml/2006/main" noGrp="1"/>
          </p:cNvSpPr>
          <p:nvPr/>
        </p:nvSpPr>
        <p:spPr>
          <a:xfrm xmlns:a="http://schemas.openxmlformats.org/drawingml/2006/main">
            <a:off x="2905125" y="437197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現場統合</a:t>
            </a:r>
          </a:p>
        </p:txBody>
      </p:sp>
      <p:sp>
        <p:nvSpPr>
          <p:cNvPr id="30" name="">
            <a:extLst xmlns:a="http://schemas.openxmlformats.org/drawingml/2006/main">
              <a:ext uri="{FF2B5EF4-FFF2-40B4-BE49-F238E27FC236}">
                <a16:creationId xmlns:a16="http://schemas.microsoft.com/office/drawing/2014/main" id="{D9D1CD8D-4BBE-4711-86F5-F68361B50C08}"/>
              </a:ext>
            </a:extLst>
          </p:cNvPr>
          <p:cNvSpPr>
            <a:spLocks xmlns:a="http://schemas.openxmlformats.org/drawingml/2006/main" noGrp="1"/>
          </p:cNvSpPr>
          <p:nvPr/>
        </p:nvSpPr>
        <p:spPr>
          <a:xfrm xmlns:a="http://schemas.openxmlformats.org/drawingml/2006/main">
            <a:off x="5048250" y="2266950"/>
            <a:ext cx="5619750" cy="4381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1" name="">
            <a:extLst xmlns:a="http://schemas.openxmlformats.org/drawingml/2006/main">
              <a:ext uri="{FF2B5EF4-FFF2-40B4-BE49-F238E27FC236}">
                <a16:creationId xmlns:a16="http://schemas.microsoft.com/office/drawing/2014/main" id="{D85BCB4A-171A-4059-B3F2-F24F2070C606}"/>
              </a:ext>
            </a:extLst>
          </p:cNvPr>
          <p:cNvSpPr>
            <a:spLocks xmlns:a="http://schemas.openxmlformats.org/drawingml/2006/main" noGrp="1"/>
          </p:cNvSpPr>
          <p:nvPr/>
        </p:nvSpPr>
        <p:spPr>
          <a:xfrm xmlns:a="http://schemas.openxmlformats.org/drawingml/2006/main">
            <a:off x="5219700" y="2371725"/>
            <a:ext cx="527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水平統合型：一つのレイヤーから多くの現場へ</a:t>
            </a:r>
          </a:p>
        </p:txBody>
      </p:sp>
      <p:sp>
        <p:nvSpPr>
          <p:cNvPr id="32" name="">
            <a:extLst xmlns:a="http://schemas.openxmlformats.org/drawingml/2006/main">
              <a:ext uri="{FF2B5EF4-FFF2-40B4-BE49-F238E27FC236}">
                <a16:creationId xmlns:a16="http://schemas.microsoft.com/office/drawing/2014/main" id="{A7E9CCB8-DC9A-4EA5-95FF-E30F24CDE86C}"/>
              </a:ext>
            </a:extLst>
          </p:cNvPr>
          <p:cNvSpPr>
            <a:spLocks xmlns:a="http://schemas.openxmlformats.org/drawingml/2006/main" noGrp="1"/>
          </p:cNvSpPr>
          <p:nvPr/>
        </p:nvSpPr>
        <p:spPr>
          <a:xfrm xmlns:a="http://schemas.openxmlformats.org/drawingml/2006/main">
            <a:off x="10372725" y="2705100"/>
            <a:ext cx="19050" cy="24574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3615BE3-F74E-4E32-8CB3-823F0267A0BE}"/>
              </a:ext>
            </a:extLst>
          </p:cNvPr>
          <p:cNvSpPr>
            <a:spLocks xmlns:a="http://schemas.openxmlformats.org/drawingml/2006/main" noGrp="1"/>
          </p:cNvSpPr>
          <p:nvPr/>
        </p:nvSpPr>
        <p:spPr>
          <a:xfrm xmlns:a="http://schemas.openxmlformats.org/drawingml/2006/main">
            <a:off x="8401050" y="28003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撮影で現場へ入る</a:t>
            </a:r>
          </a:p>
        </p:txBody>
      </p:sp>
      <p:sp>
        <p:nvSpPr>
          <p:cNvPr id="34" name="">
            <a:extLst xmlns:a="http://schemas.openxmlformats.org/drawingml/2006/main">
              <a:ext uri="{FF2B5EF4-FFF2-40B4-BE49-F238E27FC236}">
                <a16:creationId xmlns:a16="http://schemas.microsoft.com/office/drawing/2014/main" id="{9CDE904B-EEED-4876-8F3E-984665A3487D}"/>
              </a:ext>
            </a:extLst>
          </p:cNvPr>
          <p:cNvSpPr>
            <a:spLocks xmlns:a="http://schemas.openxmlformats.org/drawingml/2006/main" noGrp="1"/>
          </p:cNvSpPr>
          <p:nvPr/>
        </p:nvSpPr>
        <p:spPr>
          <a:xfrm xmlns:a="http://schemas.openxmlformats.org/drawingml/2006/main">
            <a:off x="8401050" y="47625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導入で現場へ入る</a:t>
            </a:r>
          </a:p>
        </p:txBody>
      </p:sp>
      <p:sp>
        <p:nvSpPr>
          <p:cNvPr id="35" name="">
            <a:extLst xmlns:a="http://schemas.openxmlformats.org/drawingml/2006/main">
              <a:ext uri="{FF2B5EF4-FFF2-40B4-BE49-F238E27FC236}">
                <a16:creationId xmlns:a16="http://schemas.microsoft.com/office/drawing/2014/main" id="{A1869B02-569A-4886-BD3E-7974061888D5}"/>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96B068E-5DD5-4166-BBC0-9D31E469811A}"/>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37" name="">
            <a:extLst xmlns:a="http://schemas.openxmlformats.org/drawingml/2006/main">
              <a:ext uri="{FF2B5EF4-FFF2-40B4-BE49-F238E27FC236}">
                <a16:creationId xmlns:a16="http://schemas.microsoft.com/office/drawing/2014/main" id="{F93DCCBC-9089-4C0E-9C7F-6F37AE075B07}"/>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1573619504"/>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B5C06370-7285-4C76-AC1E-57F043E9FA6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1CFD91-967A-468E-9800-8DBB7F571EC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現場を含むフィードバックループ</a:t>
            </a:r>
          </a:p>
        </p:txBody>
      </p:sp>
      <p:sp>
        <p:nvSpPr>
          <p:cNvPr id="3" name="">
            <a:extLst xmlns:a="http://schemas.openxmlformats.org/drawingml/2006/main">
              <a:ext uri="{FF2B5EF4-FFF2-40B4-BE49-F238E27FC236}">
                <a16:creationId xmlns:a16="http://schemas.microsoft.com/office/drawing/2014/main" id="{75F149DF-3ADB-4F1E-9A7D-43F6AEABB9A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2C81244-DAF4-4FB4-BC77-E82EF3A13B47}"/>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6D47AB71-0F20-4576-91C6-A3AC68BD9354}"/>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733CA06B-6E60-41F4-B3EA-02F3619C0216}"/>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07726219-4E86-4851-948F-D5CFB4AE5CDE}"/>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628B9531-B2AA-403B-AFB8-C5D3ABD41B40}"/>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5D6AD5F9-CE4E-4335-8174-ED8A8A6B8F07}"/>
              </a:ext>
            </a:extLst>
          </p:cNvPr>
          <p:cNvSpPr>
            <a:spLocks xmlns:a="http://schemas.openxmlformats.org/drawingml/2006/main" noGrp="1"/>
          </p:cNvSpPr>
          <p:nvPr/>
        </p:nvSpPr>
        <p:spPr>
          <a:xfrm xmlns:a="http://schemas.openxmlformats.org/drawingml/2006/main">
            <a:off x="723900" y="30384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DED9BECB-0547-44EC-AFFD-A01C9C9265EA}"/>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FD6048FD-ED51-4077-9BE8-E0415D844E21}"/>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FBEEC214-4470-4FE3-97C2-9C371B0DE3B2}"/>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BFCEADFE-4A93-4D14-86F7-9D8708FCDA48}"/>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D91B609A-E910-44BD-9682-8694D7004832}"/>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197374BA-3332-4352-83E3-D77884445C49}"/>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47C817F-B0C5-471A-83B0-CDD86DA5C1AE}"/>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E8B0BA89-3685-4E23-A9D2-94830380FF02}"/>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F891B7F-BF78-4E41-ABC4-CB30872C35CB}"/>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89631F0C-9C72-4E98-A63A-C01932289977}"/>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1C072FA-CD2D-4F48-A39A-5AB4EDC8E3BF}"/>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B9526623-C886-40FB-9941-61E73453CA5F}"/>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FF9E0FE-7B16-4F5A-A784-783644294BFF}"/>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D151C456-1F96-419E-AB38-FB17228CBB71}"/>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C7B858B-A4CD-4C55-BA9A-9C48C59DBDDF}"/>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71954F37-CE74-408C-B852-60FEEF360C60}"/>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78ED52EC-4B22-4A97-8029-5324EB9495A0}"/>
              </a:ext>
            </a:extLst>
          </p:cNvPr>
          <p:cNvSpPr>
            <a:spLocks xmlns:a="http://schemas.openxmlformats.org/drawingml/2006/main" noGrp="1"/>
          </p:cNvSpPr>
          <p:nvPr/>
        </p:nvSpPr>
        <p:spPr>
          <a:xfrm xmlns:a="http://schemas.openxmlformats.org/drawingml/2006/main">
            <a:off x="2790825" y="304800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a:t>
            </a:r>
          </a:p>
        </p:txBody>
      </p:sp>
      <p:sp>
        <p:nvSpPr>
          <p:cNvPr id="27" name="">
            <a:extLst xmlns:a="http://schemas.openxmlformats.org/drawingml/2006/main">
              <a:ext uri="{FF2B5EF4-FFF2-40B4-BE49-F238E27FC236}">
                <a16:creationId xmlns:a16="http://schemas.microsoft.com/office/drawing/2014/main" id="{7D50A678-7EC0-4EE7-910A-40C6F5F9E60E}"/>
              </a:ext>
            </a:extLst>
          </p:cNvPr>
          <p:cNvSpPr>
            <a:spLocks xmlns:a="http://schemas.openxmlformats.org/drawingml/2006/main" noGrp="1"/>
          </p:cNvSpPr>
          <p:nvPr/>
        </p:nvSpPr>
        <p:spPr>
          <a:xfrm xmlns:a="http://schemas.openxmlformats.org/drawingml/2006/main">
            <a:off x="2790825" y="32861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現場データで改善</a:t>
            </a:r>
          </a:p>
        </p:txBody>
      </p:sp>
      <p:sp>
        <p:nvSpPr>
          <p:cNvPr id="28" name="">
            <a:extLst xmlns:a="http://schemas.openxmlformats.org/drawingml/2006/main">
              <a:ext uri="{FF2B5EF4-FFF2-40B4-BE49-F238E27FC236}">
                <a16:creationId xmlns:a16="http://schemas.microsoft.com/office/drawing/2014/main" id="{78C0DF57-1167-4380-B279-A8F117062BEF}"/>
              </a:ext>
            </a:extLst>
          </p:cNvPr>
          <p:cNvSpPr>
            <a:spLocks xmlns:a="http://schemas.openxmlformats.org/drawingml/2006/main" noGrp="1"/>
          </p:cNvSpPr>
          <p:nvPr/>
        </p:nvSpPr>
        <p:spPr>
          <a:xfrm xmlns:a="http://schemas.openxmlformats.org/drawingml/2006/main">
            <a:off x="2790825" y="36671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819EB326-DFE9-4042-B29C-653B22C1320B}"/>
              </a:ext>
            </a:extLst>
          </p:cNvPr>
          <p:cNvSpPr>
            <a:spLocks xmlns:a="http://schemas.openxmlformats.org/drawingml/2006/main" noGrp="1"/>
          </p:cNvSpPr>
          <p:nvPr/>
        </p:nvSpPr>
        <p:spPr>
          <a:xfrm xmlns:a="http://schemas.openxmlformats.org/drawingml/2006/main">
            <a:off x="2790825" y="3905250"/>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機体・センサーへ反映</a:t>
            </a:r>
          </a:p>
        </p:txBody>
      </p:sp>
      <p:sp>
        <p:nvSpPr>
          <p:cNvPr id="30" name="">
            <a:extLst xmlns:a="http://schemas.openxmlformats.org/drawingml/2006/main">
              <a:ext uri="{FF2B5EF4-FFF2-40B4-BE49-F238E27FC236}">
                <a16:creationId xmlns:a16="http://schemas.microsoft.com/office/drawing/2014/main" id="{430DF2B4-F4DB-421F-803D-E8EDC03A4430}"/>
              </a:ext>
            </a:extLst>
          </p:cNvPr>
          <p:cNvSpPr>
            <a:spLocks xmlns:a="http://schemas.openxmlformats.org/drawingml/2006/main" noGrp="1"/>
          </p:cNvSpPr>
          <p:nvPr/>
        </p:nvSpPr>
        <p:spPr>
          <a:xfrm xmlns:a="http://schemas.openxmlformats.org/drawingml/2006/main">
            <a:off x="2790825" y="428625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31" name="">
            <a:extLst xmlns:a="http://schemas.openxmlformats.org/drawingml/2006/main">
              <a:ext uri="{FF2B5EF4-FFF2-40B4-BE49-F238E27FC236}">
                <a16:creationId xmlns:a16="http://schemas.microsoft.com/office/drawing/2014/main" id="{BBB56578-459A-450F-B453-B33BEB879575}"/>
              </a:ext>
            </a:extLst>
          </p:cNvPr>
          <p:cNvSpPr>
            <a:spLocks xmlns:a="http://schemas.openxmlformats.org/drawingml/2006/main" noGrp="1"/>
          </p:cNvSpPr>
          <p:nvPr/>
        </p:nvSpPr>
        <p:spPr>
          <a:xfrm xmlns:a="http://schemas.openxmlformats.org/drawingml/2006/main">
            <a:off x="2790825" y="452437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実作業へ導入</a:t>
            </a:r>
          </a:p>
        </p:txBody>
      </p:sp>
      <p:sp>
        <p:nvSpPr>
          <p:cNvPr id="32" name="">
            <a:extLst xmlns:a="http://schemas.openxmlformats.org/drawingml/2006/main">
              <a:ext uri="{FF2B5EF4-FFF2-40B4-BE49-F238E27FC236}">
                <a16:creationId xmlns:a16="http://schemas.microsoft.com/office/drawing/2014/main" id="{93AB7B7E-429F-409D-AD3C-89BDD1706E1A}"/>
              </a:ext>
            </a:extLst>
          </p:cNvPr>
          <p:cNvSpPr>
            <a:spLocks xmlns:a="http://schemas.openxmlformats.org/drawingml/2006/main" noGrp="1"/>
          </p:cNvSpPr>
          <p:nvPr/>
        </p:nvSpPr>
        <p:spPr>
          <a:xfrm xmlns:a="http://schemas.openxmlformats.org/drawingml/2006/main">
            <a:off x="3448050" y="34956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3" name="">
            <a:extLst xmlns:a="http://schemas.openxmlformats.org/drawingml/2006/main">
              <a:ext uri="{FF2B5EF4-FFF2-40B4-BE49-F238E27FC236}">
                <a16:creationId xmlns:a16="http://schemas.microsoft.com/office/drawing/2014/main" id="{3EF7441A-12E5-4F7C-BC9E-1CEE96AB6D4A}"/>
              </a:ext>
            </a:extLst>
          </p:cNvPr>
          <p:cNvSpPr>
            <a:spLocks xmlns:a="http://schemas.openxmlformats.org/drawingml/2006/main" noGrp="1"/>
          </p:cNvSpPr>
          <p:nvPr/>
        </p:nvSpPr>
        <p:spPr>
          <a:xfrm xmlns:a="http://schemas.openxmlformats.org/drawingml/2006/main">
            <a:off x="3448050" y="41148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4" name="">
            <a:extLst xmlns:a="http://schemas.openxmlformats.org/drawingml/2006/main">
              <a:ext uri="{FF2B5EF4-FFF2-40B4-BE49-F238E27FC236}">
                <a16:creationId xmlns:a16="http://schemas.microsoft.com/office/drawing/2014/main" id="{4690F6F0-1F92-43A0-8C36-697EEF580F6D}"/>
              </a:ext>
            </a:extLst>
          </p:cNvPr>
          <p:cNvSpPr>
            <a:spLocks xmlns:a="http://schemas.openxmlformats.org/drawingml/2006/main" noGrp="1"/>
          </p:cNvSpPr>
          <p:nvPr/>
        </p:nvSpPr>
        <p:spPr>
          <a:xfrm xmlns:a="http://schemas.openxmlformats.org/drawingml/2006/main">
            <a:off x="4600575" y="4514850"/>
            <a:ext cx="538162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EFD077C-5BF6-42B9-9F84-23650CD85DFA}"/>
              </a:ext>
            </a:extLst>
          </p:cNvPr>
          <p:cNvSpPr>
            <a:spLocks xmlns:a="http://schemas.openxmlformats.org/drawingml/2006/main" noGrp="1"/>
          </p:cNvSpPr>
          <p:nvPr/>
        </p:nvSpPr>
        <p:spPr>
          <a:xfrm xmlns:a="http://schemas.openxmlformats.org/drawingml/2006/main">
            <a:off x="9972675" y="2657475"/>
            <a:ext cx="19050" cy="18764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110A7E2-8AB5-47D9-AC1B-11BBA348A340}"/>
              </a:ext>
            </a:extLst>
          </p:cNvPr>
          <p:cNvSpPr>
            <a:spLocks xmlns:a="http://schemas.openxmlformats.org/drawingml/2006/main" noGrp="1"/>
          </p:cNvSpPr>
          <p:nvPr/>
        </p:nvSpPr>
        <p:spPr>
          <a:xfrm xmlns:a="http://schemas.openxmlformats.org/drawingml/2006/main">
            <a:off x="4600575" y="2657475"/>
            <a:ext cx="53911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C45FA3B-BE7C-49C4-BF86-07C5DCA8B72B}"/>
              </a:ext>
            </a:extLst>
          </p:cNvPr>
          <p:cNvSpPr>
            <a:spLocks xmlns:a="http://schemas.openxmlformats.org/drawingml/2006/main" noGrp="1"/>
          </p:cNvSpPr>
          <p:nvPr/>
        </p:nvSpPr>
        <p:spPr>
          <a:xfrm xmlns:a="http://schemas.openxmlformats.org/drawingml/2006/main">
            <a:off x="6600825" y="23812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現場で得たデータを戻す</a:t>
            </a:r>
          </a:p>
        </p:txBody>
      </p:sp>
      <p:sp>
        <p:nvSpPr>
          <p:cNvPr id="38" name="">
            <a:extLst xmlns:a="http://schemas.openxmlformats.org/drawingml/2006/main">
              <a:ext uri="{FF2B5EF4-FFF2-40B4-BE49-F238E27FC236}">
                <a16:creationId xmlns:a16="http://schemas.microsoft.com/office/drawing/2014/main" id="{923BF5F1-0D8D-4C58-8A2F-DEEC37AD219C}"/>
              </a:ext>
            </a:extLst>
          </p:cNvPr>
          <p:cNvSpPr>
            <a:spLocks xmlns:a="http://schemas.openxmlformats.org/drawingml/2006/main" noGrp="1"/>
          </p:cNvSpPr>
          <p:nvPr/>
        </p:nvSpPr>
        <p:spPr>
          <a:xfrm xmlns:a="http://schemas.openxmlformats.org/drawingml/2006/main">
            <a:off x="4705350" y="43338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a:t>
            </a:r>
          </a:p>
        </p:txBody>
      </p:sp>
      <p:sp>
        <p:nvSpPr>
          <p:cNvPr id="39" name="">
            <a:extLst xmlns:a="http://schemas.openxmlformats.org/drawingml/2006/main">
              <a:ext uri="{FF2B5EF4-FFF2-40B4-BE49-F238E27FC236}">
                <a16:creationId xmlns:a16="http://schemas.microsoft.com/office/drawing/2014/main" id="{C63ED704-5010-4E32-947E-93362D2C5214}"/>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2EAFA0F2-2EEB-46E5-90C7-AC79820DF2D6}"/>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41" name="">
            <a:extLst xmlns:a="http://schemas.openxmlformats.org/drawingml/2006/main">
              <a:ext uri="{FF2B5EF4-FFF2-40B4-BE49-F238E27FC236}">
                <a16:creationId xmlns:a16="http://schemas.microsoft.com/office/drawing/2014/main" id="{89B17544-216E-430D-9D07-493DA6A9995D}"/>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1551784068"/>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D092943-DB73-4CD4-A1F3-D87E8975178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1B8C45-413D-4BAA-8B75-22C1DF4E78E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現場データ収集という入口</a:t>
            </a:r>
          </a:p>
        </p:txBody>
      </p:sp>
      <p:sp>
        <p:nvSpPr>
          <p:cNvPr id="3" name="">
            <a:extLst xmlns:a="http://schemas.openxmlformats.org/drawingml/2006/main">
              <a:ext uri="{FF2B5EF4-FFF2-40B4-BE49-F238E27FC236}">
                <a16:creationId xmlns:a16="http://schemas.microsoft.com/office/drawing/2014/main" id="{806C86C2-18B7-4CBE-9B91-91E2FA0F589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FCD4D6F-8852-4F99-8DD2-92597C3E0C6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1C78CB7F-7790-48C3-A42E-1F95D58D63F0}"/>
              </a:ext>
            </a:extLst>
          </p:cNvPr>
          <p:cNvSpPr>
            <a:spLocks xmlns:a="http://schemas.openxmlformats.org/drawingml/2006/main" noGrp="1"/>
          </p:cNvSpPr>
          <p:nvPr/>
        </p:nvSpPr>
        <p:spPr>
          <a:xfrm xmlns:a="http://schemas.openxmlformats.org/drawingml/2006/main">
            <a:off x="723900" y="1924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接続する現場</a:t>
            </a:r>
          </a:p>
        </p:txBody>
      </p:sp>
      <p:sp>
        <p:nvSpPr>
          <p:cNvPr id="6" name="">
            <a:extLst xmlns:a="http://schemas.openxmlformats.org/drawingml/2006/main">
              <a:ext uri="{FF2B5EF4-FFF2-40B4-BE49-F238E27FC236}">
                <a16:creationId xmlns:a16="http://schemas.microsoft.com/office/drawing/2014/main" id="{6A769F9C-73F7-4BA8-B0E1-1E35319428DD}"/>
              </a:ext>
            </a:extLst>
          </p:cNvPr>
          <p:cNvSpPr>
            <a:spLocks xmlns:a="http://schemas.openxmlformats.org/drawingml/2006/main" noGrp="1"/>
          </p:cNvSpPr>
          <p:nvPr/>
        </p:nvSpPr>
        <p:spPr>
          <a:xfrm xmlns:a="http://schemas.openxmlformats.org/drawingml/2006/main">
            <a:off x="3810000" y="192405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人間の作業を撮影するため、ロボットの動作開発よりも業種をまたぎやすい。</a:t>
            </a:r>
          </a:p>
        </p:txBody>
      </p:sp>
      <p:sp>
        <p:nvSpPr>
          <p:cNvPr id="7" name="">
            <a:extLst xmlns:a="http://schemas.openxmlformats.org/drawingml/2006/main">
              <a:ext uri="{FF2B5EF4-FFF2-40B4-BE49-F238E27FC236}">
                <a16:creationId xmlns:a16="http://schemas.microsoft.com/office/drawing/2014/main" id="{38697AF9-600F-4714-98C4-2CE2B132E67D}"/>
              </a:ext>
            </a:extLst>
          </p:cNvPr>
          <p:cNvSpPr>
            <a:spLocks xmlns:a="http://schemas.openxmlformats.org/drawingml/2006/main" noGrp="1"/>
          </p:cNvSpPr>
          <p:nvPr/>
        </p:nvSpPr>
        <p:spPr>
          <a:xfrm xmlns:a="http://schemas.openxmlformats.org/drawingml/2006/main">
            <a:off x="723900" y="28479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DFFF1D7-AA62-4435-9A73-D486248E4BCD}"/>
              </a:ext>
            </a:extLst>
          </p:cNvPr>
          <p:cNvSpPr>
            <a:spLocks xmlns:a="http://schemas.openxmlformats.org/drawingml/2006/main" noGrp="1"/>
          </p:cNvSpPr>
          <p:nvPr/>
        </p:nvSpPr>
        <p:spPr>
          <a:xfrm xmlns:a="http://schemas.openxmlformats.org/drawingml/2006/main">
            <a:off x="723900" y="3019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現場へ入る手続き</a:t>
            </a:r>
          </a:p>
        </p:txBody>
      </p:sp>
      <p:sp>
        <p:nvSpPr>
          <p:cNvPr id="9" name="">
            <a:extLst xmlns:a="http://schemas.openxmlformats.org/drawingml/2006/main">
              <a:ext uri="{FF2B5EF4-FFF2-40B4-BE49-F238E27FC236}">
                <a16:creationId xmlns:a16="http://schemas.microsoft.com/office/drawing/2014/main" id="{256B842B-5BBE-4EE9-B4E4-4B1469A45735}"/>
              </a:ext>
            </a:extLst>
          </p:cNvPr>
          <p:cNvSpPr>
            <a:spLocks xmlns:a="http://schemas.openxmlformats.org/drawingml/2006/main" noGrp="1"/>
          </p:cNvSpPr>
          <p:nvPr/>
        </p:nvSpPr>
        <p:spPr>
          <a:xfrm xmlns:a="http://schemas.openxmlformats.org/drawingml/2006/main">
            <a:off x="3810000" y="3019425"/>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現場の許可、スタッフへの説明、プライバシー対応が必要になる。</a:t>
            </a:r>
          </a:p>
        </p:txBody>
      </p:sp>
      <p:sp>
        <p:nvSpPr>
          <p:cNvPr id="10" name="">
            <a:extLst xmlns:a="http://schemas.openxmlformats.org/drawingml/2006/main">
              <a:ext uri="{FF2B5EF4-FFF2-40B4-BE49-F238E27FC236}">
                <a16:creationId xmlns:a16="http://schemas.microsoft.com/office/drawing/2014/main" id="{6B1918F7-2FCE-4DAE-8C57-06B6B92A45FD}"/>
              </a:ext>
            </a:extLst>
          </p:cNvPr>
          <p:cNvSpPr>
            <a:spLocks xmlns:a="http://schemas.openxmlformats.org/drawingml/2006/main" noGrp="1"/>
          </p:cNvSpPr>
          <p:nvPr/>
        </p:nvSpPr>
        <p:spPr>
          <a:xfrm xmlns:a="http://schemas.openxmlformats.org/drawingml/2006/main">
            <a:off x="723900" y="39433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7F08C2F-9AC6-4CE6-A133-74BBA6B79043}"/>
              </a:ext>
            </a:extLst>
          </p:cNvPr>
          <p:cNvSpPr>
            <a:spLocks xmlns:a="http://schemas.openxmlformats.org/drawingml/2006/main" noGrp="1"/>
          </p:cNvSpPr>
          <p:nvPr/>
        </p:nvSpPr>
        <p:spPr>
          <a:xfrm xmlns:a="http://schemas.openxmlformats.org/drawingml/2006/main">
            <a:off x="723900" y="411480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撮影後に残るもの</a:t>
            </a:r>
          </a:p>
        </p:txBody>
      </p:sp>
      <p:sp>
        <p:nvSpPr>
          <p:cNvPr id="12" name="">
            <a:extLst xmlns:a="http://schemas.openxmlformats.org/drawingml/2006/main">
              <a:ext uri="{FF2B5EF4-FFF2-40B4-BE49-F238E27FC236}">
                <a16:creationId xmlns:a16="http://schemas.microsoft.com/office/drawing/2014/main" id="{90A26ECC-4E2C-4A64-96AF-2A26B5CF517D}"/>
              </a:ext>
            </a:extLst>
          </p:cNvPr>
          <p:cNvSpPr>
            <a:spLocks xmlns:a="http://schemas.openxmlformats.org/drawingml/2006/main" noGrp="1"/>
          </p:cNvSpPr>
          <p:nvPr/>
        </p:nvSpPr>
        <p:spPr>
          <a:xfrm xmlns:a="http://schemas.openxmlformats.org/drawingml/2006/main">
            <a:off x="3810000" y="411480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ロボット導入前のワークフロー、現場との関係、継続撮影の運用知識。</a:t>
            </a:r>
          </a:p>
        </p:txBody>
      </p:sp>
      <p:sp>
        <p:nvSpPr>
          <p:cNvPr id="13" name="">
            <a:extLst xmlns:a="http://schemas.openxmlformats.org/drawingml/2006/main">
              <a:ext uri="{FF2B5EF4-FFF2-40B4-BE49-F238E27FC236}">
                <a16:creationId xmlns:a16="http://schemas.microsoft.com/office/drawing/2014/main" id="{842B64AE-93A5-4CEB-9183-FCAF02C32E8F}"/>
              </a:ext>
            </a:extLst>
          </p:cNvPr>
          <p:cNvSpPr>
            <a:spLocks xmlns:a="http://schemas.openxmlformats.org/drawingml/2006/main" noGrp="1"/>
          </p:cNvSpPr>
          <p:nvPr/>
        </p:nvSpPr>
        <p:spPr>
          <a:xfrm xmlns:a="http://schemas.openxmlformats.org/drawingml/2006/main">
            <a:off x="723900" y="50387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2029267185"/>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2C425E0-6DED-4F06-B63C-1428E2F1427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DA8224-9E7C-43C5-8635-92FAD1FFB6D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事業の構造</a:t>
            </a:r>
          </a:p>
        </p:txBody>
      </p:sp>
      <p:sp>
        <p:nvSpPr>
          <p:cNvPr id="3" name="">
            <a:extLst xmlns:a="http://schemas.openxmlformats.org/drawingml/2006/main">
              <a:ext uri="{FF2B5EF4-FFF2-40B4-BE49-F238E27FC236}">
                <a16:creationId xmlns:a16="http://schemas.microsoft.com/office/drawing/2014/main" id="{7B2925EB-6921-4492-899C-1CE19C52300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C593D5-AD2F-4C43-887E-D356A3A6CFF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67D25D8E-A25A-4961-B181-9C8A06F5DE9C}"/>
              </a:ext>
            </a:extLst>
          </p:cNvPr>
          <p:cNvSpPr>
            <a:spLocks xmlns:a="http://schemas.openxmlformats.org/drawingml/2006/main" noGrp="1"/>
          </p:cNvSpPr>
          <p:nvPr/>
        </p:nvSpPr>
        <p:spPr>
          <a:xfrm xmlns:a="http://schemas.openxmlformats.org/drawingml/2006/main">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CB03135B-00D7-426D-B95E-5D99575ABA0E}"/>
              </a:ext>
            </a:extLst>
          </p:cNvPr>
          <p:cNvSpPr>
            <a:spLocks xmlns:a="http://schemas.openxmlformats.org/drawingml/2006/main" noGrp="1"/>
          </p:cNvSpPr>
          <p:nvPr/>
        </p:nvSpPr>
        <p:spPr>
          <a:xfrm xmlns:a="http://schemas.openxmlformats.org/drawingml/2006/main">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B5C0E484-8BA6-44FB-BE5C-C62DC4B28135}"/>
              </a:ext>
            </a:extLst>
          </p:cNvPr>
          <p:cNvSpPr>
            <a:spLocks xmlns:a="http://schemas.openxmlformats.org/drawingml/2006/main" noGrp="1"/>
          </p:cNvSpPr>
          <p:nvPr/>
        </p:nvSpPr>
        <p:spPr>
          <a:xfrm xmlns:a="http://schemas.openxmlformats.org/drawingml/2006/main">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71449F5D-D143-4814-872D-CBA03D6DDC4A}"/>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206163CA-DFE6-4A4B-A5A2-3846856451F8}"/>
              </a:ext>
            </a:extLst>
          </p:cNvPr>
          <p:cNvSpPr>
            <a:spLocks xmlns:a="http://schemas.openxmlformats.org/drawingml/2006/main" noGrp="1"/>
          </p:cNvSpPr>
          <p:nvPr/>
        </p:nvSpPr>
        <p:spPr>
          <a:xfrm xmlns:a="http://schemas.openxmlformats.org/drawingml/2006/main">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AE196711-5A63-4451-AFCE-2F4E720CA369}"/>
              </a:ext>
            </a:extLst>
          </p:cNvPr>
          <p:cNvSpPr>
            <a:spLocks xmlns:a="http://schemas.openxmlformats.org/drawingml/2006/main" noGrp="1"/>
          </p:cNvSpPr>
          <p:nvPr/>
        </p:nvSpPr>
        <p:spPr>
          <a:xfrm xmlns:a="http://schemas.openxmlformats.org/drawingml/2006/main">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5F8FE1B4-F3F5-4894-B9C7-98069B69693E}"/>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FF05033-C766-44F0-90DE-9A585FD47CF9}"/>
              </a:ext>
            </a:extLst>
          </p:cNvPr>
          <p:cNvSpPr>
            <a:spLocks xmlns:a="http://schemas.openxmlformats.org/drawingml/2006/main" noGrp="1"/>
          </p:cNvSpPr>
          <p:nvPr/>
        </p:nvSpPr>
        <p:spPr>
          <a:xfrm xmlns:a="http://schemas.openxmlformats.org/drawingml/2006/main">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FAC4E5D8-D053-485E-9AE2-96C720F6C4DE}"/>
              </a:ext>
            </a:extLst>
          </p:cNvPr>
          <p:cNvSpPr>
            <a:spLocks xmlns:a="http://schemas.openxmlformats.org/drawingml/2006/main" noGrp="1"/>
          </p:cNvSpPr>
          <p:nvPr/>
        </p:nvSpPr>
        <p:spPr>
          <a:xfrm xmlns:a="http://schemas.openxmlformats.org/drawingml/2006/main">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現場運用</a:t>
            </a:r>
          </a:p>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データ品質</a:t>
            </a:r>
          </a:p>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53D030BA-65DC-4AAC-B030-83515BFE6943}"/>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36FC8DBC-3746-468D-ADAF-9160677B818F}"/>
              </a:ext>
            </a:extLst>
          </p:cNvPr>
          <p:cNvSpPr>
            <a:spLocks xmlns:a="http://schemas.openxmlformats.org/drawingml/2006/main" noGrp="1"/>
          </p:cNvSpPr>
          <p:nvPr/>
        </p:nvSpPr>
        <p:spPr>
          <a:xfrm xmlns:a="http://schemas.openxmlformats.org/drawingml/2006/main">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D5A38032-792E-4088-B096-308E0C0A94FC}"/>
              </a:ext>
            </a:extLst>
          </p:cNvPr>
          <p:cNvSpPr>
            <a:spLocks xmlns:a="http://schemas.openxmlformats.org/drawingml/2006/main" noGrp="1"/>
          </p:cNvSpPr>
          <p:nvPr/>
        </p:nvSpPr>
        <p:spPr>
          <a:xfrm xmlns:a="http://schemas.openxmlformats.org/drawingml/2006/main">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A9F31EA6-C551-413A-97D9-C8022CD1AE89}"/>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0D52525-1202-48C5-A3BE-374B47040AE1}"/>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5858769-CFC4-489A-BB44-9DF7B119F40A}"/>
              </a:ext>
            </a:extLst>
          </p:cNvPr>
          <p:cNvSpPr>
            <a:spLocks xmlns:a="http://schemas.openxmlformats.org/drawingml/2006/main" noGrp="1"/>
          </p:cNvSpPr>
          <p:nvPr/>
        </p:nvSpPr>
        <p:spPr>
          <a:xfrm xmlns:a="http://schemas.openxmlformats.org/drawingml/2006/main">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A503035B-CBC8-49D0-8E03-E07E60809E90}"/>
              </a:ext>
            </a:extLst>
          </p:cNvPr>
          <p:cNvSpPr>
            <a:spLocks xmlns:a="http://schemas.openxmlformats.org/drawingml/2006/main" noGrp="1"/>
          </p:cNvSpPr>
          <p:nvPr/>
        </p:nvSpPr>
        <p:spPr>
          <a:xfrm xmlns:a="http://schemas.openxmlformats.org/drawingml/2006/main">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55257CF1-34C1-42CB-91F6-8346E1D11866}"/>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5D021EE-FBA2-4D76-B30B-E400B2B1B8AA}"/>
              </a:ext>
            </a:extLst>
          </p:cNvPr>
          <p:cNvSpPr>
            <a:spLocks xmlns:a="http://schemas.openxmlformats.org/drawingml/2006/main" noGrp="1"/>
          </p:cNvSpPr>
          <p:nvPr/>
        </p:nvSpPr>
        <p:spPr>
          <a:xfrm xmlns:a="http://schemas.openxmlformats.org/drawingml/2006/main">
            <a:off x="723900" y="51530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現在は現場開拓が先行している。販売側では、一定の収集規模に達することが商談を進める条件になっている。</a:t>
            </a:r>
          </a:p>
        </p:txBody>
      </p:sp>
    </p:spTree>
    <p:extLst>
      <p:ext uri="{BB962C8B-B14F-4D97-AF65-F5344CB8AC3E}">
        <p14:creationId xmlns:p14="http://schemas.microsoft.com/office/powerpoint/2010/main" val="312577644"/>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0F347E8-3C12-47B6-91A2-49DEF7B7F98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329CB6-2A10-4A71-9CF1-269CAB7E71B6}"/>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現在の現場開拓</a:t>
            </a:r>
          </a:p>
        </p:txBody>
      </p:sp>
      <p:sp>
        <p:nvSpPr>
          <p:cNvPr id="3" name="">
            <a:extLst xmlns:a="http://schemas.openxmlformats.org/drawingml/2006/main">
              <a:ext uri="{FF2B5EF4-FFF2-40B4-BE49-F238E27FC236}">
                <a16:creationId xmlns:a16="http://schemas.microsoft.com/office/drawing/2014/main" id="{6D143C52-5152-407D-A73E-DF64C799E3D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5CDF078-EAE7-4202-B8ED-A11C2457260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7E8D4982-4D10-4145-A372-B1B5403A90DE}"/>
              </a:ext>
            </a:extLst>
          </p:cNvPr>
          <p:cNvSpPr>
            <a:spLocks xmlns:a="http://schemas.openxmlformats.org/drawingml/2006/main" noGrp="1"/>
          </p:cNvSpPr>
          <p:nvPr/>
        </p:nvSpPr>
        <p:spPr>
          <a:xfrm xmlns:a="http://schemas.openxmlformats.org/drawingml/2006/main">
            <a:off x="723900" y="19145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訪問</a:t>
            </a:r>
          </a:p>
        </p:txBody>
      </p:sp>
      <p:sp>
        <p:nvSpPr>
          <p:cNvPr id="6" name="">
            <a:extLst xmlns:a="http://schemas.openxmlformats.org/drawingml/2006/main">
              <a:ext uri="{FF2B5EF4-FFF2-40B4-BE49-F238E27FC236}">
                <a16:creationId xmlns:a16="http://schemas.microsoft.com/office/drawing/2014/main" id="{658D2080-66CB-42C1-A19A-2C1C5EDE1210}"/>
              </a:ext>
            </a:extLst>
          </p:cNvPr>
          <p:cNvSpPr>
            <a:spLocks xmlns:a="http://schemas.openxmlformats.org/drawingml/2006/main" noGrp="1"/>
          </p:cNvSpPr>
          <p:nvPr/>
        </p:nvSpPr>
        <p:spPr>
          <a:xfrm xmlns:a="http://schemas.openxmlformats.org/drawingml/2006/main">
            <a:off x="2857500" y="1914525"/>
            <a:ext cx="828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飛び込みで約30件の現場へ訪問した。</a:t>
            </a:r>
          </a:p>
        </p:txBody>
      </p:sp>
      <p:sp>
        <p:nvSpPr>
          <p:cNvPr id="7" name="">
            <a:extLst xmlns:a="http://schemas.openxmlformats.org/drawingml/2006/main">
              <a:ext uri="{FF2B5EF4-FFF2-40B4-BE49-F238E27FC236}">
                <a16:creationId xmlns:a16="http://schemas.microsoft.com/office/drawing/2014/main" id="{B27C0F8F-3E50-4D15-9956-A7D026760891}"/>
              </a:ext>
            </a:extLst>
          </p:cNvPr>
          <p:cNvSpPr>
            <a:spLocks xmlns:a="http://schemas.openxmlformats.org/drawingml/2006/main" noGrp="1"/>
          </p:cNvSpPr>
          <p:nvPr/>
        </p:nvSpPr>
        <p:spPr>
          <a:xfrm xmlns:a="http://schemas.openxmlformats.org/drawingml/2006/main">
            <a:off x="723900" y="2667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76466E7-A5E1-47B0-BB64-09BA75568D1D}"/>
              </a:ext>
            </a:extLst>
          </p:cNvPr>
          <p:cNvSpPr>
            <a:spLocks xmlns:a="http://schemas.openxmlformats.org/drawingml/2006/main" noGrp="1"/>
          </p:cNvSpPr>
          <p:nvPr/>
        </p:nvSpPr>
        <p:spPr>
          <a:xfrm xmlns:a="http://schemas.openxmlformats.org/drawingml/2006/main">
            <a:off x="723900" y="28289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撮影済み</a:t>
            </a:r>
          </a:p>
        </p:txBody>
      </p:sp>
      <p:sp>
        <p:nvSpPr>
          <p:cNvPr id="9" name="">
            <a:extLst xmlns:a="http://schemas.openxmlformats.org/drawingml/2006/main">
              <a:ext uri="{FF2B5EF4-FFF2-40B4-BE49-F238E27FC236}">
                <a16:creationId xmlns:a16="http://schemas.microsoft.com/office/drawing/2014/main" id="{EC661150-B614-4583-977D-A6F12CA261BF}"/>
              </a:ext>
            </a:extLst>
          </p:cNvPr>
          <p:cNvSpPr>
            <a:spLocks xmlns:a="http://schemas.openxmlformats.org/drawingml/2006/main" noGrp="1"/>
          </p:cNvSpPr>
          <p:nvPr/>
        </p:nvSpPr>
        <p:spPr>
          <a:xfrm xmlns:a="http://schemas.openxmlformats.org/drawingml/2006/main">
            <a:off x="2857500" y="2828925"/>
            <a:ext cx="828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ベーカリーで装着テストを行い、合計約50時間を収集した。</a:t>
            </a:r>
          </a:p>
        </p:txBody>
      </p:sp>
      <p:sp>
        <p:nvSpPr>
          <p:cNvPr id="10" name="">
            <a:extLst xmlns:a="http://schemas.openxmlformats.org/drawingml/2006/main">
              <a:ext uri="{FF2B5EF4-FFF2-40B4-BE49-F238E27FC236}">
                <a16:creationId xmlns:a16="http://schemas.microsoft.com/office/drawing/2014/main" id="{18CD8D03-00D4-49BA-A7F7-1487E2B7466C}"/>
              </a:ext>
            </a:extLst>
          </p:cNvPr>
          <p:cNvSpPr>
            <a:spLocks xmlns:a="http://schemas.openxmlformats.org/drawingml/2006/main" noGrp="1"/>
          </p:cNvSpPr>
          <p:nvPr/>
        </p:nvSpPr>
        <p:spPr>
          <a:xfrm xmlns:a="http://schemas.openxmlformats.org/drawingml/2006/main">
            <a:off x="723900" y="35814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53D3BE-9C3B-48D0-845A-A071157140A2}"/>
              </a:ext>
            </a:extLst>
          </p:cNvPr>
          <p:cNvSpPr>
            <a:spLocks xmlns:a="http://schemas.openxmlformats.org/drawingml/2006/main" noGrp="1"/>
          </p:cNvSpPr>
          <p:nvPr/>
        </p:nvSpPr>
        <p:spPr>
          <a:xfrm xmlns:a="http://schemas.openxmlformats.org/drawingml/2006/main">
            <a:off x="723900" y="37433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手続き中</a:t>
            </a:r>
          </a:p>
        </p:txBody>
      </p:sp>
      <p:sp>
        <p:nvSpPr>
          <p:cNvPr id="12" name="">
            <a:extLst xmlns:a="http://schemas.openxmlformats.org/drawingml/2006/main">
              <a:ext uri="{FF2B5EF4-FFF2-40B4-BE49-F238E27FC236}">
                <a16:creationId xmlns:a16="http://schemas.microsoft.com/office/drawing/2014/main" id="{73B1EEF4-7298-46EB-BB00-961A34CB8DA7}"/>
              </a:ext>
            </a:extLst>
          </p:cNvPr>
          <p:cNvSpPr>
            <a:spLocks xmlns:a="http://schemas.openxmlformats.org/drawingml/2006/main" noGrp="1"/>
          </p:cNvSpPr>
          <p:nvPr/>
        </p:nvSpPr>
        <p:spPr>
          <a:xfrm xmlns:a="http://schemas.openxmlformats.org/drawingml/2006/main">
            <a:off x="2857500" y="3743325"/>
            <a:ext cx="828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SNS経由で接触した神戸のカフェチェーン一社と、撮影合意の手続きを進めている。</a:t>
            </a:r>
          </a:p>
        </p:txBody>
      </p:sp>
      <p:sp>
        <p:nvSpPr>
          <p:cNvPr id="13" name="">
            <a:extLst xmlns:a="http://schemas.openxmlformats.org/drawingml/2006/main">
              <a:ext uri="{FF2B5EF4-FFF2-40B4-BE49-F238E27FC236}">
                <a16:creationId xmlns:a16="http://schemas.microsoft.com/office/drawing/2014/main" id="{37FEE7E7-D340-4654-9EDD-5F9F4C8A96EB}"/>
              </a:ext>
            </a:extLst>
          </p:cNvPr>
          <p:cNvSpPr>
            <a:spLocks xmlns:a="http://schemas.openxmlformats.org/drawingml/2006/main" noGrp="1"/>
          </p:cNvSpPr>
          <p:nvPr/>
        </p:nvSpPr>
        <p:spPr>
          <a:xfrm xmlns:a="http://schemas.openxmlformats.org/drawingml/2006/main">
            <a:off x="723900" y="44958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FD75B47-719B-46B3-B0CB-209B9E64414F}"/>
              </a:ext>
            </a:extLst>
          </p:cNvPr>
          <p:cNvSpPr>
            <a:spLocks xmlns:a="http://schemas.openxmlformats.org/drawingml/2006/main" noGrp="1"/>
          </p:cNvSpPr>
          <p:nvPr/>
        </p:nvSpPr>
        <p:spPr>
          <a:xfrm xmlns:a="http://schemas.openxmlformats.org/drawingml/2006/main">
            <a:off x="723900" y="46577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説明予定</a:t>
            </a:r>
          </a:p>
        </p:txBody>
      </p:sp>
      <p:sp>
        <p:nvSpPr>
          <p:cNvPr id="15" name="">
            <a:extLst xmlns:a="http://schemas.openxmlformats.org/drawingml/2006/main">
              <a:ext uri="{FF2B5EF4-FFF2-40B4-BE49-F238E27FC236}">
                <a16:creationId xmlns:a16="http://schemas.microsoft.com/office/drawing/2014/main" id="{EAB69CF7-F2D1-44A0-80BD-F9FDD5157A33}"/>
              </a:ext>
            </a:extLst>
          </p:cNvPr>
          <p:cNvSpPr>
            <a:spLocks xmlns:a="http://schemas.openxmlformats.org/drawingml/2006/main" noGrp="1"/>
          </p:cNvSpPr>
          <p:nvPr/>
        </p:nvSpPr>
        <p:spPr>
          <a:xfrm xmlns:a="http://schemas.openxmlformats.org/drawingml/2006/main">
            <a:off x="2857500" y="4657725"/>
            <a:ext cx="828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紹介を通じて関西のスーパーマーケット一社と接触し、9月17日に説明する予定。</a:t>
            </a:r>
          </a:p>
        </p:txBody>
      </p:sp>
      <p:sp>
        <p:nvSpPr>
          <p:cNvPr id="16" name="">
            <a:extLst xmlns:a="http://schemas.openxmlformats.org/drawingml/2006/main">
              <a:ext uri="{FF2B5EF4-FFF2-40B4-BE49-F238E27FC236}">
                <a16:creationId xmlns:a16="http://schemas.microsoft.com/office/drawing/2014/main" id="{6944AA4E-8187-4319-AA51-DDBD98A8CB0D}"/>
              </a:ext>
            </a:extLst>
          </p:cNvPr>
          <p:cNvSpPr>
            <a:spLocks xmlns:a="http://schemas.openxmlformats.org/drawingml/2006/main" noGrp="1"/>
          </p:cNvSpPr>
          <p:nvPr/>
        </p:nvSpPr>
        <p:spPr>
          <a:xfrm xmlns:a="http://schemas.openxmlformats.org/drawingml/2006/main">
            <a:off x="723900" y="5410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F88206C-515E-4887-9697-3101D5C78183}"/>
              </a:ext>
            </a:extLst>
          </p:cNvPr>
          <p:cNvSpPr>
            <a:spLocks xmlns:a="http://schemas.openxmlformats.org/drawingml/2006/main" noGrp="1"/>
          </p:cNvSpPr>
          <p:nvPr/>
        </p:nvSpPr>
        <p:spPr>
          <a:xfrm xmlns:a="http://schemas.openxmlformats.org/drawingml/2006/main">
            <a:off x="723900" y="58293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完了した撮影と、合意・商談中の案件を分けて記載。</a:t>
            </a:r>
          </a:p>
        </p:txBody>
      </p:sp>
    </p:spTree>
    <p:extLst>
      <p:ext uri="{BB962C8B-B14F-4D97-AF65-F5344CB8AC3E}">
        <p14:creationId xmlns:p14="http://schemas.microsoft.com/office/powerpoint/2010/main" val="664712603"/>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3CDF8F-6AF4-41A9-B15A-5B62FF2A1A1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7930C7-D58E-4DB5-A7F1-2D5F856EFCB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販売先開拓</a:t>
            </a:r>
          </a:p>
        </p:txBody>
      </p:sp>
      <p:sp>
        <p:nvSpPr>
          <p:cNvPr id="3" name="">
            <a:extLst xmlns:a="http://schemas.openxmlformats.org/drawingml/2006/main">
              <a:ext uri="{FF2B5EF4-FFF2-40B4-BE49-F238E27FC236}">
                <a16:creationId xmlns:a16="http://schemas.microsoft.com/office/drawing/2014/main" id="{3CFC1CDD-70D9-4261-9882-9B5D5A4F3A9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56B4876-1F7D-4C46-92AF-34D86EBD3B4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86CE8365-B3C9-4D40-B999-5944216A8DAA}"/>
              </a:ext>
            </a:extLst>
          </p:cNvPr>
          <p:cNvSpPr>
            <a:spLocks xmlns:a="http://schemas.openxmlformats.org/drawingml/2006/main" noGrp="1"/>
          </p:cNvSpPr>
          <p:nvPr/>
        </p:nvSpPr>
        <p:spPr>
          <a:xfrm xmlns:a="http://schemas.openxmlformats.org/drawingml/2006/main">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798DFD63-D3C1-4910-ABA6-051FA3D66E84}"/>
              </a:ext>
            </a:extLst>
          </p:cNvPr>
          <p:cNvSpPr>
            <a:spLocks xmlns:a="http://schemas.openxmlformats.org/drawingml/2006/main" noGrp="1"/>
          </p:cNvSpPr>
          <p:nvPr/>
        </p:nvSpPr>
        <p:spPr>
          <a:xfrm xmlns:a="http://schemas.openxmlformats.org/drawingml/2006/main">
            <a:off x="723900" y="2409825"/>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8社と連絡し、ベーカリーのサンプルデータを送付した。</a:t>
            </a:r>
          </a:p>
        </p:txBody>
      </p:sp>
      <p:sp>
        <p:nvSpPr>
          <p:cNvPr id="7" name="">
            <a:extLst xmlns:a="http://schemas.openxmlformats.org/drawingml/2006/main">
              <a:ext uri="{FF2B5EF4-FFF2-40B4-BE49-F238E27FC236}">
                <a16:creationId xmlns:a16="http://schemas.microsoft.com/office/drawing/2014/main" id="{9DB3CA84-E461-4ACF-9E40-B6F7679DBAD4}"/>
              </a:ext>
            </a:extLst>
          </p:cNvPr>
          <p:cNvSpPr>
            <a:spLocks xmlns:a="http://schemas.openxmlformats.org/drawingml/2006/main" noGrp="1"/>
          </p:cNvSpPr>
          <p:nvPr/>
        </p:nvSpPr>
        <p:spPr>
          <a:xfrm xmlns:a="http://schemas.openxmlformats.org/drawingml/2006/main">
            <a:off x="723900" y="2943225"/>
            <a:ext cx="1000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合意には至っていない。現在の収集規模が小さく、優先度が上がらなかった。</a:t>
            </a:r>
          </a:p>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商談を進める目安として、月間1,000時間程度の供給規模を聞いている。</a:t>
            </a:r>
          </a:p>
        </p:txBody>
      </p:sp>
      <p:sp>
        <p:nvSpPr>
          <p:cNvPr id="8" name="">
            <a:extLst xmlns:a="http://schemas.openxmlformats.org/drawingml/2006/main">
              <a:ext uri="{FF2B5EF4-FFF2-40B4-BE49-F238E27FC236}">
                <a16:creationId xmlns:a16="http://schemas.microsoft.com/office/drawing/2014/main" id="{7499B547-052C-4BE3-AC68-70F12B35ABB8}"/>
              </a:ext>
            </a:extLst>
          </p:cNvPr>
          <p:cNvSpPr>
            <a:spLocks xmlns:a="http://schemas.openxmlformats.org/drawingml/2006/main" noGrp="1"/>
          </p:cNvSpPr>
          <p:nvPr/>
        </p:nvSpPr>
        <p:spPr>
          <a:xfrm xmlns:a="http://schemas.openxmlformats.org/drawingml/2006/main">
            <a:off x="723900" y="39433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BF4EE0E-45C9-4DAB-9B6B-2C5FE36AA869}"/>
              </a:ext>
            </a:extLst>
          </p:cNvPr>
          <p:cNvSpPr>
            <a:spLocks xmlns:a="http://schemas.openxmlformats.org/drawingml/2006/main" noGrp="1"/>
          </p:cNvSpPr>
          <p:nvPr/>
        </p:nvSpPr>
        <p:spPr>
          <a:xfrm xmlns:a="http://schemas.openxmlformats.org/drawingml/2006/main">
            <a:off x="723900" y="42672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a:t>
            </a:r>
          </a:p>
        </p:txBody>
      </p:sp>
      <p:sp>
        <p:nvSpPr>
          <p:cNvPr id="10" name="">
            <a:extLst xmlns:a="http://schemas.openxmlformats.org/drawingml/2006/main">
              <a:ext uri="{FF2B5EF4-FFF2-40B4-BE49-F238E27FC236}">
                <a16:creationId xmlns:a16="http://schemas.microsoft.com/office/drawing/2014/main" id="{5668F6C1-E9BA-4A4D-BFE2-D11483887A15}"/>
              </a:ext>
            </a:extLst>
          </p:cNvPr>
          <p:cNvSpPr>
            <a:spLocks xmlns:a="http://schemas.openxmlformats.org/drawingml/2006/main" noGrp="1"/>
          </p:cNvSpPr>
          <p:nvPr/>
        </p:nvSpPr>
        <p:spPr>
          <a:xfrm xmlns:a="http://schemas.openxmlformats.org/drawingml/2006/main">
            <a:off x="723900" y="4724400"/>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Nextremerのデータ加工・販売サービスへの掲載を調整している。</a:t>
            </a:r>
          </a:p>
        </p:txBody>
      </p:sp>
      <p:sp>
        <p:nvSpPr>
          <p:cNvPr id="11" name="">
            <a:extLst xmlns:a="http://schemas.openxmlformats.org/drawingml/2006/main">
              <a:ext uri="{FF2B5EF4-FFF2-40B4-BE49-F238E27FC236}">
                <a16:creationId xmlns:a16="http://schemas.microsoft.com/office/drawing/2014/main" id="{7F036AA9-6315-4048-8C6D-9B8135FE642A}"/>
              </a:ext>
            </a:extLst>
          </p:cNvPr>
          <p:cNvSpPr>
            <a:spLocks xmlns:a="http://schemas.openxmlformats.org/drawingml/2006/main" noGrp="1"/>
          </p:cNvSpPr>
          <p:nvPr/>
        </p:nvSpPr>
        <p:spPr>
          <a:xfrm xmlns:a="http://schemas.openxmlformats.org/drawingml/2006/main">
            <a:off x="723900" y="52578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現場合意の取り方とデータ取扱フローを擦り合わせている。</a:t>
            </a:r>
          </a:p>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データ加工、プライバシー処理、ストレージを自社だけで抱えない形を検討している。</a:t>
            </a:r>
          </a:p>
        </p:txBody>
      </p:sp>
    </p:spTree>
    <p:extLst>
      <p:ext uri="{BB962C8B-B14F-4D97-AF65-F5344CB8AC3E}">
        <p14:creationId xmlns:p14="http://schemas.microsoft.com/office/powerpoint/2010/main" val="1602840020"/>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B78F06C-2ED8-4E67-BA28-B9BB8BD6C0A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634C98-FFFD-48D6-B04E-933D07A9C32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撮影デバイスの変遷</a:t>
            </a:r>
          </a:p>
        </p:txBody>
      </p:sp>
      <p:sp>
        <p:nvSpPr>
          <p:cNvPr id="3" name="">
            <a:extLst xmlns:a="http://schemas.openxmlformats.org/drawingml/2006/main">
              <a:ext uri="{FF2B5EF4-FFF2-40B4-BE49-F238E27FC236}">
                <a16:creationId xmlns:a16="http://schemas.microsoft.com/office/drawing/2014/main" id="{93ECF4D5-9247-4414-8855-1AD3B20F0BC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04F8CE7-DA91-413A-A354-DE51D1074AF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f01e380783644d1"/>
          <a:srcRect xmlns:a="http://schemas.openxmlformats.org/drawingml/2006/main" l="0" t="21875" r="0" b="21875"/>
          <a:stretch xmlns:a="http://schemas.openxmlformats.org/drawingml/2006/main">
            <a:fillRect l="0" t="0" r="0" b="0"/>
          </a:stretch>
        </p:blipFill>
        <p:spPr>
          <a:xfrm xmlns:a="http://schemas.openxmlformats.org/drawingml/2006/main">
            <a:off x="723900" y="1952625"/>
            <a:ext cx="3238500" cy="2428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23FB41A-B35D-4ECF-83E0-580C3D85E6AE}"/>
              </a:ext>
            </a:extLst>
          </p:cNvPr>
          <p:cNvSpPr>
            <a:spLocks xmlns:a="http://schemas.openxmlformats.org/drawingml/2006/main" noGrp="1"/>
          </p:cNvSpPr>
          <p:nvPr/>
        </p:nvSpPr>
        <p:spPr>
          <a:xfrm xmlns:a="http://schemas.openxmlformats.org/drawingml/2006/main">
            <a:off x="723900" y="46101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2DB70986-B81F-4E47-9C18-A462C4E77E04}"/>
              </a:ext>
            </a:extLst>
          </p:cNvPr>
          <p:cNvSpPr>
            <a:spLocks xmlns:a="http://schemas.openxmlformats.org/drawingml/2006/main" noGrp="1"/>
          </p:cNvSpPr>
          <p:nvPr/>
        </p:nvSpPr>
        <p:spPr>
          <a:xfrm xmlns:a="http://schemas.openxmlformats.org/drawingml/2006/main">
            <a:off x="1371600" y="459105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BEB8A043-4874-46D3-BDCF-F046319CCEC0}"/>
              </a:ext>
            </a:extLst>
          </p:cNvPr>
          <p:cNvSpPr>
            <a:spLocks xmlns:a="http://schemas.openxmlformats.org/drawingml/2006/main" noGrp="1"/>
          </p:cNvSpPr>
          <p:nvPr/>
        </p:nvSpPr>
        <p:spPr>
          <a:xfrm xmlns:a="http://schemas.openxmlformats.org/drawingml/2006/main">
            <a:off x="1371600" y="5000625"/>
            <a:ext cx="2590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装着して撮影できることを確認</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97ca2fe1328423b"/>
          <a:srcRect xmlns:a="http://schemas.openxmlformats.org/drawingml/2006/main" l="9333" t="0" r="9333" b="0"/>
          <a:stretch xmlns:a="http://schemas.openxmlformats.org/drawingml/2006/main">
            <a:fillRect l="0" t="0" r="0" b="0"/>
          </a:stretch>
        </p:blipFill>
        <p:spPr>
          <a:xfrm xmlns:a="http://schemas.openxmlformats.org/drawingml/2006/main">
            <a:off x="4314825" y="1952625"/>
            <a:ext cx="3238500" cy="24288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D3C5A32-006E-44B7-9B69-070B80240CE1}"/>
              </a:ext>
            </a:extLst>
          </p:cNvPr>
          <p:cNvSpPr>
            <a:spLocks xmlns:a="http://schemas.openxmlformats.org/drawingml/2006/main" noGrp="1"/>
          </p:cNvSpPr>
          <p:nvPr/>
        </p:nvSpPr>
        <p:spPr>
          <a:xfrm xmlns:a="http://schemas.openxmlformats.org/drawingml/2006/main">
            <a:off x="4314825" y="46101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7CDDA528-AA1D-463B-8F06-36504860BFDC}"/>
              </a:ext>
            </a:extLst>
          </p:cNvPr>
          <p:cNvSpPr>
            <a:spLocks xmlns:a="http://schemas.openxmlformats.org/drawingml/2006/main" noGrp="1"/>
          </p:cNvSpPr>
          <p:nvPr/>
        </p:nvSpPr>
        <p:spPr>
          <a:xfrm xmlns:a="http://schemas.openxmlformats.org/drawingml/2006/main">
            <a:off x="4962525" y="459105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DDEF31C7-96AF-4E25-B943-1ADEB7123877}"/>
              </a:ext>
            </a:extLst>
          </p:cNvPr>
          <p:cNvSpPr>
            <a:spLocks xmlns:a="http://schemas.openxmlformats.org/drawingml/2006/main" noGrp="1"/>
          </p:cNvSpPr>
          <p:nvPr/>
        </p:nvSpPr>
        <p:spPr>
          <a:xfrm xmlns:a="http://schemas.openxmlformats.org/drawingml/2006/main">
            <a:off x="4962525" y="5000625"/>
            <a:ext cx="2590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重量バランスと装着感を改善</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27715078042452a"/>
          <a:srcRect xmlns:a="http://schemas.openxmlformats.org/drawingml/2006/main" l="0" t="2730" r="0" b="2730"/>
          <a:stretch xmlns:a="http://schemas.openxmlformats.org/drawingml/2006/main">
            <a:fillRect l="0" t="0" r="0" b="0"/>
          </a:stretch>
        </p:blipFill>
        <p:spPr>
          <a:xfrm xmlns:a="http://schemas.openxmlformats.org/drawingml/2006/main">
            <a:off x="7905750" y="1952625"/>
            <a:ext cx="3238500" cy="24288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06E0021-7A20-4EAF-BD79-301E33EEDC21}"/>
              </a:ext>
            </a:extLst>
          </p:cNvPr>
          <p:cNvSpPr>
            <a:spLocks xmlns:a="http://schemas.openxmlformats.org/drawingml/2006/main" noGrp="1"/>
          </p:cNvSpPr>
          <p:nvPr/>
        </p:nvSpPr>
        <p:spPr>
          <a:xfrm xmlns:a="http://schemas.openxmlformats.org/drawingml/2006/main">
            <a:off x="7905750" y="46101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AF60BE14-7798-44EF-8A5A-18E45C7483D2}"/>
              </a:ext>
            </a:extLst>
          </p:cNvPr>
          <p:cNvSpPr>
            <a:spLocks xmlns:a="http://schemas.openxmlformats.org/drawingml/2006/main" noGrp="1"/>
          </p:cNvSpPr>
          <p:nvPr/>
        </p:nvSpPr>
        <p:spPr>
          <a:xfrm xmlns:a="http://schemas.openxmlformats.org/drawingml/2006/main">
            <a:off x="8553450" y="459105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CD065ED8-8372-4117-A286-FF0641D3074D}"/>
              </a:ext>
            </a:extLst>
          </p:cNvPr>
          <p:cNvSpPr>
            <a:spLocks xmlns:a="http://schemas.openxmlformats.org/drawingml/2006/main" noGrp="1"/>
          </p:cNvSpPr>
          <p:nvPr/>
        </p:nvSpPr>
        <p:spPr>
          <a:xfrm xmlns:a="http://schemas.openxmlformats.org/drawingml/2006/main">
            <a:off x="8553450" y="5000625"/>
            <a:ext cx="2590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952D6AD2-2635-4232-A657-E8C727A482B5}"/>
              </a:ext>
            </a:extLst>
          </p:cNvPr>
          <p:cNvSpPr>
            <a:spLocks xmlns:a="http://schemas.openxmlformats.org/drawingml/2006/main" noGrp="1"/>
          </p:cNvSpPr>
          <p:nvPr/>
        </p:nvSpPr>
        <p:spPr>
          <a:xfrm xmlns:a="http://schemas.openxmlformats.org/drawingml/2006/main">
            <a:off x="723900" y="5762625"/>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50C0794-614F-46C2-902B-D362320C31FA}"/>
              </a:ext>
            </a:extLst>
          </p:cNvPr>
          <p:cNvSpPr>
            <a:spLocks xmlns:a="http://schemas.openxmlformats.org/drawingml/2006/main" noGrp="1"/>
          </p:cNvSpPr>
          <p:nvPr/>
        </p:nvSpPr>
        <p:spPr>
          <a:xfrm xmlns:a="http://schemas.openxmlformats.org/drawingml/2006/main">
            <a:off x="723900" y="5943600"/>
            <a:ext cx="1042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現場での反応から、撮影品質だけでなく、作業者の負担が現場拡大を左右すると分かった。</a:t>
            </a:r>
          </a:p>
        </p:txBody>
      </p:sp>
    </p:spTree>
    <p:extLst>
      <p:ext uri="{BB962C8B-B14F-4D97-AF65-F5344CB8AC3E}">
        <p14:creationId xmlns:p14="http://schemas.microsoft.com/office/powerpoint/2010/main" val="505165515"/>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B40326E-C9EA-4312-8D6A-27EF2EC6357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38258F-E00B-47E5-8C9F-A020A187722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現在のチーム</a:t>
            </a:r>
          </a:p>
        </p:txBody>
      </p:sp>
      <p:sp>
        <p:nvSpPr>
          <p:cNvPr id="3" name="">
            <a:extLst xmlns:a="http://schemas.openxmlformats.org/drawingml/2006/main">
              <a:ext uri="{FF2B5EF4-FFF2-40B4-BE49-F238E27FC236}">
                <a16:creationId xmlns:a16="http://schemas.microsoft.com/office/drawing/2014/main" id="{D671E5E0-406D-4410-84D1-CF60A18703E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117669-A698-4413-B65E-9ADCF68F54C1}"/>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B41CD23F-3009-43CA-8DBD-8E8FD00F3EF5}"/>
              </a:ext>
            </a:extLst>
          </p:cNvPr>
          <p:cNvSpPr>
            <a:spLocks xmlns:a="http://schemas.openxmlformats.org/drawingml/2006/main" noGrp="1"/>
          </p:cNvSpPr>
          <p:nvPr/>
        </p:nvSpPr>
        <p:spPr>
          <a:xfrm xmlns:a="http://schemas.openxmlformats.org/drawingml/2006/main">
            <a:off x="723900" y="18669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森　共同創業者</a:t>
            </a:r>
          </a:p>
        </p:txBody>
      </p:sp>
      <p:sp>
        <p:nvSpPr>
          <p:cNvPr id="6" name="">
            <a:extLst xmlns:a="http://schemas.openxmlformats.org/drawingml/2006/main">
              <a:ext uri="{FF2B5EF4-FFF2-40B4-BE49-F238E27FC236}">
                <a16:creationId xmlns:a16="http://schemas.microsoft.com/office/drawing/2014/main" id="{2BDA2EE4-3997-4993-B83A-78293ADA3AFA}"/>
              </a:ext>
            </a:extLst>
          </p:cNvPr>
          <p:cNvSpPr>
            <a:spLocks xmlns:a="http://schemas.openxmlformats.org/drawingml/2006/main" noGrp="1"/>
          </p:cNvSpPr>
          <p:nvPr/>
        </p:nvSpPr>
        <p:spPr>
          <a:xfrm xmlns:a="http://schemas.openxmlformats.org/drawingml/2006/main">
            <a:off x="4191000" y="18669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現場開拓、販売先開拓、撮影デバイスの設計・開発、事業全体の推進。</a:t>
            </a:r>
          </a:p>
        </p:txBody>
      </p:sp>
      <p:sp>
        <p:nvSpPr>
          <p:cNvPr id="7" name="">
            <a:extLst xmlns:a="http://schemas.openxmlformats.org/drawingml/2006/main">
              <a:ext uri="{FF2B5EF4-FFF2-40B4-BE49-F238E27FC236}">
                <a16:creationId xmlns:a16="http://schemas.microsoft.com/office/drawing/2014/main" id="{FCC99B52-C8EE-42AC-A0A5-8112A861ADCF}"/>
              </a:ext>
            </a:extLst>
          </p:cNvPr>
          <p:cNvSpPr>
            <a:spLocks xmlns:a="http://schemas.openxmlformats.org/drawingml/2006/main" noGrp="1"/>
          </p:cNvSpPr>
          <p:nvPr/>
        </p:nvSpPr>
        <p:spPr>
          <a:xfrm xmlns:a="http://schemas.openxmlformats.org/drawingml/2006/main">
            <a:off x="723900" y="26765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8D647E5-CB0D-4E57-A8A7-6C8A9F4991A0}"/>
              </a:ext>
            </a:extLst>
          </p:cNvPr>
          <p:cNvSpPr>
            <a:spLocks xmlns:a="http://schemas.openxmlformats.org/drawingml/2006/main" noGrp="1"/>
          </p:cNvSpPr>
          <p:nvPr/>
        </p:nvSpPr>
        <p:spPr>
          <a:xfrm xmlns:a="http://schemas.openxmlformats.org/drawingml/2006/main">
            <a:off x="723900" y="28384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河野　共同創業者</a:t>
            </a:r>
          </a:p>
        </p:txBody>
      </p:sp>
      <p:sp>
        <p:nvSpPr>
          <p:cNvPr id="9" name="">
            <a:extLst xmlns:a="http://schemas.openxmlformats.org/drawingml/2006/main">
              <a:ext uri="{FF2B5EF4-FFF2-40B4-BE49-F238E27FC236}">
                <a16:creationId xmlns:a16="http://schemas.microsoft.com/office/drawing/2014/main" id="{570E6D92-9E64-4C87-86E7-50CE5FBF7299}"/>
              </a:ext>
            </a:extLst>
          </p:cNvPr>
          <p:cNvSpPr>
            <a:spLocks xmlns:a="http://schemas.openxmlformats.org/drawingml/2006/main" noGrp="1"/>
          </p:cNvSpPr>
          <p:nvPr/>
        </p:nvSpPr>
        <p:spPr>
          <a:xfrm xmlns:a="http://schemas.openxmlformats.org/drawingml/2006/main">
            <a:off x="4191000" y="28384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神戸大学大学院情報学研究科。シミュレーション領域を研究しながら事業へ参画。</a:t>
            </a:r>
          </a:p>
        </p:txBody>
      </p:sp>
      <p:sp>
        <p:nvSpPr>
          <p:cNvPr id="10" name="">
            <a:extLst xmlns:a="http://schemas.openxmlformats.org/drawingml/2006/main">
              <a:ext uri="{FF2B5EF4-FFF2-40B4-BE49-F238E27FC236}">
                <a16:creationId xmlns:a16="http://schemas.microsoft.com/office/drawing/2014/main" id="{B59783A5-4691-44FD-B41B-FED83AC5372B}"/>
              </a:ext>
            </a:extLst>
          </p:cNvPr>
          <p:cNvSpPr>
            <a:spLocks xmlns:a="http://schemas.openxmlformats.org/drawingml/2006/main" noGrp="1"/>
          </p:cNvSpPr>
          <p:nvPr/>
        </p:nvSpPr>
        <p:spPr>
          <a:xfrm xmlns:a="http://schemas.openxmlformats.org/drawingml/2006/main">
            <a:off x="723900" y="36480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55E133E-EB14-4657-9E75-85981F5556DE}"/>
              </a:ext>
            </a:extLst>
          </p:cNvPr>
          <p:cNvSpPr>
            <a:spLocks xmlns:a="http://schemas.openxmlformats.org/drawingml/2006/main" noGrp="1"/>
          </p:cNvSpPr>
          <p:nvPr/>
        </p:nvSpPr>
        <p:spPr>
          <a:xfrm xmlns:a="http://schemas.openxmlformats.org/drawingml/2006/main">
            <a:off x="723900" y="38100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川島　現場協力者</a:t>
            </a:r>
          </a:p>
        </p:txBody>
      </p:sp>
      <p:sp>
        <p:nvSpPr>
          <p:cNvPr id="12" name="">
            <a:extLst xmlns:a="http://schemas.openxmlformats.org/drawingml/2006/main">
              <a:ext uri="{FF2B5EF4-FFF2-40B4-BE49-F238E27FC236}">
                <a16:creationId xmlns:a16="http://schemas.microsoft.com/office/drawing/2014/main" id="{9A7D4EB3-F060-468C-AB78-E2C8A2695F1A}"/>
              </a:ext>
            </a:extLst>
          </p:cNvPr>
          <p:cNvSpPr>
            <a:spLocks xmlns:a="http://schemas.openxmlformats.org/drawingml/2006/main" noGrp="1"/>
          </p:cNvSpPr>
          <p:nvPr/>
        </p:nvSpPr>
        <p:spPr>
          <a:xfrm xmlns:a="http://schemas.openxmlformats.org/drawingml/2006/main">
            <a:off x="4191000" y="38100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ベーカリー経営者。撮影テストの現場提供と、撮影先の拡大に協力。</a:t>
            </a:r>
          </a:p>
        </p:txBody>
      </p:sp>
      <p:sp>
        <p:nvSpPr>
          <p:cNvPr id="13" name="">
            <a:extLst xmlns:a="http://schemas.openxmlformats.org/drawingml/2006/main">
              <a:ext uri="{FF2B5EF4-FFF2-40B4-BE49-F238E27FC236}">
                <a16:creationId xmlns:a16="http://schemas.microsoft.com/office/drawing/2014/main" id="{47E61AB7-9823-4A25-B5D6-5B82F0B1E5AE}"/>
              </a:ext>
            </a:extLst>
          </p:cNvPr>
          <p:cNvSpPr>
            <a:spLocks xmlns:a="http://schemas.openxmlformats.org/drawingml/2006/main" noGrp="1"/>
          </p:cNvSpPr>
          <p:nvPr/>
        </p:nvSpPr>
        <p:spPr>
          <a:xfrm xmlns:a="http://schemas.openxmlformats.org/drawingml/2006/main">
            <a:off x="723900" y="4619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49FF196-2F53-48D6-815D-3084072C6572}"/>
              </a:ext>
            </a:extLst>
          </p:cNvPr>
          <p:cNvSpPr>
            <a:spLocks xmlns:a="http://schemas.openxmlformats.org/drawingml/2006/main" noGrp="1"/>
          </p:cNvSpPr>
          <p:nvPr/>
        </p:nvSpPr>
        <p:spPr>
          <a:xfrm xmlns:a="http://schemas.openxmlformats.org/drawingml/2006/main">
            <a:off x="723900" y="47815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大崎　事業支援</a:t>
            </a:r>
          </a:p>
        </p:txBody>
      </p:sp>
      <p:sp>
        <p:nvSpPr>
          <p:cNvPr id="15" name="">
            <a:extLst xmlns:a="http://schemas.openxmlformats.org/drawingml/2006/main">
              <a:ext uri="{FF2B5EF4-FFF2-40B4-BE49-F238E27FC236}">
                <a16:creationId xmlns:a16="http://schemas.microsoft.com/office/drawing/2014/main" id="{35C3E1A9-D219-4626-92E5-00C30A8CC001}"/>
              </a:ext>
            </a:extLst>
          </p:cNvPr>
          <p:cNvSpPr>
            <a:spLocks xmlns:a="http://schemas.openxmlformats.org/drawingml/2006/main" noGrp="1"/>
          </p:cNvSpPr>
          <p:nvPr/>
        </p:nvSpPr>
        <p:spPr>
          <a:xfrm xmlns:a="http://schemas.openxmlformats.org/drawingml/2006/main">
            <a:off x="4191000" y="47815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契約・合意書の確認、会社立ち上げの助言、小売・製造のネットワークを通じた現場開拓。</a:t>
            </a:r>
          </a:p>
        </p:txBody>
      </p:sp>
      <p:sp>
        <p:nvSpPr>
          <p:cNvPr id="16" name="">
            <a:extLst xmlns:a="http://schemas.openxmlformats.org/drawingml/2006/main">
              <a:ext uri="{FF2B5EF4-FFF2-40B4-BE49-F238E27FC236}">
                <a16:creationId xmlns:a16="http://schemas.microsoft.com/office/drawing/2014/main" id="{8228F007-9E50-473F-AFED-49F0E636FD38}"/>
              </a:ext>
            </a:extLst>
          </p:cNvPr>
          <p:cNvSpPr>
            <a:spLocks xmlns:a="http://schemas.openxmlformats.org/drawingml/2006/main" noGrp="1"/>
          </p:cNvSpPr>
          <p:nvPr/>
        </p:nvSpPr>
        <p:spPr>
          <a:xfrm xmlns:a="http://schemas.openxmlformats.org/drawingml/2006/main">
            <a:off x="723900" y="55911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524375093"/>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A3C1309-458D-4202-B222-8A29D38E0DC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0331C8-1C0A-4735-A1D5-A0411B389A2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1時間あたりの収益構造</a:t>
            </a:r>
          </a:p>
        </p:txBody>
      </p:sp>
      <p:sp>
        <p:nvSpPr>
          <p:cNvPr id="3" name="">
            <a:extLst xmlns:a="http://schemas.openxmlformats.org/drawingml/2006/main">
              <a:ext uri="{FF2B5EF4-FFF2-40B4-BE49-F238E27FC236}">
                <a16:creationId xmlns:a16="http://schemas.microsoft.com/office/drawing/2014/main" id="{90782302-8A23-4E4B-AC6C-AD65D83CAB8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8C0157-396F-4A18-824F-5A6F373EB5DF}"/>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graphicFrame>
        <p:nvGraphicFramePr>
          <p:cNvPr id="14" name=""/>
          <p:cNvGraphicFramePr/>
          <p:nvPr/>
        </p:nvGraphicFramePr>
        <p:xfrm>
          <a:off xmlns:a="http://schemas.openxmlformats.org/drawingml/2006/main" x="723900" y="1952625"/>
          <a:ext xmlns:a="http://schemas.openxmlformats.org/drawingml/2006/main" cx="10572750" cy="3143250"/>
        </p:xfrm>
        <a:graphic xmlns:a="http://schemas.openxmlformats.org/drawingml/2006/main">
          <a:graphicData uri="http://schemas.openxmlformats.org/drawingml/2006/table">
            <a:tbl>
              <a:tblPr/>
              <a:tblGrid>
                <a:gridCol w="3524250"/>
                <a:gridCol w="4095750"/>
                <a:gridCol w="29527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計算</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23875">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前提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現場への還元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販売単価の50%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RootLensの取り分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8,000円/月 ÷ 110時間</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35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A774474B-645B-46EA-B6B4-BB756FE33E63}"/>
              </a:ext>
            </a:extLst>
          </p:cNvPr>
          <p:cNvSpPr>
            <a:spLocks xmlns:a="http://schemas.openxmlformats.org/drawingml/2006/main" noGrp="1"/>
          </p:cNvSpPr>
          <p:nvPr/>
        </p:nvSpPr>
        <p:spPr>
          <a:xfrm xmlns:a="http://schemas.openxmlformats.org/drawingml/2006/main">
            <a:off x="723900" y="5381625"/>
            <a:ext cx="819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前提：デバイス8万円、10か月償却、1台あたり月110時間稼働。</a:t>
            </a:r>
          </a:p>
        </p:txBody>
      </p:sp>
      <p:sp>
        <p:nvSpPr>
          <p:cNvPr id="7" name="">
            <a:extLst xmlns:a="http://schemas.openxmlformats.org/drawingml/2006/main">
              <a:ext uri="{FF2B5EF4-FFF2-40B4-BE49-F238E27FC236}">
                <a16:creationId xmlns:a16="http://schemas.microsoft.com/office/drawing/2014/main" id="{AD2FEDD1-D4F9-4126-BB9B-86F77ADCF0D9}"/>
              </a:ext>
            </a:extLst>
          </p:cNvPr>
          <p:cNvSpPr>
            <a:spLocks xmlns:a="http://schemas.openxmlformats.org/drawingml/2006/main" noGrp="1"/>
          </p:cNvSpPr>
          <p:nvPr/>
        </p:nvSpPr>
        <p:spPr>
          <a:xfrm xmlns:a="http://schemas.openxmlformats.org/drawingml/2006/main">
            <a:off x="723900" y="5743575"/>
            <a:ext cx="819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現場運用、人件費、法務、破損・紛失、転送費は含めていない。</a:t>
            </a:r>
          </a:p>
        </p:txBody>
      </p:sp>
      <p:sp>
        <p:nvSpPr>
          <p:cNvPr id="8" name="">
            <a:extLst xmlns:a="http://schemas.openxmlformats.org/drawingml/2006/main">
              <a:ext uri="{FF2B5EF4-FFF2-40B4-BE49-F238E27FC236}">
                <a16:creationId xmlns:a16="http://schemas.microsoft.com/office/drawing/2014/main" id="{6817B822-DD53-4FD9-A39A-1B6C3D7A0F27}"/>
              </a:ext>
            </a:extLst>
          </p:cNvPr>
          <p:cNvSpPr>
            <a:spLocks xmlns:a="http://schemas.openxmlformats.org/drawingml/2006/main" noGrp="1"/>
          </p:cNvSpPr>
          <p:nvPr/>
        </p:nvSpPr>
        <p:spPr>
          <a:xfrm xmlns:a="http://schemas.openxmlformats.org/drawingml/2006/main">
            <a:off x="9220200" y="538162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625" b="1">
                <a:solidFill>
                  <a:srgbClr val="315C78"/>
                </a:solidFill>
                <a:latin typeface="Hiragino Sans"/>
                <a:ea typeface="Hiragino Sans"/>
                <a:cs typeface="Hiragino Sans"/>
              </a:defRPr>
            </a:pPr>
            <a:r>
              <a:rPr sz="2625" b="1">
                <a:solidFill>
                  <a:srgbClr val="315C78"/>
                </a:solidFill>
                <a:latin typeface="Hiragino Sans"/>
                <a:ea typeface="Hiragino Sans"/>
                <a:cs typeface="Hiragino Sans"/>
              </a:rPr>
              <a:t>45.5%</a:t>
            </a:r>
          </a:p>
        </p:txBody>
      </p:sp>
      <p:sp>
        <p:nvSpPr>
          <p:cNvPr id="9" name="">
            <a:extLst xmlns:a="http://schemas.openxmlformats.org/drawingml/2006/main">
              <a:ext uri="{FF2B5EF4-FFF2-40B4-BE49-F238E27FC236}">
                <a16:creationId xmlns:a16="http://schemas.microsoft.com/office/drawing/2014/main" id="{AC77A086-EE2D-4336-B197-26675334D65C}"/>
              </a:ext>
            </a:extLst>
          </p:cNvPr>
          <p:cNvSpPr>
            <a:spLocks xmlns:a="http://schemas.openxmlformats.org/drawingml/2006/main" noGrp="1"/>
          </p:cNvSpPr>
          <p:nvPr/>
        </p:nvSpPr>
        <p:spPr>
          <a:xfrm xmlns:a="http://schemas.openxmlformats.org/drawingml/2006/main">
            <a:off x="8810625" y="5867400"/>
            <a:ext cx="2219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流通総額に対する償却後比率</a:t>
            </a:r>
          </a:p>
        </p:txBody>
      </p:sp>
    </p:spTree>
    <p:extLst>
      <p:ext uri="{BB962C8B-B14F-4D97-AF65-F5344CB8AC3E}">
        <p14:creationId xmlns:p14="http://schemas.microsoft.com/office/powerpoint/2010/main" val="1497390394"/>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652FE8-55F0-4348-B90D-0BD5ABB7056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06500F-F7EF-4402-8B66-F84AED4B1AB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収集規模別の試算</a:t>
            </a:r>
          </a:p>
        </p:txBody>
      </p:sp>
      <p:sp>
        <p:nvSpPr>
          <p:cNvPr id="3" name="">
            <a:extLst xmlns:a="http://schemas.openxmlformats.org/drawingml/2006/main">
              <a:ext uri="{FF2B5EF4-FFF2-40B4-BE49-F238E27FC236}">
                <a16:creationId xmlns:a16="http://schemas.microsoft.com/office/drawing/2014/main" id="{2D3BBBE4-4A51-44AE-97C5-4116A0909A6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8C1B5F-30B5-4D08-97B3-619F6DF700B2}"/>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graphicFrame>
        <p:nvGraphicFramePr>
          <p:cNvPr id="12" name=""/>
          <p:cNvGraphicFramePr/>
          <p:nvPr/>
        </p:nvGraphicFramePr>
        <p:xfrm>
          <a:off xmlns:a="http://schemas.openxmlformats.org/drawingml/2006/main" x="723900" y="19240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RootLens取り分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9699E04-2E88-47AE-9C74-1638A799712B}"/>
              </a:ext>
            </a:extLst>
          </p:cNvPr>
          <p:cNvSpPr>
            <a:spLocks xmlns:a="http://schemas.openxmlformats.org/drawingml/2006/main" noGrp="1"/>
          </p:cNvSpPr>
          <p:nvPr/>
        </p:nvSpPr>
        <p:spPr>
          <a:xfrm xmlns:a="http://schemas.openxmlformats.org/drawingml/2006/main">
            <a:off x="723900" y="56197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月10,000時間を12か月継続した場合、流通総額は1.92億円、償却後は約8,726万円。</a:t>
            </a:r>
          </a:p>
        </p:txBody>
      </p:sp>
      <p:sp>
        <p:nvSpPr>
          <p:cNvPr id="7" name="">
            <a:extLst xmlns:a="http://schemas.openxmlformats.org/drawingml/2006/main">
              <a:ext uri="{FF2B5EF4-FFF2-40B4-BE49-F238E27FC236}">
                <a16:creationId xmlns:a16="http://schemas.microsoft.com/office/drawing/2014/main" id="{97160EC0-E67F-4FED-AA14-370E780F56B5}"/>
              </a:ext>
            </a:extLst>
          </p:cNvPr>
          <p:cNvSpPr>
            <a:spLocks xmlns:a="http://schemas.openxmlformats.org/drawingml/2006/main" noGrp="1"/>
          </p:cNvSpPr>
          <p:nvPr/>
        </p:nvSpPr>
        <p:spPr>
          <a:xfrm xmlns:a="http://schemas.openxmlformats.org/drawingml/2006/main">
            <a:off x="723900" y="60293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同一データの複数回販売は、この基準試算に含めていない。</a:t>
            </a:r>
          </a:p>
        </p:txBody>
      </p:sp>
    </p:spTree>
    <p:extLst>
      <p:ext uri="{BB962C8B-B14F-4D97-AF65-F5344CB8AC3E}">
        <p14:creationId xmlns:p14="http://schemas.microsoft.com/office/powerpoint/2010/main" val="743220831"/>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ADDEF29-72DB-4AAE-9166-8B6B7AC4D8A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3A30C9-F6FB-47CF-AC05-15CC9B4B933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収集規模を左右するもの</a:t>
            </a:r>
          </a:p>
        </p:txBody>
      </p:sp>
      <p:sp>
        <p:nvSpPr>
          <p:cNvPr id="3" name="">
            <a:extLst xmlns:a="http://schemas.openxmlformats.org/drawingml/2006/main">
              <a:ext uri="{FF2B5EF4-FFF2-40B4-BE49-F238E27FC236}">
                <a16:creationId xmlns:a16="http://schemas.microsoft.com/office/drawing/2014/main" id="{50F60668-4353-4FFD-B58E-E263DBB8B71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C64F7C4-B316-4B24-BB4C-CFB9BE9F484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9C7A783A-409A-426A-87EE-380194095797}"/>
              </a:ext>
            </a:extLst>
          </p:cNvPr>
          <p:cNvSpPr>
            <a:spLocks xmlns:a="http://schemas.openxmlformats.org/drawingml/2006/main" noGrp="1"/>
          </p:cNvSpPr>
          <p:nvPr/>
        </p:nvSpPr>
        <p:spPr>
          <a:xfrm xmlns:a="http://schemas.openxmlformats.org/drawingml/2006/main">
            <a:off x="723900" y="20002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現場開拓</a:t>
            </a:r>
          </a:p>
        </p:txBody>
      </p:sp>
      <p:sp>
        <p:nvSpPr>
          <p:cNvPr id="6" name="">
            <a:extLst xmlns:a="http://schemas.openxmlformats.org/drawingml/2006/main">
              <a:ext uri="{FF2B5EF4-FFF2-40B4-BE49-F238E27FC236}">
                <a16:creationId xmlns:a16="http://schemas.microsoft.com/office/drawing/2014/main" id="{BAF25075-12B2-4B2B-B490-1E164D56EEF8}"/>
              </a:ext>
            </a:extLst>
          </p:cNvPr>
          <p:cNvSpPr>
            <a:spLocks xmlns:a="http://schemas.openxmlformats.org/drawingml/2006/main" noGrp="1"/>
          </p:cNvSpPr>
          <p:nvPr/>
        </p:nvSpPr>
        <p:spPr>
          <a:xfrm xmlns:a="http://schemas.openxmlformats.org/drawingml/2006/main">
            <a:off x="3810000" y="200025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最初の現場より、次の現場を短い期間で獲得できるか。</a:t>
            </a:r>
          </a:p>
        </p:txBody>
      </p:sp>
      <p:sp>
        <p:nvSpPr>
          <p:cNvPr id="7" name="">
            <a:extLst xmlns:a="http://schemas.openxmlformats.org/drawingml/2006/main">
              <a:ext uri="{FF2B5EF4-FFF2-40B4-BE49-F238E27FC236}">
                <a16:creationId xmlns:a16="http://schemas.microsoft.com/office/drawing/2014/main" id="{9EB939A2-BE0E-4E48-99BA-A262F4B4B929}"/>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92EFEB9-3B6D-49F3-85B0-2B4EAA9F0D9E}"/>
              </a:ext>
            </a:extLst>
          </p:cNvPr>
          <p:cNvSpPr>
            <a:spLocks xmlns:a="http://schemas.openxmlformats.org/drawingml/2006/main" noGrp="1"/>
          </p:cNvSpPr>
          <p:nvPr/>
        </p:nvSpPr>
        <p:spPr>
          <a:xfrm xmlns:a="http://schemas.openxmlformats.org/drawingml/2006/main">
            <a:off x="723900" y="31051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現場運用</a:t>
            </a:r>
          </a:p>
        </p:txBody>
      </p:sp>
      <p:sp>
        <p:nvSpPr>
          <p:cNvPr id="9" name="">
            <a:extLst xmlns:a="http://schemas.openxmlformats.org/drawingml/2006/main">
              <a:ext uri="{FF2B5EF4-FFF2-40B4-BE49-F238E27FC236}">
                <a16:creationId xmlns:a16="http://schemas.microsoft.com/office/drawing/2014/main" id="{271E1DF7-7DD5-43B9-A83E-EDAB53878C06}"/>
              </a:ext>
            </a:extLst>
          </p:cNvPr>
          <p:cNvSpPr>
            <a:spLocks xmlns:a="http://schemas.openxmlformats.org/drawingml/2006/main" noGrp="1"/>
          </p:cNvSpPr>
          <p:nvPr/>
        </p:nvSpPr>
        <p:spPr>
          <a:xfrm xmlns:a="http://schemas.openxmlformats.org/drawingml/2006/main">
            <a:off x="3810000" y="310515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機材の配布、説明、回収、トラブル対応が店舗数に比例して増えるか。</a:t>
            </a:r>
          </a:p>
        </p:txBody>
      </p:sp>
      <p:sp>
        <p:nvSpPr>
          <p:cNvPr id="10" name="">
            <a:extLst xmlns:a="http://schemas.openxmlformats.org/drawingml/2006/main">
              <a:ext uri="{FF2B5EF4-FFF2-40B4-BE49-F238E27FC236}">
                <a16:creationId xmlns:a16="http://schemas.microsoft.com/office/drawing/2014/main" id="{43D51251-DFBE-45C8-8027-17F49FEC5931}"/>
              </a:ext>
            </a:extLst>
          </p:cNvPr>
          <p:cNvSpPr>
            <a:spLocks xmlns:a="http://schemas.openxmlformats.org/drawingml/2006/main" noGrp="1"/>
          </p:cNvSpPr>
          <p:nvPr/>
        </p:nvSpPr>
        <p:spPr>
          <a:xfrm xmlns:a="http://schemas.openxmlformats.org/drawingml/2006/main">
            <a:off x="723900" y="40100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3374229-A347-4D4C-9BDC-A537B1F8CF19}"/>
              </a:ext>
            </a:extLst>
          </p:cNvPr>
          <p:cNvSpPr>
            <a:spLocks xmlns:a="http://schemas.openxmlformats.org/drawingml/2006/main" noGrp="1"/>
          </p:cNvSpPr>
          <p:nvPr/>
        </p:nvSpPr>
        <p:spPr>
          <a:xfrm xmlns:a="http://schemas.openxmlformats.org/drawingml/2006/main">
            <a:off x="723900" y="4210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販売先</a:t>
            </a:r>
          </a:p>
        </p:txBody>
      </p:sp>
      <p:sp>
        <p:nvSpPr>
          <p:cNvPr id="12" name="">
            <a:extLst xmlns:a="http://schemas.openxmlformats.org/drawingml/2006/main">
              <a:ext uri="{FF2B5EF4-FFF2-40B4-BE49-F238E27FC236}">
                <a16:creationId xmlns:a16="http://schemas.microsoft.com/office/drawing/2014/main" id="{7A7A4B3F-EBE0-4410-8722-42FA33C651EA}"/>
              </a:ext>
            </a:extLst>
          </p:cNvPr>
          <p:cNvSpPr>
            <a:spLocks xmlns:a="http://schemas.openxmlformats.org/drawingml/2006/main" noGrp="1"/>
          </p:cNvSpPr>
          <p:nvPr/>
        </p:nvSpPr>
        <p:spPr>
          <a:xfrm xmlns:a="http://schemas.openxmlformats.org/drawingml/2006/main">
            <a:off x="3810000" y="4210050"/>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月1,000時間、10,000時間を継続して販売できる販路と仕様を作れるか。</a:t>
            </a:r>
          </a:p>
        </p:txBody>
      </p:sp>
      <p:sp>
        <p:nvSpPr>
          <p:cNvPr id="13" name="">
            <a:extLst xmlns:a="http://schemas.openxmlformats.org/drawingml/2006/main">
              <a:ext uri="{FF2B5EF4-FFF2-40B4-BE49-F238E27FC236}">
                <a16:creationId xmlns:a16="http://schemas.microsoft.com/office/drawing/2014/main" id="{054CED83-42FF-4651-9CCC-9B7316F09113}"/>
              </a:ext>
            </a:extLst>
          </p:cNvPr>
          <p:cNvSpPr>
            <a:spLocks xmlns:a="http://schemas.openxmlformats.org/drawingml/2006/main" noGrp="1"/>
          </p:cNvSpPr>
          <p:nvPr/>
        </p:nvSpPr>
        <p:spPr>
          <a:xfrm xmlns:a="http://schemas.openxmlformats.org/drawingml/2006/main">
            <a:off x="723900" y="51149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089625195"/>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B0741DB-D0FF-4069-AB6E-D431265B0FC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75BF60-6364-4E0A-BE97-7690BAEEACB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現時点で見えている事業の拡張経路</a:t>
            </a:r>
          </a:p>
        </p:txBody>
      </p:sp>
      <p:sp>
        <p:nvSpPr>
          <p:cNvPr id="3" name="">
            <a:extLst xmlns:a="http://schemas.openxmlformats.org/drawingml/2006/main">
              <a:ext uri="{FF2B5EF4-FFF2-40B4-BE49-F238E27FC236}">
                <a16:creationId xmlns:a16="http://schemas.microsoft.com/office/drawing/2014/main" id="{0E65E44E-275A-4A5B-BC2E-0ADBBDEA09A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016E4A2-2443-4478-B1B4-99A7AE09EFF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30381FC1-DB0B-4A3C-A26F-1E43A419BD84}"/>
              </a:ext>
            </a:extLst>
          </p:cNvPr>
          <p:cNvSpPr>
            <a:spLocks xmlns:a="http://schemas.openxmlformats.org/drawingml/2006/main" noGrp="1"/>
          </p:cNvSpPr>
          <p:nvPr/>
        </p:nvSpPr>
        <p:spPr>
          <a:xfrm xmlns:a="http://schemas.openxmlformats.org/drawingml/2006/main">
            <a:off x="72390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6" name="">
            <a:extLst xmlns:a="http://schemas.openxmlformats.org/drawingml/2006/main">
              <a:ext uri="{FF2B5EF4-FFF2-40B4-BE49-F238E27FC236}">
                <a16:creationId xmlns:a16="http://schemas.microsoft.com/office/drawing/2014/main" id="{C116053E-46E6-4C5B-945B-97FA7246F6D4}"/>
              </a:ext>
            </a:extLst>
          </p:cNvPr>
          <p:cNvSpPr>
            <a:spLocks xmlns:a="http://schemas.openxmlformats.org/drawingml/2006/main" noGrp="1"/>
          </p:cNvSpPr>
          <p:nvPr/>
        </p:nvSpPr>
        <p:spPr>
          <a:xfrm xmlns:a="http://schemas.openxmlformats.org/drawingml/2006/main">
            <a:off x="723900" y="2428875"/>
            <a:ext cx="2286000" cy="2000250"/>
          </a:xfrm>
          <a:prstGeom xmlns:a="http://schemas.openxmlformats.org/drawingml/2006/main" prst="rect">
            <a:avLst/>
          </a:prstGeom>
          <a:solidFill xmlns:a="http://schemas.openxmlformats.org/drawingml/2006/main">
            <a:srgbClr val="DCE8E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A5BA7006-DDFE-4070-9939-D85FE029070E}"/>
              </a:ext>
            </a:extLst>
          </p:cNvPr>
          <p:cNvSpPr>
            <a:spLocks xmlns:a="http://schemas.openxmlformats.org/drawingml/2006/main" noGrp="1"/>
          </p:cNvSpPr>
          <p:nvPr/>
        </p:nvSpPr>
        <p:spPr>
          <a:xfrm xmlns:a="http://schemas.openxmlformats.org/drawingml/2006/main">
            <a:off x="93345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現場データを収集・販売</a:t>
            </a:r>
          </a:p>
        </p:txBody>
      </p:sp>
      <p:sp>
        <p:nvSpPr>
          <p:cNvPr id="8" name="">
            <a:extLst xmlns:a="http://schemas.openxmlformats.org/drawingml/2006/main">
              <a:ext uri="{FF2B5EF4-FFF2-40B4-BE49-F238E27FC236}">
                <a16:creationId xmlns:a16="http://schemas.microsoft.com/office/drawing/2014/main" id="{CB11DB6F-7291-4FAC-9984-D3855572296D}"/>
              </a:ext>
            </a:extLst>
          </p:cNvPr>
          <p:cNvSpPr>
            <a:spLocks xmlns:a="http://schemas.openxmlformats.org/drawingml/2006/main" noGrp="1"/>
          </p:cNvSpPr>
          <p:nvPr/>
        </p:nvSpPr>
        <p:spPr>
          <a:xfrm xmlns:a="http://schemas.openxmlformats.org/drawingml/2006/main">
            <a:off x="93345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現場との関係、合意フロー、作業データを蓄積</a:t>
            </a:r>
          </a:p>
        </p:txBody>
      </p:sp>
      <p:sp>
        <p:nvSpPr>
          <p:cNvPr id="9" name="">
            <a:extLst xmlns:a="http://schemas.openxmlformats.org/drawingml/2006/main">
              <a:ext uri="{FF2B5EF4-FFF2-40B4-BE49-F238E27FC236}">
                <a16:creationId xmlns:a16="http://schemas.microsoft.com/office/drawing/2014/main" id="{B6B5838B-7FFA-4A11-B63C-58CD356086B8}"/>
              </a:ext>
            </a:extLst>
          </p:cNvPr>
          <p:cNvSpPr>
            <a:spLocks xmlns:a="http://schemas.openxmlformats.org/drawingml/2006/main" noGrp="1"/>
          </p:cNvSpPr>
          <p:nvPr/>
        </p:nvSpPr>
        <p:spPr>
          <a:xfrm xmlns:a="http://schemas.openxmlformats.org/drawingml/2006/main">
            <a:off x="300990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01945D5-F32A-4803-B3CC-1B729FA174FC}"/>
              </a:ext>
            </a:extLst>
          </p:cNvPr>
          <p:cNvSpPr>
            <a:spLocks xmlns:a="http://schemas.openxmlformats.org/drawingml/2006/main" noGrp="1"/>
          </p:cNvSpPr>
          <p:nvPr/>
        </p:nvSpPr>
        <p:spPr>
          <a:xfrm xmlns:a="http://schemas.openxmlformats.org/drawingml/2006/main">
            <a:off x="348615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見えている展開</a:t>
            </a:r>
          </a:p>
        </p:txBody>
      </p:sp>
      <p:sp>
        <p:nvSpPr>
          <p:cNvPr id="11" name="">
            <a:extLst xmlns:a="http://schemas.openxmlformats.org/drawingml/2006/main">
              <a:ext uri="{FF2B5EF4-FFF2-40B4-BE49-F238E27FC236}">
                <a16:creationId xmlns:a16="http://schemas.microsoft.com/office/drawing/2014/main" id="{4A6594EF-D1C7-49FE-A1A1-499A852DCF3A}"/>
              </a:ext>
            </a:extLst>
          </p:cNvPr>
          <p:cNvSpPr>
            <a:spLocks xmlns:a="http://schemas.openxmlformats.org/drawingml/2006/main" noGrp="1"/>
          </p:cNvSpPr>
          <p:nvPr/>
        </p:nvSpPr>
        <p:spPr>
          <a:xfrm xmlns:a="http://schemas.openxmlformats.org/drawingml/2006/main">
            <a:off x="348615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496B6B22-FD59-4B44-BE33-200E65AC36A0}"/>
              </a:ext>
            </a:extLst>
          </p:cNvPr>
          <p:cNvSpPr>
            <a:spLocks xmlns:a="http://schemas.openxmlformats.org/drawingml/2006/main" noGrp="1"/>
          </p:cNvSpPr>
          <p:nvPr/>
        </p:nvSpPr>
        <p:spPr>
          <a:xfrm xmlns:a="http://schemas.openxmlformats.org/drawingml/2006/main">
            <a:off x="369570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撮影デバイス</a:t>
            </a:r>
          </a:p>
        </p:txBody>
      </p:sp>
      <p:sp>
        <p:nvSpPr>
          <p:cNvPr id="13" name="">
            <a:extLst xmlns:a="http://schemas.openxmlformats.org/drawingml/2006/main">
              <a:ext uri="{FF2B5EF4-FFF2-40B4-BE49-F238E27FC236}">
                <a16:creationId xmlns:a16="http://schemas.microsoft.com/office/drawing/2014/main" id="{225CB62C-5C57-40B2-8207-7E0719CCA63A}"/>
              </a:ext>
            </a:extLst>
          </p:cNvPr>
          <p:cNvSpPr>
            <a:spLocks xmlns:a="http://schemas.openxmlformats.org/drawingml/2006/main" noGrp="1"/>
          </p:cNvSpPr>
          <p:nvPr/>
        </p:nvSpPr>
        <p:spPr>
          <a:xfrm xmlns:a="http://schemas.openxmlformats.org/drawingml/2006/main">
            <a:off x="369570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現場の負担を減らす機材を開発し、販売も検討</a:t>
            </a:r>
          </a:p>
        </p:txBody>
      </p:sp>
      <p:sp>
        <p:nvSpPr>
          <p:cNvPr id="14" name="">
            <a:extLst xmlns:a="http://schemas.openxmlformats.org/drawingml/2006/main">
              <a:ext uri="{FF2B5EF4-FFF2-40B4-BE49-F238E27FC236}">
                <a16:creationId xmlns:a16="http://schemas.microsoft.com/office/drawing/2014/main" id="{0AC4DEBF-6280-4C89-A4E3-859EDADA200F}"/>
              </a:ext>
            </a:extLst>
          </p:cNvPr>
          <p:cNvSpPr>
            <a:spLocks xmlns:a="http://schemas.openxmlformats.org/drawingml/2006/main" noGrp="1"/>
          </p:cNvSpPr>
          <p:nvPr/>
        </p:nvSpPr>
        <p:spPr>
          <a:xfrm xmlns:a="http://schemas.openxmlformats.org/drawingml/2006/main">
            <a:off x="577215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513BA87-4F9C-4926-9EE0-9A6889725E1C}"/>
              </a:ext>
            </a:extLst>
          </p:cNvPr>
          <p:cNvSpPr>
            <a:spLocks xmlns:a="http://schemas.openxmlformats.org/drawingml/2006/main" noGrp="1"/>
          </p:cNvSpPr>
          <p:nvPr/>
        </p:nvSpPr>
        <p:spPr>
          <a:xfrm xmlns:a="http://schemas.openxmlformats.org/drawingml/2006/main">
            <a:off x="624840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見えている展開</a:t>
            </a:r>
          </a:p>
        </p:txBody>
      </p:sp>
      <p:sp>
        <p:nvSpPr>
          <p:cNvPr id="16" name="">
            <a:extLst xmlns:a="http://schemas.openxmlformats.org/drawingml/2006/main">
              <a:ext uri="{FF2B5EF4-FFF2-40B4-BE49-F238E27FC236}">
                <a16:creationId xmlns:a16="http://schemas.microsoft.com/office/drawing/2014/main" id="{AE5069C4-782D-4C57-8B02-44F74F52A23D}"/>
              </a:ext>
            </a:extLst>
          </p:cNvPr>
          <p:cNvSpPr>
            <a:spLocks xmlns:a="http://schemas.openxmlformats.org/drawingml/2006/main" noGrp="1"/>
          </p:cNvSpPr>
          <p:nvPr/>
        </p:nvSpPr>
        <p:spPr>
          <a:xfrm xmlns:a="http://schemas.openxmlformats.org/drawingml/2006/main">
            <a:off x="624840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85EA256B-EF7F-4738-902E-F509CF56EC35}"/>
              </a:ext>
            </a:extLst>
          </p:cNvPr>
          <p:cNvSpPr>
            <a:spLocks xmlns:a="http://schemas.openxmlformats.org/drawingml/2006/main" noGrp="1"/>
          </p:cNvSpPr>
          <p:nvPr/>
        </p:nvSpPr>
        <p:spPr>
          <a:xfrm xmlns:a="http://schemas.openxmlformats.org/drawingml/2006/main">
            <a:off x="645795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実証現場の提供</a:t>
            </a:r>
          </a:p>
        </p:txBody>
      </p:sp>
      <p:sp>
        <p:nvSpPr>
          <p:cNvPr id="18" name="">
            <a:extLst xmlns:a="http://schemas.openxmlformats.org/drawingml/2006/main">
              <a:ext uri="{FF2B5EF4-FFF2-40B4-BE49-F238E27FC236}">
                <a16:creationId xmlns:a16="http://schemas.microsoft.com/office/drawing/2014/main" id="{28926F80-E8F3-47C5-85BB-0C69FAA441FC}"/>
              </a:ext>
            </a:extLst>
          </p:cNvPr>
          <p:cNvSpPr>
            <a:spLocks xmlns:a="http://schemas.openxmlformats.org/drawingml/2006/main" noGrp="1"/>
          </p:cNvSpPr>
          <p:nvPr/>
        </p:nvSpPr>
        <p:spPr>
          <a:xfrm xmlns:a="http://schemas.openxmlformats.org/drawingml/2006/main">
            <a:off x="645795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ロボット企業や研究機関と現場をつなぐ</a:t>
            </a:r>
          </a:p>
        </p:txBody>
      </p:sp>
      <p:sp>
        <p:nvSpPr>
          <p:cNvPr id="19" name="">
            <a:extLst xmlns:a="http://schemas.openxmlformats.org/drawingml/2006/main">
              <a:ext uri="{FF2B5EF4-FFF2-40B4-BE49-F238E27FC236}">
                <a16:creationId xmlns:a16="http://schemas.microsoft.com/office/drawing/2014/main" id="{3EC4DF7C-7264-4179-9AA7-116B3E8119FA}"/>
              </a:ext>
            </a:extLst>
          </p:cNvPr>
          <p:cNvSpPr>
            <a:spLocks xmlns:a="http://schemas.openxmlformats.org/drawingml/2006/main" noGrp="1"/>
          </p:cNvSpPr>
          <p:nvPr/>
        </p:nvSpPr>
        <p:spPr>
          <a:xfrm xmlns:a="http://schemas.openxmlformats.org/drawingml/2006/main">
            <a:off x="853440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F4C96AA-737B-4B3E-A308-91C347EF582D}"/>
              </a:ext>
            </a:extLst>
          </p:cNvPr>
          <p:cNvSpPr>
            <a:spLocks xmlns:a="http://schemas.openxmlformats.org/drawingml/2006/main" noGrp="1"/>
          </p:cNvSpPr>
          <p:nvPr/>
        </p:nvSpPr>
        <p:spPr>
          <a:xfrm xmlns:a="http://schemas.openxmlformats.org/drawingml/2006/main">
            <a:off x="901065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目指す姿</a:t>
            </a:r>
          </a:p>
        </p:txBody>
      </p:sp>
      <p:sp>
        <p:nvSpPr>
          <p:cNvPr id="21" name="">
            <a:extLst xmlns:a="http://schemas.openxmlformats.org/drawingml/2006/main">
              <a:ext uri="{FF2B5EF4-FFF2-40B4-BE49-F238E27FC236}">
                <a16:creationId xmlns:a16="http://schemas.microsoft.com/office/drawing/2014/main" id="{2D87121C-7E72-4591-84A7-F03934A3D515}"/>
              </a:ext>
            </a:extLst>
          </p:cNvPr>
          <p:cNvSpPr>
            <a:spLocks xmlns:a="http://schemas.openxmlformats.org/drawingml/2006/main" noGrp="1"/>
          </p:cNvSpPr>
          <p:nvPr/>
        </p:nvSpPr>
        <p:spPr>
          <a:xfrm xmlns:a="http://schemas.openxmlformats.org/drawingml/2006/main">
            <a:off x="901065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2" name="">
            <a:extLst xmlns:a="http://schemas.openxmlformats.org/drawingml/2006/main">
              <a:ext uri="{FF2B5EF4-FFF2-40B4-BE49-F238E27FC236}">
                <a16:creationId xmlns:a16="http://schemas.microsoft.com/office/drawing/2014/main" id="{316462FB-70D3-4E28-88EA-0775B3113128}"/>
              </a:ext>
            </a:extLst>
          </p:cNvPr>
          <p:cNvSpPr>
            <a:spLocks xmlns:a="http://schemas.openxmlformats.org/drawingml/2006/main" noGrp="1"/>
          </p:cNvSpPr>
          <p:nvPr/>
        </p:nvSpPr>
        <p:spPr>
          <a:xfrm xmlns:a="http://schemas.openxmlformats.org/drawingml/2006/main">
            <a:off x="922020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ロボットの現場統合</a:t>
            </a:r>
          </a:p>
        </p:txBody>
      </p:sp>
      <p:sp>
        <p:nvSpPr>
          <p:cNvPr id="23" name="">
            <a:extLst xmlns:a="http://schemas.openxmlformats.org/drawingml/2006/main">
              <a:ext uri="{FF2B5EF4-FFF2-40B4-BE49-F238E27FC236}">
                <a16:creationId xmlns:a16="http://schemas.microsoft.com/office/drawing/2014/main" id="{CBD90E13-9C11-4067-A41B-725B9B8D535D}"/>
              </a:ext>
            </a:extLst>
          </p:cNvPr>
          <p:cNvSpPr>
            <a:spLocks xmlns:a="http://schemas.openxmlformats.org/drawingml/2006/main" noGrp="1"/>
          </p:cNvSpPr>
          <p:nvPr/>
        </p:nvSpPr>
        <p:spPr>
          <a:xfrm xmlns:a="http://schemas.openxmlformats.org/drawingml/2006/main">
            <a:off x="922020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蓄積したデータと現場知識を使い、自ら導入する</a:t>
            </a:r>
          </a:p>
        </p:txBody>
      </p:sp>
      <p:sp>
        <p:nvSpPr>
          <p:cNvPr id="24" name="">
            <a:extLst xmlns:a="http://schemas.openxmlformats.org/drawingml/2006/main">
              <a:ext uri="{FF2B5EF4-FFF2-40B4-BE49-F238E27FC236}">
                <a16:creationId xmlns:a16="http://schemas.microsoft.com/office/drawing/2014/main" id="{63A0F1AC-E4B9-413B-88F7-DBD9A0B69D38}"/>
              </a:ext>
            </a:extLst>
          </p:cNvPr>
          <p:cNvSpPr>
            <a:spLocks xmlns:a="http://schemas.openxmlformats.org/drawingml/2006/main" noGrp="1"/>
          </p:cNvSpPr>
          <p:nvPr/>
        </p:nvSpPr>
        <p:spPr>
          <a:xfrm xmlns:a="http://schemas.openxmlformats.org/drawingml/2006/main">
            <a:off x="723900" y="5000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2A00087-0C63-457B-9255-A72A786142D6}"/>
              </a:ext>
            </a:extLst>
          </p:cNvPr>
          <p:cNvSpPr>
            <a:spLocks xmlns:a="http://schemas.openxmlformats.org/drawingml/2006/main" noGrp="1"/>
          </p:cNvSpPr>
          <p:nvPr/>
        </p:nvSpPr>
        <p:spPr>
          <a:xfrm xmlns:a="http://schemas.openxmlformats.org/drawingml/2006/main">
            <a:off x="723900" y="5362575"/>
            <a:ext cx="10382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直近以外は、現在見えている可能性を並べたものであり、実行時期を定めた計画ではない。</a:t>
            </a:r>
          </a:p>
        </p:txBody>
      </p:sp>
    </p:spTree>
    <p:extLst>
      <p:ext uri="{BB962C8B-B14F-4D97-AF65-F5344CB8AC3E}">
        <p14:creationId xmlns:p14="http://schemas.microsoft.com/office/powerpoint/2010/main" val="1937735742"/>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76552D2-C878-445E-A906-66CC9B26975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C77B12-61EC-4E45-9BD0-A20F2843BFA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直近3か月の目標</a:t>
            </a:r>
          </a:p>
        </p:txBody>
      </p:sp>
      <p:sp>
        <p:nvSpPr>
          <p:cNvPr id="3" name="">
            <a:extLst xmlns:a="http://schemas.openxmlformats.org/drawingml/2006/main">
              <a:ext uri="{FF2B5EF4-FFF2-40B4-BE49-F238E27FC236}">
                <a16:creationId xmlns:a16="http://schemas.microsoft.com/office/drawing/2014/main" id="{D0447C88-8F15-419D-864A-535D86AA5F3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6384D1-34B1-4A22-BCE0-EF03D890B4C7}"/>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7DAB236C-6138-4660-A2CD-6DB74D1C77F7}"/>
              </a:ext>
            </a:extLst>
          </p:cNvPr>
          <p:cNvSpPr>
            <a:spLocks xmlns:a="http://schemas.openxmlformats.org/drawingml/2006/main" noGrp="1"/>
          </p:cNvSpPr>
          <p:nvPr/>
        </p:nvSpPr>
        <p:spPr>
          <a:xfrm xmlns:a="http://schemas.openxmlformats.org/drawingml/2006/main">
            <a:off x="723900" y="200977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10月</a:t>
            </a:r>
          </a:p>
        </p:txBody>
      </p:sp>
      <p:sp>
        <p:nvSpPr>
          <p:cNvPr id="6" name="">
            <a:extLst xmlns:a="http://schemas.openxmlformats.org/drawingml/2006/main">
              <a:ext uri="{FF2B5EF4-FFF2-40B4-BE49-F238E27FC236}">
                <a16:creationId xmlns:a16="http://schemas.microsoft.com/office/drawing/2014/main" id="{9F30E455-6199-4033-88DC-FD0143089012}"/>
              </a:ext>
            </a:extLst>
          </p:cNvPr>
          <p:cNvSpPr>
            <a:spLocks xmlns:a="http://schemas.openxmlformats.org/drawingml/2006/main" noGrp="1"/>
          </p:cNvSpPr>
          <p:nvPr/>
        </p:nvSpPr>
        <p:spPr>
          <a:xfrm xmlns:a="http://schemas.openxmlformats.org/drawingml/2006/main">
            <a:off x="2333625" y="200977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月間500時間</a:t>
            </a:r>
          </a:p>
        </p:txBody>
      </p:sp>
      <p:sp>
        <p:nvSpPr>
          <p:cNvPr id="7" name="">
            <a:extLst xmlns:a="http://schemas.openxmlformats.org/drawingml/2006/main">
              <a:ext uri="{FF2B5EF4-FFF2-40B4-BE49-F238E27FC236}">
                <a16:creationId xmlns:a16="http://schemas.microsoft.com/office/drawing/2014/main" id="{9EF10F1A-F317-4742-8BEE-2170AA269886}"/>
              </a:ext>
            </a:extLst>
          </p:cNvPr>
          <p:cNvSpPr>
            <a:spLocks xmlns:a="http://schemas.openxmlformats.org/drawingml/2006/main" noGrp="1"/>
          </p:cNvSpPr>
          <p:nvPr/>
        </p:nvSpPr>
        <p:spPr>
          <a:xfrm xmlns:a="http://schemas.openxmlformats.org/drawingml/2006/main">
            <a:off x="5810250" y="1990725"/>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Nextremerとの合意と格納開始。海外販売先へ再度提供を打診する。</a:t>
            </a:r>
          </a:p>
        </p:txBody>
      </p:sp>
      <p:sp>
        <p:nvSpPr>
          <p:cNvPr id="8" name="">
            <a:extLst xmlns:a="http://schemas.openxmlformats.org/drawingml/2006/main">
              <a:ext uri="{FF2B5EF4-FFF2-40B4-BE49-F238E27FC236}">
                <a16:creationId xmlns:a16="http://schemas.microsoft.com/office/drawing/2014/main" id="{EA57CCA6-9DAE-4CCA-AC7C-CA6F2F3E6C78}"/>
              </a:ext>
            </a:extLst>
          </p:cNvPr>
          <p:cNvSpPr>
            <a:spLocks xmlns:a="http://schemas.openxmlformats.org/drawingml/2006/main" noGrp="1"/>
          </p:cNvSpPr>
          <p:nvPr/>
        </p:nvSpPr>
        <p:spPr>
          <a:xfrm xmlns:a="http://schemas.openxmlformats.org/drawingml/2006/main">
            <a:off x="723900" y="29432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9AE9A63-BFEB-4F47-8962-23D70B8AA60F}"/>
              </a:ext>
            </a:extLst>
          </p:cNvPr>
          <p:cNvSpPr>
            <a:spLocks xmlns:a="http://schemas.openxmlformats.org/drawingml/2006/main" noGrp="1"/>
          </p:cNvSpPr>
          <p:nvPr/>
        </p:nvSpPr>
        <p:spPr>
          <a:xfrm xmlns:a="http://schemas.openxmlformats.org/drawingml/2006/main">
            <a:off x="723900" y="331470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11月</a:t>
            </a:r>
          </a:p>
        </p:txBody>
      </p:sp>
      <p:sp>
        <p:nvSpPr>
          <p:cNvPr id="10" name="">
            <a:extLst xmlns:a="http://schemas.openxmlformats.org/drawingml/2006/main">
              <a:ext uri="{FF2B5EF4-FFF2-40B4-BE49-F238E27FC236}">
                <a16:creationId xmlns:a16="http://schemas.microsoft.com/office/drawing/2014/main" id="{AAA3FE66-2EBB-4E4D-A3A0-413BE9915ED9}"/>
              </a:ext>
            </a:extLst>
          </p:cNvPr>
          <p:cNvSpPr>
            <a:spLocks xmlns:a="http://schemas.openxmlformats.org/drawingml/2006/main" noGrp="1"/>
          </p:cNvSpPr>
          <p:nvPr/>
        </p:nvSpPr>
        <p:spPr>
          <a:xfrm xmlns:a="http://schemas.openxmlformats.org/drawingml/2006/main">
            <a:off x="2333625" y="33147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月間500時間を維持</a:t>
            </a:r>
          </a:p>
        </p:txBody>
      </p:sp>
      <p:sp>
        <p:nvSpPr>
          <p:cNvPr id="11" name="">
            <a:extLst xmlns:a="http://schemas.openxmlformats.org/drawingml/2006/main">
              <a:ext uri="{FF2B5EF4-FFF2-40B4-BE49-F238E27FC236}">
                <a16:creationId xmlns:a16="http://schemas.microsoft.com/office/drawing/2014/main" id="{BB380C8B-3938-442D-A63B-41C4E9322C4F}"/>
              </a:ext>
            </a:extLst>
          </p:cNvPr>
          <p:cNvSpPr>
            <a:spLocks xmlns:a="http://schemas.openxmlformats.org/drawingml/2006/main" noGrp="1"/>
          </p:cNvSpPr>
          <p:nvPr/>
        </p:nvSpPr>
        <p:spPr>
          <a:xfrm xmlns:a="http://schemas.openxmlformats.org/drawingml/2006/main">
            <a:off x="5810250" y="3295650"/>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撮影現場を訪問し、運用負担を洗い出す。合意とデータ取扱いを法務確認する。</a:t>
            </a:r>
          </a:p>
        </p:txBody>
      </p:sp>
      <p:sp>
        <p:nvSpPr>
          <p:cNvPr id="12" name="">
            <a:extLst xmlns:a="http://schemas.openxmlformats.org/drawingml/2006/main">
              <a:ext uri="{FF2B5EF4-FFF2-40B4-BE49-F238E27FC236}">
                <a16:creationId xmlns:a16="http://schemas.microsoft.com/office/drawing/2014/main" id="{B0FA0EB3-C0EA-49B3-A2A2-0546A674B945}"/>
              </a:ext>
            </a:extLst>
          </p:cNvPr>
          <p:cNvSpPr>
            <a:spLocks xmlns:a="http://schemas.openxmlformats.org/drawingml/2006/main" noGrp="1"/>
          </p:cNvSpPr>
          <p:nvPr/>
        </p:nvSpPr>
        <p:spPr>
          <a:xfrm xmlns:a="http://schemas.openxmlformats.org/drawingml/2006/main">
            <a:off x="723900" y="42481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E569DFB-47D8-4252-98CE-4EB607576E43}"/>
              </a:ext>
            </a:extLst>
          </p:cNvPr>
          <p:cNvSpPr>
            <a:spLocks xmlns:a="http://schemas.openxmlformats.org/drawingml/2006/main" noGrp="1"/>
          </p:cNvSpPr>
          <p:nvPr/>
        </p:nvSpPr>
        <p:spPr>
          <a:xfrm xmlns:a="http://schemas.openxmlformats.org/drawingml/2006/main">
            <a:off x="723900" y="461962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12月</a:t>
            </a:r>
          </a:p>
        </p:txBody>
      </p:sp>
      <p:sp>
        <p:nvSpPr>
          <p:cNvPr id="14" name="">
            <a:extLst xmlns:a="http://schemas.openxmlformats.org/drawingml/2006/main">
              <a:ext uri="{FF2B5EF4-FFF2-40B4-BE49-F238E27FC236}">
                <a16:creationId xmlns:a16="http://schemas.microsoft.com/office/drawing/2014/main" id="{1BE6264B-24AA-437F-A3A9-433EE69360B4}"/>
              </a:ext>
            </a:extLst>
          </p:cNvPr>
          <p:cNvSpPr>
            <a:spLocks xmlns:a="http://schemas.openxmlformats.org/drawingml/2006/main" noGrp="1"/>
          </p:cNvSpPr>
          <p:nvPr/>
        </p:nvSpPr>
        <p:spPr>
          <a:xfrm xmlns:a="http://schemas.openxmlformats.org/drawingml/2006/main">
            <a:off x="2333625" y="46196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月間1,000時間</a:t>
            </a:r>
          </a:p>
        </p:txBody>
      </p:sp>
      <p:sp>
        <p:nvSpPr>
          <p:cNvPr id="15" name="">
            <a:extLst xmlns:a="http://schemas.openxmlformats.org/drawingml/2006/main">
              <a:ext uri="{FF2B5EF4-FFF2-40B4-BE49-F238E27FC236}">
                <a16:creationId xmlns:a16="http://schemas.microsoft.com/office/drawing/2014/main" id="{A85F4D6C-EA7A-45A1-A692-D2B6E84F19F5}"/>
              </a:ext>
            </a:extLst>
          </p:cNvPr>
          <p:cNvSpPr>
            <a:spLocks xmlns:a="http://schemas.openxmlformats.org/drawingml/2006/main" noGrp="1"/>
          </p:cNvSpPr>
          <p:nvPr/>
        </p:nvSpPr>
        <p:spPr>
          <a:xfrm xmlns:a="http://schemas.openxmlformats.org/drawingml/2006/main">
            <a:off x="5810250" y="4600575"/>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飲食・小売を中心に撮影先を増やし、販売先との商談条件を満たす規模へ近づける。</a:t>
            </a:r>
          </a:p>
        </p:txBody>
      </p:sp>
      <p:sp>
        <p:nvSpPr>
          <p:cNvPr id="16" name="">
            <a:extLst xmlns:a="http://schemas.openxmlformats.org/drawingml/2006/main">
              <a:ext uri="{FF2B5EF4-FFF2-40B4-BE49-F238E27FC236}">
                <a16:creationId xmlns:a16="http://schemas.microsoft.com/office/drawing/2014/main" id="{0B01B2C2-6BAE-4683-A5AE-B11668BC99DB}"/>
              </a:ext>
            </a:extLst>
          </p:cNvPr>
          <p:cNvSpPr>
            <a:spLocks xmlns:a="http://schemas.openxmlformats.org/drawingml/2006/main" noGrp="1"/>
          </p:cNvSpPr>
          <p:nvPr/>
        </p:nvSpPr>
        <p:spPr>
          <a:xfrm xmlns:a="http://schemas.openxmlformats.org/drawingml/2006/main">
            <a:off x="723900" y="55530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5488470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2026-09-14T21:38:21.8330000Z</dcterms:created>
  <dcterms:modified xsi:type="dcterms:W3CDTF">2026-09-14T21:38:21.8330000Z</dcterms:modified>
</coreProperties>
</file>
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16553effe04224" /><Relationship Type="http://schemas.openxmlformats.org/officeDocument/2006/relationships/extended-properties" Target="/docProps/app.xml" Id="Ref198898851c45f8" /><Relationship Type="http://schemas.openxmlformats.org/officeDocument/2006/relationships/officeDocument" Target="/ppt/presentation.xml" Id="Re4c42849001c4297" /></Relationships>
</file>

<file path=ppt/presentation.xml><?xml version="1.0" encoding="utf-8"?>
<p:presentation xmlns:p="http://schemas.openxmlformats.org/presentationml/2006/main">
  <p:sldMasterIdLst>
    <p:sldMasterId xmlns:r="http://schemas.openxmlformats.org/officeDocument/2006/relationships" id="2147483648" r:id="Rcc2fa2ac0c964222"/>
  </p:sldMasterIdLst>
  <p:notesMasterIdLst>
    <p:notesMasterId xmlns:r="http://schemas.openxmlformats.org/officeDocument/2006/relationships" r:id="R5c1a039f09394c69"/>
  </p:notesMasterIdLst>
  <p:sldIdLst>
    <p:sldId xmlns:r="http://schemas.openxmlformats.org/officeDocument/2006/relationships" id="256" r:id="R70a5d4dc28614b46"/>
    <p:sldId xmlns:r="http://schemas.openxmlformats.org/officeDocument/2006/relationships" id="257" r:id="R7ddbcd18450545ee"/>
    <p:sldId xmlns:r="http://schemas.openxmlformats.org/officeDocument/2006/relationships" id="258" r:id="R28cdbfe030d442bb"/>
    <p:sldId xmlns:r="http://schemas.openxmlformats.org/officeDocument/2006/relationships" id="259" r:id="Rca0b6091ed03403a"/>
    <p:sldId xmlns:r="http://schemas.openxmlformats.org/officeDocument/2006/relationships" id="260" r:id="R64a0fe57e0554895"/>
    <p:sldId xmlns:r="http://schemas.openxmlformats.org/officeDocument/2006/relationships" id="261" r:id="R1afd348c351c4f6e"/>
    <p:sldId xmlns:r="http://schemas.openxmlformats.org/officeDocument/2006/relationships" id="262" r:id="R4ca2f42b01dd4190"/>
    <p:sldId xmlns:r="http://schemas.openxmlformats.org/officeDocument/2006/relationships" id="263" r:id="R65fdfdfa68944cbd"/>
    <p:sldId xmlns:r="http://schemas.openxmlformats.org/officeDocument/2006/relationships" id="264" r:id="Ra1fed4703b134ade"/>
    <p:sldId xmlns:r="http://schemas.openxmlformats.org/officeDocument/2006/relationships" id="265" r:id="R2dbbb640021340eb"/>
    <p:sldId xmlns:r="http://schemas.openxmlformats.org/officeDocument/2006/relationships" id="266" r:id="Rb61a7a196ea94753"/>
    <p:sldId xmlns:r="http://schemas.openxmlformats.org/officeDocument/2006/relationships" id="267" r:id="R5b26514314ec447f"/>
    <p:sldId xmlns:r="http://schemas.openxmlformats.org/officeDocument/2006/relationships" id="268" r:id="R3c768c64dc824539"/>
    <p:sldId xmlns:r="http://schemas.openxmlformats.org/officeDocument/2006/relationships" id="269" r:id="R5f8edfe4da0541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ec142b220c41e7" /><Relationship Type="http://schemas.openxmlformats.org/officeDocument/2006/relationships/slideMaster" Target="/ppt/slideMasters/slideMaster1.xml" Id="Rcc2fa2ac0c964222" /><Relationship Type="http://schemas.openxmlformats.org/officeDocument/2006/relationships/notesMaster" Target="/ppt/notesMasters/notesMaster1.xml" Id="R5c1a039f09394c69" /><Relationship Type="http://schemas.openxmlformats.org/officeDocument/2006/relationships/presProps" Target="/ppt/presProps.xml" Id="Ra936c13056c84946" /><Relationship Type="http://schemas.openxmlformats.org/officeDocument/2006/relationships/tableStyles" Target="/ppt/tableStyles.xml" Id="Re680e926fcdd4d57" /><Relationship Type="http://schemas.openxmlformats.org/officeDocument/2006/relationships/slide" Target="/ppt/slides/slide1.xml" Id="R70a5d4dc28614b46" /><Relationship Type="http://schemas.openxmlformats.org/officeDocument/2006/relationships/slide" Target="/ppt/slides/slide2.xml" Id="R7ddbcd18450545ee" /><Relationship Type="http://schemas.openxmlformats.org/officeDocument/2006/relationships/slide" Target="/ppt/slides/slide3.xml" Id="R28cdbfe030d442bb" /><Relationship Type="http://schemas.openxmlformats.org/officeDocument/2006/relationships/slide" Target="/ppt/slides/slide4.xml" Id="Rca0b6091ed03403a" /><Relationship Type="http://schemas.openxmlformats.org/officeDocument/2006/relationships/slide" Target="/ppt/slides/slide5.xml" Id="R64a0fe57e0554895" /><Relationship Type="http://schemas.openxmlformats.org/officeDocument/2006/relationships/slide" Target="/ppt/slides/slide6.xml" Id="R1afd348c351c4f6e" /><Relationship Type="http://schemas.openxmlformats.org/officeDocument/2006/relationships/slide" Target="/ppt/slides/slide7.xml" Id="R4ca2f42b01dd4190" /><Relationship Type="http://schemas.openxmlformats.org/officeDocument/2006/relationships/slide" Target="/ppt/slides/slide8.xml" Id="R65fdfdfa68944cbd" /><Relationship Type="http://schemas.openxmlformats.org/officeDocument/2006/relationships/slide" Target="/ppt/slides/slide9.xml" Id="Ra1fed4703b134ade" /><Relationship Type="http://schemas.openxmlformats.org/officeDocument/2006/relationships/slide" Target="/ppt/slides/slide10.xml" Id="R2dbbb640021340eb" /><Relationship Type="http://schemas.openxmlformats.org/officeDocument/2006/relationships/slide" Target="/ppt/slides/slide11.xml" Id="Rb61a7a196ea94753" /><Relationship Type="http://schemas.openxmlformats.org/officeDocument/2006/relationships/slide" Target="/ppt/slides/slide12.xml" Id="R5b26514314ec447f" /><Relationship Type="http://schemas.openxmlformats.org/officeDocument/2006/relationships/slide" Target="/ppt/slides/slide13.xml" Id="R3c768c64dc824539" /><Relationship Type="http://schemas.openxmlformats.org/officeDocument/2006/relationships/slide" Target="/ppt/slides/slide14.xml" Id="R5f8edfe4da0541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8db3a5981b40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4e636de2944d33" /><Relationship Type="http://schemas.openxmlformats.org/officeDocument/2006/relationships/notesMaster" Target="/ppt/notesMasters/notesMaster1.xml" Id="R71ba526e2dbf47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192effd3bf4664" /><Relationship Type="http://schemas.openxmlformats.org/officeDocument/2006/relationships/notesMaster" Target="/ppt/notesMasters/notesMaster1.xml" Id="Ra9e85abf3dda43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1d87f5aa244a9e" /><Relationship Type="http://schemas.openxmlformats.org/officeDocument/2006/relationships/notesMaster" Target="/ppt/notesMasters/notesMaster1.xml" Id="Rcaa14511cdd74d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364ec0c41846b5" /><Relationship Type="http://schemas.openxmlformats.org/officeDocument/2006/relationships/notesMaster" Target="/ppt/notesMasters/notesMaster1.xml" Id="R230ab32624f84c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fcfeb0dd674dc6" /><Relationship Type="http://schemas.openxmlformats.org/officeDocument/2006/relationships/notesMaster" Target="/ppt/notesMasters/notesMaster1.xml" Id="Rfee637ac40f540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6792c12f954afc" /><Relationship Type="http://schemas.openxmlformats.org/officeDocument/2006/relationships/notesMaster" Target="/ppt/notesMasters/notesMaster1.xml" Id="R78aa502ee7b347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ba3ac62ad44b13" /><Relationship Type="http://schemas.openxmlformats.org/officeDocument/2006/relationships/notesMaster" Target="/ppt/notesMasters/notesMaster1.xml" Id="R53cdd4e92cb746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0c3e102e0c4e11" /><Relationship Type="http://schemas.openxmlformats.org/officeDocument/2006/relationships/notesMaster" Target="/ppt/notesMasters/notesMaster1.xml" Id="Recd042af0c0f49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97301c2f0342e1" /><Relationship Type="http://schemas.openxmlformats.org/officeDocument/2006/relationships/notesMaster" Target="/ppt/notesMasters/notesMaster1.xml" Id="Rd1855c942e6743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cc533cb65e4450" /><Relationship Type="http://schemas.openxmlformats.org/officeDocument/2006/relationships/notesMaster" Target="/ppt/notesMasters/notesMaster1.xml" Id="Ree2e38295c3f49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f97be670484704" /><Relationship Type="http://schemas.openxmlformats.org/officeDocument/2006/relationships/notesMaster" Target="/ppt/notesMasters/notesMaster1.xml" Id="Rc1fbc390aa4242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b61dd60142447d" /><Relationship Type="http://schemas.openxmlformats.org/officeDocument/2006/relationships/notesMaster" Target="/ppt/notesMasters/notesMaster1.xml" Id="R3e2315efb4e445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8d04b30ab44d01" /><Relationship Type="http://schemas.openxmlformats.org/officeDocument/2006/relationships/notesMaster" Target="/ppt/notesMasters/notesMaster1.xml" Id="R19da39340cfc46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ab88beff7b4a88" /><Relationship Type="http://schemas.openxmlformats.org/officeDocument/2006/relationships/notesMaster" Target="/ppt/notesMasters/notesMaster1.xml" Id="R93765cc3958645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RootLensは、現場で人間が行っている作業のデータ収集から事業を始めています。この資料では、現在行っていることと、その先に何を見ているかを分けて話します。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横方向は、企業が接続する業種や現場の広さです。縦方向は、その企業が担う技術レイヤーの広さです。特定タスクをモデルから現場統合まで持つ企業は縦に長く、データ収集など一つのレイヤーから多くの現場へ接続する企業は横に長くなります。データ収集層と現場統合層の両方が現場へ直接入ることも、この図に含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現在の実績ではなく、私たちの業界仮説です。ロボットが現場で稼働すれば、その稼働自体がデータ収集になります。そのため長期的には、データ収集を含む改善ループを自社で持つ企業が強いと考え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企業を最終形と考えているわけではありません。現時点で複数業種の現場へ入れる方法として、データ収集が最も実行しやすく、その過程で将来の現場統合に必要な情報と関係が残ると考え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撮影先と販売先の両面を開拓する事業です。現在は現場側が先行しています。海外の販売先との会話では、データの内容以前に、継続してまとまった時間を供給できるかが重要でした。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現場側では、約30件への営業と、ベーカリーでの実撮影まで進みました。カフェチェーンとスーパーマーケットは、まだ契約済みや撮影済みではありません。現在進んでいる話として分けて説明します。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先については、需要の有無よりも、私たちが供給できる規模が商談上の課題になっています。海外8社とはサンプルのやり取りまで進みましたが、契約実績はまだありません。国内ではNextremerと実際の運用フローを詰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回撮影ではヘルメット型の構成を使いました。その後、帽子型を試し、現在はスマートグラスによる撮影も導入しています。ベーカリーでは、メガネ型に変えたことで『これならつけてもいい』という反応が増えました。デバイスの快適性は撮影先の拡大に直結する課題だと分かりま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現在はこの4名で活動しています。共同創業者の二人に加えて、最初の現場で出会った川島さんと、小売・製造業界のネットワークと経営管理経験を持つ大崎さんに協力してもらっています。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を1時間1,600円、その半分を現場へ還元する前提です。1台が月110時間動く場合、デバイス償却は1時間あたり約73円です。ここまでは機材だけを見た試算で、現場運用の人件費などはまだ含め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集時間に比例してデバイス台数も増えるため、機材費の比率は大きく変わりません。ただし、運用人員が同じ比率で増えるかはまだ分かっていません。また、同じデータを複数回販売できる可能性はありますが、この表には入れ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数字で問題が見えにくいのはデバイス費です。実際に事業の採算を決めるのは、現場を増やす営業と運用の人件費、そして収集したデータを継続して売れるかだと考えています。ここを今後の収集拡大の中で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ここから先はロードマップではありません。今の時点で、データ収集を入口にするとどこまで進める可能性が見えるかを示しています。環境や技術、収集したデータによって進み方は変わります。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直近では、長期構想よりも収集規模と運用の検証を優先します。10月に500時間、12月に1,000時間を目標とし、同時に販売先が必要とする条件と、現場運用にかかる実際の負担を確認します。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50a49600dd48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7fbd65c32a4f4c" /><Relationship Type="http://schemas.openxmlformats.org/officeDocument/2006/relationships/slideLayout" Target="/ppt/slideLayouts/slideLayout1.xml" Id="R74c4705a9ed04f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c4705a9ed04f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736c66faf54cee" /><Relationship Type="http://schemas.openxmlformats.org/officeDocument/2006/relationships/notesSlide" Target="/ppt/notesSlides/notesSlide1.xml" Id="R02cd037125fb44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4c09b2e2af44b7" /><Relationship Type="http://schemas.openxmlformats.org/officeDocument/2006/relationships/notesSlide" Target="/ppt/notesSlides/notesSlide2.xml" Id="R580e7af656634a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63ee0c683948d4" /><Relationship Type="http://schemas.openxmlformats.org/officeDocument/2006/relationships/notesSlide" Target="/ppt/notesSlides/notesSlide3.xml" Id="R912bd479fcb540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01abf5b6494979" /><Relationship Type="http://schemas.openxmlformats.org/officeDocument/2006/relationships/notesSlide" Target="/ppt/notesSlides/notesSlide4.xml" Id="Rc238bb26905f43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5eb1890f144cb2" /><Relationship Type="http://schemas.openxmlformats.org/officeDocument/2006/relationships/notesSlide" Target="/ppt/notesSlides/notesSlide5.xml" Id="Rdef22ffce6ef4b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bc3edbca22452d" /><Relationship Type="http://schemas.openxmlformats.org/officeDocument/2006/relationships/notesSlide" Target="/ppt/notesSlides/notesSlide6.xml" Id="Rf551f7e65d3041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d5b7d71d1342f7" /><Relationship Type="http://schemas.openxmlformats.org/officeDocument/2006/relationships/notesSlide" Target="/ppt/notesSlides/notesSlide7.xml" Id="Re13fde4f919e41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12cebb616a44142" /><Relationship Type="http://schemas.openxmlformats.org/officeDocument/2006/relationships/image" Target="/ppt/media/image.jpeg" Id="R42da614b5c83475c" /><Relationship Type="http://schemas.openxmlformats.org/officeDocument/2006/relationships/image" Target="/ppt/media/image2.jpeg" Id="R41d15a8bcbfe4ede" /><Relationship Type="http://schemas.openxmlformats.org/officeDocument/2006/relationships/image" Target="/ppt/media/image3.jpeg" Id="R25cb773f8bb54b14" /><Relationship Type="http://schemas.openxmlformats.org/officeDocument/2006/relationships/notesSlide" Target="/ppt/notesSlides/notesSlide8.xml" Id="R47f85970316842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757d2fdf1994554" /><Relationship Type="http://schemas.openxmlformats.org/officeDocument/2006/relationships/notesSlide" Target="/ppt/notesSlides/notesSlide9.xml" Id="R57f62922d2c84b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fb5cdf88dd74fc1" /><Relationship Type="http://schemas.openxmlformats.org/officeDocument/2006/relationships/notesSlide" Target="/ppt/notesSlides/notesSlide10.xml" Id="R6e9c99981bb6405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7a3fd21c2944ab" /><Relationship Type="http://schemas.openxmlformats.org/officeDocument/2006/relationships/notesSlide" Target="/ppt/notesSlides/notesSlide11.xml" Id="R1e4bf3f74f3648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1d078b5b048442b" /><Relationship Type="http://schemas.openxmlformats.org/officeDocument/2006/relationships/notesSlide" Target="/ppt/notesSlides/notesSlide12.xml" Id="Rd303930e0cf94d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bc900d8b3c4574" /><Relationship Type="http://schemas.openxmlformats.org/officeDocument/2006/relationships/notesSlide" Target="/ppt/notesSlides/notesSlide13.xml" Id="Rbaa02bf8845b4a8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e84d45e748b4281" /><Relationship Type="http://schemas.openxmlformats.org/officeDocument/2006/relationships/notesSlide" Target="/ppt/notesSlides/notesSlide14.xml" Id="Rb2860554a9dd4bc8"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CCAC1A-0B5A-40F9-9014-C7E89105CEE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20FC6D-3DEE-4C6C-97A9-E5A2CC946C9A}"/>
              </a:ext>
            </a:extLst>
          </p:cNvPr>
          <p:cNvSpPr>
            <a:spLocks xmlns:a="http://schemas.openxmlformats.org/drawingml/2006/main" noGrp="1"/>
          </p:cNvSpPr>
          <p:nvPr/>
        </p:nvSpPr>
        <p:spPr>
          <a:xfrm xmlns:a="http://schemas.openxmlformats.org/drawingml/2006/main">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DED9487B-ECB7-4536-BBF3-103B95C1CE60}"/>
              </a:ext>
            </a:extLst>
          </p:cNvPr>
          <p:cNvSpPr>
            <a:spLocks xmlns:a="http://schemas.openxmlformats.org/drawingml/2006/main" noGrp="1"/>
          </p:cNvSpPr>
          <p:nvPr/>
        </p:nvSpPr>
        <p:spPr>
          <a:xfrm xmlns:a="http://schemas.openxmlformats.org/drawingml/2006/main">
            <a:off x="666750" y="2543175"/>
            <a:ext cx="9334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200" b="1">
                <a:solidFill>
                  <a:srgbClr val="15191B"/>
                </a:solidFill>
                <a:latin typeface="Hiragino Sans"/>
                <a:ea typeface="Hiragino Sans"/>
                <a:cs typeface="Hiragino Sans"/>
              </a:defRPr>
            </a:pPr>
            <a:r>
              <a:rPr sz="4200" b="1">
                <a:solidFill>
                  <a:srgbClr val="15191B"/>
                </a:solidFill>
                <a:latin typeface="Hiragino Sans"/>
                <a:ea typeface="Hiragino Sans"/>
                <a:cs typeface="Hiragino Sans"/>
              </a:rPr>
              <a:t>現場データ収集から始める</a:t>
            </a:r>
          </a:p>
          <a:p xmlns:a="http://schemas.openxmlformats.org/drawingml/2006/main">
            <a:pPr algn="l">
              <a:defRPr sz="4200" b="1">
                <a:solidFill>
                  <a:srgbClr val="15191B"/>
                </a:solidFill>
                <a:latin typeface="Hiragino Sans"/>
                <a:ea typeface="Hiragino Sans"/>
                <a:cs typeface="Hiragino Sans"/>
              </a:defRPr>
            </a:pPr>
            <a:r>
              <a:rPr sz="4200" b="1">
                <a:solidFill>
                  <a:srgbClr val="15191B"/>
                </a:solidFill>
                <a:latin typeface="Hiragino Sans"/>
                <a:ea typeface="Hiragino Sans"/>
                <a:cs typeface="Hiragino Sans"/>
              </a:rPr>
              <a:t>フィジカルAI企業</a:t>
            </a:r>
          </a:p>
        </p:txBody>
      </p:sp>
      <p:sp>
        <p:nvSpPr>
          <p:cNvPr id="4" name="">
            <a:extLst xmlns:a="http://schemas.openxmlformats.org/drawingml/2006/main">
              <a:ext uri="{FF2B5EF4-FFF2-40B4-BE49-F238E27FC236}">
                <a16:creationId xmlns:a16="http://schemas.microsoft.com/office/drawing/2014/main" id="{8CD4ED15-BAF9-4B31-BFA5-7A8D54D6A295}"/>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CA559B-1E66-44BE-BA62-9390ED88F214}"/>
              </a:ext>
            </a:extLst>
          </p:cNvPr>
          <p:cNvSpPr>
            <a:spLocks xmlns:a="http://schemas.openxmlformats.org/drawingml/2006/main" noGrp="1"/>
          </p:cNvSpPr>
          <p:nvPr/>
        </p:nvSpPr>
        <p:spPr>
          <a:xfrm xmlns:a="http://schemas.openxmlformats.org/drawingml/2006/main">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9995AE13-8022-4309-90C0-89A205741F9B}"/>
              </a:ext>
            </a:extLst>
          </p:cNvPr>
          <p:cNvSpPr>
            <a:spLocks xmlns:a="http://schemas.openxmlformats.org/drawingml/2006/main" noGrp="1"/>
          </p:cNvSpPr>
          <p:nvPr/>
        </p:nvSpPr>
        <p:spPr>
          <a:xfrm xmlns:a="http://schemas.openxmlformats.org/drawingml/2006/main">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955796033"/>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F84622A-C4AD-4CEB-9539-BEFE5E6CADE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1DF916-A3A7-4DFF-9948-8C752A2464F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B933A67E-8122-4E53-B9C0-926ADD00041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0855E7-7514-4754-A9E0-0FFDFAE9902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D33B80E4-DE8F-46EF-AB8E-528BE6ACC72D}"/>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FBAB98AA-E394-48B5-B198-FA9F8BBE6406}"/>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F3211D48-9227-44D1-A845-EC065A4D3265}"/>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D2B50E52-2EEA-447A-980C-6C4A85449CE1}"/>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FCE262F3-02E1-4EAF-815F-E08942EFCBE4}"/>
              </a:ext>
            </a:extLst>
          </p:cNvPr>
          <p:cNvSpPr>
            <a:spLocks xmlns:a="http://schemas.openxmlformats.org/drawingml/2006/main" noGrp="1"/>
          </p:cNvSpPr>
          <p:nvPr/>
        </p:nvSpPr>
        <p:spPr>
          <a:xfrm xmlns:a="http://schemas.openxmlformats.org/drawingml/2006/main">
            <a:off x="723900" y="295275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0" name="">
            <a:extLst xmlns:a="http://schemas.openxmlformats.org/drawingml/2006/main">
              <a:ext uri="{FF2B5EF4-FFF2-40B4-BE49-F238E27FC236}">
                <a16:creationId xmlns:a16="http://schemas.microsoft.com/office/drawing/2014/main" id="{C2803F04-6ED4-427C-9FEF-6E0BD9D7D3B8}"/>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4175D33D-D27D-4359-81CD-562D0211DBD1}"/>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538EA939-B3E4-4155-AFAA-30F082DD4F72}"/>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5F91BC74-B94A-4BE2-BE42-6167B34FE69E}"/>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A328CF9D-1919-420B-AC50-D046DEBDB04A}"/>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AFB57655-B60E-4D34-8B2B-AD29AF615AE8}"/>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16B7D0A-104F-4092-9A4D-DDC34F037453}"/>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E19B4947-3117-4E1F-95A4-E8DBD64D03E2}"/>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6E06DD5-D920-4C76-AFC0-3720E20024D0}"/>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88802E20-00B7-43B8-BAE3-0B037D847C14}"/>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2E67787-665E-463E-8169-5F1AFC5E5305}"/>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7F7603F2-B892-43E2-8B34-47EC556F6637}"/>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71A068C-24AD-4C9D-AE81-4C2D8B605E44}"/>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F4269514-9DF1-4448-B3E2-9106DB03AA38}"/>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78E3B51-9B10-4C6C-BD1B-37C7572BD459}"/>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AE1E8B5F-97A8-4846-A1AA-52EB4A041EC5}"/>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2699DD23-C66F-4D59-9469-B3FF8B4322B6}"/>
              </a:ext>
            </a:extLst>
          </p:cNvPr>
          <p:cNvSpPr>
            <a:spLocks xmlns:a="http://schemas.openxmlformats.org/drawingml/2006/main" noGrp="1"/>
          </p:cNvSpPr>
          <p:nvPr/>
        </p:nvSpPr>
        <p:spPr>
          <a:xfrm xmlns:a="http://schemas.openxmlformats.org/drawingml/2006/main">
            <a:off x="2819400" y="310515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27" name="">
            <a:extLst xmlns:a="http://schemas.openxmlformats.org/drawingml/2006/main">
              <a:ext uri="{FF2B5EF4-FFF2-40B4-BE49-F238E27FC236}">
                <a16:creationId xmlns:a16="http://schemas.microsoft.com/office/drawing/2014/main" id="{4CCBCA8D-27B2-4C18-8518-F2A2D250461D}"/>
              </a:ext>
            </a:extLst>
          </p:cNvPr>
          <p:cNvSpPr>
            <a:spLocks xmlns:a="http://schemas.openxmlformats.org/drawingml/2006/main" noGrp="1"/>
          </p:cNvSpPr>
          <p:nvPr/>
        </p:nvSpPr>
        <p:spPr>
          <a:xfrm xmlns:a="http://schemas.openxmlformats.org/drawingml/2006/main">
            <a:off x="2905125" y="347662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モデル</a:t>
            </a:r>
          </a:p>
        </p:txBody>
      </p:sp>
      <p:sp>
        <p:nvSpPr>
          <p:cNvPr id="28" name="">
            <a:extLst xmlns:a="http://schemas.openxmlformats.org/drawingml/2006/main">
              <a:ext uri="{FF2B5EF4-FFF2-40B4-BE49-F238E27FC236}">
                <a16:creationId xmlns:a16="http://schemas.microsoft.com/office/drawing/2014/main" id="{8E7BA8EE-4C52-4826-BF53-81FD91BDF7D2}"/>
              </a:ext>
            </a:extLst>
          </p:cNvPr>
          <p:cNvSpPr>
            <a:spLocks xmlns:a="http://schemas.openxmlformats.org/drawingml/2006/main" noGrp="1"/>
          </p:cNvSpPr>
          <p:nvPr/>
        </p:nvSpPr>
        <p:spPr>
          <a:xfrm xmlns:a="http://schemas.openxmlformats.org/drawingml/2006/main">
            <a:off x="2905125" y="39243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AACE3238-CA18-4FBE-B6EB-110E3A9FBD2F}"/>
              </a:ext>
            </a:extLst>
          </p:cNvPr>
          <p:cNvSpPr>
            <a:spLocks xmlns:a="http://schemas.openxmlformats.org/drawingml/2006/main" noGrp="1"/>
          </p:cNvSpPr>
          <p:nvPr/>
        </p:nvSpPr>
        <p:spPr>
          <a:xfrm xmlns:a="http://schemas.openxmlformats.org/drawingml/2006/main">
            <a:off x="2905125" y="437197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現場統合</a:t>
            </a:r>
          </a:p>
        </p:txBody>
      </p:sp>
      <p:sp>
        <p:nvSpPr>
          <p:cNvPr id="30" name="">
            <a:extLst xmlns:a="http://schemas.openxmlformats.org/drawingml/2006/main">
              <a:ext uri="{FF2B5EF4-FFF2-40B4-BE49-F238E27FC236}">
                <a16:creationId xmlns:a16="http://schemas.microsoft.com/office/drawing/2014/main" id="{60554DAD-F705-46B5-B85B-CC68B63C2250}"/>
              </a:ext>
            </a:extLst>
          </p:cNvPr>
          <p:cNvSpPr>
            <a:spLocks xmlns:a="http://schemas.openxmlformats.org/drawingml/2006/main" noGrp="1"/>
          </p:cNvSpPr>
          <p:nvPr/>
        </p:nvSpPr>
        <p:spPr>
          <a:xfrm xmlns:a="http://schemas.openxmlformats.org/drawingml/2006/main">
            <a:off x="5048250" y="2266950"/>
            <a:ext cx="5619750" cy="4381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1" name="">
            <a:extLst xmlns:a="http://schemas.openxmlformats.org/drawingml/2006/main">
              <a:ext uri="{FF2B5EF4-FFF2-40B4-BE49-F238E27FC236}">
                <a16:creationId xmlns:a16="http://schemas.microsoft.com/office/drawing/2014/main" id="{A1181F31-9C28-49B9-B98E-7593089A623A}"/>
              </a:ext>
            </a:extLst>
          </p:cNvPr>
          <p:cNvSpPr>
            <a:spLocks xmlns:a="http://schemas.openxmlformats.org/drawingml/2006/main" noGrp="1"/>
          </p:cNvSpPr>
          <p:nvPr/>
        </p:nvSpPr>
        <p:spPr>
          <a:xfrm xmlns:a="http://schemas.openxmlformats.org/drawingml/2006/main">
            <a:off x="5219700" y="2371725"/>
            <a:ext cx="527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水平統合型：一つのレイヤーから多くの現場へ</a:t>
            </a:r>
          </a:p>
        </p:txBody>
      </p:sp>
      <p:sp>
        <p:nvSpPr>
          <p:cNvPr id="32" name="">
            <a:extLst xmlns:a="http://schemas.openxmlformats.org/drawingml/2006/main">
              <a:ext uri="{FF2B5EF4-FFF2-40B4-BE49-F238E27FC236}">
                <a16:creationId xmlns:a16="http://schemas.microsoft.com/office/drawing/2014/main" id="{BD1A1FDB-C358-488E-9168-500616AE0108}"/>
              </a:ext>
            </a:extLst>
          </p:cNvPr>
          <p:cNvSpPr>
            <a:spLocks xmlns:a="http://schemas.openxmlformats.org/drawingml/2006/main" noGrp="1"/>
          </p:cNvSpPr>
          <p:nvPr/>
        </p:nvSpPr>
        <p:spPr>
          <a:xfrm xmlns:a="http://schemas.openxmlformats.org/drawingml/2006/main">
            <a:off x="10372725" y="2705100"/>
            <a:ext cx="19050" cy="24574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47E3E22-E2F0-41AB-A17B-07F5D50CFD2D}"/>
              </a:ext>
            </a:extLst>
          </p:cNvPr>
          <p:cNvSpPr>
            <a:spLocks xmlns:a="http://schemas.openxmlformats.org/drawingml/2006/main" noGrp="1"/>
          </p:cNvSpPr>
          <p:nvPr/>
        </p:nvSpPr>
        <p:spPr>
          <a:xfrm xmlns:a="http://schemas.openxmlformats.org/drawingml/2006/main">
            <a:off x="8401050" y="28003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撮影で現場へ入る</a:t>
            </a:r>
          </a:p>
        </p:txBody>
      </p:sp>
      <p:sp>
        <p:nvSpPr>
          <p:cNvPr id="34" name="">
            <a:extLst xmlns:a="http://schemas.openxmlformats.org/drawingml/2006/main">
              <a:ext uri="{FF2B5EF4-FFF2-40B4-BE49-F238E27FC236}">
                <a16:creationId xmlns:a16="http://schemas.microsoft.com/office/drawing/2014/main" id="{2E6B2FF2-FD5A-497E-9353-22F9629C86A6}"/>
              </a:ext>
            </a:extLst>
          </p:cNvPr>
          <p:cNvSpPr>
            <a:spLocks xmlns:a="http://schemas.openxmlformats.org/drawingml/2006/main" noGrp="1"/>
          </p:cNvSpPr>
          <p:nvPr/>
        </p:nvSpPr>
        <p:spPr>
          <a:xfrm xmlns:a="http://schemas.openxmlformats.org/drawingml/2006/main">
            <a:off x="8401050" y="47625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導入で現場へ入る</a:t>
            </a:r>
          </a:p>
        </p:txBody>
      </p:sp>
      <p:sp>
        <p:nvSpPr>
          <p:cNvPr id="35" name="">
            <a:extLst xmlns:a="http://schemas.openxmlformats.org/drawingml/2006/main">
              <a:ext uri="{FF2B5EF4-FFF2-40B4-BE49-F238E27FC236}">
                <a16:creationId xmlns:a16="http://schemas.microsoft.com/office/drawing/2014/main" id="{45149C51-3474-4EC9-8CAA-0458629C374C}"/>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68D48EE-53FD-43D6-9140-64368470AEF9}"/>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37" name="">
            <a:extLst xmlns:a="http://schemas.openxmlformats.org/drawingml/2006/main">
              <a:ext uri="{FF2B5EF4-FFF2-40B4-BE49-F238E27FC236}">
                <a16:creationId xmlns:a16="http://schemas.microsoft.com/office/drawing/2014/main" id="{37DA8CE1-7E95-4A3E-870E-AAFBC7C0D893}"/>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1256395649"/>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B3F3D782-8C10-40E3-9EE7-28D325140AA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657084-F7FE-4BA0-8827-61F635E85F5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現場を含むフィードバックループ</a:t>
            </a:r>
          </a:p>
        </p:txBody>
      </p:sp>
      <p:sp>
        <p:nvSpPr>
          <p:cNvPr id="3" name="">
            <a:extLst xmlns:a="http://schemas.openxmlformats.org/drawingml/2006/main">
              <a:ext uri="{FF2B5EF4-FFF2-40B4-BE49-F238E27FC236}">
                <a16:creationId xmlns:a16="http://schemas.microsoft.com/office/drawing/2014/main" id="{76BB6704-9AF5-47D4-AC15-766B04409B2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6691D48-BC9F-4F80-8929-190C73860D1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0934CC23-DB00-489C-B311-92A92FBBC64D}"/>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422437AC-28FB-4D70-AADA-A4A47F2DE90E}"/>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C0910029-08AE-4ECD-B61A-0C78E9601208}"/>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B0E21F1F-B355-4631-A4D8-48C4A5C40567}"/>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635C9F2C-ADA4-4C56-B5A6-44356CC606CE}"/>
              </a:ext>
            </a:extLst>
          </p:cNvPr>
          <p:cNvSpPr>
            <a:spLocks xmlns:a="http://schemas.openxmlformats.org/drawingml/2006/main" noGrp="1"/>
          </p:cNvSpPr>
          <p:nvPr/>
        </p:nvSpPr>
        <p:spPr>
          <a:xfrm xmlns:a="http://schemas.openxmlformats.org/drawingml/2006/main">
            <a:off x="723900" y="295275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0" name="">
            <a:extLst xmlns:a="http://schemas.openxmlformats.org/drawingml/2006/main">
              <a:ext uri="{FF2B5EF4-FFF2-40B4-BE49-F238E27FC236}">
                <a16:creationId xmlns:a16="http://schemas.microsoft.com/office/drawing/2014/main" id="{5A0D27E0-2DDD-43D8-8587-0AD4A253F5DE}"/>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2CC9A98F-D0BD-4924-9315-9D2B5A2170EA}"/>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44C9145A-95D3-4753-BFD6-F9408DA6FBF9}"/>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F3A64FA6-2574-4798-A61D-65847FF53CED}"/>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C88AE40D-EB7C-4863-9EC4-DB0029D48E93}"/>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A9952366-388C-46FB-9E19-69B9BA5CE90A}"/>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A76E3D2-5D3E-44EE-AC65-F9CE09F22B52}"/>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C9AC4056-74B9-4B01-858E-DDC1A4D46A44}"/>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5DE08EA-4FBF-4184-99DF-BD2AE1169701}"/>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AD4FFF8E-5150-461C-B6F4-6886E11FC92E}"/>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77B5405-A45D-4878-BC32-26F614A3EDF1}"/>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D0AC72C7-AE1D-4B50-9A0F-AD2A8ADA8D6D}"/>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B8A242D-DD91-4D77-B178-92475A52E7C4}"/>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396256AA-1A7B-4B5A-9FC7-27A0E15074C4}"/>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CB4D9CE-1291-4B45-9BDD-77919A97C27E}"/>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C1FF529E-3123-4D14-9FEA-BD37AD1B4394}"/>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EE262747-C5A6-4412-8209-EC2F17B71E55}"/>
              </a:ext>
            </a:extLst>
          </p:cNvPr>
          <p:cNvSpPr>
            <a:spLocks xmlns:a="http://schemas.openxmlformats.org/drawingml/2006/main" noGrp="1"/>
          </p:cNvSpPr>
          <p:nvPr/>
        </p:nvSpPr>
        <p:spPr>
          <a:xfrm xmlns:a="http://schemas.openxmlformats.org/drawingml/2006/main">
            <a:off x="2790825" y="304800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a:t>
            </a:r>
          </a:p>
        </p:txBody>
      </p:sp>
      <p:sp>
        <p:nvSpPr>
          <p:cNvPr id="27" name="">
            <a:extLst xmlns:a="http://schemas.openxmlformats.org/drawingml/2006/main">
              <a:ext uri="{FF2B5EF4-FFF2-40B4-BE49-F238E27FC236}">
                <a16:creationId xmlns:a16="http://schemas.microsoft.com/office/drawing/2014/main" id="{20BB5673-A0AB-4DE8-9D9E-B4E21D86EC0C}"/>
              </a:ext>
            </a:extLst>
          </p:cNvPr>
          <p:cNvSpPr>
            <a:spLocks xmlns:a="http://schemas.openxmlformats.org/drawingml/2006/main" noGrp="1"/>
          </p:cNvSpPr>
          <p:nvPr/>
        </p:nvSpPr>
        <p:spPr>
          <a:xfrm xmlns:a="http://schemas.openxmlformats.org/drawingml/2006/main">
            <a:off x="2790825" y="32861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現場データで改善</a:t>
            </a:r>
          </a:p>
        </p:txBody>
      </p:sp>
      <p:sp>
        <p:nvSpPr>
          <p:cNvPr id="28" name="">
            <a:extLst xmlns:a="http://schemas.openxmlformats.org/drawingml/2006/main">
              <a:ext uri="{FF2B5EF4-FFF2-40B4-BE49-F238E27FC236}">
                <a16:creationId xmlns:a16="http://schemas.microsoft.com/office/drawing/2014/main" id="{799E2775-6DE9-4136-BE97-D954B1F74045}"/>
              </a:ext>
            </a:extLst>
          </p:cNvPr>
          <p:cNvSpPr>
            <a:spLocks xmlns:a="http://schemas.openxmlformats.org/drawingml/2006/main" noGrp="1"/>
          </p:cNvSpPr>
          <p:nvPr/>
        </p:nvSpPr>
        <p:spPr>
          <a:xfrm xmlns:a="http://schemas.openxmlformats.org/drawingml/2006/main">
            <a:off x="2790825" y="36671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C80AECAF-2A73-4BBC-B42C-728E680B50C2}"/>
              </a:ext>
            </a:extLst>
          </p:cNvPr>
          <p:cNvSpPr>
            <a:spLocks xmlns:a="http://schemas.openxmlformats.org/drawingml/2006/main" noGrp="1"/>
          </p:cNvSpPr>
          <p:nvPr/>
        </p:nvSpPr>
        <p:spPr>
          <a:xfrm xmlns:a="http://schemas.openxmlformats.org/drawingml/2006/main">
            <a:off x="2790825" y="3905250"/>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機体・センサーへ反映</a:t>
            </a:r>
          </a:p>
        </p:txBody>
      </p:sp>
      <p:sp>
        <p:nvSpPr>
          <p:cNvPr id="30" name="">
            <a:extLst xmlns:a="http://schemas.openxmlformats.org/drawingml/2006/main">
              <a:ext uri="{FF2B5EF4-FFF2-40B4-BE49-F238E27FC236}">
                <a16:creationId xmlns:a16="http://schemas.microsoft.com/office/drawing/2014/main" id="{A9A2111E-572E-417A-8E66-CBD6469CD7B2}"/>
              </a:ext>
            </a:extLst>
          </p:cNvPr>
          <p:cNvSpPr>
            <a:spLocks xmlns:a="http://schemas.openxmlformats.org/drawingml/2006/main" noGrp="1"/>
          </p:cNvSpPr>
          <p:nvPr/>
        </p:nvSpPr>
        <p:spPr>
          <a:xfrm xmlns:a="http://schemas.openxmlformats.org/drawingml/2006/main">
            <a:off x="2790825" y="428625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31" name="">
            <a:extLst xmlns:a="http://schemas.openxmlformats.org/drawingml/2006/main">
              <a:ext uri="{FF2B5EF4-FFF2-40B4-BE49-F238E27FC236}">
                <a16:creationId xmlns:a16="http://schemas.microsoft.com/office/drawing/2014/main" id="{85057790-9B8C-4C41-B2BF-6040B45182FC}"/>
              </a:ext>
            </a:extLst>
          </p:cNvPr>
          <p:cNvSpPr>
            <a:spLocks xmlns:a="http://schemas.openxmlformats.org/drawingml/2006/main" noGrp="1"/>
          </p:cNvSpPr>
          <p:nvPr/>
        </p:nvSpPr>
        <p:spPr>
          <a:xfrm xmlns:a="http://schemas.openxmlformats.org/drawingml/2006/main">
            <a:off x="2790825" y="452437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実作業へ導入</a:t>
            </a:r>
          </a:p>
        </p:txBody>
      </p:sp>
      <p:sp>
        <p:nvSpPr>
          <p:cNvPr id="32" name="">
            <a:extLst xmlns:a="http://schemas.openxmlformats.org/drawingml/2006/main">
              <a:ext uri="{FF2B5EF4-FFF2-40B4-BE49-F238E27FC236}">
                <a16:creationId xmlns:a16="http://schemas.microsoft.com/office/drawing/2014/main" id="{46BEFEE8-68DA-4370-B81E-4FAD14BBEAD0}"/>
              </a:ext>
            </a:extLst>
          </p:cNvPr>
          <p:cNvSpPr>
            <a:spLocks xmlns:a="http://schemas.openxmlformats.org/drawingml/2006/main" noGrp="1"/>
          </p:cNvSpPr>
          <p:nvPr/>
        </p:nvSpPr>
        <p:spPr>
          <a:xfrm xmlns:a="http://schemas.openxmlformats.org/drawingml/2006/main">
            <a:off x="3448050" y="34956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3" name="">
            <a:extLst xmlns:a="http://schemas.openxmlformats.org/drawingml/2006/main">
              <a:ext uri="{FF2B5EF4-FFF2-40B4-BE49-F238E27FC236}">
                <a16:creationId xmlns:a16="http://schemas.microsoft.com/office/drawing/2014/main" id="{60F88B1D-22D8-4DF9-907C-02DCB4640510}"/>
              </a:ext>
            </a:extLst>
          </p:cNvPr>
          <p:cNvSpPr>
            <a:spLocks xmlns:a="http://schemas.openxmlformats.org/drawingml/2006/main" noGrp="1"/>
          </p:cNvSpPr>
          <p:nvPr/>
        </p:nvSpPr>
        <p:spPr>
          <a:xfrm xmlns:a="http://schemas.openxmlformats.org/drawingml/2006/main">
            <a:off x="3448050" y="41148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4" name="">
            <a:extLst xmlns:a="http://schemas.openxmlformats.org/drawingml/2006/main">
              <a:ext uri="{FF2B5EF4-FFF2-40B4-BE49-F238E27FC236}">
                <a16:creationId xmlns:a16="http://schemas.microsoft.com/office/drawing/2014/main" id="{B6D7C02D-E090-46D0-8F62-E572C943C868}"/>
              </a:ext>
            </a:extLst>
          </p:cNvPr>
          <p:cNvSpPr>
            <a:spLocks xmlns:a="http://schemas.openxmlformats.org/drawingml/2006/main" noGrp="1"/>
          </p:cNvSpPr>
          <p:nvPr/>
        </p:nvSpPr>
        <p:spPr>
          <a:xfrm xmlns:a="http://schemas.openxmlformats.org/drawingml/2006/main">
            <a:off x="3600450" y="4752975"/>
            <a:ext cx="19050" cy="409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C4A024B-CBF2-4382-83B4-5E842C4A2013}"/>
              </a:ext>
            </a:extLst>
          </p:cNvPr>
          <p:cNvSpPr>
            <a:spLocks xmlns:a="http://schemas.openxmlformats.org/drawingml/2006/main" noGrp="1"/>
          </p:cNvSpPr>
          <p:nvPr/>
        </p:nvSpPr>
        <p:spPr>
          <a:xfrm xmlns:a="http://schemas.openxmlformats.org/drawingml/2006/main">
            <a:off x="3600450" y="5143500"/>
            <a:ext cx="63912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F0D64E0-9514-4EC0-B34B-906437288894}"/>
              </a:ext>
            </a:extLst>
          </p:cNvPr>
          <p:cNvSpPr>
            <a:spLocks xmlns:a="http://schemas.openxmlformats.org/drawingml/2006/main" noGrp="1"/>
          </p:cNvSpPr>
          <p:nvPr/>
        </p:nvSpPr>
        <p:spPr>
          <a:xfrm xmlns:a="http://schemas.openxmlformats.org/drawingml/2006/main">
            <a:off x="9972675" y="2657475"/>
            <a:ext cx="19050" cy="2505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547F1DD-F524-4BE8-9AF5-B74D4FAEE6AD}"/>
              </a:ext>
            </a:extLst>
          </p:cNvPr>
          <p:cNvSpPr>
            <a:spLocks xmlns:a="http://schemas.openxmlformats.org/drawingml/2006/main" noGrp="1"/>
          </p:cNvSpPr>
          <p:nvPr/>
        </p:nvSpPr>
        <p:spPr>
          <a:xfrm xmlns:a="http://schemas.openxmlformats.org/drawingml/2006/main">
            <a:off x="4600575" y="2657475"/>
            <a:ext cx="53911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031564A-3359-4E19-A8A6-95C4BDE063CC}"/>
              </a:ext>
            </a:extLst>
          </p:cNvPr>
          <p:cNvSpPr>
            <a:spLocks xmlns:a="http://schemas.openxmlformats.org/drawingml/2006/main" noGrp="1"/>
          </p:cNvSpPr>
          <p:nvPr/>
        </p:nvSpPr>
        <p:spPr>
          <a:xfrm xmlns:a="http://schemas.openxmlformats.org/drawingml/2006/main">
            <a:off x="6600825" y="23812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現場で得たデータを戻す</a:t>
            </a:r>
          </a:p>
        </p:txBody>
      </p:sp>
      <p:sp>
        <p:nvSpPr>
          <p:cNvPr id="39" name="">
            <a:extLst xmlns:a="http://schemas.openxmlformats.org/drawingml/2006/main">
              <a:ext uri="{FF2B5EF4-FFF2-40B4-BE49-F238E27FC236}">
                <a16:creationId xmlns:a16="http://schemas.microsoft.com/office/drawing/2014/main" id="{89D19CD1-CFDA-486E-91E4-B91E1D49EEC5}"/>
              </a:ext>
            </a:extLst>
          </p:cNvPr>
          <p:cNvSpPr>
            <a:spLocks xmlns:a="http://schemas.openxmlformats.org/drawingml/2006/main" noGrp="1"/>
          </p:cNvSpPr>
          <p:nvPr/>
        </p:nvSpPr>
        <p:spPr>
          <a:xfrm xmlns:a="http://schemas.openxmlformats.org/drawingml/2006/main">
            <a:off x="5048250" y="486727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現場で稼働</a:t>
            </a:r>
          </a:p>
        </p:txBody>
      </p:sp>
      <p:sp>
        <p:nvSpPr>
          <p:cNvPr id="40" name="">
            <a:extLst xmlns:a="http://schemas.openxmlformats.org/drawingml/2006/main">
              <a:ext uri="{FF2B5EF4-FFF2-40B4-BE49-F238E27FC236}">
                <a16:creationId xmlns:a16="http://schemas.microsoft.com/office/drawing/2014/main" id="{1BE3F1A4-E52A-4449-8DC0-48FD042FFA71}"/>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FAAC160-73CF-4EBE-A6D6-B1D27F072C28}"/>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42" name="">
            <a:extLst xmlns:a="http://schemas.openxmlformats.org/drawingml/2006/main">
              <a:ext uri="{FF2B5EF4-FFF2-40B4-BE49-F238E27FC236}">
                <a16:creationId xmlns:a16="http://schemas.microsoft.com/office/drawing/2014/main" id="{73D39BFC-248E-4CAE-854F-6428265A2B60}"/>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1594415705"/>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55E04A-BC0C-467B-B604-0EDDC4AB79B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D28B35-6787-4187-8D97-EDF07F0B31D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現場データ収集という入口</a:t>
            </a:r>
          </a:p>
        </p:txBody>
      </p:sp>
      <p:sp>
        <p:nvSpPr>
          <p:cNvPr id="3" name="">
            <a:extLst xmlns:a="http://schemas.openxmlformats.org/drawingml/2006/main">
              <a:ext uri="{FF2B5EF4-FFF2-40B4-BE49-F238E27FC236}">
                <a16:creationId xmlns:a16="http://schemas.microsoft.com/office/drawing/2014/main" id="{F7B8C20E-A8C5-4D7A-BB4C-5C4A293F046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B27A98-1EA5-4F77-B22E-0E8B3C88D2A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BBBA9AE6-312B-4880-B7B1-9AED89A6F8F1}"/>
              </a:ext>
            </a:extLst>
          </p:cNvPr>
          <p:cNvSpPr>
            <a:spLocks xmlns:a="http://schemas.openxmlformats.org/drawingml/2006/main" noGrp="1"/>
          </p:cNvSpPr>
          <p:nvPr/>
        </p:nvSpPr>
        <p:spPr>
          <a:xfrm xmlns:a="http://schemas.openxmlformats.org/drawingml/2006/main">
            <a:off x="723900" y="1924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接続する現場</a:t>
            </a:r>
          </a:p>
        </p:txBody>
      </p:sp>
      <p:sp>
        <p:nvSpPr>
          <p:cNvPr id="6" name="">
            <a:extLst xmlns:a="http://schemas.openxmlformats.org/drawingml/2006/main">
              <a:ext uri="{FF2B5EF4-FFF2-40B4-BE49-F238E27FC236}">
                <a16:creationId xmlns:a16="http://schemas.microsoft.com/office/drawing/2014/main" id="{6AAECF36-CC2B-4682-AEEE-FEE361AF8E8E}"/>
              </a:ext>
            </a:extLst>
          </p:cNvPr>
          <p:cNvSpPr>
            <a:spLocks xmlns:a="http://schemas.openxmlformats.org/drawingml/2006/main" noGrp="1"/>
          </p:cNvSpPr>
          <p:nvPr/>
        </p:nvSpPr>
        <p:spPr>
          <a:xfrm xmlns:a="http://schemas.openxmlformats.org/drawingml/2006/main">
            <a:off x="3810000" y="192405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人間の作業を撮影するため、ロボットの動作開発よりも業種をまたぎやすい。</a:t>
            </a:r>
          </a:p>
        </p:txBody>
      </p:sp>
      <p:sp>
        <p:nvSpPr>
          <p:cNvPr id="7" name="">
            <a:extLst xmlns:a="http://schemas.openxmlformats.org/drawingml/2006/main">
              <a:ext uri="{FF2B5EF4-FFF2-40B4-BE49-F238E27FC236}">
                <a16:creationId xmlns:a16="http://schemas.microsoft.com/office/drawing/2014/main" id="{6BAC9136-A1E0-41A3-9304-B62E38BC6BCA}"/>
              </a:ext>
            </a:extLst>
          </p:cNvPr>
          <p:cNvSpPr>
            <a:spLocks xmlns:a="http://schemas.openxmlformats.org/drawingml/2006/main" noGrp="1"/>
          </p:cNvSpPr>
          <p:nvPr/>
        </p:nvSpPr>
        <p:spPr>
          <a:xfrm xmlns:a="http://schemas.openxmlformats.org/drawingml/2006/main">
            <a:off x="723900" y="28479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DDDEB4C-F6F3-45E8-B38A-2665C335EA48}"/>
              </a:ext>
            </a:extLst>
          </p:cNvPr>
          <p:cNvSpPr>
            <a:spLocks xmlns:a="http://schemas.openxmlformats.org/drawingml/2006/main" noGrp="1"/>
          </p:cNvSpPr>
          <p:nvPr/>
        </p:nvSpPr>
        <p:spPr>
          <a:xfrm xmlns:a="http://schemas.openxmlformats.org/drawingml/2006/main">
            <a:off x="723900" y="3019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現場へ入る手続き</a:t>
            </a:r>
          </a:p>
        </p:txBody>
      </p:sp>
      <p:sp>
        <p:nvSpPr>
          <p:cNvPr id="9" name="">
            <a:extLst xmlns:a="http://schemas.openxmlformats.org/drawingml/2006/main">
              <a:ext uri="{FF2B5EF4-FFF2-40B4-BE49-F238E27FC236}">
                <a16:creationId xmlns:a16="http://schemas.microsoft.com/office/drawing/2014/main" id="{63E509CB-49A7-4177-9E14-6411248F5866}"/>
              </a:ext>
            </a:extLst>
          </p:cNvPr>
          <p:cNvSpPr>
            <a:spLocks xmlns:a="http://schemas.openxmlformats.org/drawingml/2006/main" noGrp="1"/>
          </p:cNvSpPr>
          <p:nvPr/>
        </p:nvSpPr>
        <p:spPr>
          <a:xfrm xmlns:a="http://schemas.openxmlformats.org/drawingml/2006/main">
            <a:off x="3810000" y="3019425"/>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現場の許可、スタッフへの説明、プライバシー対応が必要になる。</a:t>
            </a:r>
          </a:p>
        </p:txBody>
      </p:sp>
      <p:sp>
        <p:nvSpPr>
          <p:cNvPr id="10" name="">
            <a:extLst xmlns:a="http://schemas.openxmlformats.org/drawingml/2006/main">
              <a:ext uri="{FF2B5EF4-FFF2-40B4-BE49-F238E27FC236}">
                <a16:creationId xmlns:a16="http://schemas.microsoft.com/office/drawing/2014/main" id="{E6CDDAA5-A97B-4E46-91E6-4B0AC1F8D3E4}"/>
              </a:ext>
            </a:extLst>
          </p:cNvPr>
          <p:cNvSpPr>
            <a:spLocks xmlns:a="http://schemas.openxmlformats.org/drawingml/2006/main" noGrp="1"/>
          </p:cNvSpPr>
          <p:nvPr/>
        </p:nvSpPr>
        <p:spPr>
          <a:xfrm xmlns:a="http://schemas.openxmlformats.org/drawingml/2006/main">
            <a:off x="723900" y="39433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F087FEB-F607-464A-BAA5-07BDE70167AC}"/>
              </a:ext>
            </a:extLst>
          </p:cNvPr>
          <p:cNvSpPr>
            <a:spLocks xmlns:a="http://schemas.openxmlformats.org/drawingml/2006/main" noGrp="1"/>
          </p:cNvSpPr>
          <p:nvPr/>
        </p:nvSpPr>
        <p:spPr>
          <a:xfrm xmlns:a="http://schemas.openxmlformats.org/drawingml/2006/main">
            <a:off x="723900" y="411480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撮影後に残るもの</a:t>
            </a:r>
          </a:p>
        </p:txBody>
      </p:sp>
      <p:sp>
        <p:nvSpPr>
          <p:cNvPr id="12" name="">
            <a:extLst xmlns:a="http://schemas.openxmlformats.org/drawingml/2006/main">
              <a:ext uri="{FF2B5EF4-FFF2-40B4-BE49-F238E27FC236}">
                <a16:creationId xmlns:a16="http://schemas.microsoft.com/office/drawing/2014/main" id="{4584078F-05A2-4420-92D4-86281F8AED86}"/>
              </a:ext>
            </a:extLst>
          </p:cNvPr>
          <p:cNvSpPr>
            <a:spLocks xmlns:a="http://schemas.openxmlformats.org/drawingml/2006/main" noGrp="1"/>
          </p:cNvSpPr>
          <p:nvPr/>
        </p:nvSpPr>
        <p:spPr>
          <a:xfrm xmlns:a="http://schemas.openxmlformats.org/drawingml/2006/main">
            <a:off x="3810000" y="411480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ロボット導入前のワークフロー、現場との関係、継続撮影の運用知識。</a:t>
            </a:r>
          </a:p>
        </p:txBody>
      </p:sp>
      <p:sp>
        <p:nvSpPr>
          <p:cNvPr id="13" name="">
            <a:extLst xmlns:a="http://schemas.openxmlformats.org/drawingml/2006/main">
              <a:ext uri="{FF2B5EF4-FFF2-40B4-BE49-F238E27FC236}">
                <a16:creationId xmlns:a16="http://schemas.microsoft.com/office/drawing/2014/main" id="{42A4D13A-6582-482A-A8E1-257480B78577}"/>
              </a:ext>
            </a:extLst>
          </p:cNvPr>
          <p:cNvSpPr>
            <a:spLocks xmlns:a="http://schemas.openxmlformats.org/drawingml/2006/main" noGrp="1"/>
          </p:cNvSpPr>
          <p:nvPr/>
        </p:nvSpPr>
        <p:spPr>
          <a:xfrm xmlns:a="http://schemas.openxmlformats.org/drawingml/2006/main">
            <a:off x="723900" y="50387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90351905"/>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8E2549B-53E4-40C5-8861-D038B095EE8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A70307-4A92-41A2-AFD5-C926A6E1A319}"/>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事業の構造</a:t>
            </a:r>
          </a:p>
        </p:txBody>
      </p:sp>
      <p:sp>
        <p:nvSpPr>
          <p:cNvPr id="3" name="">
            <a:extLst xmlns:a="http://schemas.openxmlformats.org/drawingml/2006/main">
              <a:ext uri="{FF2B5EF4-FFF2-40B4-BE49-F238E27FC236}">
                <a16:creationId xmlns:a16="http://schemas.microsoft.com/office/drawing/2014/main" id="{7802267B-BB93-4B16-B60D-F32A4A2B045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8F3492-ED31-4A39-AE39-25D1EBCC39F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CDE20DE6-FD09-4CE9-9D02-E26498872E13}"/>
              </a:ext>
            </a:extLst>
          </p:cNvPr>
          <p:cNvSpPr>
            <a:spLocks xmlns:a="http://schemas.openxmlformats.org/drawingml/2006/main" noGrp="1"/>
          </p:cNvSpPr>
          <p:nvPr/>
        </p:nvSpPr>
        <p:spPr>
          <a:xfrm xmlns:a="http://schemas.openxmlformats.org/drawingml/2006/main">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0281CCC6-223E-42E1-BA55-94B34BC760E7}"/>
              </a:ext>
            </a:extLst>
          </p:cNvPr>
          <p:cNvSpPr>
            <a:spLocks xmlns:a="http://schemas.openxmlformats.org/drawingml/2006/main" noGrp="1"/>
          </p:cNvSpPr>
          <p:nvPr/>
        </p:nvSpPr>
        <p:spPr>
          <a:xfrm xmlns:a="http://schemas.openxmlformats.org/drawingml/2006/main">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AE838129-19E3-400C-AAD9-CB28AFF067C3}"/>
              </a:ext>
            </a:extLst>
          </p:cNvPr>
          <p:cNvSpPr>
            <a:spLocks xmlns:a="http://schemas.openxmlformats.org/drawingml/2006/main" noGrp="1"/>
          </p:cNvSpPr>
          <p:nvPr/>
        </p:nvSpPr>
        <p:spPr>
          <a:xfrm xmlns:a="http://schemas.openxmlformats.org/drawingml/2006/main">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0AF2B978-4E7D-4B2D-B742-CF3EEEBFE0C7}"/>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7A5F9605-DE5B-475D-A14D-C52A609656F3}"/>
              </a:ext>
            </a:extLst>
          </p:cNvPr>
          <p:cNvSpPr>
            <a:spLocks xmlns:a="http://schemas.openxmlformats.org/drawingml/2006/main" noGrp="1"/>
          </p:cNvSpPr>
          <p:nvPr/>
        </p:nvSpPr>
        <p:spPr>
          <a:xfrm xmlns:a="http://schemas.openxmlformats.org/drawingml/2006/main">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DEE1CCDE-0B21-48A7-AE52-8A625EBBA464}"/>
              </a:ext>
            </a:extLst>
          </p:cNvPr>
          <p:cNvSpPr>
            <a:spLocks xmlns:a="http://schemas.openxmlformats.org/drawingml/2006/main" noGrp="1"/>
          </p:cNvSpPr>
          <p:nvPr/>
        </p:nvSpPr>
        <p:spPr>
          <a:xfrm xmlns:a="http://schemas.openxmlformats.org/drawingml/2006/main">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86D71344-495B-4701-B491-0EB36E69AC98}"/>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6F12B0D-115B-4A95-B73B-403C334BC3A1}"/>
              </a:ext>
            </a:extLst>
          </p:cNvPr>
          <p:cNvSpPr>
            <a:spLocks xmlns:a="http://schemas.openxmlformats.org/drawingml/2006/main" noGrp="1"/>
          </p:cNvSpPr>
          <p:nvPr/>
        </p:nvSpPr>
        <p:spPr>
          <a:xfrm xmlns:a="http://schemas.openxmlformats.org/drawingml/2006/main">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382E98B8-7CEF-4D29-BB91-98FE18375C3D}"/>
              </a:ext>
            </a:extLst>
          </p:cNvPr>
          <p:cNvSpPr>
            <a:spLocks xmlns:a="http://schemas.openxmlformats.org/drawingml/2006/main" noGrp="1"/>
          </p:cNvSpPr>
          <p:nvPr/>
        </p:nvSpPr>
        <p:spPr>
          <a:xfrm xmlns:a="http://schemas.openxmlformats.org/drawingml/2006/main">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現場運用</a:t>
            </a:r>
          </a:p>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データ品質</a:t>
            </a:r>
          </a:p>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C9D86171-97F8-4281-B32F-9665112F7FD3}"/>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4C63E637-D068-440A-B6D4-F1FE205D0D55}"/>
              </a:ext>
            </a:extLst>
          </p:cNvPr>
          <p:cNvSpPr>
            <a:spLocks xmlns:a="http://schemas.openxmlformats.org/drawingml/2006/main" noGrp="1"/>
          </p:cNvSpPr>
          <p:nvPr/>
        </p:nvSpPr>
        <p:spPr>
          <a:xfrm xmlns:a="http://schemas.openxmlformats.org/drawingml/2006/main">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417D6D97-7879-438B-8F31-3D49407966EB}"/>
              </a:ext>
            </a:extLst>
          </p:cNvPr>
          <p:cNvSpPr>
            <a:spLocks xmlns:a="http://schemas.openxmlformats.org/drawingml/2006/main" noGrp="1"/>
          </p:cNvSpPr>
          <p:nvPr/>
        </p:nvSpPr>
        <p:spPr>
          <a:xfrm xmlns:a="http://schemas.openxmlformats.org/drawingml/2006/main">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77992A1E-CB85-4CE6-84F9-93B7317A6E71}"/>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95BC94F-FEB8-4609-9DD0-B3873F657D5D}"/>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3CB1FCD-2A30-495E-ABF2-14BD6F7AFDC8}"/>
              </a:ext>
            </a:extLst>
          </p:cNvPr>
          <p:cNvSpPr>
            <a:spLocks xmlns:a="http://schemas.openxmlformats.org/drawingml/2006/main" noGrp="1"/>
          </p:cNvSpPr>
          <p:nvPr/>
        </p:nvSpPr>
        <p:spPr>
          <a:xfrm xmlns:a="http://schemas.openxmlformats.org/drawingml/2006/main">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943BDFD1-83B3-420E-B3EF-216800EDA3AA}"/>
              </a:ext>
            </a:extLst>
          </p:cNvPr>
          <p:cNvSpPr>
            <a:spLocks xmlns:a="http://schemas.openxmlformats.org/drawingml/2006/main" noGrp="1"/>
          </p:cNvSpPr>
          <p:nvPr/>
        </p:nvSpPr>
        <p:spPr>
          <a:xfrm xmlns:a="http://schemas.openxmlformats.org/drawingml/2006/main">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EED9AA65-A9DC-4856-AADB-7C07A0196085}"/>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6FA9B16-F331-4198-8DA3-03C17BB4B3AA}"/>
              </a:ext>
            </a:extLst>
          </p:cNvPr>
          <p:cNvSpPr>
            <a:spLocks xmlns:a="http://schemas.openxmlformats.org/drawingml/2006/main" noGrp="1"/>
          </p:cNvSpPr>
          <p:nvPr/>
        </p:nvSpPr>
        <p:spPr>
          <a:xfrm xmlns:a="http://schemas.openxmlformats.org/drawingml/2006/main">
            <a:off x="723900" y="51530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現在は現場開拓が先行している。販売側では、一定の収集規模に達することが商談を進める条件になっている。</a:t>
            </a:r>
          </a:p>
        </p:txBody>
      </p:sp>
    </p:spTree>
    <p:extLst>
      <p:ext uri="{BB962C8B-B14F-4D97-AF65-F5344CB8AC3E}">
        <p14:creationId xmlns:p14="http://schemas.microsoft.com/office/powerpoint/2010/main" val="1229195301"/>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A3FB225-1DE7-443E-8B98-702451C3EF2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29605A-488A-40CA-A116-5254974F75CB}"/>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現在の現場開拓</a:t>
            </a:r>
          </a:p>
        </p:txBody>
      </p:sp>
      <p:sp>
        <p:nvSpPr>
          <p:cNvPr id="3" name="">
            <a:extLst xmlns:a="http://schemas.openxmlformats.org/drawingml/2006/main">
              <a:ext uri="{FF2B5EF4-FFF2-40B4-BE49-F238E27FC236}">
                <a16:creationId xmlns:a16="http://schemas.microsoft.com/office/drawing/2014/main" id="{9BBD4556-710A-4D3A-B42D-E4ED165543F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CB96CA4-A88E-43A8-BD83-9F62DFD83F5B}"/>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1F5CE2C4-BF20-4EBB-9151-1EA3C8DDEF6E}"/>
              </a:ext>
            </a:extLst>
          </p:cNvPr>
          <p:cNvSpPr>
            <a:spLocks xmlns:a="http://schemas.openxmlformats.org/drawingml/2006/main" noGrp="1"/>
          </p:cNvSpPr>
          <p:nvPr/>
        </p:nvSpPr>
        <p:spPr>
          <a:xfrm xmlns:a="http://schemas.openxmlformats.org/drawingml/2006/main">
            <a:off x="723900" y="19145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訪問</a:t>
            </a:r>
          </a:p>
        </p:txBody>
      </p:sp>
      <p:sp>
        <p:nvSpPr>
          <p:cNvPr id="6" name="">
            <a:extLst xmlns:a="http://schemas.openxmlformats.org/drawingml/2006/main">
              <a:ext uri="{FF2B5EF4-FFF2-40B4-BE49-F238E27FC236}">
                <a16:creationId xmlns:a16="http://schemas.microsoft.com/office/drawing/2014/main" id="{1C03989E-5EDF-4BB7-950B-ABFEFFA8FE92}"/>
              </a:ext>
            </a:extLst>
          </p:cNvPr>
          <p:cNvSpPr>
            <a:spLocks xmlns:a="http://schemas.openxmlformats.org/drawingml/2006/main" noGrp="1"/>
          </p:cNvSpPr>
          <p:nvPr/>
        </p:nvSpPr>
        <p:spPr>
          <a:xfrm xmlns:a="http://schemas.openxmlformats.org/drawingml/2006/main">
            <a:off x="2857500" y="191452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飛び込みで約30件の現場へ訪問した。</a:t>
            </a:r>
          </a:p>
        </p:txBody>
      </p:sp>
      <p:sp>
        <p:nvSpPr>
          <p:cNvPr id="7" name="">
            <a:extLst xmlns:a="http://schemas.openxmlformats.org/drawingml/2006/main">
              <a:ext uri="{FF2B5EF4-FFF2-40B4-BE49-F238E27FC236}">
                <a16:creationId xmlns:a16="http://schemas.microsoft.com/office/drawing/2014/main" id="{F39C3732-07B3-438F-92AA-56F938CBAAB3}"/>
              </a:ext>
            </a:extLst>
          </p:cNvPr>
          <p:cNvSpPr>
            <a:spLocks xmlns:a="http://schemas.openxmlformats.org/drawingml/2006/main" noGrp="1"/>
          </p:cNvSpPr>
          <p:nvPr/>
        </p:nvSpPr>
        <p:spPr>
          <a:xfrm xmlns:a="http://schemas.openxmlformats.org/drawingml/2006/main">
            <a:off x="723900" y="2667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EA5229F-4F10-4B05-ACDC-AEDF77536698}"/>
              </a:ext>
            </a:extLst>
          </p:cNvPr>
          <p:cNvSpPr>
            <a:spLocks xmlns:a="http://schemas.openxmlformats.org/drawingml/2006/main" noGrp="1"/>
          </p:cNvSpPr>
          <p:nvPr/>
        </p:nvSpPr>
        <p:spPr>
          <a:xfrm xmlns:a="http://schemas.openxmlformats.org/drawingml/2006/main">
            <a:off x="723900" y="28289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撮影済み</a:t>
            </a:r>
          </a:p>
        </p:txBody>
      </p:sp>
      <p:sp>
        <p:nvSpPr>
          <p:cNvPr id="9" name="">
            <a:extLst xmlns:a="http://schemas.openxmlformats.org/drawingml/2006/main">
              <a:ext uri="{FF2B5EF4-FFF2-40B4-BE49-F238E27FC236}">
                <a16:creationId xmlns:a16="http://schemas.microsoft.com/office/drawing/2014/main" id="{8132B459-2012-4178-908F-D17BBEAB6110}"/>
              </a:ext>
            </a:extLst>
          </p:cNvPr>
          <p:cNvSpPr>
            <a:spLocks xmlns:a="http://schemas.openxmlformats.org/drawingml/2006/main" noGrp="1"/>
          </p:cNvSpPr>
          <p:nvPr/>
        </p:nvSpPr>
        <p:spPr>
          <a:xfrm xmlns:a="http://schemas.openxmlformats.org/drawingml/2006/main">
            <a:off x="2857500" y="282892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ベーカリーで装着テストを行い、合計約50時間を収集した。</a:t>
            </a:r>
          </a:p>
        </p:txBody>
      </p:sp>
      <p:sp>
        <p:nvSpPr>
          <p:cNvPr id="10" name="">
            <a:extLst xmlns:a="http://schemas.openxmlformats.org/drawingml/2006/main">
              <a:ext uri="{FF2B5EF4-FFF2-40B4-BE49-F238E27FC236}">
                <a16:creationId xmlns:a16="http://schemas.microsoft.com/office/drawing/2014/main" id="{55AC00DA-BFBD-4719-A2C6-CB415A79A6B8}"/>
              </a:ext>
            </a:extLst>
          </p:cNvPr>
          <p:cNvSpPr>
            <a:spLocks xmlns:a="http://schemas.openxmlformats.org/drawingml/2006/main" noGrp="1"/>
          </p:cNvSpPr>
          <p:nvPr/>
        </p:nvSpPr>
        <p:spPr>
          <a:xfrm xmlns:a="http://schemas.openxmlformats.org/drawingml/2006/main">
            <a:off x="723900" y="35814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3AC7FFD-229D-43CE-8828-EF58A46F8800}"/>
              </a:ext>
            </a:extLst>
          </p:cNvPr>
          <p:cNvSpPr>
            <a:spLocks xmlns:a="http://schemas.openxmlformats.org/drawingml/2006/main" noGrp="1"/>
          </p:cNvSpPr>
          <p:nvPr/>
        </p:nvSpPr>
        <p:spPr>
          <a:xfrm xmlns:a="http://schemas.openxmlformats.org/drawingml/2006/main">
            <a:off x="723900" y="37433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手続き中</a:t>
            </a:r>
          </a:p>
        </p:txBody>
      </p:sp>
      <p:sp>
        <p:nvSpPr>
          <p:cNvPr id="12" name="">
            <a:extLst xmlns:a="http://schemas.openxmlformats.org/drawingml/2006/main">
              <a:ext uri="{FF2B5EF4-FFF2-40B4-BE49-F238E27FC236}">
                <a16:creationId xmlns:a16="http://schemas.microsoft.com/office/drawing/2014/main" id="{A28E667F-7054-4CD2-969F-B11EC7750AEF}"/>
              </a:ext>
            </a:extLst>
          </p:cNvPr>
          <p:cNvSpPr>
            <a:spLocks xmlns:a="http://schemas.openxmlformats.org/drawingml/2006/main" noGrp="1"/>
          </p:cNvSpPr>
          <p:nvPr/>
        </p:nvSpPr>
        <p:spPr>
          <a:xfrm xmlns:a="http://schemas.openxmlformats.org/drawingml/2006/main">
            <a:off x="2857500" y="374332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SNS経由で接触した神戸のカフェチェーン一社と、撮影合意の手続きを進めている。</a:t>
            </a:r>
          </a:p>
        </p:txBody>
      </p:sp>
      <p:sp>
        <p:nvSpPr>
          <p:cNvPr id="13" name="">
            <a:extLst xmlns:a="http://schemas.openxmlformats.org/drawingml/2006/main">
              <a:ext uri="{FF2B5EF4-FFF2-40B4-BE49-F238E27FC236}">
                <a16:creationId xmlns:a16="http://schemas.microsoft.com/office/drawing/2014/main" id="{863C1DB8-D023-499C-87F3-B114FEABD773}"/>
              </a:ext>
            </a:extLst>
          </p:cNvPr>
          <p:cNvSpPr>
            <a:spLocks xmlns:a="http://schemas.openxmlformats.org/drawingml/2006/main" noGrp="1"/>
          </p:cNvSpPr>
          <p:nvPr/>
        </p:nvSpPr>
        <p:spPr>
          <a:xfrm xmlns:a="http://schemas.openxmlformats.org/drawingml/2006/main">
            <a:off x="723900" y="44958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3F5E428-4173-4356-909A-3DF886476125}"/>
              </a:ext>
            </a:extLst>
          </p:cNvPr>
          <p:cNvSpPr>
            <a:spLocks xmlns:a="http://schemas.openxmlformats.org/drawingml/2006/main" noGrp="1"/>
          </p:cNvSpPr>
          <p:nvPr/>
        </p:nvSpPr>
        <p:spPr>
          <a:xfrm xmlns:a="http://schemas.openxmlformats.org/drawingml/2006/main">
            <a:off x="723900" y="46577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説明予定</a:t>
            </a:r>
          </a:p>
        </p:txBody>
      </p:sp>
      <p:sp>
        <p:nvSpPr>
          <p:cNvPr id="15" name="">
            <a:extLst xmlns:a="http://schemas.openxmlformats.org/drawingml/2006/main">
              <a:ext uri="{FF2B5EF4-FFF2-40B4-BE49-F238E27FC236}">
                <a16:creationId xmlns:a16="http://schemas.microsoft.com/office/drawing/2014/main" id="{E20394CC-73C1-451D-9EE5-1028805FC018}"/>
              </a:ext>
            </a:extLst>
          </p:cNvPr>
          <p:cNvSpPr>
            <a:spLocks xmlns:a="http://schemas.openxmlformats.org/drawingml/2006/main" noGrp="1"/>
          </p:cNvSpPr>
          <p:nvPr/>
        </p:nvSpPr>
        <p:spPr>
          <a:xfrm xmlns:a="http://schemas.openxmlformats.org/drawingml/2006/main">
            <a:off x="2857500" y="465772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紹介を通じて関西のスーパーマーケット一社と接触し、9月17日に説明する予定。</a:t>
            </a:r>
          </a:p>
        </p:txBody>
      </p:sp>
      <p:sp>
        <p:nvSpPr>
          <p:cNvPr id="16" name="">
            <a:extLst xmlns:a="http://schemas.openxmlformats.org/drawingml/2006/main">
              <a:ext uri="{FF2B5EF4-FFF2-40B4-BE49-F238E27FC236}">
                <a16:creationId xmlns:a16="http://schemas.microsoft.com/office/drawing/2014/main" id="{0D424561-7E51-4D1F-A6A0-B10317C3E3C7}"/>
              </a:ext>
            </a:extLst>
          </p:cNvPr>
          <p:cNvSpPr>
            <a:spLocks xmlns:a="http://schemas.openxmlformats.org/drawingml/2006/main" noGrp="1"/>
          </p:cNvSpPr>
          <p:nvPr/>
        </p:nvSpPr>
        <p:spPr>
          <a:xfrm xmlns:a="http://schemas.openxmlformats.org/drawingml/2006/main">
            <a:off x="723900" y="5410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A62C51C-9DF7-4EAC-951A-21D1C8FA03B2}"/>
              </a:ext>
            </a:extLst>
          </p:cNvPr>
          <p:cNvSpPr>
            <a:spLocks xmlns:a="http://schemas.openxmlformats.org/drawingml/2006/main" noGrp="1"/>
          </p:cNvSpPr>
          <p:nvPr/>
        </p:nvSpPr>
        <p:spPr>
          <a:xfrm xmlns:a="http://schemas.openxmlformats.org/drawingml/2006/main">
            <a:off x="723900" y="58293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完了した撮影と、合意・商談中の案件を分けて記載。</a:t>
            </a:r>
          </a:p>
        </p:txBody>
      </p:sp>
    </p:spTree>
    <p:extLst>
      <p:ext uri="{BB962C8B-B14F-4D97-AF65-F5344CB8AC3E}">
        <p14:creationId xmlns:p14="http://schemas.microsoft.com/office/powerpoint/2010/main" val="1072782311"/>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CA3F0F7-8290-4E7C-B79F-EE9FDEE54E5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11122E-7CBC-4B83-83B0-7EC3481C1C99}"/>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販売先開拓</a:t>
            </a:r>
          </a:p>
        </p:txBody>
      </p:sp>
      <p:sp>
        <p:nvSpPr>
          <p:cNvPr id="3" name="">
            <a:extLst xmlns:a="http://schemas.openxmlformats.org/drawingml/2006/main">
              <a:ext uri="{FF2B5EF4-FFF2-40B4-BE49-F238E27FC236}">
                <a16:creationId xmlns:a16="http://schemas.microsoft.com/office/drawing/2014/main" id="{DC47160D-1F0F-40FD-BF60-726CF7F54FB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BE1E6F-E661-4135-9C63-B89BA54B02D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13D3F6A7-8939-44A1-8855-C616CA942469}"/>
              </a:ext>
            </a:extLst>
          </p:cNvPr>
          <p:cNvSpPr>
            <a:spLocks xmlns:a="http://schemas.openxmlformats.org/drawingml/2006/main" noGrp="1"/>
          </p:cNvSpPr>
          <p:nvPr/>
        </p:nvSpPr>
        <p:spPr>
          <a:xfrm xmlns:a="http://schemas.openxmlformats.org/drawingml/2006/main">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0DE833F9-86E6-4134-802D-B1FDE25B5BAC}"/>
              </a:ext>
            </a:extLst>
          </p:cNvPr>
          <p:cNvSpPr>
            <a:spLocks xmlns:a="http://schemas.openxmlformats.org/drawingml/2006/main" noGrp="1"/>
          </p:cNvSpPr>
          <p:nvPr/>
        </p:nvSpPr>
        <p:spPr>
          <a:xfrm xmlns:a="http://schemas.openxmlformats.org/drawingml/2006/main">
            <a:off x="723900" y="2409825"/>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8社と連絡し、ベーカリーのサンプルデータを送付した。</a:t>
            </a:r>
          </a:p>
        </p:txBody>
      </p:sp>
      <p:sp>
        <p:nvSpPr>
          <p:cNvPr id="7" name="">
            <a:extLst xmlns:a="http://schemas.openxmlformats.org/drawingml/2006/main">
              <a:ext uri="{FF2B5EF4-FFF2-40B4-BE49-F238E27FC236}">
                <a16:creationId xmlns:a16="http://schemas.microsoft.com/office/drawing/2014/main" id="{B407BDAD-AC8B-4186-9E57-78C44806C9CE}"/>
              </a:ext>
            </a:extLst>
          </p:cNvPr>
          <p:cNvSpPr>
            <a:spLocks xmlns:a="http://schemas.openxmlformats.org/drawingml/2006/main" noGrp="1"/>
          </p:cNvSpPr>
          <p:nvPr/>
        </p:nvSpPr>
        <p:spPr>
          <a:xfrm xmlns:a="http://schemas.openxmlformats.org/drawingml/2006/main">
            <a:off x="723900" y="2943225"/>
            <a:ext cx="1000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合意には至っていない。現在の収集規模が小さく、優先度が上がらなかった。</a:t>
            </a:r>
          </a:p>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商談を進める目安として、月間1,000時間程度の供給規模を聞いている。</a:t>
            </a:r>
          </a:p>
        </p:txBody>
      </p:sp>
      <p:sp>
        <p:nvSpPr>
          <p:cNvPr id="8" name="">
            <a:extLst xmlns:a="http://schemas.openxmlformats.org/drawingml/2006/main">
              <a:ext uri="{FF2B5EF4-FFF2-40B4-BE49-F238E27FC236}">
                <a16:creationId xmlns:a16="http://schemas.microsoft.com/office/drawing/2014/main" id="{79891CA2-6D62-46BE-9B9B-8C42B3ED9EC9}"/>
              </a:ext>
            </a:extLst>
          </p:cNvPr>
          <p:cNvSpPr>
            <a:spLocks xmlns:a="http://schemas.openxmlformats.org/drawingml/2006/main" noGrp="1"/>
          </p:cNvSpPr>
          <p:nvPr/>
        </p:nvSpPr>
        <p:spPr>
          <a:xfrm xmlns:a="http://schemas.openxmlformats.org/drawingml/2006/main">
            <a:off x="723900" y="39433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76E0188-FEE1-49BA-99EB-221D98B66583}"/>
              </a:ext>
            </a:extLst>
          </p:cNvPr>
          <p:cNvSpPr>
            <a:spLocks xmlns:a="http://schemas.openxmlformats.org/drawingml/2006/main" noGrp="1"/>
          </p:cNvSpPr>
          <p:nvPr/>
        </p:nvSpPr>
        <p:spPr>
          <a:xfrm xmlns:a="http://schemas.openxmlformats.org/drawingml/2006/main">
            <a:off x="723900" y="42672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a:t>
            </a:r>
          </a:p>
        </p:txBody>
      </p:sp>
      <p:sp>
        <p:nvSpPr>
          <p:cNvPr id="10" name="">
            <a:extLst xmlns:a="http://schemas.openxmlformats.org/drawingml/2006/main">
              <a:ext uri="{FF2B5EF4-FFF2-40B4-BE49-F238E27FC236}">
                <a16:creationId xmlns:a16="http://schemas.microsoft.com/office/drawing/2014/main" id="{A950D3B3-9C61-4E4F-9714-8C4DB22323A5}"/>
              </a:ext>
            </a:extLst>
          </p:cNvPr>
          <p:cNvSpPr>
            <a:spLocks xmlns:a="http://schemas.openxmlformats.org/drawingml/2006/main" noGrp="1"/>
          </p:cNvSpPr>
          <p:nvPr/>
        </p:nvSpPr>
        <p:spPr>
          <a:xfrm xmlns:a="http://schemas.openxmlformats.org/drawingml/2006/main">
            <a:off x="723900" y="4724400"/>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Nextremerのデータ加工・販売サービスへの掲載を調整している。</a:t>
            </a:r>
          </a:p>
        </p:txBody>
      </p:sp>
      <p:sp>
        <p:nvSpPr>
          <p:cNvPr id="11" name="">
            <a:extLst xmlns:a="http://schemas.openxmlformats.org/drawingml/2006/main">
              <a:ext uri="{FF2B5EF4-FFF2-40B4-BE49-F238E27FC236}">
                <a16:creationId xmlns:a16="http://schemas.microsoft.com/office/drawing/2014/main" id="{A77874B0-F250-4AB8-ADF6-2C402834F89A}"/>
              </a:ext>
            </a:extLst>
          </p:cNvPr>
          <p:cNvSpPr>
            <a:spLocks xmlns:a="http://schemas.openxmlformats.org/drawingml/2006/main" noGrp="1"/>
          </p:cNvSpPr>
          <p:nvPr/>
        </p:nvSpPr>
        <p:spPr>
          <a:xfrm xmlns:a="http://schemas.openxmlformats.org/drawingml/2006/main">
            <a:off x="723900" y="52578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現場合意の取り方とデータ取扱フローを擦り合わせている。</a:t>
            </a:r>
          </a:p>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データ加工、プライバシー処理、ストレージを自社だけで抱えない形を検討している。</a:t>
            </a:r>
          </a:p>
        </p:txBody>
      </p:sp>
    </p:spTree>
    <p:extLst>
      <p:ext uri="{BB962C8B-B14F-4D97-AF65-F5344CB8AC3E}">
        <p14:creationId xmlns:p14="http://schemas.microsoft.com/office/powerpoint/2010/main" val="1367723085"/>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860F359-AEC9-402E-9FE5-5339168F4A3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E7680C-3FDC-4F46-A97C-4CF23B169386}"/>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撮影デバイスの変遷</a:t>
            </a:r>
          </a:p>
        </p:txBody>
      </p:sp>
      <p:sp>
        <p:nvSpPr>
          <p:cNvPr id="3" name="">
            <a:extLst xmlns:a="http://schemas.openxmlformats.org/drawingml/2006/main">
              <a:ext uri="{FF2B5EF4-FFF2-40B4-BE49-F238E27FC236}">
                <a16:creationId xmlns:a16="http://schemas.microsoft.com/office/drawing/2014/main" id="{2029EC6F-734D-4D69-B581-492770AAF6A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CC1490-4526-498E-8913-E30B7293A049}"/>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2da614b5c83475c"/>
          <a:srcRect xmlns:a="http://schemas.openxmlformats.org/drawingml/2006/main" l="0" t="21875" r="0" b="21875"/>
          <a:stretch xmlns:a="http://schemas.openxmlformats.org/drawingml/2006/main">
            <a:fillRect l="0" t="0" r="0" b="0"/>
          </a:stretch>
        </p:blipFill>
        <p:spPr>
          <a:xfrm xmlns:a="http://schemas.openxmlformats.org/drawingml/2006/main">
            <a:off x="723900" y="1952625"/>
            <a:ext cx="3238500" cy="2428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BF9C526-E281-4D5E-8869-2A0E28B1CA5E}"/>
              </a:ext>
            </a:extLst>
          </p:cNvPr>
          <p:cNvSpPr>
            <a:spLocks xmlns:a="http://schemas.openxmlformats.org/drawingml/2006/main" noGrp="1"/>
          </p:cNvSpPr>
          <p:nvPr/>
        </p:nvSpPr>
        <p:spPr>
          <a:xfrm xmlns:a="http://schemas.openxmlformats.org/drawingml/2006/main">
            <a:off x="723900" y="46101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C83EF7D2-77C9-4C29-B599-7BBA67D2B668}"/>
              </a:ext>
            </a:extLst>
          </p:cNvPr>
          <p:cNvSpPr>
            <a:spLocks xmlns:a="http://schemas.openxmlformats.org/drawingml/2006/main" noGrp="1"/>
          </p:cNvSpPr>
          <p:nvPr/>
        </p:nvSpPr>
        <p:spPr>
          <a:xfrm xmlns:a="http://schemas.openxmlformats.org/drawingml/2006/main">
            <a:off x="1371600" y="459105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5D5A91FB-705D-4307-8BB8-7480A7B6277A}"/>
              </a:ext>
            </a:extLst>
          </p:cNvPr>
          <p:cNvSpPr>
            <a:spLocks xmlns:a="http://schemas.openxmlformats.org/drawingml/2006/main" noGrp="1"/>
          </p:cNvSpPr>
          <p:nvPr/>
        </p:nvSpPr>
        <p:spPr>
          <a:xfrm xmlns:a="http://schemas.openxmlformats.org/drawingml/2006/main">
            <a:off x="1371600" y="5000625"/>
            <a:ext cx="2590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装着して撮影できることを確認</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1d15a8bcbfe4ede"/>
          <a:srcRect xmlns:a="http://schemas.openxmlformats.org/drawingml/2006/main" l="9333" t="0" r="9333" b="0"/>
          <a:stretch xmlns:a="http://schemas.openxmlformats.org/drawingml/2006/main">
            <a:fillRect l="0" t="0" r="0" b="0"/>
          </a:stretch>
        </p:blipFill>
        <p:spPr>
          <a:xfrm xmlns:a="http://schemas.openxmlformats.org/drawingml/2006/main">
            <a:off x="4314825" y="1952625"/>
            <a:ext cx="3238500" cy="24288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35197A8-05C4-45C1-9AA7-20B1CC6501A1}"/>
              </a:ext>
            </a:extLst>
          </p:cNvPr>
          <p:cNvSpPr>
            <a:spLocks xmlns:a="http://schemas.openxmlformats.org/drawingml/2006/main" noGrp="1"/>
          </p:cNvSpPr>
          <p:nvPr/>
        </p:nvSpPr>
        <p:spPr>
          <a:xfrm xmlns:a="http://schemas.openxmlformats.org/drawingml/2006/main">
            <a:off x="4314825" y="46101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27996508-8005-4339-AF71-80248A3A79A2}"/>
              </a:ext>
            </a:extLst>
          </p:cNvPr>
          <p:cNvSpPr>
            <a:spLocks xmlns:a="http://schemas.openxmlformats.org/drawingml/2006/main" noGrp="1"/>
          </p:cNvSpPr>
          <p:nvPr/>
        </p:nvSpPr>
        <p:spPr>
          <a:xfrm xmlns:a="http://schemas.openxmlformats.org/drawingml/2006/main">
            <a:off x="4962525" y="459105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9C28CD4E-34E9-4DE4-9328-830FD593181C}"/>
              </a:ext>
            </a:extLst>
          </p:cNvPr>
          <p:cNvSpPr>
            <a:spLocks xmlns:a="http://schemas.openxmlformats.org/drawingml/2006/main" noGrp="1"/>
          </p:cNvSpPr>
          <p:nvPr/>
        </p:nvSpPr>
        <p:spPr>
          <a:xfrm xmlns:a="http://schemas.openxmlformats.org/drawingml/2006/main">
            <a:off x="4962525" y="5000625"/>
            <a:ext cx="2590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重量バランスと装着感を改善</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5cb773f8bb54b14"/>
          <a:srcRect xmlns:a="http://schemas.openxmlformats.org/drawingml/2006/main" l="0" t="2730" r="0" b="2730"/>
          <a:stretch xmlns:a="http://schemas.openxmlformats.org/drawingml/2006/main">
            <a:fillRect l="0" t="0" r="0" b="0"/>
          </a:stretch>
        </p:blipFill>
        <p:spPr>
          <a:xfrm xmlns:a="http://schemas.openxmlformats.org/drawingml/2006/main">
            <a:off x="7905750" y="1952625"/>
            <a:ext cx="3238500" cy="24288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3488B5D-BF15-4951-9192-4B42C525CA36}"/>
              </a:ext>
            </a:extLst>
          </p:cNvPr>
          <p:cNvSpPr>
            <a:spLocks xmlns:a="http://schemas.openxmlformats.org/drawingml/2006/main" noGrp="1"/>
          </p:cNvSpPr>
          <p:nvPr/>
        </p:nvSpPr>
        <p:spPr>
          <a:xfrm xmlns:a="http://schemas.openxmlformats.org/drawingml/2006/main">
            <a:off x="7905750" y="46101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04E054D0-82AC-4AB6-9B24-54AF100514DB}"/>
              </a:ext>
            </a:extLst>
          </p:cNvPr>
          <p:cNvSpPr>
            <a:spLocks xmlns:a="http://schemas.openxmlformats.org/drawingml/2006/main" noGrp="1"/>
          </p:cNvSpPr>
          <p:nvPr/>
        </p:nvSpPr>
        <p:spPr>
          <a:xfrm xmlns:a="http://schemas.openxmlformats.org/drawingml/2006/main">
            <a:off x="8553450" y="459105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E5A721F0-303B-4A56-96AF-57F9CA9651C8}"/>
              </a:ext>
            </a:extLst>
          </p:cNvPr>
          <p:cNvSpPr>
            <a:spLocks xmlns:a="http://schemas.openxmlformats.org/drawingml/2006/main" noGrp="1"/>
          </p:cNvSpPr>
          <p:nvPr/>
        </p:nvSpPr>
        <p:spPr>
          <a:xfrm xmlns:a="http://schemas.openxmlformats.org/drawingml/2006/main">
            <a:off x="8553450" y="5000625"/>
            <a:ext cx="2590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9D4E0757-656A-44C4-B7B4-7145C601CEF6}"/>
              </a:ext>
            </a:extLst>
          </p:cNvPr>
          <p:cNvSpPr>
            <a:spLocks xmlns:a="http://schemas.openxmlformats.org/drawingml/2006/main" noGrp="1"/>
          </p:cNvSpPr>
          <p:nvPr/>
        </p:nvSpPr>
        <p:spPr>
          <a:xfrm xmlns:a="http://schemas.openxmlformats.org/drawingml/2006/main">
            <a:off x="723900" y="5762625"/>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25247E5-30F9-44A6-A06F-B1A7DE49BA53}"/>
              </a:ext>
            </a:extLst>
          </p:cNvPr>
          <p:cNvSpPr>
            <a:spLocks xmlns:a="http://schemas.openxmlformats.org/drawingml/2006/main" noGrp="1"/>
          </p:cNvSpPr>
          <p:nvPr/>
        </p:nvSpPr>
        <p:spPr>
          <a:xfrm xmlns:a="http://schemas.openxmlformats.org/drawingml/2006/main">
            <a:off x="723900" y="5943600"/>
            <a:ext cx="1042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現場での反応から、撮影品質だけでなく、作業者の負担が現場拡大を左右すると分かった。</a:t>
            </a:r>
          </a:p>
        </p:txBody>
      </p:sp>
    </p:spTree>
    <p:extLst>
      <p:ext uri="{BB962C8B-B14F-4D97-AF65-F5344CB8AC3E}">
        <p14:creationId xmlns:p14="http://schemas.microsoft.com/office/powerpoint/2010/main" val="184664266"/>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2F8619C-BA07-4A4D-946B-D952272A250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D0787B-E892-42DD-9406-A3BD98D15B5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現在のチーム</a:t>
            </a:r>
          </a:p>
        </p:txBody>
      </p:sp>
      <p:sp>
        <p:nvSpPr>
          <p:cNvPr id="3" name="">
            <a:extLst xmlns:a="http://schemas.openxmlformats.org/drawingml/2006/main">
              <a:ext uri="{FF2B5EF4-FFF2-40B4-BE49-F238E27FC236}">
                <a16:creationId xmlns:a16="http://schemas.microsoft.com/office/drawing/2014/main" id="{32170300-C737-4DC8-9F14-197A9DE68F3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1CF35F-02BF-40FC-A983-D2F7B3DC465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ECAB77A5-CCA2-4D40-97E5-8BA900E16B56}"/>
              </a:ext>
            </a:extLst>
          </p:cNvPr>
          <p:cNvSpPr>
            <a:spLocks xmlns:a="http://schemas.openxmlformats.org/drawingml/2006/main" noGrp="1"/>
          </p:cNvSpPr>
          <p:nvPr/>
        </p:nvSpPr>
        <p:spPr>
          <a:xfrm xmlns:a="http://schemas.openxmlformats.org/drawingml/2006/main">
            <a:off x="723900" y="18669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森　共同創業者</a:t>
            </a:r>
          </a:p>
        </p:txBody>
      </p:sp>
      <p:sp>
        <p:nvSpPr>
          <p:cNvPr id="6" name="">
            <a:extLst xmlns:a="http://schemas.openxmlformats.org/drawingml/2006/main">
              <a:ext uri="{FF2B5EF4-FFF2-40B4-BE49-F238E27FC236}">
                <a16:creationId xmlns:a16="http://schemas.microsoft.com/office/drawing/2014/main" id="{871E8A28-ACC2-4A64-BDF8-4C1333FFA907}"/>
              </a:ext>
            </a:extLst>
          </p:cNvPr>
          <p:cNvSpPr>
            <a:spLocks xmlns:a="http://schemas.openxmlformats.org/drawingml/2006/main" noGrp="1"/>
          </p:cNvSpPr>
          <p:nvPr/>
        </p:nvSpPr>
        <p:spPr>
          <a:xfrm xmlns:a="http://schemas.openxmlformats.org/drawingml/2006/main">
            <a:off x="4191000" y="18669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現場開拓、販売先開拓、撮影デバイスの設計・開発、事業全体の推進。</a:t>
            </a:r>
          </a:p>
        </p:txBody>
      </p:sp>
      <p:sp>
        <p:nvSpPr>
          <p:cNvPr id="7" name="">
            <a:extLst xmlns:a="http://schemas.openxmlformats.org/drawingml/2006/main">
              <a:ext uri="{FF2B5EF4-FFF2-40B4-BE49-F238E27FC236}">
                <a16:creationId xmlns:a16="http://schemas.microsoft.com/office/drawing/2014/main" id="{750A4862-8CF8-426E-80D6-186E2E9C854B}"/>
              </a:ext>
            </a:extLst>
          </p:cNvPr>
          <p:cNvSpPr>
            <a:spLocks xmlns:a="http://schemas.openxmlformats.org/drawingml/2006/main" noGrp="1"/>
          </p:cNvSpPr>
          <p:nvPr/>
        </p:nvSpPr>
        <p:spPr>
          <a:xfrm xmlns:a="http://schemas.openxmlformats.org/drawingml/2006/main">
            <a:off x="723900" y="26765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05FD70-984D-46D4-873A-863AE4D3D764}"/>
              </a:ext>
            </a:extLst>
          </p:cNvPr>
          <p:cNvSpPr>
            <a:spLocks xmlns:a="http://schemas.openxmlformats.org/drawingml/2006/main" noGrp="1"/>
          </p:cNvSpPr>
          <p:nvPr/>
        </p:nvSpPr>
        <p:spPr>
          <a:xfrm xmlns:a="http://schemas.openxmlformats.org/drawingml/2006/main">
            <a:off x="723900" y="28384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河野　共同創業者</a:t>
            </a:r>
          </a:p>
        </p:txBody>
      </p:sp>
      <p:sp>
        <p:nvSpPr>
          <p:cNvPr id="9" name="">
            <a:extLst xmlns:a="http://schemas.openxmlformats.org/drawingml/2006/main">
              <a:ext uri="{FF2B5EF4-FFF2-40B4-BE49-F238E27FC236}">
                <a16:creationId xmlns:a16="http://schemas.microsoft.com/office/drawing/2014/main" id="{D58DC00D-C7AA-4EE4-8C6B-1C949F6FF431}"/>
              </a:ext>
            </a:extLst>
          </p:cNvPr>
          <p:cNvSpPr>
            <a:spLocks xmlns:a="http://schemas.openxmlformats.org/drawingml/2006/main" noGrp="1"/>
          </p:cNvSpPr>
          <p:nvPr/>
        </p:nvSpPr>
        <p:spPr>
          <a:xfrm xmlns:a="http://schemas.openxmlformats.org/drawingml/2006/main">
            <a:off x="4191000" y="28384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神戸大学大学院情報学研究科。シミュレーション領域を研究しながら事業へ参画。</a:t>
            </a:r>
          </a:p>
        </p:txBody>
      </p:sp>
      <p:sp>
        <p:nvSpPr>
          <p:cNvPr id="10" name="">
            <a:extLst xmlns:a="http://schemas.openxmlformats.org/drawingml/2006/main">
              <a:ext uri="{FF2B5EF4-FFF2-40B4-BE49-F238E27FC236}">
                <a16:creationId xmlns:a16="http://schemas.microsoft.com/office/drawing/2014/main" id="{3DED78AB-9BDE-4D54-95CC-8E1294C0535F}"/>
              </a:ext>
            </a:extLst>
          </p:cNvPr>
          <p:cNvSpPr>
            <a:spLocks xmlns:a="http://schemas.openxmlformats.org/drawingml/2006/main" noGrp="1"/>
          </p:cNvSpPr>
          <p:nvPr/>
        </p:nvSpPr>
        <p:spPr>
          <a:xfrm xmlns:a="http://schemas.openxmlformats.org/drawingml/2006/main">
            <a:off x="723900" y="36480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5189B5C-D83B-43E9-9A9E-8DC72B00BB9A}"/>
              </a:ext>
            </a:extLst>
          </p:cNvPr>
          <p:cNvSpPr>
            <a:spLocks xmlns:a="http://schemas.openxmlformats.org/drawingml/2006/main" noGrp="1"/>
          </p:cNvSpPr>
          <p:nvPr/>
        </p:nvSpPr>
        <p:spPr>
          <a:xfrm xmlns:a="http://schemas.openxmlformats.org/drawingml/2006/main">
            <a:off x="723900" y="38100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川島　現場協力者</a:t>
            </a:r>
          </a:p>
        </p:txBody>
      </p:sp>
      <p:sp>
        <p:nvSpPr>
          <p:cNvPr id="12" name="">
            <a:extLst xmlns:a="http://schemas.openxmlformats.org/drawingml/2006/main">
              <a:ext uri="{FF2B5EF4-FFF2-40B4-BE49-F238E27FC236}">
                <a16:creationId xmlns:a16="http://schemas.microsoft.com/office/drawing/2014/main" id="{78F6A3A1-A400-4E19-B9E7-A109B18CB32F}"/>
              </a:ext>
            </a:extLst>
          </p:cNvPr>
          <p:cNvSpPr>
            <a:spLocks xmlns:a="http://schemas.openxmlformats.org/drawingml/2006/main" noGrp="1"/>
          </p:cNvSpPr>
          <p:nvPr/>
        </p:nvSpPr>
        <p:spPr>
          <a:xfrm xmlns:a="http://schemas.openxmlformats.org/drawingml/2006/main">
            <a:off x="4191000" y="38100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ベーカリー経営者。撮影テストの現場提供と、撮影先の拡大に協力。</a:t>
            </a:r>
          </a:p>
        </p:txBody>
      </p:sp>
      <p:sp>
        <p:nvSpPr>
          <p:cNvPr id="13" name="">
            <a:extLst xmlns:a="http://schemas.openxmlformats.org/drawingml/2006/main">
              <a:ext uri="{FF2B5EF4-FFF2-40B4-BE49-F238E27FC236}">
                <a16:creationId xmlns:a16="http://schemas.microsoft.com/office/drawing/2014/main" id="{C2BBA5ED-09B4-4194-8B3D-17C1F5B9D1E5}"/>
              </a:ext>
            </a:extLst>
          </p:cNvPr>
          <p:cNvSpPr>
            <a:spLocks xmlns:a="http://schemas.openxmlformats.org/drawingml/2006/main" noGrp="1"/>
          </p:cNvSpPr>
          <p:nvPr/>
        </p:nvSpPr>
        <p:spPr>
          <a:xfrm xmlns:a="http://schemas.openxmlformats.org/drawingml/2006/main">
            <a:off x="723900" y="4619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7D8847F-3A2A-4F32-B9DB-8194D483D030}"/>
              </a:ext>
            </a:extLst>
          </p:cNvPr>
          <p:cNvSpPr>
            <a:spLocks xmlns:a="http://schemas.openxmlformats.org/drawingml/2006/main" noGrp="1"/>
          </p:cNvSpPr>
          <p:nvPr/>
        </p:nvSpPr>
        <p:spPr>
          <a:xfrm xmlns:a="http://schemas.openxmlformats.org/drawingml/2006/main">
            <a:off x="723900" y="47815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大崎　事業支援</a:t>
            </a:r>
          </a:p>
        </p:txBody>
      </p:sp>
      <p:sp>
        <p:nvSpPr>
          <p:cNvPr id="15" name="">
            <a:extLst xmlns:a="http://schemas.openxmlformats.org/drawingml/2006/main">
              <a:ext uri="{FF2B5EF4-FFF2-40B4-BE49-F238E27FC236}">
                <a16:creationId xmlns:a16="http://schemas.microsoft.com/office/drawing/2014/main" id="{25670ED3-A5F6-4B17-A124-3D29D749035B}"/>
              </a:ext>
            </a:extLst>
          </p:cNvPr>
          <p:cNvSpPr>
            <a:spLocks xmlns:a="http://schemas.openxmlformats.org/drawingml/2006/main" noGrp="1"/>
          </p:cNvSpPr>
          <p:nvPr/>
        </p:nvSpPr>
        <p:spPr>
          <a:xfrm xmlns:a="http://schemas.openxmlformats.org/drawingml/2006/main">
            <a:off x="4191000" y="47815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契約・合意書の確認、会社立ち上げの助言、小売・製造のネットワークを通じた現場開拓。</a:t>
            </a:r>
          </a:p>
        </p:txBody>
      </p:sp>
      <p:sp>
        <p:nvSpPr>
          <p:cNvPr id="16" name="">
            <a:extLst xmlns:a="http://schemas.openxmlformats.org/drawingml/2006/main">
              <a:ext uri="{FF2B5EF4-FFF2-40B4-BE49-F238E27FC236}">
                <a16:creationId xmlns:a16="http://schemas.microsoft.com/office/drawing/2014/main" id="{E25BDBEA-7B8A-4120-8FCE-927B11830C22}"/>
              </a:ext>
            </a:extLst>
          </p:cNvPr>
          <p:cNvSpPr>
            <a:spLocks xmlns:a="http://schemas.openxmlformats.org/drawingml/2006/main" noGrp="1"/>
          </p:cNvSpPr>
          <p:nvPr/>
        </p:nvSpPr>
        <p:spPr>
          <a:xfrm xmlns:a="http://schemas.openxmlformats.org/drawingml/2006/main">
            <a:off x="723900" y="55911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954794587"/>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F33DA4-D165-41C6-B7E3-54A763F5C9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DFB4A1-E5A4-42E5-9FB6-A038F4A4B779}"/>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1時間あたりの収益構造</a:t>
            </a:r>
          </a:p>
        </p:txBody>
      </p:sp>
      <p:sp>
        <p:nvSpPr>
          <p:cNvPr id="3" name="">
            <a:extLst xmlns:a="http://schemas.openxmlformats.org/drawingml/2006/main">
              <a:ext uri="{FF2B5EF4-FFF2-40B4-BE49-F238E27FC236}">
                <a16:creationId xmlns:a16="http://schemas.microsoft.com/office/drawing/2014/main" id="{0F1D060C-8A54-4AA5-AAA1-951C6570A69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E0B92E-E4FC-4B28-B4F3-D16385A34CC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graphicFrame>
        <p:nvGraphicFramePr>
          <p:cNvPr id="14" name=""/>
          <p:cNvGraphicFramePr/>
          <p:nvPr/>
        </p:nvGraphicFramePr>
        <p:xfrm>
          <a:off xmlns:a="http://schemas.openxmlformats.org/drawingml/2006/main" x="723900" y="1952625"/>
          <a:ext xmlns:a="http://schemas.openxmlformats.org/drawingml/2006/main" cx="10572750" cy="3143250"/>
        </p:xfrm>
        <a:graphic xmlns:a="http://schemas.openxmlformats.org/drawingml/2006/main">
          <a:graphicData uri="http://schemas.openxmlformats.org/drawingml/2006/table">
            <a:tbl>
              <a:tblPr/>
              <a:tblGrid>
                <a:gridCol w="3524250"/>
                <a:gridCol w="4095750"/>
                <a:gridCol w="29527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計算</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23875">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前提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現場への還元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販売単価の50%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RootLensの取り分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8,000円/月 ÷ 110時間</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35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A6584204-7485-4749-86E7-DC842864C86B}"/>
              </a:ext>
            </a:extLst>
          </p:cNvPr>
          <p:cNvSpPr>
            <a:spLocks xmlns:a="http://schemas.openxmlformats.org/drawingml/2006/main" noGrp="1"/>
          </p:cNvSpPr>
          <p:nvPr/>
        </p:nvSpPr>
        <p:spPr>
          <a:xfrm xmlns:a="http://schemas.openxmlformats.org/drawingml/2006/main">
            <a:off x="723900" y="5381625"/>
            <a:ext cx="819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前提：デバイス8万円、10か月償却、1台あたり月110時間稼働。</a:t>
            </a:r>
          </a:p>
        </p:txBody>
      </p:sp>
      <p:sp>
        <p:nvSpPr>
          <p:cNvPr id="7" name="">
            <a:extLst xmlns:a="http://schemas.openxmlformats.org/drawingml/2006/main">
              <a:ext uri="{FF2B5EF4-FFF2-40B4-BE49-F238E27FC236}">
                <a16:creationId xmlns:a16="http://schemas.microsoft.com/office/drawing/2014/main" id="{1B6C7EF8-8A8F-46E6-B5DA-649980AEEDF8}"/>
              </a:ext>
            </a:extLst>
          </p:cNvPr>
          <p:cNvSpPr>
            <a:spLocks xmlns:a="http://schemas.openxmlformats.org/drawingml/2006/main" noGrp="1"/>
          </p:cNvSpPr>
          <p:nvPr/>
        </p:nvSpPr>
        <p:spPr>
          <a:xfrm xmlns:a="http://schemas.openxmlformats.org/drawingml/2006/main">
            <a:off x="723900" y="5743575"/>
            <a:ext cx="819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現場運用、人件費、法務、破損・紛失、転送費は含めていない。</a:t>
            </a:r>
          </a:p>
        </p:txBody>
      </p:sp>
      <p:sp>
        <p:nvSpPr>
          <p:cNvPr id="8" name="">
            <a:extLst xmlns:a="http://schemas.openxmlformats.org/drawingml/2006/main">
              <a:ext uri="{FF2B5EF4-FFF2-40B4-BE49-F238E27FC236}">
                <a16:creationId xmlns:a16="http://schemas.microsoft.com/office/drawing/2014/main" id="{08FE083D-D358-4546-ADF1-0A8AF8BF45DB}"/>
              </a:ext>
            </a:extLst>
          </p:cNvPr>
          <p:cNvSpPr>
            <a:spLocks xmlns:a="http://schemas.openxmlformats.org/drawingml/2006/main" noGrp="1"/>
          </p:cNvSpPr>
          <p:nvPr/>
        </p:nvSpPr>
        <p:spPr>
          <a:xfrm xmlns:a="http://schemas.openxmlformats.org/drawingml/2006/main">
            <a:off x="9220200" y="538162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625" b="1">
                <a:solidFill>
                  <a:srgbClr val="315C78"/>
                </a:solidFill>
                <a:latin typeface="Hiragino Sans"/>
                <a:ea typeface="Hiragino Sans"/>
                <a:cs typeface="Hiragino Sans"/>
              </a:defRPr>
            </a:pPr>
            <a:r>
              <a:rPr sz="2625" b="1">
                <a:solidFill>
                  <a:srgbClr val="315C78"/>
                </a:solidFill>
                <a:latin typeface="Hiragino Sans"/>
                <a:ea typeface="Hiragino Sans"/>
                <a:cs typeface="Hiragino Sans"/>
              </a:rPr>
              <a:t>45.5%</a:t>
            </a:r>
          </a:p>
        </p:txBody>
      </p:sp>
      <p:sp>
        <p:nvSpPr>
          <p:cNvPr id="9" name="">
            <a:extLst xmlns:a="http://schemas.openxmlformats.org/drawingml/2006/main">
              <a:ext uri="{FF2B5EF4-FFF2-40B4-BE49-F238E27FC236}">
                <a16:creationId xmlns:a16="http://schemas.microsoft.com/office/drawing/2014/main" id="{D22E79C7-1B2C-4DFA-A92F-ADBD59F1A5A0}"/>
              </a:ext>
            </a:extLst>
          </p:cNvPr>
          <p:cNvSpPr>
            <a:spLocks xmlns:a="http://schemas.openxmlformats.org/drawingml/2006/main" noGrp="1"/>
          </p:cNvSpPr>
          <p:nvPr/>
        </p:nvSpPr>
        <p:spPr>
          <a:xfrm xmlns:a="http://schemas.openxmlformats.org/drawingml/2006/main">
            <a:off x="8810625" y="5867400"/>
            <a:ext cx="2219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流通総額に対する償却後比率</a:t>
            </a:r>
          </a:p>
        </p:txBody>
      </p:sp>
    </p:spTree>
    <p:extLst>
      <p:ext uri="{BB962C8B-B14F-4D97-AF65-F5344CB8AC3E}">
        <p14:creationId xmlns:p14="http://schemas.microsoft.com/office/powerpoint/2010/main" val="772126114"/>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18CC3C-2187-4621-B89C-213811D9E9D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4489A2-9079-4592-949A-8A6CC5FF0B8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収集規模別の試算</a:t>
            </a:r>
          </a:p>
        </p:txBody>
      </p:sp>
      <p:sp>
        <p:nvSpPr>
          <p:cNvPr id="3" name="">
            <a:extLst xmlns:a="http://schemas.openxmlformats.org/drawingml/2006/main">
              <a:ext uri="{FF2B5EF4-FFF2-40B4-BE49-F238E27FC236}">
                <a16:creationId xmlns:a16="http://schemas.microsoft.com/office/drawing/2014/main" id="{BF5EB6AE-3D21-4EA2-9DB7-01AC9472C39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801C92-4156-43AA-87FB-289898881FDF}"/>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graphicFrame>
        <p:nvGraphicFramePr>
          <p:cNvPr id="12" name=""/>
          <p:cNvGraphicFramePr/>
          <p:nvPr/>
        </p:nvGraphicFramePr>
        <p:xfrm>
          <a:off xmlns:a="http://schemas.openxmlformats.org/drawingml/2006/main" x="723900" y="19240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RootLens取り分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07B3B11-08C7-4EE2-B377-3BA38330B3BC}"/>
              </a:ext>
            </a:extLst>
          </p:cNvPr>
          <p:cNvSpPr>
            <a:spLocks xmlns:a="http://schemas.openxmlformats.org/drawingml/2006/main" noGrp="1"/>
          </p:cNvSpPr>
          <p:nvPr/>
        </p:nvSpPr>
        <p:spPr>
          <a:xfrm xmlns:a="http://schemas.openxmlformats.org/drawingml/2006/main">
            <a:off x="723900" y="56197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月10,000時間を12か月継続した場合、流通総額は1.92億円、償却後は約8,726万円。</a:t>
            </a:r>
          </a:p>
        </p:txBody>
      </p:sp>
      <p:sp>
        <p:nvSpPr>
          <p:cNvPr id="7" name="">
            <a:extLst xmlns:a="http://schemas.openxmlformats.org/drawingml/2006/main">
              <a:ext uri="{FF2B5EF4-FFF2-40B4-BE49-F238E27FC236}">
                <a16:creationId xmlns:a16="http://schemas.microsoft.com/office/drawing/2014/main" id="{F5BFBDD5-7269-469D-ABF8-B59D49B94AE0}"/>
              </a:ext>
            </a:extLst>
          </p:cNvPr>
          <p:cNvSpPr>
            <a:spLocks xmlns:a="http://schemas.openxmlformats.org/drawingml/2006/main" noGrp="1"/>
          </p:cNvSpPr>
          <p:nvPr/>
        </p:nvSpPr>
        <p:spPr>
          <a:xfrm xmlns:a="http://schemas.openxmlformats.org/drawingml/2006/main">
            <a:off x="723900" y="60293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同一データの複数回販売は、この基準試算に含めていない。</a:t>
            </a:r>
          </a:p>
        </p:txBody>
      </p:sp>
    </p:spTree>
    <p:extLst>
      <p:ext uri="{BB962C8B-B14F-4D97-AF65-F5344CB8AC3E}">
        <p14:creationId xmlns:p14="http://schemas.microsoft.com/office/powerpoint/2010/main" val="383550616"/>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1F755BE-945D-4F04-BE8F-F128D84F6C1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F214F8-896E-4369-B38D-04060B98075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収集規模を左右するもの</a:t>
            </a:r>
          </a:p>
        </p:txBody>
      </p:sp>
      <p:sp>
        <p:nvSpPr>
          <p:cNvPr id="3" name="">
            <a:extLst xmlns:a="http://schemas.openxmlformats.org/drawingml/2006/main">
              <a:ext uri="{FF2B5EF4-FFF2-40B4-BE49-F238E27FC236}">
                <a16:creationId xmlns:a16="http://schemas.microsoft.com/office/drawing/2014/main" id="{EC81D523-A6C6-4823-9663-D6B0B1E2952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00B0F1-E393-4400-AA24-064C3FDC5CC1}"/>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D241D599-8ACD-4AE2-B23A-804D3162741F}"/>
              </a:ext>
            </a:extLst>
          </p:cNvPr>
          <p:cNvSpPr>
            <a:spLocks xmlns:a="http://schemas.openxmlformats.org/drawingml/2006/main" noGrp="1"/>
          </p:cNvSpPr>
          <p:nvPr/>
        </p:nvSpPr>
        <p:spPr>
          <a:xfrm xmlns:a="http://schemas.openxmlformats.org/drawingml/2006/main">
            <a:off x="723900" y="20002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現場開拓</a:t>
            </a:r>
          </a:p>
        </p:txBody>
      </p:sp>
      <p:sp>
        <p:nvSpPr>
          <p:cNvPr id="6" name="">
            <a:extLst xmlns:a="http://schemas.openxmlformats.org/drawingml/2006/main">
              <a:ext uri="{FF2B5EF4-FFF2-40B4-BE49-F238E27FC236}">
                <a16:creationId xmlns:a16="http://schemas.microsoft.com/office/drawing/2014/main" id="{8960FF36-38B7-4503-82A2-B0E83A6B19BB}"/>
              </a:ext>
            </a:extLst>
          </p:cNvPr>
          <p:cNvSpPr>
            <a:spLocks xmlns:a="http://schemas.openxmlformats.org/drawingml/2006/main" noGrp="1"/>
          </p:cNvSpPr>
          <p:nvPr/>
        </p:nvSpPr>
        <p:spPr>
          <a:xfrm xmlns:a="http://schemas.openxmlformats.org/drawingml/2006/main">
            <a:off x="3810000" y="200025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最初の現場より、次の現場を短い期間で獲得できるか。</a:t>
            </a:r>
          </a:p>
        </p:txBody>
      </p:sp>
      <p:sp>
        <p:nvSpPr>
          <p:cNvPr id="7" name="">
            <a:extLst xmlns:a="http://schemas.openxmlformats.org/drawingml/2006/main">
              <a:ext uri="{FF2B5EF4-FFF2-40B4-BE49-F238E27FC236}">
                <a16:creationId xmlns:a16="http://schemas.microsoft.com/office/drawing/2014/main" id="{32EFB420-21DC-48DD-9FE9-8DEDDE8E4506}"/>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41E4465-FE50-4713-848E-E12CD42DA8B6}"/>
              </a:ext>
            </a:extLst>
          </p:cNvPr>
          <p:cNvSpPr>
            <a:spLocks xmlns:a="http://schemas.openxmlformats.org/drawingml/2006/main" noGrp="1"/>
          </p:cNvSpPr>
          <p:nvPr/>
        </p:nvSpPr>
        <p:spPr>
          <a:xfrm xmlns:a="http://schemas.openxmlformats.org/drawingml/2006/main">
            <a:off x="723900" y="31051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現場運用</a:t>
            </a:r>
          </a:p>
        </p:txBody>
      </p:sp>
      <p:sp>
        <p:nvSpPr>
          <p:cNvPr id="9" name="">
            <a:extLst xmlns:a="http://schemas.openxmlformats.org/drawingml/2006/main">
              <a:ext uri="{FF2B5EF4-FFF2-40B4-BE49-F238E27FC236}">
                <a16:creationId xmlns:a16="http://schemas.microsoft.com/office/drawing/2014/main" id="{F65FFF51-9C03-4C82-A3A1-8B9E01758EBD}"/>
              </a:ext>
            </a:extLst>
          </p:cNvPr>
          <p:cNvSpPr>
            <a:spLocks xmlns:a="http://schemas.openxmlformats.org/drawingml/2006/main" noGrp="1"/>
          </p:cNvSpPr>
          <p:nvPr/>
        </p:nvSpPr>
        <p:spPr>
          <a:xfrm xmlns:a="http://schemas.openxmlformats.org/drawingml/2006/main">
            <a:off x="3810000" y="310515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機材の配布、説明、回収、トラブル対応が店舗数に比例して増えるか。</a:t>
            </a:r>
          </a:p>
        </p:txBody>
      </p:sp>
      <p:sp>
        <p:nvSpPr>
          <p:cNvPr id="10" name="">
            <a:extLst xmlns:a="http://schemas.openxmlformats.org/drawingml/2006/main">
              <a:ext uri="{FF2B5EF4-FFF2-40B4-BE49-F238E27FC236}">
                <a16:creationId xmlns:a16="http://schemas.microsoft.com/office/drawing/2014/main" id="{2C446B41-C09D-4BAE-B4E7-50586B459C31}"/>
              </a:ext>
            </a:extLst>
          </p:cNvPr>
          <p:cNvSpPr>
            <a:spLocks xmlns:a="http://schemas.openxmlformats.org/drawingml/2006/main" noGrp="1"/>
          </p:cNvSpPr>
          <p:nvPr/>
        </p:nvSpPr>
        <p:spPr>
          <a:xfrm xmlns:a="http://schemas.openxmlformats.org/drawingml/2006/main">
            <a:off x="723900" y="40100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981E448-0665-4538-AEA7-BC370E60BB75}"/>
              </a:ext>
            </a:extLst>
          </p:cNvPr>
          <p:cNvSpPr>
            <a:spLocks xmlns:a="http://schemas.openxmlformats.org/drawingml/2006/main" noGrp="1"/>
          </p:cNvSpPr>
          <p:nvPr/>
        </p:nvSpPr>
        <p:spPr>
          <a:xfrm xmlns:a="http://schemas.openxmlformats.org/drawingml/2006/main">
            <a:off x="723900" y="4210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販売先</a:t>
            </a:r>
          </a:p>
        </p:txBody>
      </p:sp>
      <p:sp>
        <p:nvSpPr>
          <p:cNvPr id="12" name="">
            <a:extLst xmlns:a="http://schemas.openxmlformats.org/drawingml/2006/main">
              <a:ext uri="{FF2B5EF4-FFF2-40B4-BE49-F238E27FC236}">
                <a16:creationId xmlns:a16="http://schemas.microsoft.com/office/drawing/2014/main" id="{83A1CCF0-9B43-4A30-9ED2-E45293B49E51}"/>
              </a:ext>
            </a:extLst>
          </p:cNvPr>
          <p:cNvSpPr>
            <a:spLocks xmlns:a="http://schemas.openxmlformats.org/drawingml/2006/main" noGrp="1"/>
          </p:cNvSpPr>
          <p:nvPr/>
        </p:nvSpPr>
        <p:spPr>
          <a:xfrm xmlns:a="http://schemas.openxmlformats.org/drawingml/2006/main">
            <a:off x="3810000" y="421005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月1,000時間、10,000時間を継続して販売できる販路と仕様を作れるか。</a:t>
            </a:r>
          </a:p>
        </p:txBody>
      </p:sp>
      <p:sp>
        <p:nvSpPr>
          <p:cNvPr id="13" name="">
            <a:extLst xmlns:a="http://schemas.openxmlformats.org/drawingml/2006/main">
              <a:ext uri="{FF2B5EF4-FFF2-40B4-BE49-F238E27FC236}">
                <a16:creationId xmlns:a16="http://schemas.microsoft.com/office/drawing/2014/main" id="{64272A0D-0A56-4919-9F15-7C4C3076B1DF}"/>
              </a:ext>
            </a:extLst>
          </p:cNvPr>
          <p:cNvSpPr>
            <a:spLocks xmlns:a="http://schemas.openxmlformats.org/drawingml/2006/main" noGrp="1"/>
          </p:cNvSpPr>
          <p:nvPr/>
        </p:nvSpPr>
        <p:spPr>
          <a:xfrm xmlns:a="http://schemas.openxmlformats.org/drawingml/2006/main">
            <a:off x="723900" y="51149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746788256"/>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184237F-F12D-4B80-9902-796CE3DE512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F3E8D0-C47B-4B87-A068-36B2C66723C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現時点で見えている事業の拡張経路</a:t>
            </a:r>
          </a:p>
        </p:txBody>
      </p:sp>
      <p:sp>
        <p:nvSpPr>
          <p:cNvPr id="3" name="">
            <a:extLst xmlns:a="http://schemas.openxmlformats.org/drawingml/2006/main">
              <a:ext uri="{FF2B5EF4-FFF2-40B4-BE49-F238E27FC236}">
                <a16:creationId xmlns:a16="http://schemas.microsoft.com/office/drawing/2014/main" id="{37BD8EB8-D87E-4DA9-B65F-8A0030A6BE1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680CB28-0C51-487E-A801-7F7069B1D64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24A38E15-A106-4B4D-A433-047AC29AE84D}"/>
              </a:ext>
            </a:extLst>
          </p:cNvPr>
          <p:cNvSpPr>
            <a:spLocks xmlns:a="http://schemas.openxmlformats.org/drawingml/2006/main" noGrp="1"/>
          </p:cNvSpPr>
          <p:nvPr/>
        </p:nvSpPr>
        <p:spPr>
          <a:xfrm xmlns:a="http://schemas.openxmlformats.org/drawingml/2006/main">
            <a:off x="72390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6" name="">
            <a:extLst xmlns:a="http://schemas.openxmlformats.org/drawingml/2006/main">
              <a:ext uri="{FF2B5EF4-FFF2-40B4-BE49-F238E27FC236}">
                <a16:creationId xmlns:a16="http://schemas.microsoft.com/office/drawing/2014/main" id="{16EC22A0-3A70-4B3A-939E-BDADD3627C56}"/>
              </a:ext>
            </a:extLst>
          </p:cNvPr>
          <p:cNvSpPr>
            <a:spLocks xmlns:a="http://schemas.openxmlformats.org/drawingml/2006/main" noGrp="1"/>
          </p:cNvSpPr>
          <p:nvPr/>
        </p:nvSpPr>
        <p:spPr>
          <a:xfrm xmlns:a="http://schemas.openxmlformats.org/drawingml/2006/main">
            <a:off x="723900" y="2428875"/>
            <a:ext cx="2286000" cy="2000250"/>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238549BA-5AEF-4AF0-87DC-F4894E4B438C}"/>
              </a:ext>
            </a:extLst>
          </p:cNvPr>
          <p:cNvSpPr>
            <a:spLocks xmlns:a="http://schemas.openxmlformats.org/drawingml/2006/main" noGrp="1"/>
          </p:cNvSpPr>
          <p:nvPr/>
        </p:nvSpPr>
        <p:spPr>
          <a:xfrm xmlns:a="http://schemas.openxmlformats.org/drawingml/2006/main">
            <a:off x="93345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現場データを収集・販売</a:t>
            </a:r>
          </a:p>
        </p:txBody>
      </p:sp>
      <p:sp>
        <p:nvSpPr>
          <p:cNvPr id="8" name="">
            <a:extLst xmlns:a="http://schemas.openxmlformats.org/drawingml/2006/main">
              <a:ext uri="{FF2B5EF4-FFF2-40B4-BE49-F238E27FC236}">
                <a16:creationId xmlns:a16="http://schemas.microsoft.com/office/drawing/2014/main" id="{4FC95321-7B3C-4F4C-94C1-F385BA93A24F}"/>
              </a:ext>
            </a:extLst>
          </p:cNvPr>
          <p:cNvSpPr>
            <a:spLocks xmlns:a="http://schemas.openxmlformats.org/drawingml/2006/main" noGrp="1"/>
          </p:cNvSpPr>
          <p:nvPr/>
        </p:nvSpPr>
        <p:spPr>
          <a:xfrm xmlns:a="http://schemas.openxmlformats.org/drawingml/2006/main">
            <a:off x="93345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現場との関係、合意フロー、作業データを蓄積</a:t>
            </a:r>
          </a:p>
        </p:txBody>
      </p:sp>
      <p:sp>
        <p:nvSpPr>
          <p:cNvPr id="9" name="">
            <a:extLst xmlns:a="http://schemas.openxmlformats.org/drawingml/2006/main">
              <a:ext uri="{FF2B5EF4-FFF2-40B4-BE49-F238E27FC236}">
                <a16:creationId xmlns:a16="http://schemas.microsoft.com/office/drawing/2014/main" id="{CE357E34-8B3D-4AC4-94F8-2A4EDB3D40E0}"/>
              </a:ext>
            </a:extLst>
          </p:cNvPr>
          <p:cNvSpPr>
            <a:spLocks xmlns:a="http://schemas.openxmlformats.org/drawingml/2006/main" noGrp="1"/>
          </p:cNvSpPr>
          <p:nvPr/>
        </p:nvSpPr>
        <p:spPr>
          <a:xfrm xmlns:a="http://schemas.openxmlformats.org/drawingml/2006/main">
            <a:off x="300990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BBEB698-8273-432F-8BAA-90E0615E8CE6}"/>
              </a:ext>
            </a:extLst>
          </p:cNvPr>
          <p:cNvSpPr>
            <a:spLocks xmlns:a="http://schemas.openxmlformats.org/drawingml/2006/main" noGrp="1"/>
          </p:cNvSpPr>
          <p:nvPr/>
        </p:nvSpPr>
        <p:spPr>
          <a:xfrm xmlns:a="http://schemas.openxmlformats.org/drawingml/2006/main">
            <a:off x="348615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見えている展開</a:t>
            </a:r>
          </a:p>
        </p:txBody>
      </p:sp>
      <p:sp>
        <p:nvSpPr>
          <p:cNvPr id="11" name="">
            <a:extLst xmlns:a="http://schemas.openxmlformats.org/drawingml/2006/main">
              <a:ext uri="{FF2B5EF4-FFF2-40B4-BE49-F238E27FC236}">
                <a16:creationId xmlns:a16="http://schemas.microsoft.com/office/drawing/2014/main" id="{D2931ED3-AFC9-42B1-81B4-025CFBDCD9AB}"/>
              </a:ext>
            </a:extLst>
          </p:cNvPr>
          <p:cNvSpPr>
            <a:spLocks xmlns:a="http://schemas.openxmlformats.org/drawingml/2006/main" noGrp="1"/>
          </p:cNvSpPr>
          <p:nvPr/>
        </p:nvSpPr>
        <p:spPr>
          <a:xfrm xmlns:a="http://schemas.openxmlformats.org/drawingml/2006/main">
            <a:off x="348615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6DDA0F6C-5CDA-4355-B973-3329919EBAAE}"/>
              </a:ext>
            </a:extLst>
          </p:cNvPr>
          <p:cNvSpPr>
            <a:spLocks xmlns:a="http://schemas.openxmlformats.org/drawingml/2006/main" noGrp="1"/>
          </p:cNvSpPr>
          <p:nvPr/>
        </p:nvSpPr>
        <p:spPr>
          <a:xfrm xmlns:a="http://schemas.openxmlformats.org/drawingml/2006/main">
            <a:off x="369570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撮影デバイス</a:t>
            </a:r>
          </a:p>
        </p:txBody>
      </p:sp>
      <p:sp>
        <p:nvSpPr>
          <p:cNvPr id="13" name="">
            <a:extLst xmlns:a="http://schemas.openxmlformats.org/drawingml/2006/main">
              <a:ext uri="{FF2B5EF4-FFF2-40B4-BE49-F238E27FC236}">
                <a16:creationId xmlns:a16="http://schemas.microsoft.com/office/drawing/2014/main" id="{EA4A8D20-BE48-4F1E-9633-06E86B3DC9A5}"/>
              </a:ext>
            </a:extLst>
          </p:cNvPr>
          <p:cNvSpPr>
            <a:spLocks xmlns:a="http://schemas.openxmlformats.org/drawingml/2006/main" noGrp="1"/>
          </p:cNvSpPr>
          <p:nvPr/>
        </p:nvSpPr>
        <p:spPr>
          <a:xfrm xmlns:a="http://schemas.openxmlformats.org/drawingml/2006/main">
            <a:off x="369570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現場の負担を減らす機材を開発し、販売も検討</a:t>
            </a:r>
          </a:p>
        </p:txBody>
      </p:sp>
      <p:sp>
        <p:nvSpPr>
          <p:cNvPr id="14" name="">
            <a:extLst xmlns:a="http://schemas.openxmlformats.org/drawingml/2006/main">
              <a:ext uri="{FF2B5EF4-FFF2-40B4-BE49-F238E27FC236}">
                <a16:creationId xmlns:a16="http://schemas.microsoft.com/office/drawing/2014/main" id="{23DE0017-BE85-4E8C-AAB2-7B6CB8B7C99B}"/>
              </a:ext>
            </a:extLst>
          </p:cNvPr>
          <p:cNvSpPr>
            <a:spLocks xmlns:a="http://schemas.openxmlformats.org/drawingml/2006/main" noGrp="1"/>
          </p:cNvSpPr>
          <p:nvPr/>
        </p:nvSpPr>
        <p:spPr>
          <a:xfrm xmlns:a="http://schemas.openxmlformats.org/drawingml/2006/main">
            <a:off x="577215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CF20FC0-4CD5-4481-830E-F50F34F3B679}"/>
              </a:ext>
            </a:extLst>
          </p:cNvPr>
          <p:cNvSpPr>
            <a:spLocks xmlns:a="http://schemas.openxmlformats.org/drawingml/2006/main" noGrp="1"/>
          </p:cNvSpPr>
          <p:nvPr/>
        </p:nvSpPr>
        <p:spPr>
          <a:xfrm xmlns:a="http://schemas.openxmlformats.org/drawingml/2006/main">
            <a:off x="624840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見えている展開</a:t>
            </a:r>
          </a:p>
        </p:txBody>
      </p:sp>
      <p:sp>
        <p:nvSpPr>
          <p:cNvPr id="16" name="">
            <a:extLst xmlns:a="http://schemas.openxmlformats.org/drawingml/2006/main">
              <a:ext uri="{FF2B5EF4-FFF2-40B4-BE49-F238E27FC236}">
                <a16:creationId xmlns:a16="http://schemas.microsoft.com/office/drawing/2014/main" id="{50B7D436-3C40-4EEB-933D-FCEDD304D3E3}"/>
              </a:ext>
            </a:extLst>
          </p:cNvPr>
          <p:cNvSpPr>
            <a:spLocks xmlns:a="http://schemas.openxmlformats.org/drawingml/2006/main" noGrp="1"/>
          </p:cNvSpPr>
          <p:nvPr/>
        </p:nvSpPr>
        <p:spPr>
          <a:xfrm xmlns:a="http://schemas.openxmlformats.org/drawingml/2006/main">
            <a:off x="624840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C9D1B505-804F-4FD3-980E-46CB2F9EC963}"/>
              </a:ext>
            </a:extLst>
          </p:cNvPr>
          <p:cNvSpPr>
            <a:spLocks xmlns:a="http://schemas.openxmlformats.org/drawingml/2006/main" noGrp="1"/>
          </p:cNvSpPr>
          <p:nvPr/>
        </p:nvSpPr>
        <p:spPr>
          <a:xfrm xmlns:a="http://schemas.openxmlformats.org/drawingml/2006/main">
            <a:off x="645795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実証現場の提供</a:t>
            </a:r>
          </a:p>
        </p:txBody>
      </p:sp>
      <p:sp>
        <p:nvSpPr>
          <p:cNvPr id="18" name="">
            <a:extLst xmlns:a="http://schemas.openxmlformats.org/drawingml/2006/main">
              <a:ext uri="{FF2B5EF4-FFF2-40B4-BE49-F238E27FC236}">
                <a16:creationId xmlns:a16="http://schemas.microsoft.com/office/drawing/2014/main" id="{9131C2F1-D906-414F-8D5E-1F2E20A314BA}"/>
              </a:ext>
            </a:extLst>
          </p:cNvPr>
          <p:cNvSpPr>
            <a:spLocks xmlns:a="http://schemas.openxmlformats.org/drawingml/2006/main" noGrp="1"/>
          </p:cNvSpPr>
          <p:nvPr/>
        </p:nvSpPr>
        <p:spPr>
          <a:xfrm xmlns:a="http://schemas.openxmlformats.org/drawingml/2006/main">
            <a:off x="645795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ロボット企業や研究機関と現場をつなぐ</a:t>
            </a:r>
          </a:p>
        </p:txBody>
      </p:sp>
      <p:sp>
        <p:nvSpPr>
          <p:cNvPr id="19" name="">
            <a:extLst xmlns:a="http://schemas.openxmlformats.org/drawingml/2006/main">
              <a:ext uri="{FF2B5EF4-FFF2-40B4-BE49-F238E27FC236}">
                <a16:creationId xmlns:a16="http://schemas.microsoft.com/office/drawing/2014/main" id="{C53A8B92-A291-400A-92EA-28D793112DD8}"/>
              </a:ext>
            </a:extLst>
          </p:cNvPr>
          <p:cNvSpPr>
            <a:spLocks xmlns:a="http://schemas.openxmlformats.org/drawingml/2006/main" noGrp="1"/>
          </p:cNvSpPr>
          <p:nvPr/>
        </p:nvSpPr>
        <p:spPr>
          <a:xfrm xmlns:a="http://schemas.openxmlformats.org/drawingml/2006/main">
            <a:off x="853440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0ED3564-F394-4E7F-9B0C-74C19892B878}"/>
              </a:ext>
            </a:extLst>
          </p:cNvPr>
          <p:cNvSpPr>
            <a:spLocks xmlns:a="http://schemas.openxmlformats.org/drawingml/2006/main" noGrp="1"/>
          </p:cNvSpPr>
          <p:nvPr/>
        </p:nvSpPr>
        <p:spPr>
          <a:xfrm xmlns:a="http://schemas.openxmlformats.org/drawingml/2006/main">
            <a:off x="901065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目指す姿</a:t>
            </a:r>
          </a:p>
        </p:txBody>
      </p:sp>
      <p:sp>
        <p:nvSpPr>
          <p:cNvPr id="21" name="">
            <a:extLst xmlns:a="http://schemas.openxmlformats.org/drawingml/2006/main">
              <a:ext uri="{FF2B5EF4-FFF2-40B4-BE49-F238E27FC236}">
                <a16:creationId xmlns:a16="http://schemas.microsoft.com/office/drawing/2014/main" id="{E37FC78F-1C6E-4A96-BE6B-F2A4E0713863}"/>
              </a:ext>
            </a:extLst>
          </p:cNvPr>
          <p:cNvSpPr>
            <a:spLocks xmlns:a="http://schemas.openxmlformats.org/drawingml/2006/main" noGrp="1"/>
          </p:cNvSpPr>
          <p:nvPr/>
        </p:nvSpPr>
        <p:spPr>
          <a:xfrm xmlns:a="http://schemas.openxmlformats.org/drawingml/2006/main">
            <a:off x="901065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2" name="">
            <a:extLst xmlns:a="http://schemas.openxmlformats.org/drawingml/2006/main">
              <a:ext uri="{FF2B5EF4-FFF2-40B4-BE49-F238E27FC236}">
                <a16:creationId xmlns:a16="http://schemas.microsoft.com/office/drawing/2014/main" id="{E10A0D98-0AC9-4758-8DED-888D663837A7}"/>
              </a:ext>
            </a:extLst>
          </p:cNvPr>
          <p:cNvSpPr>
            <a:spLocks xmlns:a="http://schemas.openxmlformats.org/drawingml/2006/main" noGrp="1"/>
          </p:cNvSpPr>
          <p:nvPr/>
        </p:nvSpPr>
        <p:spPr>
          <a:xfrm xmlns:a="http://schemas.openxmlformats.org/drawingml/2006/main">
            <a:off x="922020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ロボットの現場統合</a:t>
            </a:r>
          </a:p>
        </p:txBody>
      </p:sp>
      <p:sp>
        <p:nvSpPr>
          <p:cNvPr id="23" name="">
            <a:extLst xmlns:a="http://schemas.openxmlformats.org/drawingml/2006/main">
              <a:ext uri="{FF2B5EF4-FFF2-40B4-BE49-F238E27FC236}">
                <a16:creationId xmlns:a16="http://schemas.microsoft.com/office/drawing/2014/main" id="{98158327-F93D-4259-9E0C-4EEF2B9D9863}"/>
              </a:ext>
            </a:extLst>
          </p:cNvPr>
          <p:cNvSpPr>
            <a:spLocks xmlns:a="http://schemas.openxmlformats.org/drawingml/2006/main" noGrp="1"/>
          </p:cNvSpPr>
          <p:nvPr/>
        </p:nvSpPr>
        <p:spPr>
          <a:xfrm xmlns:a="http://schemas.openxmlformats.org/drawingml/2006/main">
            <a:off x="922020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蓄積したデータと現場知識を使い、自ら導入する</a:t>
            </a:r>
          </a:p>
        </p:txBody>
      </p:sp>
      <p:sp>
        <p:nvSpPr>
          <p:cNvPr id="24" name="">
            <a:extLst xmlns:a="http://schemas.openxmlformats.org/drawingml/2006/main">
              <a:ext uri="{FF2B5EF4-FFF2-40B4-BE49-F238E27FC236}">
                <a16:creationId xmlns:a16="http://schemas.microsoft.com/office/drawing/2014/main" id="{CB121E31-89BF-4CA2-A548-8797D2ECFDED}"/>
              </a:ext>
            </a:extLst>
          </p:cNvPr>
          <p:cNvSpPr>
            <a:spLocks xmlns:a="http://schemas.openxmlformats.org/drawingml/2006/main" noGrp="1"/>
          </p:cNvSpPr>
          <p:nvPr/>
        </p:nvSpPr>
        <p:spPr>
          <a:xfrm xmlns:a="http://schemas.openxmlformats.org/drawingml/2006/main">
            <a:off x="723900" y="5000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D9E5B21-5DE4-4979-A378-BD4B0F6C8F42}"/>
              </a:ext>
            </a:extLst>
          </p:cNvPr>
          <p:cNvSpPr>
            <a:spLocks xmlns:a="http://schemas.openxmlformats.org/drawingml/2006/main" noGrp="1"/>
          </p:cNvSpPr>
          <p:nvPr/>
        </p:nvSpPr>
        <p:spPr>
          <a:xfrm xmlns:a="http://schemas.openxmlformats.org/drawingml/2006/main">
            <a:off x="723900" y="5362575"/>
            <a:ext cx="10382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直近以外は、現在見えている可能性を並べたものであり、実行時期を定めた計画ではない。</a:t>
            </a:r>
          </a:p>
        </p:txBody>
      </p:sp>
    </p:spTree>
    <p:extLst>
      <p:ext uri="{BB962C8B-B14F-4D97-AF65-F5344CB8AC3E}">
        <p14:creationId xmlns:p14="http://schemas.microsoft.com/office/powerpoint/2010/main" val="976833929"/>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9DF34E7-EEAB-474E-AD63-70BA4014822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9C4A1F-062A-4599-A901-3255CE3F960C}"/>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直近3か月の目標</a:t>
            </a:r>
          </a:p>
        </p:txBody>
      </p:sp>
      <p:sp>
        <p:nvSpPr>
          <p:cNvPr id="3" name="">
            <a:extLst xmlns:a="http://schemas.openxmlformats.org/drawingml/2006/main">
              <a:ext uri="{FF2B5EF4-FFF2-40B4-BE49-F238E27FC236}">
                <a16:creationId xmlns:a16="http://schemas.microsoft.com/office/drawing/2014/main" id="{D0E54D4B-A8B5-4141-8207-AF7DD04AE8B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17E9C6-88C4-43CD-9E3F-55886262CF8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ABD210ED-4A42-492C-8572-16CF86131E48}"/>
              </a:ext>
            </a:extLst>
          </p:cNvPr>
          <p:cNvSpPr>
            <a:spLocks xmlns:a="http://schemas.openxmlformats.org/drawingml/2006/main" noGrp="1"/>
          </p:cNvSpPr>
          <p:nvPr/>
        </p:nvSpPr>
        <p:spPr>
          <a:xfrm xmlns:a="http://schemas.openxmlformats.org/drawingml/2006/main">
            <a:off x="723900" y="200977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10月</a:t>
            </a:r>
          </a:p>
        </p:txBody>
      </p:sp>
      <p:sp>
        <p:nvSpPr>
          <p:cNvPr id="6" name="">
            <a:extLst xmlns:a="http://schemas.openxmlformats.org/drawingml/2006/main">
              <a:ext uri="{FF2B5EF4-FFF2-40B4-BE49-F238E27FC236}">
                <a16:creationId xmlns:a16="http://schemas.microsoft.com/office/drawing/2014/main" id="{1692ED1D-1D62-4020-8FC3-AE5784813628}"/>
              </a:ext>
            </a:extLst>
          </p:cNvPr>
          <p:cNvSpPr>
            <a:spLocks xmlns:a="http://schemas.openxmlformats.org/drawingml/2006/main" noGrp="1"/>
          </p:cNvSpPr>
          <p:nvPr/>
        </p:nvSpPr>
        <p:spPr>
          <a:xfrm xmlns:a="http://schemas.openxmlformats.org/drawingml/2006/main">
            <a:off x="2333625" y="200977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月間500時間</a:t>
            </a:r>
          </a:p>
        </p:txBody>
      </p:sp>
      <p:sp>
        <p:nvSpPr>
          <p:cNvPr id="7" name="">
            <a:extLst xmlns:a="http://schemas.openxmlformats.org/drawingml/2006/main">
              <a:ext uri="{FF2B5EF4-FFF2-40B4-BE49-F238E27FC236}">
                <a16:creationId xmlns:a16="http://schemas.microsoft.com/office/drawing/2014/main" id="{089362F8-5649-4431-B928-58339AD6A394}"/>
              </a:ext>
            </a:extLst>
          </p:cNvPr>
          <p:cNvSpPr>
            <a:spLocks xmlns:a="http://schemas.openxmlformats.org/drawingml/2006/main" noGrp="1"/>
          </p:cNvSpPr>
          <p:nvPr/>
        </p:nvSpPr>
        <p:spPr>
          <a:xfrm xmlns:a="http://schemas.openxmlformats.org/drawingml/2006/main">
            <a:off x="5810250" y="1990725"/>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Nextremerとの合意と格納開始。海外販売先へ再度提供を打診する。</a:t>
            </a:r>
          </a:p>
        </p:txBody>
      </p:sp>
      <p:sp>
        <p:nvSpPr>
          <p:cNvPr id="8" name="">
            <a:extLst xmlns:a="http://schemas.openxmlformats.org/drawingml/2006/main">
              <a:ext uri="{FF2B5EF4-FFF2-40B4-BE49-F238E27FC236}">
                <a16:creationId xmlns:a16="http://schemas.microsoft.com/office/drawing/2014/main" id="{9C87F9DC-542D-4DDE-B6F6-70366A53A740}"/>
              </a:ext>
            </a:extLst>
          </p:cNvPr>
          <p:cNvSpPr>
            <a:spLocks xmlns:a="http://schemas.openxmlformats.org/drawingml/2006/main" noGrp="1"/>
          </p:cNvSpPr>
          <p:nvPr/>
        </p:nvSpPr>
        <p:spPr>
          <a:xfrm xmlns:a="http://schemas.openxmlformats.org/drawingml/2006/main">
            <a:off x="723900" y="29432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5E9950D-1228-445C-8105-58B962A15295}"/>
              </a:ext>
            </a:extLst>
          </p:cNvPr>
          <p:cNvSpPr>
            <a:spLocks xmlns:a="http://schemas.openxmlformats.org/drawingml/2006/main" noGrp="1"/>
          </p:cNvSpPr>
          <p:nvPr/>
        </p:nvSpPr>
        <p:spPr>
          <a:xfrm xmlns:a="http://schemas.openxmlformats.org/drawingml/2006/main">
            <a:off x="723900" y="331470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11月</a:t>
            </a:r>
          </a:p>
        </p:txBody>
      </p:sp>
      <p:sp>
        <p:nvSpPr>
          <p:cNvPr id="10" name="">
            <a:extLst xmlns:a="http://schemas.openxmlformats.org/drawingml/2006/main">
              <a:ext uri="{FF2B5EF4-FFF2-40B4-BE49-F238E27FC236}">
                <a16:creationId xmlns:a16="http://schemas.microsoft.com/office/drawing/2014/main" id="{B8AFFA40-B3D7-4829-9141-92171EC2D855}"/>
              </a:ext>
            </a:extLst>
          </p:cNvPr>
          <p:cNvSpPr>
            <a:spLocks xmlns:a="http://schemas.openxmlformats.org/drawingml/2006/main" noGrp="1"/>
          </p:cNvSpPr>
          <p:nvPr/>
        </p:nvSpPr>
        <p:spPr>
          <a:xfrm xmlns:a="http://schemas.openxmlformats.org/drawingml/2006/main">
            <a:off x="2333625" y="33147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月間500時間を維持</a:t>
            </a:r>
          </a:p>
        </p:txBody>
      </p:sp>
      <p:sp>
        <p:nvSpPr>
          <p:cNvPr id="11" name="">
            <a:extLst xmlns:a="http://schemas.openxmlformats.org/drawingml/2006/main">
              <a:ext uri="{FF2B5EF4-FFF2-40B4-BE49-F238E27FC236}">
                <a16:creationId xmlns:a16="http://schemas.microsoft.com/office/drawing/2014/main" id="{617081C9-6C44-495F-BEF9-515D1A2C2CA4}"/>
              </a:ext>
            </a:extLst>
          </p:cNvPr>
          <p:cNvSpPr>
            <a:spLocks xmlns:a="http://schemas.openxmlformats.org/drawingml/2006/main" noGrp="1"/>
          </p:cNvSpPr>
          <p:nvPr/>
        </p:nvSpPr>
        <p:spPr>
          <a:xfrm xmlns:a="http://schemas.openxmlformats.org/drawingml/2006/main">
            <a:off x="5810250" y="3295650"/>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撮影現場を訪問し、運用負担を洗い出す。合意とデータ取扱いを法務確認する。</a:t>
            </a:r>
          </a:p>
        </p:txBody>
      </p:sp>
      <p:sp>
        <p:nvSpPr>
          <p:cNvPr id="12" name="">
            <a:extLst xmlns:a="http://schemas.openxmlformats.org/drawingml/2006/main">
              <a:ext uri="{FF2B5EF4-FFF2-40B4-BE49-F238E27FC236}">
                <a16:creationId xmlns:a16="http://schemas.microsoft.com/office/drawing/2014/main" id="{E222AB69-FA0E-418F-A96B-6AA2F187B416}"/>
              </a:ext>
            </a:extLst>
          </p:cNvPr>
          <p:cNvSpPr>
            <a:spLocks xmlns:a="http://schemas.openxmlformats.org/drawingml/2006/main" noGrp="1"/>
          </p:cNvSpPr>
          <p:nvPr/>
        </p:nvSpPr>
        <p:spPr>
          <a:xfrm xmlns:a="http://schemas.openxmlformats.org/drawingml/2006/main">
            <a:off x="723900" y="42481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5AC47E4-A5FC-40CC-A4D7-2F585C4DB2B6}"/>
              </a:ext>
            </a:extLst>
          </p:cNvPr>
          <p:cNvSpPr>
            <a:spLocks xmlns:a="http://schemas.openxmlformats.org/drawingml/2006/main" noGrp="1"/>
          </p:cNvSpPr>
          <p:nvPr/>
        </p:nvSpPr>
        <p:spPr>
          <a:xfrm xmlns:a="http://schemas.openxmlformats.org/drawingml/2006/main">
            <a:off x="723900" y="461962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12月</a:t>
            </a:r>
          </a:p>
        </p:txBody>
      </p:sp>
      <p:sp>
        <p:nvSpPr>
          <p:cNvPr id="14" name="">
            <a:extLst xmlns:a="http://schemas.openxmlformats.org/drawingml/2006/main">
              <a:ext uri="{FF2B5EF4-FFF2-40B4-BE49-F238E27FC236}">
                <a16:creationId xmlns:a16="http://schemas.microsoft.com/office/drawing/2014/main" id="{0F85A9D8-E2A5-426D-AD5A-658C688973B2}"/>
              </a:ext>
            </a:extLst>
          </p:cNvPr>
          <p:cNvSpPr>
            <a:spLocks xmlns:a="http://schemas.openxmlformats.org/drawingml/2006/main" noGrp="1"/>
          </p:cNvSpPr>
          <p:nvPr/>
        </p:nvSpPr>
        <p:spPr>
          <a:xfrm xmlns:a="http://schemas.openxmlformats.org/drawingml/2006/main">
            <a:off x="2333625" y="46196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月間1,000時間</a:t>
            </a:r>
          </a:p>
        </p:txBody>
      </p:sp>
      <p:sp>
        <p:nvSpPr>
          <p:cNvPr id="15" name="">
            <a:extLst xmlns:a="http://schemas.openxmlformats.org/drawingml/2006/main">
              <a:ext uri="{FF2B5EF4-FFF2-40B4-BE49-F238E27FC236}">
                <a16:creationId xmlns:a16="http://schemas.microsoft.com/office/drawing/2014/main" id="{5A777604-96FA-4257-BA9D-927B7E31CFE5}"/>
              </a:ext>
            </a:extLst>
          </p:cNvPr>
          <p:cNvSpPr>
            <a:spLocks xmlns:a="http://schemas.openxmlformats.org/drawingml/2006/main" noGrp="1"/>
          </p:cNvSpPr>
          <p:nvPr/>
        </p:nvSpPr>
        <p:spPr>
          <a:xfrm xmlns:a="http://schemas.openxmlformats.org/drawingml/2006/main">
            <a:off x="5810250" y="4600575"/>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飲食・小売を中心に撮影先を増やし、販売先との商談条件を満たす規模へ近づける。</a:t>
            </a:r>
          </a:p>
        </p:txBody>
      </p:sp>
      <p:sp>
        <p:nvSpPr>
          <p:cNvPr id="16" name="">
            <a:extLst xmlns:a="http://schemas.openxmlformats.org/drawingml/2006/main">
              <a:ext uri="{FF2B5EF4-FFF2-40B4-BE49-F238E27FC236}">
                <a16:creationId xmlns:a16="http://schemas.microsoft.com/office/drawing/2014/main" id="{6AD1B71B-57CE-4F23-8FEE-FCD03E3D6812}"/>
              </a:ext>
            </a:extLst>
          </p:cNvPr>
          <p:cNvSpPr>
            <a:spLocks xmlns:a="http://schemas.openxmlformats.org/drawingml/2006/main" noGrp="1"/>
          </p:cNvSpPr>
          <p:nvPr/>
        </p:nvSpPr>
        <p:spPr>
          <a:xfrm xmlns:a="http://schemas.openxmlformats.org/drawingml/2006/main">
            <a:off x="723900" y="55530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420783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2026-09-14T21:40:13.5180000Z</dcterms:created>
  <dcterms:modified xsi:type="dcterms:W3CDTF">2026-09-14T21:40:13.5180000Z</dcterms:modified>
</coreProperties>
</file>
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befaa98c4164e6e" /><Relationship Type="http://schemas.openxmlformats.org/officeDocument/2006/relationships/extended-properties" Target="/docProps/app.xml" Id="Rdbed93a534ad460b" /><Relationship Type="http://schemas.openxmlformats.org/officeDocument/2006/relationships/officeDocument" Target="/ppt/presentation.xml" Id="Rb25591e741484487" /></Relationships>
</file>

<file path=ppt/presentation.xml><?xml version="1.0" encoding="utf-8"?>
<p:presentation xmlns:p="http://schemas.openxmlformats.org/presentationml/2006/main">
  <p:sldMasterIdLst>
    <p:sldMasterId xmlns:r="http://schemas.openxmlformats.org/officeDocument/2006/relationships" id="2147483648" r:id="R49d9a1965d674b70"/>
  </p:sldMasterIdLst>
  <p:notesMasterIdLst>
    <p:notesMasterId xmlns:r="http://schemas.openxmlformats.org/officeDocument/2006/relationships" r:id="R2a6421424e574058"/>
  </p:notesMasterIdLst>
  <p:sldIdLst>
    <p:sldId xmlns:r="http://schemas.openxmlformats.org/officeDocument/2006/relationships" id="256" r:id="R49cf080f3c5c42af"/>
    <p:sldId xmlns:r="http://schemas.openxmlformats.org/officeDocument/2006/relationships" id="257" r:id="Rbbfcafdb39aa4c01"/>
    <p:sldId xmlns:r="http://schemas.openxmlformats.org/officeDocument/2006/relationships" id="258" r:id="R10d78df850f44586"/>
    <p:sldId xmlns:r="http://schemas.openxmlformats.org/officeDocument/2006/relationships" id="259" r:id="R061b09f0644347c6"/>
    <p:sldId xmlns:r="http://schemas.openxmlformats.org/officeDocument/2006/relationships" id="260" r:id="R94a358874f614a26"/>
    <p:sldId xmlns:r="http://schemas.openxmlformats.org/officeDocument/2006/relationships" id="261" r:id="Ra2d0fef1e867403a"/>
    <p:sldId xmlns:r="http://schemas.openxmlformats.org/officeDocument/2006/relationships" id="262" r:id="R5d45a2a7b3534668"/>
    <p:sldId xmlns:r="http://schemas.openxmlformats.org/officeDocument/2006/relationships" id="263" r:id="Ra082818e77fa4180"/>
    <p:sldId xmlns:r="http://schemas.openxmlformats.org/officeDocument/2006/relationships" id="264" r:id="R1ef3f373bb97483b"/>
    <p:sldId xmlns:r="http://schemas.openxmlformats.org/officeDocument/2006/relationships" id="265" r:id="R9720ed57992446a1"/>
    <p:sldId xmlns:r="http://schemas.openxmlformats.org/officeDocument/2006/relationships" id="266" r:id="Rf843ed9324b943f8"/>
    <p:sldId xmlns:r="http://schemas.openxmlformats.org/officeDocument/2006/relationships" id="267" r:id="Rdeff0b75b30c4768"/>
    <p:sldId xmlns:r="http://schemas.openxmlformats.org/officeDocument/2006/relationships" id="268" r:id="R20ba5b32a8f14e84"/>
    <p:sldId xmlns:r="http://schemas.openxmlformats.org/officeDocument/2006/relationships" id="269" r:id="Rf7fd1be0080b4b50"/>
    <p:sldId xmlns:r="http://schemas.openxmlformats.org/officeDocument/2006/relationships" id="270" r:id="Re120d69107294511"/>
    <p:sldId xmlns:r="http://schemas.openxmlformats.org/officeDocument/2006/relationships" id="271" r:id="Ra4a24292b465420d"/>
    <p:sldId xmlns:r="http://schemas.openxmlformats.org/officeDocument/2006/relationships" id="272" r:id="Rbc1c7d7e055645c9"/>
    <p:sldId xmlns:r="http://schemas.openxmlformats.org/officeDocument/2006/relationships" id="273" r:id="Rf67ef41c9df6456c"/>
    <p:sldId xmlns:r="http://schemas.openxmlformats.org/officeDocument/2006/relationships" id="274" r:id="R7ec0dcbf990f4859"/>
    <p:sldId xmlns:r="http://schemas.openxmlformats.org/officeDocument/2006/relationships" id="275" r:id="R4eee3d9e72a2491a"/>
    <p:sldId xmlns:r="http://schemas.openxmlformats.org/officeDocument/2006/relationships" id="276" r:id="R7560366c47cd41bf"/>
    <p:sldId xmlns:r="http://schemas.openxmlformats.org/officeDocument/2006/relationships" id="277" r:id="R1acb165d71324321"/>
    <p:sldId xmlns:r="http://schemas.openxmlformats.org/officeDocument/2006/relationships" id="278" r:id="R5d4040f8080741a7"/>
    <p:sldId xmlns:r="http://schemas.openxmlformats.org/officeDocument/2006/relationships" id="279" r:id="Rb087563ec90f414d"/>
    <p:sldId xmlns:r="http://schemas.openxmlformats.org/officeDocument/2006/relationships" id="280" r:id="R48cf13e4b7e14cc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20d1d9c11d4cac" /><Relationship Type="http://schemas.openxmlformats.org/officeDocument/2006/relationships/slideMaster" Target="/ppt/slideMasters/slideMaster1.xml" Id="R49d9a1965d674b70" /><Relationship Type="http://schemas.openxmlformats.org/officeDocument/2006/relationships/notesMaster" Target="/ppt/notesMasters/notesMaster1.xml" Id="R2a6421424e574058" /><Relationship Type="http://schemas.openxmlformats.org/officeDocument/2006/relationships/presProps" Target="/ppt/presProps.xml" Id="Rf658eb5b72f74818" /><Relationship Type="http://schemas.openxmlformats.org/officeDocument/2006/relationships/tableStyles" Target="/ppt/tableStyles.xml" Id="R8b9e6555da8d4a4d" /><Relationship Type="http://schemas.openxmlformats.org/officeDocument/2006/relationships/slide" Target="/ppt/slides/slide1.xml" Id="R49cf080f3c5c42af" /><Relationship Type="http://schemas.openxmlformats.org/officeDocument/2006/relationships/slide" Target="/ppt/slides/slide2.xml" Id="Rbbfcafdb39aa4c01" /><Relationship Type="http://schemas.openxmlformats.org/officeDocument/2006/relationships/slide" Target="/ppt/slides/slide3.xml" Id="R10d78df850f44586" /><Relationship Type="http://schemas.openxmlformats.org/officeDocument/2006/relationships/slide" Target="/ppt/slides/slide4.xml" Id="R061b09f0644347c6" /><Relationship Type="http://schemas.openxmlformats.org/officeDocument/2006/relationships/slide" Target="/ppt/slides/slide5.xml" Id="R94a358874f614a26" /><Relationship Type="http://schemas.openxmlformats.org/officeDocument/2006/relationships/slide" Target="/ppt/slides/slide6.xml" Id="Ra2d0fef1e867403a" /><Relationship Type="http://schemas.openxmlformats.org/officeDocument/2006/relationships/slide" Target="/ppt/slides/slide7.xml" Id="R5d45a2a7b3534668" /><Relationship Type="http://schemas.openxmlformats.org/officeDocument/2006/relationships/slide" Target="/ppt/slides/slide8.xml" Id="Ra082818e77fa4180" /><Relationship Type="http://schemas.openxmlformats.org/officeDocument/2006/relationships/slide" Target="/ppt/slides/slide9.xml" Id="R1ef3f373bb97483b" /><Relationship Type="http://schemas.openxmlformats.org/officeDocument/2006/relationships/slide" Target="/ppt/slides/slide10.xml" Id="R9720ed57992446a1" /><Relationship Type="http://schemas.openxmlformats.org/officeDocument/2006/relationships/slide" Target="/ppt/slides/slide11.xml" Id="Rf843ed9324b943f8" /><Relationship Type="http://schemas.openxmlformats.org/officeDocument/2006/relationships/slide" Target="/ppt/slides/slide12.xml" Id="Rdeff0b75b30c4768" /><Relationship Type="http://schemas.openxmlformats.org/officeDocument/2006/relationships/slide" Target="/ppt/slides/slide13.xml" Id="R20ba5b32a8f14e84" /><Relationship Type="http://schemas.openxmlformats.org/officeDocument/2006/relationships/slide" Target="/ppt/slides/slide14.xml" Id="Rf7fd1be0080b4b50" /><Relationship Type="http://schemas.openxmlformats.org/officeDocument/2006/relationships/slide" Target="/ppt/slides/slide15.xml" Id="Re120d69107294511" /><Relationship Type="http://schemas.openxmlformats.org/officeDocument/2006/relationships/slide" Target="/ppt/slides/slide16.xml" Id="Ra4a24292b465420d" /><Relationship Type="http://schemas.openxmlformats.org/officeDocument/2006/relationships/slide" Target="/ppt/slides/slide17.xml" Id="Rbc1c7d7e055645c9" /><Relationship Type="http://schemas.openxmlformats.org/officeDocument/2006/relationships/slide" Target="/ppt/slides/slide18.xml" Id="Rf67ef41c9df6456c" /><Relationship Type="http://schemas.openxmlformats.org/officeDocument/2006/relationships/slide" Target="/ppt/slides/slide19.xml" Id="R7ec0dcbf990f4859" /><Relationship Type="http://schemas.openxmlformats.org/officeDocument/2006/relationships/slide" Target="/ppt/slides/slide20.xml" Id="R4eee3d9e72a2491a" /><Relationship Type="http://schemas.openxmlformats.org/officeDocument/2006/relationships/slide" Target="/ppt/slides/slide21.xml" Id="R7560366c47cd41bf" /><Relationship Type="http://schemas.openxmlformats.org/officeDocument/2006/relationships/slide" Target="/ppt/slides/slide22.xml" Id="R1acb165d71324321" /><Relationship Type="http://schemas.openxmlformats.org/officeDocument/2006/relationships/slide" Target="/ppt/slides/slide23.xml" Id="R5d4040f8080741a7" /><Relationship Type="http://schemas.openxmlformats.org/officeDocument/2006/relationships/slide" Target="/ppt/slides/slide24.xml" Id="Rb087563ec90f414d" /><Relationship Type="http://schemas.openxmlformats.org/officeDocument/2006/relationships/slide" Target="/ppt/slides/slide25.xml" Id="R48cf13e4b7e14cc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996080300a44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2cde214b314cc4" /><Relationship Type="http://schemas.openxmlformats.org/officeDocument/2006/relationships/notesMaster" Target="/ppt/notesMasters/notesMaster1.xml" Id="Rb2cbae568d52463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cc88e6fdde4ec8" /><Relationship Type="http://schemas.openxmlformats.org/officeDocument/2006/relationships/notesMaster" Target="/ppt/notesMasters/notesMaster1.xml" Id="R8cb070b3b3b3443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d2fc835aed4b98" /><Relationship Type="http://schemas.openxmlformats.org/officeDocument/2006/relationships/notesMaster" Target="/ppt/notesMasters/notesMaster1.xml" Id="R83a6f3af95d946a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2d028f80a04d08" /><Relationship Type="http://schemas.openxmlformats.org/officeDocument/2006/relationships/notesMaster" Target="/ppt/notesMasters/notesMaster1.xml" Id="Rbd426b260fe54a44"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d548813e2343d7" /><Relationship Type="http://schemas.openxmlformats.org/officeDocument/2006/relationships/notesMaster" Target="/ppt/notesMasters/notesMaster1.xml" Id="Rf5e60d07852749c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c85ae1aafd4503" /><Relationship Type="http://schemas.openxmlformats.org/officeDocument/2006/relationships/notesMaster" Target="/ppt/notesMasters/notesMaster1.xml" Id="Rc602cfc3dcad41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aca6d0d3294c4e" /><Relationship Type="http://schemas.openxmlformats.org/officeDocument/2006/relationships/notesMaster" Target="/ppt/notesMasters/notesMaster1.xml" Id="R688f7347084f4a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7e8902479304c18" /><Relationship Type="http://schemas.openxmlformats.org/officeDocument/2006/relationships/notesMaster" Target="/ppt/notesMasters/notesMaster1.xml" Id="R546e0021a1d54cf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5ee473c5e0b467d" /><Relationship Type="http://schemas.openxmlformats.org/officeDocument/2006/relationships/notesMaster" Target="/ppt/notesMasters/notesMaster1.xml" Id="Re5288aabe0424b1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36d53d7f0fe454a" /><Relationship Type="http://schemas.openxmlformats.org/officeDocument/2006/relationships/notesMaster" Target="/ppt/notesMasters/notesMaster1.xml" Id="R10ebe96797c54f7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233d3cabc8e4f56" /><Relationship Type="http://schemas.openxmlformats.org/officeDocument/2006/relationships/notesMaster" Target="/ppt/notesMasters/notesMaster1.xml" Id="Rc975cd1ef993466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63d42d32ba04180" /><Relationship Type="http://schemas.openxmlformats.org/officeDocument/2006/relationships/notesMaster" Target="/ppt/notesMasters/notesMaster1.xml" Id="Ra252ed8a77b5494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fcae02514a54ec9" /><Relationship Type="http://schemas.openxmlformats.org/officeDocument/2006/relationships/notesMaster" Target="/ppt/notesMasters/notesMaster1.xml" Id="Rc0f057ed15a648a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eb81f9b2d6342e7" /><Relationship Type="http://schemas.openxmlformats.org/officeDocument/2006/relationships/notesMaster" Target="/ppt/notesMasters/notesMaster1.xml" Id="R63e225866deb4da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495b21986924da7" /><Relationship Type="http://schemas.openxmlformats.org/officeDocument/2006/relationships/notesMaster" Target="/ppt/notesMasters/notesMaster1.xml" Id="Reb2e67d3fb874b6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84c9d60e8794d60" /><Relationship Type="http://schemas.openxmlformats.org/officeDocument/2006/relationships/notesMaster" Target="/ppt/notesMasters/notesMaster1.xml" Id="Rea1ef288196c4b6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8b3b994d0544552" /><Relationship Type="http://schemas.openxmlformats.org/officeDocument/2006/relationships/notesMaster" Target="/ppt/notesMasters/notesMaster1.xml" Id="R80358fa066e04de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25b94463f88446d" /><Relationship Type="http://schemas.openxmlformats.org/officeDocument/2006/relationships/notesMaster" Target="/ppt/notesMasters/notesMaster1.xml" Id="R53a19845c40b402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69c770b18494505" /><Relationship Type="http://schemas.openxmlformats.org/officeDocument/2006/relationships/notesMaster" Target="/ppt/notesMasters/notesMaster1.xml" Id="Rdcd85ee0b9a940d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5059f2b6bd34fc2" /><Relationship Type="http://schemas.openxmlformats.org/officeDocument/2006/relationships/notesMaster" Target="/ppt/notesMasters/notesMaster1.xml" Id="R46799bda7878466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1d8b6e74f9f4f51" /><Relationship Type="http://schemas.openxmlformats.org/officeDocument/2006/relationships/notesMaster" Target="/ppt/notesMasters/notesMaster1.xml" Id="R117480f46a92479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c5935143e1e4c84" /><Relationship Type="http://schemas.openxmlformats.org/officeDocument/2006/relationships/notesMaster" Target="/ppt/notesMasters/notesMaster1.xml" Id="R26d216aa2c41479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b5c23f199a34d53" /><Relationship Type="http://schemas.openxmlformats.org/officeDocument/2006/relationships/notesMaster" Target="/ppt/notesMasters/notesMaster1.xml" Id="R6e10a5ac397d48d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6368be711824b49" /><Relationship Type="http://schemas.openxmlformats.org/officeDocument/2006/relationships/notesMaster" Target="/ppt/notesMasters/notesMaster1.xml" Id="Rf7ebf08d60744eb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aad025b489e4e82" /><Relationship Type="http://schemas.openxmlformats.org/officeDocument/2006/relationships/notesMaster" Target="/ppt/notesMasters/notesMaster1.xml" Id="R8a43a28ff826410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私たちは、現場データ収集から始めるフィジカルAIプレーヤーになる企業です。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横幅は、その企業が接続している現場の範囲を表します。垂直統合型は特定の現場に絞るため横幅が短く、複数の技術レイヤーを自社で担うため縦に長くなります。水平統合型は一つの技術レイヤーを担いながら、多数の業種・現場へ接続するため横に広くなります。現場と直接接触するのは、一番下の現場統合層と、一番上流の現場データ収集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多くのフィジカルAI企業はロボットと現場を垂直統合する形で研究開発を進めています。特定の業種・タスクに絞り、完全な自律運用が難しい場合は遠隔操作での商用化から始める企業もあれば、自律運用の幅を地道に広げる企業もあります。代表例は1XとSunday Roboticsです。</a:t>
            </a:r>
          </a:p>
          <a:p xmlns:a="http://schemas.openxmlformats.org/drawingml/2006/main">
            <a:r>
              <a:t/>
            </a:r>
          </a:p>
          <a:p xmlns:a="http://schemas.openxmlformats.org/drawingml/2006/main">
            <a:r>
              <a:t>一方、水平統合型は、そのバリューチェーンをレイヤーごとに分解した企業群です。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データ収集層には、人間の作業データ、テレオペレーション、合成データ、生データの加工があり、さらに上流では収集専用デバイスの開発も広がり始めています。基盤モデル開発はPhysical Intelligence（PI）やNVIDIAが挙げられ、桁違いの投資ができる企業に限られます。シミュレーション・デジタルツインは、実データの必要量を下げながらモデル開発まで進める近接レイヤーです。</a:t>
            </a:r>
          </a:p>
          <a:p xmlns:a="http://schemas.openxmlformats.org/drawingml/2006/main">
            <a:r>
              <a:t/>
            </a:r>
          </a:p>
          <a:p xmlns:a="http://schemas.openxmlformats.org/drawingml/2006/main">
            <a:r>
              <a:t>ハードウェアは中国系企業が安価なロボットの供給で強く、現場統合層は既存のロボットやモデルを使って現場への導入を優先します。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私の考えでは、モデル開発・ハードウェア開発・現場統合という3つの領域を自社のループとして持ち、実際に現場でロボットを稼働させている企業が主流になります。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独立したレイヤーとして存在するデータ収集も、現場へロボットが投入されれば、このループの中に吸収されると考えています。ロボットの稼働そのものがデータ収集になり、そのデータがモデル改善へ直結するためです。モデル、ハードウェア、現場統合を自社のループとして持つ企業ほど、改善速度が上が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と直接の接点を持つレイヤーは2つあります。一つは現場統合層。ロボットを実際にその場所に導入して動かす企業なので、当然現場と繋がります。しかしもう一つ、一番上流の現場データ収集企業も、撮影のために現場に入り込む必要があるため、将来ロボットが使われる現場と直接の関係を築くこと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現場統合はタスクごとに技術開発が必要ですが、人間の作業を撮影するデータ収集は、今の技術でも業種をまたいで広げられます。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は多いですが有限です。現場側の負担を考えると、一つの現場が複数の収集会社と契約するとは考えにくく、先行者優位が強いと見ています。RootLensは、日本で先に多くの現場との関係を築き、このポジションを取りに行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ロボット企業が現場を含むフィードバックループを作るには、現場ネットワークが必要です。多業種で合意やコンプライアンス対応を積み重ねること自体が参入障壁になります。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現場データを先に持つことは、ロボット企業との協業だけでなく、自分たちがロボットを現場へ導入し、作業に合わせて運用を調整する側へ進むための布石になります。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の構想は2段階です。まず現場データネットワークを広げます。次に、そのデータとネットワークを使い、既存ロボットの現場導入と運用調整を担います。さらに先では、現場データを使った動作モデルと実機の改良まで自社で行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撮影先と販売先の両面を開拓する必要があります。現在は若干現場開拓が先行しています。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飛び込み営業からベーカリーでの実撮影へ進み、カフェチェーン、スーパーマーケットへ現場開拓を広げています。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海外8社とは、ベーカリーで収集したサンプルデータのやり取りまで進みました。合意に至っていない理由はデータの品質ではなく、私たちの収集規模が世界的にはまだ小さく、低い優先度として扱われているためです。収集規模を拡大すれば解決できる課題だと考えています。</a:t>
            </a:r>
          </a:p>
          <a:p xmlns:a="http://schemas.openxmlformats.org/drawingml/2006/main">
            <a:r>
              <a:t/>
            </a:r>
          </a:p>
          <a:p xmlns:a="http://schemas.openxmlformats.org/drawingml/2006/main">
            <a:r>
              <a:t>国内ではNextremerと、現場合意、加工、販売を含む運用フローを擦り合わせています。手数料なしのレベニューシェアなので、私たちは現場開拓とデータ収集に注力できます。Nextremerは私たちよりロボット実装に近い下流へアプローチできるため、高度なアノテーション付きデータを求める販売先へ届き、より高い単価を狙え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現在4名で活動しています。共同創業者2名に加え、ベーカリーで撮影と運用改善を支える川島健二さん、経営管理・法務・業界ネットワークを支援する大崎操さんが参画しています。</a:t>
            </a:r>
          </a:p>
          <a:p xmlns:a="http://schemas.openxmlformats.org/drawingml/2006/main">
            <a:r>
              <a:t/>
            </a:r>
          </a:p>
          <a:p xmlns:a="http://schemas.openxmlformats.org/drawingml/2006/main">
            <a:r>
              <a:t>公開情報：</a:t>
            </a:r>
          </a:p>
          <a:p xmlns:a="http://schemas.openxmlformats.org/drawingml/2006/main">
            <a:r>
              <a:t>河野瞭人 https://akitozizi818.github.io/portfolio/</a:t>
            </a:r>
          </a:p>
          <a:p xmlns:a="http://schemas.openxmlformats.org/drawingml/2006/main">
            <a:r>
              <a:t>神戸大学卒業研究発表会プログラム https://www.csi.kobe-u.ac.jp/current_students/kyougaku/file/Bprogram20250217.pdf</a:t>
            </a:r>
          </a:p>
          <a:p xmlns:a="http://schemas.openxmlformats.org/drawingml/2006/main">
            <a:r>
              <a:t>関西スーパーマーケットIR https://www.kansaisuper.co.jp/wp-content/uploads/2021/12/irinfo_536.pdf</a:t>
            </a:r>
          </a:p>
          <a:p xmlns:a="http://schemas.openxmlformats.org/drawingml/2006/main">
            <a:r>
              <a:t>箕面デニッシュ合同会社 https://info.gbiz.go.jp/hojin/ichiran?hojinBango=5120903005558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のスマートフォンヘッドマウントから、3Dモデルをゼロから設計した帽子型、スマートグラスへ進化させました。ベーカリーで試すと『これならつけてもいい』という反応が増え、軽さや見た目の違和感が現場の許可を想定以上に左右すると分かりました。</a:t>
            </a:r>
          </a:p>
          <a:p xmlns:a="http://schemas.openxmlformats.org/drawingml/2006/main">
            <a:r>
              <a:t/>
            </a:r>
          </a:p>
          <a:p xmlns:a="http://schemas.openxmlformats.org/drawingml/2006/main">
            <a:r>
              <a:t>専用の軽量撮影デバイスを試験的に購入し、負担の少ない形状で熱とバッテリーの問題を解決する撮影デバイスの開発も始めています。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販売単価は1,600円/hを下限とし、売上の50%を現場へ還元します。この試算は同一データを平均1回だけ販売する悲観シナリオです。複数のバイヤーへの販売は含めず、デバイス償却後は1時間あたり約727円です。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は同一データを平均1回だけ販売する悲観シナリオです。月10,000時間を1年間続けると、12万時間のデータ資産が残ります。同一データを平均2回販売できれば月間の会社取り分は1,600万円、3回なら2,400万円です。</a:t>
            </a:r>
          </a:p>
          <a:p xmlns:a="http://schemas.openxmlformats.org/drawingml/2006/main">
            <a:r>
              <a:t/>
            </a:r>
          </a:p>
          <a:p xmlns:a="http://schemas.openxmlformats.org/drawingml/2006/main">
            <a:r>
              <a:t>データは在庫として積み上がり、過去に収集した分も売り続けられます。月ごとの売上だけでなく、累積データ資産の価値がこの事業の重要な性質です。</a:t>
            </a:r>
          </a:p>
          <a:p xmlns:a="http://schemas.openxmlformats.org/drawingml/2006/main">
            <a:r>
              <a:t/>
            </a:r>
          </a:p>
          <a:p xmlns:a="http://schemas.openxmlformats.org/drawingml/2006/main">
            <a:r>
              <a:t>原本のVC向け試算では、月10,000時間時に現場開拓・運用を4〜6人、人件費を月150〜250万円程度と置くと、営業利益は年6,000万円前後です。ここは実際の獲得サイクルと現場運用を通じて検証します。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バイス費以外には、ストレージ、現場運用の人件費、破損・紛失、法務のコストがあります。本命は現場開拓と維持の人件費です。飛び込み営業、契約、配布・回収、スタッフへの説明、トラブル対応、データチェックが、収集時間に対してどこまでリニアに増えるかがユニットエコノミクスの分岐点になります。</a:t>
            </a:r>
          </a:p>
          <a:p xmlns:a="http://schemas.openxmlformats.org/drawingml/2006/main">
            <a:r>
              <a:t/>
            </a:r>
          </a:p>
          <a:p xmlns:a="http://schemas.openxmlformats.org/drawingml/2006/main">
            <a:r>
              <a:t>川島さんのベーカリーでは、一度契約した現場が継続的にデータを出し続けるかを、収集時間の推移から検証しています。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月10,000時間へ拡大する際のボトルネックは、現場開拓、現場運用、買い手側の受け入れ規模です。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2026年Q4は、10月に500時間、12月に1,000時間を目標とし、現場運用と販売先の条件を確認します。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2027年は撮影先とデバイスを拡大します。Q1は宿泊・リフォーム・清掃とデバイスの意匠・特許、Q2は介護・医療とプライバシー性の高いデータの活用、Q3は国内の垂直統合型ロボティクス企業や政府プロジェクトへの打診、Q4は国内大学とAIモデル開発・Real2Simの研究開発へ進む流れ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2028年前半は、ロボット企業と実証実験を行える現場を繋ぎ、大学との研究にも現場を提供します。後半は、蓄積したデータと経験からロボットを導入しやすい業種と現場を絞り、既存ロボットを実際に導入します。この段階では自社でロボットを開発するのではなく、現場の作業に合わせた導入と運用調整から始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クション3で述べた第2段階への移行です。2028年に始めた既存ロボットの現場導入を広げながら、現場で得た作業データをロボットの動作モデル改善へ使います。実機についても、現場で見つかった課題を設計と改良へ戻します。2029年からは、導入と運用調整だけでなく、動作モデルと実機の開発も自社の事業へ加える構想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d365e4007804d3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56b0679a2a46cf" /><Relationship Type="http://schemas.openxmlformats.org/officeDocument/2006/relationships/slideLayout" Target="/ppt/slideLayouts/slideLayout1.xml" Id="R8b6e8d7f99d94dc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6e8d7f99d94dc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d2d6a31d69347b8" /><Relationship Type="http://schemas.openxmlformats.org/officeDocument/2006/relationships/notesSlide" Target="/ppt/notesSlides/notesSlide1.xml" Id="R91860e1421b04b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a8db67cb20d4713" /><Relationship Type="http://schemas.openxmlformats.org/officeDocument/2006/relationships/notesSlide" Target="/ppt/notesSlides/notesSlide2.xml" Id="R8a17123dbaac41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0a9f75e55e74a5d" /><Relationship Type="http://schemas.openxmlformats.org/officeDocument/2006/relationships/notesSlide" Target="/ppt/notesSlides/notesSlide3.xml" Id="Radb86486fffc41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a7ecfc89f244ed4" /><Relationship Type="http://schemas.openxmlformats.org/officeDocument/2006/relationships/notesSlide" Target="/ppt/notesSlides/notesSlide4.xml" Id="R36d37ee9fe8c42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fc7aa842ac54ffb" /><Relationship Type="http://schemas.openxmlformats.org/officeDocument/2006/relationships/notesSlide" Target="/ppt/notesSlides/notesSlide5.xml" Id="R1c6479ea405d4e4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486216a8ee24c6a" /><Relationship Type="http://schemas.openxmlformats.org/officeDocument/2006/relationships/notesSlide" Target="/ppt/notesSlides/notesSlide6.xml" Id="R152ed92a223649c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eaf277c97e549ac" /><Relationship Type="http://schemas.openxmlformats.org/officeDocument/2006/relationships/notesSlide" Target="/ppt/notesSlides/notesSlide7.xml" Id="Rdaa66deb33a9477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3f4a1e45a764106" /><Relationship Type="http://schemas.openxmlformats.org/officeDocument/2006/relationships/notesSlide" Target="/ppt/notesSlides/notesSlide8.xml" Id="R8e182349c8a0490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ceb3804fe83468a" /><Relationship Type="http://schemas.openxmlformats.org/officeDocument/2006/relationships/notesSlide" Target="/ppt/notesSlides/notesSlide9.xml" Id="R9108cab8860240a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1cf3c35bba34195" /><Relationship Type="http://schemas.openxmlformats.org/officeDocument/2006/relationships/notesSlide" Target="/ppt/notesSlides/notesSlide10.xml" Id="R7353c44caf0341a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ef41a44c8e64678" /><Relationship Type="http://schemas.openxmlformats.org/officeDocument/2006/relationships/notesSlide" Target="/ppt/notesSlides/notesSlide11.xml" Id="R0fc53cad9e7347b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b4d4c945021422d" /><Relationship Type="http://schemas.openxmlformats.org/officeDocument/2006/relationships/notesSlide" Target="/ppt/notesSlides/notesSlide12.xml" Id="R532b27ff41dd460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9d6085c686c4aff" /><Relationship Type="http://schemas.openxmlformats.org/officeDocument/2006/relationships/notesSlide" Target="/ppt/notesSlides/notesSlide13.xml" Id="R0ec32023407b408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39ac5c2e39d404c" /><Relationship Type="http://schemas.openxmlformats.org/officeDocument/2006/relationships/notesSlide" Target="/ppt/notesSlides/notesSlide14.xml" Id="R974ce83ef10d464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3bd73c84228457c" /><Relationship Type="http://schemas.openxmlformats.org/officeDocument/2006/relationships/notesSlide" Target="/ppt/notesSlides/notesSlide15.xml" Id="Rad0da2bcf5c2455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656122082ea4a29" /><Relationship Type="http://schemas.openxmlformats.org/officeDocument/2006/relationships/notesSlide" Target="/ppt/notesSlides/notesSlide16.xml" Id="R5671d2a5ac7d45e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3f4cebb24224a9c" /><Relationship Type="http://schemas.openxmlformats.org/officeDocument/2006/relationships/image" Target="/ppt/media/image.jpeg" Id="Ref7e4b0184224233" /><Relationship Type="http://schemas.openxmlformats.org/officeDocument/2006/relationships/image" Target="/ppt/media/image2.jpeg" Id="Ra7adefcf994645dc" /><Relationship Type="http://schemas.openxmlformats.org/officeDocument/2006/relationships/image" Target="/ppt/media/image3.jpeg" Id="R53a51298be3f4f83" /><Relationship Type="http://schemas.openxmlformats.org/officeDocument/2006/relationships/notesSlide" Target="/ppt/notesSlides/notesSlide17.xml" Id="Re7fb5acd240549a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301c58a8fa84235" /><Relationship Type="http://schemas.openxmlformats.org/officeDocument/2006/relationships/notesSlide" Target="/ppt/notesSlides/notesSlide18.xml" Id="R08aa1ffb9e1b447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3d0a860a48444aa" /><Relationship Type="http://schemas.openxmlformats.org/officeDocument/2006/relationships/notesSlide" Target="/ppt/notesSlides/notesSlide19.xml" Id="R978963708dc14cc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f6c93f4fcc049b2" /><Relationship Type="http://schemas.openxmlformats.org/officeDocument/2006/relationships/notesSlide" Target="/ppt/notesSlides/notesSlide20.xml" Id="R98113d57e394413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41347daa9d644dd" /><Relationship Type="http://schemas.openxmlformats.org/officeDocument/2006/relationships/notesSlide" Target="/ppt/notesSlides/notesSlide21.xml" Id="R8617fdbc8eb74b8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e26f5c8e12c4c99" /><Relationship Type="http://schemas.openxmlformats.org/officeDocument/2006/relationships/notesSlide" Target="/ppt/notesSlides/notesSlide22.xml" Id="R8536cd87bcbf46f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d291bb1000f4671" /><Relationship Type="http://schemas.openxmlformats.org/officeDocument/2006/relationships/notesSlide" Target="/ppt/notesSlides/notesSlide23.xml" Id="R066d453d9da44ce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24906d2b2d74bdb" /><Relationship Type="http://schemas.openxmlformats.org/officeDocument/2006/relationships/notesSlide" Target="/ppt/notesSlides/notesSlide24.xml" Id="Ref9e40137ec0497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2db7a4703e940f1" /><Relationship Type="http://schemas.openxmlformats.org/officeDocument/2006/relationships/notesSlide" Target="/ppt/notesSlides/notesSlide25.xml" Id="R72f79077377a4e82"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39CD09C-EE05-42AD-A40E-3828816B3C6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546A802-8A72-4A8B-929E-778D0409B40B}"/>
              </a:ext>
            </a:extLst>
          </p:cNvPr>
          <p:cNvSpPr>
            <a:spLocks xmlns:a="http://schemas.openxmlformats.org/drawingml/2006/main" noGrp="1"/>
          </p:cNvSpPr>
          <p:nvPr/>
        </p:nvSpPr>
        <p:spPr>
          <a:xfrm xmlns:a="http://schemas.openxmlformats.org/drawingml/2006/main" rot="0">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CD9D063B-6084-4ADD-9965-2E72C17A430F}"/>
              </a:ext>
            </a:extLst>
          </p:cNvPr>
          <p:cNvSpPr>
            <a:spLocks xmlns:a="http://schemas.openxmlformats.org/drawingml/2006/main" noGrp="1"/>
          </p:cNvSpPr>
          <p:nvPr/>
        </p:nvSpPr>
        <p:spPr>
          <a:xfrm xmlns:a="http://schemas.openxmlformats.org/drawingml/2006/main" rot="0">
            <a:off x="666750" y="2543175"/>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現場データ収集から始める</a:t>
            </a:r>
          </a:p>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フィジカルAIプレーヤー</a:t>
            </a:r>
          </a:p>
        </p:txBody>
      </p:sp>
      <p:sp>
        <p:nvSpPr>
          <p:cNvPr id="4" name="">
            <a:extLst xmlns:a="http://schemas.openxmlformats.org/drawingml/2006/main">
              <a:ext uri="{FF2B5EF4-FFF2-40B4-BE49-F238E27FC236}">
                <a16:creationId xmlns:a16="http://schemas.microsoft.com/office/drawing/2014/main" id="{67FDF088-FEB1-429C-AB44-FA249CD0C655}"/>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1039E03-AFC5-4CEA-870C-E03C8B15C3FA}"/>
              </a:ext>
            </a:extLst>
          </p:cNvPr>
          <p:cNvSpPr>
            <a:spLocks xmlns:a="http://schemas.openxmlformats.org/drawingml/2006/main" noGrp="1"/>
          </p:cNvSpPr>
          <p:nvPr/>
        </p:nvSpPr>
        <p:spPr>
          <a:xfrm xmlns:a="http://schemas.openxmlformats.org/drawingml/2006/main" rot="0">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6BB20338-C970-4868-B330-3C8DD49080AC}"/>
              </a:ext>
            </a:extLst>
          </p:cNvPr>
          <p:cNvSpPr>
            <a:spLocks xmlns:a="http://schemas.openxmlformats.org/drawingml/2006/main" noGrp="1"/>
          </p:cNvSpPr>
          <p:nvPr/>
        </p:nvSpPr>
        <p:spPr>
          <a:xfrm xmlns:a="http://schemas.openxmlformats.org/drawingml/2006/main" rot="0">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1230253283"/>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553F3262-CD85-411B-AD96-14DE9CE9195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39EF6A-E78C-4795-873E-7BF84BB33B6F}"/>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378C0A12-B118-4BC5-A868-6F8158FF642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AAE799B-CC90-44B6-A5AB-E21FA8E0E6B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0917E73B-D03D-4BEA-ADB4-EA15708AF9DF}"/>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1C12ED04-EF84-4B1F-A7D6-E05163F5D9D9}"/>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E2770D9-B4FA-45A8-8164-C6AA52F1E062}"/>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F983136-7BA1-4638-A7A9-2517BFA90A8E}"/>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9A72399-D448-4A19-943B-84B9BD9B9577}"/>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D69AF4D1-BB8D-4AE3-9E5C-683C15D81C13}"/>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73742046-3DBD-441C-A6A0-42A76B3E6747}"/>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A20BB17B-C7BA-4FCC-A800-2EFC865CC90E}"/>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A4B8C9C6-5087-4FEE-94E4-455242D20FF8}"/>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47DC60C6-C6EB-4B52-A800-63036A077028}"/>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86E5642C-46E6-422E-98A2-D50D8F8F44DC}"/>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5EA517DC-3FDF-4509-A845-6D621BB9F4C2}"/>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4202A09E-2AB2-4F8A-BB34-C842E565ABE9}"/>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B1AE609-9496-47BF-BEB1-286DE3F830D8}"/>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4E84AF4-D353-4054-8C6B-F0104B26DAFC}"/>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CFA99F2-233E-4855-9E6E-A4D5EBDAFA1E}"/>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3350F4DF-DA14-44E9-842F-2C80A95B7227}"/>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6AA56B9F-6C4E-4FD5-AEBD-5E9F2301401B}"/>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7582118-6121-43F2-ADA0-4C7345F47DD3}"/>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69731B28-BCCB-4191-A43D-8DE0D4C1DB2E}"/>
              </a:ext>
            </a:extLst>
          </p:cNvPr>
          <p:cNvSpPr>
            <a:spLocks xmlns:a="http://schemas.openxmlformats.org/drawingml/2006/main" noGrp="1"/>
          </p:cNvSpPr>
          <p:nvPr/>
        </p:nvSpPr>
        <p:spPr>
          <a:xfrm xmlns:a="http://schemas.openxmlformats.org/drawingml/2006/main">
            <a:off x="2990850" y="23050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11BBF088-D686-4CFE-BED5-C57CBA7FB830}"/>
              </a:ext>
            </a:extLst>
          </p:cNvPr>
          <p:cNvSpPr>
            <a:spLocks xmlns:a="http://schemas.openxmlformats.org/drawingml/2006/main" noGrp="1"/>
          </p:cNvSpPr>
          <p:nvPr/>
        </p:nvSpPr>
        <p:spPr>
          <a:xfrm xmlns:a="http://schemas.openxmlformats.org/drawingml/2006/main" rot="0">
            <a:off x="5248275" y="2371725"/>
            <a:ext cx="5153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水平統合型　　一つのレイヤーで、多数の現場を占める</a:t>
            </a:r>
          </a:p>
        </p:txBody>
      </p:sp>
      <p:sp>
        <p:nvSpPr>
          <p:cNvPr id="26" name="">
            <a:extLst xmlns:a="http://schemas.openxmlformats.org/drawingml/2006/main">
              <a:ext uri="{FF2B5EF4-FFF2-40B4-BE49-F238E27FC236}">
                <a16:creationId xmlns:a16="http://schemas.microsoft.com/office/drawing/2014/main" id="{969521DD-EEC4-4F44-9C04-73717B22C809}"/>
              </a:ext>
            </a:extLst>
          </p:cNvPr>
          <p:cNvSpPr>
            <a:spLocks xmlns:a="http://schemas.openxmlformats.org/drawingml/2006/main" noGrp="1"/>
          </p:cNvSpPr>
          <p:nvPr/>
        </p:nvSpPr>
        <p:spPr>
          <a:xfrm xmlns:a="http://schemas.openxmlformats.org/drawingml/2006/main" rot="0">
            <a:off x="5248275" y="2600325"/>
            <a:ext cx="51530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DeepReach / BuildAI</a:t>
            </a:r>
          </a:p>
        </p:txBody>
      </p:sp>
      <p:sp>
        <p:nvSpPr>
          <p:cNvPr id="27" name="">
            <a:extLst xmlns:a="http://schemas.openxmlformats.org/drawingml/2006/main">
              <a:ext uri="{FF2B5EF4-FFF2-40B4-BE49-F238E27FC236}">
                <a16:creationId xmlns:a16="http://schemas.microsoft.com/office/drawing/2014/main" id="{77A978A1-612C-4E51-A0CB-5994F4661ED9}"/>
              </a:ext>
            </a:extLst>
          </p:cNvPr>
          <p:cNvSpPr>
            <a:spLocks xmlns:a="http://schemas.openxmlformats.org/drawingml/2006/main" noGrp="1"/>
          </p:cNvSpPr>
          <p:nvPr/>
        </p:nvSpPr>
        <p:spPr>
          <a:xfrm xmlns:a="http://schemas.openxmlformats.org/drawingml/2006/main">
            <a:off x="2990850" y="29908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8" name="">
            <a:extLst xmlns:a="http://schemas.openxmlformats.org/drawingml/2006/main">
              <a:ext uri="{FF2B5EF4-FFF2-40B4-BE49-F238E27FC236}">
                <a16:creationId xmlns:a16="http://schemas.microsoft.com/office/drawing/2014/main" id="{BCABCA94-CA46-435E-8396-BEA33053AF9D}"/>
              </a:ext>
            </a:extLst>
          </p:cNvPr>
          <p:cNvSpPr>
            <a:spLocks xmlns:a="http://schemas.openxmlformats.org/drawingml/2006/main" noGrp="1"/>
          </p:cNvSpPr>
          <p:nvPr/>
        </p:nvSpPr>
        <p:spPr>
          <a:xfrm xmlns:a="http://schemas.openxmlformats.org/drawingml/2006/main" rot="0">
            <a:off x="5248275" y="31432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29" name="">
            <a:extLst xmlns:a="http://schemas.openxmlformats.org/drawingml/2006/main">
              <a:ext uri="{FF2B5EF4-FFF2-40B4-BE49-F238E27FC236}">
                <a16:creationId xmlns:a16="http://schemas.microsoft.com/office/drawing/2014/main" id="{8F6AD269-CFB2-4CB7-9FAB-7A14F4B7445C}"/>
              </a:ext>
            </a:extLst>
          </p:cNvPr>
          <p:cNvSpPr>
            <a:spLocks xmlns:a="http://schemas.openxmlformats.org/drawingml/2006/main" noGrp="1"/>
          </p:cNvSpPr>
          <p:nvPr/>
        </p:nvSpPr>
        <p:spPr>
          <a:xfrm xmlns:a="http://schemas.openxmlformats.org/drawingml/2006/main">
            <a:off x="2990850" y="36766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C7C87451-ADA2-47CC-8508-4F7F551BECA3}"/>
              </a:ext>
            </a:extLst>
          </p:cNvPr>
          <p:cNvSpPr>
            <a:spLocks xmlns:a="http://schemas.openxmlformats.org/drawingml/2006/main" noGrp="1"/>
          </p:cNvSpPr>
          <p:nvPr/>
        </p:nvSpPr>
        <p:spPr>
          <a:xfrm xmlns:a="http://schemas.openxmlformats.org/drawingml/2006/main" rot="0">
            <a:off x="5248275" y="38290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31" name="">
            <a:extLst xmlns:a="http://schemas.openxmlformats.org/drawingml/2006/main">
              <a:ext uri="{FF2B5EF4-FFF2-40B4-BE49-F238E27FC236}">
                <a16:creationId xmlns:a16="http://schemas.microsoft.com/office/drawing/2014/main" id="{0BACB660-4B62-46B2-938B-A7C5487D6B74}"/>
              </a:ext>
            </a:extLst>
          </p:cNvPr>
          <p:cNvSpPr>
            <a:spLocks xmlns:a="http://schemas.openxmlformats.org/drawingml/2006/main" noGrp="1"/>
          </p:cNvSpPr>
          <p:nvPr/>
        </p:nvSpPr>
        <p:spPr>
          <a:xfrm xmlns:a="http://schemas.openxmlformats.org/drawingml/2006/main">
            <a:off x="2990850" y="43624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2" name="">
            <a:extLst xmlns:a="http://schemas.openxmlformats.org/drawingml/2006/main">
              <a:ext uri="{FF2B5EF4-FFF2-40B4-BE49-F238E27FC236}">
                <a16:creationId xmlns:a16="http://schemas.microsoft.com/office/drawing/2014/main" id="{4A9C4D8C-B5F6-41C8-9840-4E7B20A9F27B}"/>
              </a:ext>
            </a:extLst>
          </p:cNvPr>
          <p:cNvSpPr>
            <a:spLocks xmlns:a="http://schemas.openxmlformats.org/drawingml/2006/main" noGrp="1"/>
          </p:cNvSpPr>
          <p:nvPr/>
        </p:nvSpPr>
        <p:spPr>
          <a:xfrm xmlns:a="http://schemas.openxmlformats.org/drawingml/2006/main" rot="0">
            <a:off x="5248275" y="45148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
        <p:nvSpPr>
          <p:cNvPr id="33" name="">
            <a:extLst xmlns:a="http://schemas.openxmlformats.org/drawingml/2006/main">
              <a:ext uri="{FF2B5EF4-FFF2-40B4-BE49-F238E27FC236}">
                <a16:creationId xmlns:a16="http://schemas.microsoft.com/office/drawing/2014/main" id="{CDD9843E-15FD-4F17-86BD-169A9F40C03E}"/>
              </a:ext>
            </a:extLst>
          </p:cNvPr>
          <p:cNvSpPr>
            <a:spLocks xmlns:a="http://schemas.openxmlformats.org/drawingml/2006/main" noGrp="1"/>
          </p:cNvSpPr>
          <p:nvPr/>
        </p:nvSpPr>
        <p:spPr>
          <a:xfrm xmlns:a="http://schemas.openxmlformats.org/drawingml/2006/main">
            <a:off x="2990850" y="2305050"/>
            <a:ext cx="2047875" cy="26098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4" name="">
            <a:extLst xmlns:a="http://schemas.openxmlformats.org/drawingml/2006/main">
              <a:ext uri="{FF2B5EF4-FFF2-40B4-BE49-F238E27FC236}">
                <a16:creationId xmlns:a16="http://schemas.microsoft.com/office/drawing/2014/main" id="{5FD6D0F8-3DA5-42A1-8EAA-A2CA76E5B627}"/>
              </a:ext>
            </a:extLst>
          </p:cNvPr>
          <p:cNvSpPr>
            <a:spLocks xmlns:a="http://schemas.openxmlformats.org/drawingml/2006/main" noGrp="1"/>
          </p:cNvSpPr>
          <p:nvPr/>
        </p:nvSpPr>
        <p:spPr>
          <a:xfrm xmlns:a="http://schemas.openxmlformats.org/drawingml/2006/main" rot="0">
            <a:off x="3162300" y="2571750"/>
            <a:ext cx="1704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35" name="">
            <a:extLst xmlns:a="http://schemas.openxmlformats.org/drawingml/2006/main">
              <a:ext uri="{FF2B5EF4-FFF2-40B4-BE49-F238E27FC236}">
                <a16:creationId xmlns:a16="http://schemas.microsoft.com/office/drawing/2014/main" id="{8C7CB86B-AF9E-4687-A9D8-F44391C0BF4A}"/>
              </a:ext>
            </a:extLst>
          </p:cNvPr>
          <p:cNvSpPr>
            <a:spLocks xmlns:a="http://schemas.openxmlformats.org/drawingml/2006/main" noGrp="1"/>
          </p:cNvSpPr>
          <p:nvPr/>
        </p:nvSpPr>
        <p:spPr>
          <a:xfrm xmlns:a="http://schemas.openxmlformats.org/drawingml/2006/main" rot="0">
            <a:off x="3162300" y="3133725"/>
            <a:ext cx="1704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特定の現場を</a:t>
            </a:r>
          </a:p>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複数レイヤーで担う</a:t>
            </a:r>
          </a:p>
        </p:txBody>
      </p:sp>
      <p:sp>
        <p:nvSpPr>
          <p:cNvPr id="36" name="">
            <a:extLst xmlns:a="http://schemas.openxmlformats.org/drawingml/2006/main">
              <a:ext uri="{FF2B5EF4-FFF2-40B4-BE49-F238E27FC236}">
                <a16:creationId xmlns:a16="http://schemas.microsoft.com/office/drawing/2014/main" id="{8B93EFA3-EFAC-47E0-922C-5E7EADD933EA}"/>
              </a:ext>
            </a:extLst>
          </p:cNvPr>
          <p:cNvSpPr>
            <a:spLocks xmlns:a="http://schemas.openxmlformats.org/drawingml/2006/main" noGrp="1"/>
          </p:cNvSpPr>
          <p:nvPr/>
        </p:nvSpPr>
        <p:spPr>
          <a:xfrm xmlns:a="http://schemas.openxmlformats.org/drawingml/2006/main" rot="0">
            <a:off x="3162300" y="4067175"/>
            <a:ext cx="1704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1X</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Sunday Robotics</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ATOM</a:t>
            </a:r>
          </a:p>
        </p:txBody>
      </p:sp>
    </p:spTree>
    <p:extLst>
      <p:ext uri="{BB962C8B-B14F-4D97-AF65-F5344CB8AC3E}">
        <p14:creationId xmlns:p14="http://schemas.microsoft.com/office/powerpoint/2010/main" val="1025526818"/>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BD781BF-71C9-47EE-A619-57C7EA1AF80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9131D91-D7F6-49E7-AF0E-7709EE900D65}"/>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垂直統合型と水平統合型</a:t>
            </a:r>
          </a:p>
        </p:txBody>
      </p:sp>
      <p:sp>
        <p:nvSpPr>
          <p:cNvPr id="3" name="">
            <a:extLst xmlns:a="http://schemas.openxmlformats.org/drawingml/2006/main">
              <a:ext uri="{FF2B5EF4-FFF2-40B4-BE49-F238E27FC236}">
                <a16:creationId xmlns:a16="http://schemas.microsoft.com/office/drawing/2014/main" id="{E816CF34-88CC-41E8-A8EC-0B7D9B33F08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326FABA-BC1B-4993-AEFA-AF5F820B230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67F87FE2-6D6F-45A4-8E95-FC8B5B94C818}"/>
              </a:ext>
            </a:extLst>
          </p:cNvPr>
          <p:cNvSpPr>
            <a:spLocks xmlns:a="http://schemas.openxmlformats.org/drawingml/2006/main" noGrp="1"/>
          </p:cNvSpPr>
          <p:nvPr/>
        </p:nvSpPr>
        <p:spPr>
          <a:xfrm xmlns:a="http://schemas.openxmlformats.org/drawingml/2006/main" rot="0">
            <a:off x="7239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25E1CFB6-60A9-4F5C-878B-AEDFA58F30A0}"/>
              </a:ext>
            </a:extLst>
          </p:cNvPr>
          <p:cNvSpPr>
            <a:spLocks xmlns:a="http://schemas.openxmlformats.org/drawingml/2006/main" noGrp="1"/>
          </p:cNvSpPr>
          <p:nvPr/>
        </p:nvSpPr>
        <p:spPr>
          <a:xfrm xmlns:a="http://schemas.openxmlformats.org/drawingml/2006/main" rot="0">
            <a:off x="723900" y="2381250"/>
            <a:ext cx="4762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特定の業種・タスクに絞り、決め打ちで</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現場で実際に動くロボットを作る。</a:t>
            </a:r>
          </a:p>
          <a:p xmlns:a="http://schemas.openxmlformats.org/drawingml/2006/main">
            <a:r>
              <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完全な自律運用が難しい場合は、遠隔操作で働くレベルから商用化する企業もあれば、自律運用の幅を地道に広げる企業もある。</a:t>
            </a:r>
          </a:p>
        </p:txBody>
      </p:sp>
      <p:sp>
        <p:nvSpPr>
          <p:cNvPr id="7" name="">
            <a:extLst xmlns:a="http://schemas.openxmlformats.org/drawingml/2006/main">
              <a:ext uri="{FF2B5EF4-FFF2-40B4-BE49-F238E27FC236}">
                <a16:creationId xmlns:a16="http://schemas.microsoft.com/office/drawing/2014/main" id="{65ABA069-BFF6-416F-A23C-FD4F9B6183B7}"/>
              </a:ext>
            </a:extLst>
          </p:cNvPr>
          <p:cNvSpPr>
            <a:spLocks xmlns:a="http://schemas.openxmlformats.org/drawingml/2006/main" noGrp="1"/>
          </p:cNvSpPr>
          <p:nvPr/>
        </p:nvSpPr>
        <p:spPr>
          <a:xfrm xmlns:a="http://schemas.openxmlformats.org/drawingml/2006/main" rot="0">
            <a:off x="723900" y="46672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代表例</a:t>
            </a:r>
          </a:p>
        </p:txBody>
      </p:sp>
      <p:sp>
        <p:nvSpPr>
          <p:cNvPr id="8" name="">
            <a:extLst xmlns:a="http://schemas.openxmlformats.org/drawingml/2006/main">
              <a:ext uri="{FF2B5EF4-FFF2-40B4-BE49-F238E27FC236}">
                <a16:creationId xmlns:a16="http://schemas.microsoft.com/office/drawing/2014/main" id="{42617B2E-E76D-4B5E-B5D9-5EEA50D583D6}"/>
              </a:ext>
            </a:extLst>
          </p:cNvPr>
          <p:cNvSpPr>
            <a:spLocks xmlns:a="http://schemas.openxmlformats.org/drawingml/2006/main" noGrp="1"/>
          </p:cNvSpPr>
          <p:nvPr/>
        </p:nvSpPr>
        <p:spPr>
          <a:xfrm xmlns:a="http://schemas.openxmlformats.org/drawingml/2006/main" rot="0">
            <a:off x="723900" y="50006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1X / Sunday Robotics</a:t>
            </a:r>
          </a:p>
        </p:txBody>
      </p:sp>
      <p:sp>
        <p:nvSpPr>
          <p:cNvPr id="9" name="">
            <a:extLst xmlns:a="http://schemas.openxmlformats.org/drawingml/2006/main">
              <a:ext uri="{FF2B5EF4-FFF2-40B4-BE49-F238E27FC236}">
                <a16:creationId xmlns:a16="http://schemas.microsoft.com/office/drawing/2014/main" id="{2E66480D-78D9-4D8D-B76A-7DCD0ACDD988}"/>
              </a:ext>
            </a:extLst>
          </p:cNvPr>
          <p:cNvSpPr>
            <a:spLocks xmlns:a="http://schemas.openxmlformats.org/drawingml/2006/main" noGrp="1"/>
          </p:cNvSpPr>
          <p:nvPr/>
        </p:nvSpPr>
        <p:spPr>
          <a:xfrm xmlns:a="http://schemas.openxmlformats.org/drawingml/2006/main">
            <a:off x="5972175" y="1952625"/>
            <a:ext cx="9525" cy="38576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3ED3341-5DAD-4C09-A8D1-0641D4FDA99B}"/>
              </a:ext>
            </a:extLst>
          </p:cNvPr>
          <p:cNvSpPr>
            <a:spLocks xmlns:a="http://schemas.openxmlformats.org/drawingml/2006/main" noGrp="1"/>
          </p:cNvSpPr>
          <p:nvPr/>
        </p:nvSpPr>
        <p:spPr>
          <a:xfrm xmlns:a="http://schemas.openxmlformats.org/drawingml/2006/main" rot="0">
            <a:off x="64770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水平統合型</a:t>
            </a:r>
          </a:p>
        </p:txBody>
      </p:sp>
      <p:sp>
        <p:nvSpPr>
          <p:cNvPr id="11" name="">
            <a:extLst xmlns:a="http://schemas.openxmlformats.org/drawingml/2006/main">
              <a:ext uri="{FF2B5EF4-FFF2-40B4-BE49-F238E27FC236}">
                <a16:creationId xmlns:a16="http://schemas.microsoft.com/office/drawing/2014/main" id="{9470F429-E491-4A87-BC73-32E15101A553}"/>
              </a:ext>
            </a:extLst>
          </p:cNvPr>
          <p:cNvSpPr>
            <a:spLocks xmlns:a="http://schemas.openxmlformats.org/drawingml/2006/main" noGrp="1"/>
          </p:cNvSpPr>
          <p:nvPr/>
        </p:nvSpPr>
        <p:spPr>
          <a:xfrm xmlns:a="http://schemas.openxmlformats.org/drawingml/2006/main" rot="0">
            <a:off x="6477000" y="2381250"/>
            <a:ext cx="4667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垂直統合型のバリューチェーンを分解するイメージであり、現在多くのレイヤーが存在する。データ収集・加工、基盤モデル・シミュレーション、ハードウェア、現場統合が、それぞれ独立した事業として広がっている。</a:t>
            </a:r>
          </a:p>
        </p:txBody>
      </p:sp>
      <p:sp>
        <p:nvSpPr>
          <p:cNvPr id="12" name="">
            <a:extLst xmlns:a="http://schemas.openxmlformats.org/drawingml/2006/main">
              <a:ext uri="{FF2B5EF4-FFF2-40B4-BE49-F238E27FC236}">
                <a16:creationId xmlns:a16="http://schemas.microsoft.com/office/drawing/2014/main" id="{145C8F4B-475E-43B2-8D03-D88ECD7B51E6}"/>
              </a:ext>
            </a:extLst>
          </p:cNvPr>
          <p:cNvSpPr>
            <a:spLocks xmlns:a="http://schemas.openxmlformats.org/drawingml/2006/main" noGrp="1"/>
          </p:cNvSpPr>
          <p:nvPr/>
        </p:nvSpPr>
        <p:spPr>
          <a:xfrm xmlns:a="http://schemas.openxmlformats.org/drawingml/2006/main" rot="0">
            <a:off x="6477000" y="44767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871121550"/>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8B4CD9E-8A1F-4462-8AEF-B52683C4C4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874A47-45E6-49E1-86E2-44B9387A78AF}"/>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水平統合型に存在するレイヤー</a:t>
            </a:r>
          </a:p>
        </p:txBody>
      </p:sp>
      <p:sp>
        <p:nvSpPr>
          <p:cNvPr id="3" name="">
            <a:extLst xmlns:a="http://schemas.openxmlformats.org/drawingml/2006/main">
              <a:ext uri="{FF2B5EF4-FFF2-40B4-BE49-F238E27FC236}">
                <a16:creationId xmlns:a16="http://schemas.microsoft.com/office/drawing/2014/main" id="{96740086-7CD6-4B87-9432-A6EA7DFFA88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2549B06-B61F-4312-8912-1D4D0BE3AC0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4489AF96-B194-470F-80D8-585363A20177}"/>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データ収集層</a:t>
            </a:r>
          </a:p>
        </p:txBody>
      </p:sp>
      <p:sp>
        <p:nvSpPr>
          <p:cNvPr id="6" name="">
            <a:extLst xmlns:a="http://schemas.openxmlformats.org/drawingml/2006/main">
              <a:ext uri="{FF2B5EF4-FFF2-40B4-BE49-F238E27FC236}">
                <a16:creationId xmlns:a16="http://schemas.microsoft.com/office/drawing/2014/main" id="{27D6FC47-94AA-45D0-B562-79B7D966497E}"/>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人間の作業データ、テレオペレーション、合成データ、生データの加工。さらに上流では、収集に特化したデバイス開発も広がりはじめている。</a:t>
            </a:r>
          </a:p>
        </p:txBody>
      </p:sp>
      <p:sp>
        <p:nvSpPr>
          <p:cNvPr id="7" name="">
            <a:extLst xmlns:a="http://schemas.openxmlformats.org/drawingml/2006/main">
              <a:ext uri="{FF2B5EF4-FFF2-40B4-BE49-F238E27FC236}">
                <a16:creationId xmlns:a16="http://schemas.microsoft.com/office/drawing/2014/main" id="{4AA5B34E-5F94-41AF-9332-BC4EFB87AACC}"/>
              </a:ext>
            </a:extLst>
          </p:cNvPr>
          <p:cNvSpPr>
            <a:spLocks xmlns:a="http://schemas.openxmlformats.org/drawingml/2006/main" noGrp="1"/>
          </p:cNvSpPr>
          <p:nvPr/>
        </p:nvSpPr>
        <p:spPr>
          <a:xfrm xmlns:a="http://schemas.openxmlformats.org/drawingml/2006/main">
            <a:off x="723900" y="2743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45EB152-0932-48A5-A045-24566F3D0758}"/>
              </a:ext>
            </a:extLst>
          </p:cNvPr>
          <p:cNvSpPr>
            <a:spLocks xmlns:a="http://schemas.openxmlformats.org/drawingml/2006/main" noGrp="1"/>
          </p:cNvSpPr>
          <p:nvPr/>
        </p:nvSpPr>
        <p:spPr>
          <a:xfrm xmlns:a="http://schemas.openxmlformats.org/drawingml/2006/main" rot="0">
            <a:off x="723900" y="2857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基盤モデル・シミュレーション</a:t>
            </a:r>
          </a:p>
        </p:txBody>
      </p:sp>
      <p:sp>
        <p:nvSpPr>
          <p:cNvPr id="9" name="">
            <a:extLst xmlns:a="http://schemas.openxmlformats.org/drawingml/2006/main">
              <a:ext uri="{FF2B5EF4-FFF2-40B4-BE49-F238E27FC236}">
                <a16:creationId xmlns:a16="http://schemas.microsoft.com/office/drawing/2014/main" id="{56438ECF-83A0-4E4B-B76D-3AD3A1EAB26C}"/>
              </a:ext>
            </a:extLst>
          </p:cNvPr>
          <p:cNvSpPr>
            <a:spLocks xmlns:a="http://schemas.openxmlformats.org/drawingml/2006/main" noGrp="1"/>
          </p:cNvSpPr>
          <p:nvPr/>
        </p:nvSpPr>
        <p:spPr>
          <a:xfrm xmlns:a="http://schemas.openxmlformats.org/drawingml/2006/main" rot="0">
            <a:off x="3714750" y="2838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PIやNVIDIA。近いレイヤーには、現実世界を再現し、必要な実データ量を下げながらモデル開発まで進めるシミュレーション・デジタルツインがある。</a:t>
            </a:r>
          </a:p>
        </p:txBody>
      </p:sp>
      <p:sp>
        <p:nvSpPr>
          <p:cNvPr id="10" name="">
            <a:extLst xmlns:a="http://schemas.openxmlformats.org/drawingml/2006/main">
              <a:ext uri="{FF2B5EF4-FFF2-40B4-BE49-F238E27FC236}">
                <a16:creationId xmlns:a16="http://schemas.microsoft.com/office/drawing/2014/main" id="{74A684D3-6922-4D12-B763-0254C54CB798}"/>
              </a:ext>
            </a:extLst>
          </p:cNvPr>
          <p:cNvSpPr>
            <a:spLocks xmlns:a="http://schemas.openxmlformats.org/drawingml/2006/main" noGrp="1"/>
          </p:cNvSpPr>
          <p:nvPr/>
        </p:nvSpPr>
        <p:spPr>
          <a:xfrm xmlns:a="http://schemas.openxmlformats.org/drawingml/2006/main">
            <a:off x="723900" y="3886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AB9765A-BCE7-4F97-8531-644406EA7D18}"/>
              </a:ext>
            </a:extLst>
          </p:cNvPr>
          <p:cNvSpPr>
            <a:spLocks xmlns:a="http://schemas.openxmlformats.org/drawingml/2006/main" noGrp="1"/>
          </p:cNvSpPr>
          <p:nvPr/>
        </p:nvSpPr>
        <p:spPr>
          <a:xfrm xmlns:a="http://schemas.openxmlformats.org/drawingml/2006/main" rot="0">
            <a:off x="723900" y="4000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ハードウェア開発層</a:t>
            </a:r>
          </a:p>
        </p:txBody>
      </p:sp>
      <p:sp>
        <p:nvSpPr>
          <p:cNvPr id="12" name="">
            <a:extLst xmlns:a="http://schemas.openxmlformats.org/drawingml/2006/main">
              <a:ext uri="{FF2B5EF4-FFF2-40B4-BE49-F238E27FC236}">
                <a16:creationId xmlns:a16="http://schemas.microsoft.com/office/drawing/2014/main" id="{47A8DD3C-0AD4-40DB-9390-C4BEE744D8DA}"/>
              </a:ext>
            </a:extLst>
          </p:cNvPr>
          <p:cNvSpPr>
            <a:spLocks xmlns:a="http://schemas.openxmlformats.org/drawingml/2006/main" noGrp="1"/>
          </p:cNvSpPr>
          <p:nvPr/>
        </p:nvSpPr>
        <p:spPr>
          <a:xfrm xmlns:a="http://schemas.openxmlformats.org/drawingml/2006/main" rot="0">
            <a:off x="3714750" y="3981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特に中国系企業が安価なロボットを提供する面で強く、Unitree等が筆頭である。</a:t>
            </a:r>
          </a:p>
        </p:txBody>
      </p:sp>
      <p:sp>
        <p:nvSpPr>
          <p:cNvPr id="13" name="">
            <a:extLst xmlns:a="http://schemas.openxmlformats.org/drawingml/2006/main">
              <a:ext uri="{FF2B5EF4-FFF2-40B4-BE49-F238E27FC236}">
                <a16:creationId xmlns:a16="http://schemas.microsoft.com/office/drawing/2014/main" id="{6B0775E8-2FA3-4AEA-A436-41928C8995F9}"/>
              </a:ext>
            </a:extLst>
          </p:cNvPr>
          <p:cNvSpPr>
            <a:spLocks xmlns:a="http://schemas.openxmlformats.org/drawingml/2006/main" noGrp="1"/>
          </p:cNvSpPr>
          <p:nvPr/>
        </p:nvSpPr>
        <p:spPr>
          <a:xfrm xmlns:a="http://schemas.openxmlformats.org/drawingml/2006/main">
            <a:off x="723900" y="47434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C738B79-5567-4D43-BFCD-8A0644A4C9D7}"/>
              </a:ext>
            </a:extLst>
          </p:cNvPr>
          <p:cNvSpPr>
            <a:spLocks xmlns:a="http://schemas.openxmlformats.org/drawingml/2006/main" noGrp="1"/>
          </p:cNvSpPr>
          <p:nvPr/>
        </p:nvSpPr>
        <p:spPr>
          <a:xfrm xmlns:a="http://schemas.openxmlformats.org/drawingml/2006/main" rot="0">
            <a:off x="723900" y="4857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現場統合層</a:t>
            </a:r>
          </a:p>
        </p:txBody>
      </p:sp>
      <p:sp>
        <p:nvSpPr>
          <p:cNvPr id="15" name="">
            <a:extLst xmlns:a="http://schemas.openxmlformats.org/drawingml/2006/main">
              <a:ext uri="{FF2B5EF4-FFF2-40B4-BE49-F238E27FC236}">
                <a16:creationId xmlns:a16="http://schemas.microsoft.com/office/drawing/2014/main" id="{2A2B743F-B12B-4807-9F28-8017CE96B193}"/>
              </a:ext>
            </a:extLst>
          </p:cNvPr>
          <p:cNvSpPr>
            <a:spLocks xmlns:a="http://schemas.openxmlformats.org/drawingml/2006/main" noGrp="1"/>
          </p:cNvSpPr>
          <p:nvPr/>
        </p:nvSpPr>
        <p:spPr>
          <a:xfrm xmlns:a="http://schemas.openxmlformats.org/drawingml/2006/main" rot="0">
            <a:off x="3714750" y="4838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既存のロボットやモデルを積極的に利用し、現場への統合を優先する。国内にもスタートアップが多い。</a:t>
            </a:r>
          </a:p>
        </p:txBody>
      </p:sp>
    </p:spTree>
    <p:extLst>
      <p:ext uri="{BB962C8B-B14F-4D97-AF65-F5344CB8AC3E}">
        <p14:creationId xmlns:p14="http://schemas.microsoft.com/office/powerpoint/2010/main" val="1554437028"/>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91EBFEAC-D110-49D0-A767-2B1A640C19F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48CF5A1-0C57-439A-B940-09ABCCA9EBE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私の仮説：現場を含むフィードバックループ</a:t>
            </a:r>
          </a:p>
        </p:txBody>
      </p:sp>
      <p:sp>
        <p:nvSpPr>
          <p:cNvPr id="3" name="">
            <a:extLst xmlns:a="http://schemas.openxmlformats.org/drawingml/2006/main">
              <a:ext uri="{FF2B5EF4-FFF2-40B4-BE49-F238E27FC236}">
                <a16:creationId xmlns:a16="http://schemas.microsoft.com/office/drawing/2014/main" id="{A2AE7A7B-90FD-413C-B8DF-8E9143FC52C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89FE951-CC94-4385-8A02-B576CCBFAF7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D8BD17BC-5923-4CCF-8E92-76D8B44476C3}"/>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0AA7B771-8A52-422E-8B4F-0EF4CC4BE156}"/>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C50F438-9CF0-4D52-9E81-D96133A03590}"/>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45059AA-83B7-44B3-9068-A2FD6C2C8EB9}"/>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15FDBEB-0C5A-46A0-BE9C-CF98763ED82A}"/>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BB9E8D26-7F13-4735-BD80-EECF145DA8E8}"/>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180A5A3D-3D8E-448E-A5E5-7A59C97FB8E6}"/>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040007EC-131B-4E45-99E5-A624EE4BEDEB}"/>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C6154895-E2A4-48C0-8F57-D93501BA8A93}"/>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886C00E5-4F88-4593-9C6E-042E72FE4AE3}"/>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EBBD730E-B9EE-42D3-A9C4-A334E4F12655}"/>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708977A2-39A4-460D-88E7-F813847DF94D}"/>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ACF2A5D7-899B-4A3C-B347-AF3170236B15}"/>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E77A777-E49D-494C-96CE-1E84C286B174}"/>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639D29C-FD57-4F7E-B35B-E291F53CDB89}"/>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E553CC2-2327-4312-979D-073B97325C8A}"/>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D8852B17-9719-4D30-BF34-58028B0294EF}"/>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D5E8EB9C-E210-4B5D-A412-4CC68181F02A}"/>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FAD67CF-F03C-4595-A908-1874012C4499}"/>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2AA9AAB9-183B-42AE-A6D5-440B95A35A1B}"/>
              </a:ext>
            </a:extLst>
          </p:cNvPr>
          <p:cNvSpPr>
            <a:spLocks xmlns:a="http://schemas.openxmlformats.org/drawingml/2006/main" noGrp="1"/>
          </p:cNvSpPr>
          <p:nvPr/>
        </p:nvSpPr>
        <p:spPr>
          <a:xfrm xmlns:a="http://schemas.openxmlformats.org/drawingml/2006/main">
            <a:off x="2990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D0B3D3F-10A9-41B3-B7CD-92DD2DA153E3}"/>
              </a:ext>
            </a:extLst>
          </p:cNvPr>
          <p:cNvSpPr>
            <a:spLocks xmlns:a="http://schemas.openxmlformats.org/drawingml/2006/main" noGrp="1"/>
          </p:cNvSpPr>
          <p:nvPr/>
        </p:nvSpPr>
        <p:spPr>
          <a:xfrm xmlns:a="http://schemas.openxmlformats.org/drawingml/2006/main">
            <a:off x="2990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A92F5AA-C153-45F2-86F2-43F6D4613850}"/>
              </a:ext>
            </a:extLst>
          </p:cNvPr>
          <p:cNvSpPr>
            <a:spLocks xmlns:a="http://schemas.openxmlformats.org/drawingml/2006/main" noGrp="1"/>
          </p:cNvSpPr>
          <p:nvPr/>
        </p:nvSpPr>
        <p:spPr>
          <a:xfrm xmlns:a="http://schemas.openxmlformats.org/drawingml/2006/main">
            <a:off x="3181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87EB916-9D1E-4134-8594-99784AF15A92}"/>
              </a:ext>
            </a:extLst>
          </p:cNvPr>
          <p:cNvSpPr>
            <a:spLocks xmlns:a="http://schemas.openxmlformats.org/drawingml/2006/main" noGrp="1"/>
          </p:cNvSpPr>
          <p:nvPr/>
        </p:nvSpPr>
        <p:spPr>
          <a:xfrm xmlns:a="http://schemas.openxmlformats.org/drawingml/2006/main">
            <a:off x="3181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F44D8D8-FC75-4CFF-AB78-0E9E2C947838}"/>
              </a:ext>
            </a:extLst>
          </p:cNvPr>
          <p:cNvSpPr>
            <a:spLocks xmlns:a="http://schemas.openxmlformats.org/drawingml/2006/main" noGrp="1"/>
          </p:cNvSpPr>
          <p:nvPr/>
        </p:nvSpPr>
        <p:spPr>
          <a:xfrm xmlns:a="http://schemas.openxmlformats.org/drawingml/2006/main">
            <a:off x="3371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6685879-4550-462B-894A-956D9D1B6578}"/>
              </a:ext>
            </a:extLst>
          </p:cNvPr>
          <p:cNvSpPr>
            <a:spLocks xmlns:a="http://schemas.openxmlformats.org/drawingml/2006/main" noGrp="1"/>
          </p:cNvSpPr>
          <p:nvPr/>
        </p:nvSpPr>
        <p:spPr>
          <a:xfrm xmlns:a="http://schemas.openxmlformats.org/drawingml/2006/main">
            <a:off x="3371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52FFE630-2334-408C-AEAD-288F86967172}"/>
              </a:ext>
            </a:extLst>
          </p:cNvPr>
          <p:cNvSpPr>
            <a:spLocks xmlns:a="http://schemas.openxmlformats.org/drawingml/2006/main" noGrp="1"/>
          </p:cNvSpPr>
          <p:nvPr/>
        </p:nvSpPr>
        <p:spPr>
          <a:xfrm xmlns:a="http://schemas.openxmlformats.org/drawingml/2006/main">
            <a:off x="3562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C36F3495-5D15-41D6-942E-B8C9E85D6F52}"/>
              </a:ext>
            </a:extLst>
          </p:cNvPr>
          <p:cNvSpPr>
            <a:spLocks xmlns:a="http://schemas.openxmlformats.org/drawingml/2006/main" noGrp="1"/>
          </p:cNvSpPr>
          <p:nvPr/>
        </p:nvSpPr>
        <p:spPr>
          <a:xfrm xmlns:a="http://schemas.openxmlformats.org/drawingml/2006/main">
            <a:off x="3562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7BDAE15-1449-4D37-9B12-0C47DA1EFE6B}"/>
              </a:ext>
            </a:extLst>
          </p:cNvPr>
          <p:cNvSpPr>
            <a:spLocks xmlns:a="http://schemas.openxmlformats.org/drawingml/2006/main" noGrp="1"/>
          </p:cNvSpPr>
          <p:nvPr/>
        </p:nvSpPr>
        <p:spPr>
          <a:xfrm xmlns:a="http://schemas.openxmlformats.org/drawingml/2006/main">
            <a:off x="3752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268917B5-DCCA-456D-9C5F-93DF138CD03C}"/>
              </a:ext>
            </a:extLst>
          </p:cNvPr>
          <p:cNvSpPr>
            <a:spLocks xmlns:a="http://schemas.openxmlformats.org/drawingml/2006/main" noGrp="1"/>
          </p:cNvSpPr>
          <p:nvPr/>
        </p:nvSpPr>
        <p:spPr>
          <a:xfrm xmlns:a="http://schemas.openxmlformats.org/drawingml/2006/main">
            <a:off x="3752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E5F7EEFB-D41F-48E2-A75C-0A6D71BD34B3}"/>
              </a:ext>
            </a:extLst>
          </p:cNvPr>
          <p:cNvSpPr>
            <a:spLocks xmlns:a="http://schemas.openxmlformats.org/drawingml/2006/main" noGrp="1"/>
          </p:cNvSpPr>
          <p:nvPr/>
        </p:nvSpPr>
        <p:spPr>
          <a:xfrm xmlns:a="http://schemas.openxmlformats.org/drawingml/2006/main">
            <a:off x="3943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4799D9B3-0E3F-421E-8367-AFC881C37555}"/>
              </a:ext>
            </a:extLst>
          </p:cNvPr>
          <p:cNvSpPr>
            <a:spLocks xmlns:a="http://schemas.openxmlformats.org/drawingml/2006/main" noGrp="1"/>
          </p:cNvSpPr>
          <p:nvPr/>
        </p:nvSpPr>
        <p:spPr>
          <a:xfrm xmlns:a="http://schemas.openxmlformats.org/drawingml/2006/main">
            <a:off x="3943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3B498117-77A2-4659-9573-09BEF3BC8AD3}"/>
              </a:ext>
            </a:extLst>
          </p:cNvPr>
          <p:cNvSpPr>
            <a:spLocks xmlns:a="http://schemas.openxmlformats.org/drawingml/2006/main" noGrp="1"/>
          </p:cNvSpPr>
          <p:nvPr/>
        </p:nvSpPr>
        <p:spPr>
          <a:xfrm xmlns:a="http://schemas.openxmlformats.org/drawingml/2006/main">
            <a:off x="4133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F64B8FD7-A870-475C-94B0-85AAEAC71804}"/>
              </a:ext>
            </a:extLst>
          </p:cNvPr>
          <p:cNvSpPr>
            <a:spLocks xmlns:a="http://schemas.openxmlformats.org/drawingml/2006/main" noGrp="1"/>
          </p:cNvSpPr>
          <p:nvPr/>
        </p:nvSpPr>
        <p:spPr>
          <a:xfrm xmlns:a="http://schemas.openxmlformats.org/drawingml/2006/main">
            <a:off x="4133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74BA3455-32FD-4AAE-AD63-2BCDAF881D90}"/>
              </a:ext>
            </a:extLst>
          </p:cNvPr>
          <p:cNvSpPr>
            <a:spLocks xmlns:a="http://schemas.openxmlformats.org/drawingml/2006/main" noGrp="1"/>
          </p:cNvSpPr>
          <p:nvPr/>
        </p:nvSpPr>
        <p:spPr>
          <a:xfrm xmlns:a="http://schemas.openxmlformats.org/drawingml/2006/main">
            <a:off x="4324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9F3FC279-5832-4EDF-9E7A-356D5E75C933}"/>
              </a:ext>
            </a:extLst>
          </p:cNvPr>
          <p:cNvSpPr>
            <a:spLocks xmlns:a="http://schemas.openxmlformats.org/drawingml/2006/main" noGrp="1"/>
          </p:cNvSpPr>
          <p:nvPr/>
        </p:nvSpPr>
        <p:spPr>
          <a:xfrm xmlns:a="http://schemas.openxmlformats.org/drawingml/2006/main">
            <a:off x="4324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FF38EC59-3496-4A06-84E4-AE1A8FBACA11}"/>
              </a:ext>
            </a:extLst>
          </p:cNvPr>
          <p:cNvSpPr>
            <a:spLocks xmlns:a="http://schemas.openxmlformats.org/drawingml/2006/main" noGrp="1"/>
          </p:cNvSpPr>
          <p:nvPr/>
        </p:nvSpPr>
        <p:spPr>
          <a:xfrm xmlns:a="http://schemas.openxmlformats.org/drawingml/2006/main">
            <a:off x="4514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80D92C05-7F84-4EE4-8A8D-DE65CB042FB3}"/>
              </a:ext>
            </a:extLst>
          </p:cNvPr>
          <p:cNvSpPr>
            <a:spLocks xmlns:a="http://schemas.openxmlformats.org/drawingml/2006/main" noGrp="1"/>
          </p:cNvSpPr>
          <p:nvPr/>
        </p:nvSpPr>
        <p:spPr>
          <a:xfrm xmlns:a="http://schemas.openxmlformats.org/drawingml/2006/main">
            <a:off x="4514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3F9307D3-DC98-48AB-9992-9148CD24DE03}"/>
              </a:ext>
            </a:extLst>
          </p:cNvPr>
          <p:cNvSpPr>
            <a:spLocks xmlns:a="http://schemas.openxmlformats.org/drawingml/2006/main" noGrp="1"/>
          </p:cNvSpPr>
          <p:nvPr/>
        </p:nvSpPr>
        <p:spPr>
          <a:xfrm xmlns:a="http://schemas.openxmlformats.org/drawingml/2006/main">
            <a:off x="4705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DC85D38D-155D-4E19-9FA2-8DEA3417E516}"/>
              </a:ext>
            </a:extLst>
          </p:cNvPr>
          <p:cNvSpPr>
            <a:spLocks xmlns:a="http://schemas.openxmlformats.org/drawingml/2006/main" noGrp="1"/>
          </p:cNvSpPr>
          <p:nvPr/>
        </p:nvSpPr>
        <p:spPr>
          <a:xfrm xmlns:a="http://schemas.openxmlformats.org/drawingml/2006/main">
            <a:off x="4705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0BAFF58A-A77A-4248-9BC4-064C5E2C03B0}"/>
              </a:ext>
            </a:extLst>
          </p:cNvPr>
          <p:cNvSpPr>
            <a:spLocks xmlns:a="http://schemas.openxmlformats.org/drawingml/2006/main" noGrp="1"/>
          </p:cNvSpPr>
          <p:nvPr/>
        </p:nvSpPr>
        <p:spPr>
          <a:xfrm xmlns:a="http://schemas.openxmlformats.org/drawingml/2006/main">
            <a:off x="4895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7BEC269A-4950-481F-A99C-F188D9675EEA}"/>
              </a:ext>
            </a:extLst>
          </p:cNvPr>
          <p:cNvSpPr>
            <a:spLocks xmlns:a="http://schemas.openxmlformats.org/drawingml/2006/main" noGrp="1"/>
          </p:cNvSpPr>
          <p:nvPr/>
        </p:nvSpPr>
        <p:spPr>
          <a:xfrm xmlns:a="http://schemas.openxmlformats.org/drawingml/2006/main">
            <a:off x="4895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6560F972-27BB-4F5E-BBDE-CAA496B8AF6E}"/>
              </a:ext>
            </a:extLst>
          </p:cNvPr>
          <p:cNvSpPr>
            <a:spLocks xmlns:a="http://schemas.openxmlformats.org/drawingml/2006/main" noGrp="1"/>
          </p:cNvSpPr>
          <p:nvPr/>
        </p:nvSpPr>
        <p:spPr>
          <a:xfrm xmlns:a="http://schemas.openxmlformats.org/drawingml/2006/main">
            <a:off x="5086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17165509-FF92-4376-BCB2-FA6F8741DBCF}"/>
              </a:ext>
            </a:extLst>
          </p:cNvPr>
          <p:cNvSpPr>
            <a:spLocks xmlns:a="http://schemas.openxmlformats.org/drawingml/2006/main" noGrp="1"/>
          </p:cNvSpPr>
          <p:nvPr/>
        </p:nvSpPr>
        <p:spPr>
          <a:xfrm xmlns:a="http://schemas.openxmlformats.org/drawingml/2006/main">
            <a:off x="5086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FCB917EC-F1B2-4C29-B802-83DF231AF535}"/>
              </a:ext>
            </a:extLst>
          </p:cNvPr>
          <p:cNvSpPr>
            <a:spLocks xmlns:a="http://schemas.openxmlformats.org/drawingml/2006/main" noGrp="1"/>
          </p:cNvSpPr>
          <p:nvPr/>
        </p:nvSpPr>
        <p:spPr>
          <a:xfrm xmlns:a="http://schemas.openxmlformats.org/drawingml/2006/main">
            <a:off x="5276850" y="23050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09D8418B-A62A-4744-868F-12F9D0B86569}"/>
              </a:ext>
            </a:extLst>
          </p:cNvPr>
          <p:cNvSpPr>
            <a:spLocks xmlns:a="http://schemas.openxmlformats.org/drawingml/2006/main" noGrp="1"/>
          </p:cNvSpPr>
          <p:nvPr/>
        </p:nvSpPr>
        <p:spPr>
          <a:xfrm xmlns:a="http://schemas.openxmlformats.org/drawingml/2006/main">
            <a:off x="5276850" y="28384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29B952AE-E3F5-4B03-AF3E-3EEB37C75A42}"/>
              </a:ext>
            </a:extLst>
          </p:cNvPr>
          <p:cNvSpPr>
            <a:spLocks xmlns:a="http://schemas.openxmlformats.org/drawingml/2006/main" noGrp="1"/>
          </p:cNvSpPr>
          <p:nvPr/>
        </p:nvSpPr>
        <p:spPr>
          <a:xfrm xmlns:a="http://schemas.openxmlformats.org/drawingml/2006/main">
            <a:off x="29908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D4994D01-953F-4925-B18A-B866047D4E3C}"/>
              </a:ext>
            </a:extLst>
          </p:cNvPr>
          <p:cNvSpPr>
            <a:spLocks xmlns:a="http://schemas.openxmlformats.org/drawingml/2006/main" noGrp="1"/>
          </p:cNvSpPr>
          <p:nvPr/>
        </p:nvSpPr>
        <p:spPr>
          <a:xfrm xmlns:a="http://schemas.openxmlformats.org/drawingml/2006/main">
            <a:off x="53530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7C43C337-10AB-454A-A3D1-3DA0647351A4}"/>
              </a:ext>
            </a:extLst>
          </p:cNvPr>
          <p:cNvSpPr>
            <a:spLocks xmlns:a="http://schemas.openxmlformats.org/drawingml/2006/main" noGrp="1"/>
          </p:cNvSpPr>
          <p:nvPr/>
        </p:nvSpPr>
        <p:spPr>
          <a:xfrm xmlns:a="http://schemas.openxmlformats.org/drawingml/2006/main">
            <a:off x="29908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3E3385D6-468E-4E0F-B644-C5F4EDF2DE94}"/>
              </a:ext>
            </a:extLst>
          </p:cNvPr>
          <p:cNvSpPr>
            <a:spLocks xmlns:a="http://schemas.openxmlformats.org/drawingml/2006/main" noGrp="1"/>
          </p:cNvSpPr>
          <p:nvPr/>
        </p:nvSpPr>
        <p:spPr>
          <a:xfrm xmlns:a="http://schemas.openxmlformats.org/drawingml/2006/main">
            <a:off x="53530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489617C4-F7AC-4E23-A662-A6B8492E5CE9}"/>
              </a:ext>
            </a:extLst>
          </p:cNvPr>
          <p:cNvSpPr>
            <a:spLocks xmlns:a="http://schemas.openxmlformats.org/drawingml/2006/main" noGrp="1"/>
          </p:cNvSpPr>
          <p:nvPr/>
        </p:nvSpPr>
        <p:spPr>
          <a:xfrm xmlns:a="http://schemas.openxmlformats.org/drawingml/2006/main">
            <a:off x="29908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10FB6F9E-76CA-47B3-B2B9-9A3F62B2628A}"/>
              </a:ext>
            </a:extLst>
          </p:cNvPr>
          <p:cNvSpPr>
            <a:spLocks xmlns:a="http://schemas.openxmlformats.org/drawingml/2006/main" noGrp="1"/>
          </p:cNvSpPr>
          <p:nvPr/>
        </p:nvSpPr>
        <p:spPr>
          <a:xfrm xmlns:a="http://schemas.openxmlformats.org/drawingml/2006/main">
            <a:off x="53530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0E899C00-77F0-43EF-ABFC-1B626CA65CDF}"/>
              </a:ext>
            </a:extLst>
          </p:cNvPr>
          <p:cNvSpPr>
            <a:spLocks xmlns:a="http://schemas.openxmlformats.org/drawingml/2006/main" noGrp="1"/>
          </p:cNvSpPr>
          <p:nvPr/>
        </p:nvSpPr>
        <p:spPr>
          <a:xfrm xmlns:a="http://schemas.openxmlformats.org/drawingml/2006/main">
            <a:off x="2990850" y="2990850"/>
            <a:ext cx="2381250" cy="1924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7" name="">
            <a:extLst xmlns:a="http://schemas.openxmlformats.org/drawingml/2006/main">
              <a:ext uri="{FF2B5EF4-FFF2-40B4-BE49-F238E27FC236}">
                <a16:creationId xmlns:a16="http://schemas.microsoft.com/office/drawing/2014/main" id="{139D29E2-75B5-47BA-B355-AB685BAA9B2E}"/>
              </a:ext>
            </a:extLst>
          </p:cNvPr>
          <p:cNvSpPr>
            <a:spLocks xmlns:a="http://schemas.openxmlformats.org/drawingml/2006/main" noGrp="1"/>
          </p:cNvSpPr>
          <p:nvPr/>
        </p:nvSpPr>
        <p:spPr>
          <a:xfrm xmlns:a="http://schemas.openxmlformats.org/drawingml/2006/main" rot="0">
            <a:off x="3181350" y="3143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58" name="">
            <a:extLst xmlns:a="http://schemas.openxmlformats.org/drawingml/2006/main">
              <a:ext uri="{FF2B5EF4-FFF2-40B4-BE49-F238E27FC236}">
                <a16:creationId xmlns:a16="http://schemas.microsoft.com/office/drawing/2014/main" id="{DB396702-9AFE-4A03-A9A2-2F0D67E6AFE9}"/>
              </a:ext>
            </a:extLst>
          </p:cNvPr>
          <p:cNvSpPr>
            <a:spLocks xmlns:a="http://schemas.openxmlformats.org/drawingml/2006/main" noGrp="1"/>
          </p:cNvSpPr>
          <p:nvPr/>
        </p:nvSpPr>
        <p:spPr>
          <a:xfrm xmlns:a="http://schemas.openxmlformats.org/drawingml/2006/main" rot="0">
            <a:off x="3181350" y="38290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59" name="">
            <a:extLst xmlns:a="http://schemas.openxmlformats.org/drawingml/2006/main">
              <a:ext uri="{FF2B5EF4-FFF2-40B4-BE49-F238E27FC236}">
                <a16:creationId xmlns:a16="http://schemas.microsoft.com/office/drawing/2014/main" id="{0A5520DC-7D03-4A39-BF27-A5D108143689}"/>
              </a:ext>
            </a:extLst>
          </p:cNvPr>
          <p:cNvSpPr>
            <a:spLocks xmlns:a="http://schemas.openxmlformats.org/drawingml/2006/main" noGrp="1"/>
          </p:cNvSpPr>
          <p:nvPr/>
        </p:nvSpPr>
        <p:spPr>
          <a:xfrm xmlns:a="http://schemas.openxmlformats.org/drawingml/2006/main" rot="0">
            <a:off x="3181350" y="45148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60" name="">
            <a:extLst xmlns:a="http://schemas.openxmlformats.org/drawingml/2006/main">
              <a:ext uri="{FF2B5EF4-FFF2-40B4-BE49-F238E27FC236}">
                <a16:creationId xmlns:a16="http://schemas.microsoft.com/office/drawing/2014/main" id="{69415201-562B-4D74-AFF4-5583973750F9}"/>
              </a:ext>
            </a:extLst>
          </p:cNvPr>
          <p:cNvSpPr>
            <a:spLocks xmlns:a="http://schemas.openxmlformats.org/drawingml/2006/main" noGrp="1"/>
          </p:cNvSpPr>
          <p:nvPr/>
        </p:nvSpPr>
        <p:spPr>
          <a:xfrm xmlns:a="http://schemas.openxmlformats.org/drawingml/2006/main">
            <a:off x="5372100" y="32575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C2D233A0-2A7D-4CF2-BD76-0AD1973F2855}"/>
              </a:ext>
            </a:extLst>
          </p:cNvPr>
          <p:cNvSpPr>
            <a:spLocks xmlns:a="http://schemas.openxmlformats.org/drawingml/2006/main" noGrp="1"/>
          </p:cNvSpPr>
          <p:nvPr/>
        </p:nvSpPr>
        <p:spPr>
          <a:xfrm xmlns:a="http://schemas.openxmlformats.org/drawingml/2006/main">
            <a:off x="5695950" y="3257550"/>
            <a:ext cx="19050" cy="13716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A03E2E96-0B10-4814-8432-9BA900959E7A}"/>
              </a:ext>
            </a:extLst>
          </p:cNvPr>
          <p:cNvSpPr>
            <a:spLocks xmlns:a="http://schemas.openxmlformats.org/drawingml/2006/main" noGrp="1"/>
          </p:cNvSpPr>
          <p:nvPr/>
        </p:nvSpPr>
        <p:spPr>
          <a:xfrm xmlns:a="http://schemas.openxmlformats.org/drawingml/2006/main">
            <a:off x="5372100" y="46291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5862A616-2E89-460B-A397-250975D70338}"/>
              </a:ext>
            </a:extLst>
          </p:cNvPr>
          <p:cNvSpPr>
            <a:spLocks xmlns:a="http://schemas.openxmlformats.org/drawingml/2006/main" noGrp="1"/>
          </p:cNvSpPr>
          <p:nvPr/>
        </p:nvSpPr>
        <p:spPr>
          <a:xfrm xmlns:a="http://schemas.openxmlformats.org/drawingml/2006/main" rot="0">
            <a:off x="5867400" y="345757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現場で得たデータを戻す</a:t>
            </a:r>
          </a:p>
        </p:txBody>
      </p:sp>
      <p:sp>
        <p:nvSpPr>
          <p:cNvPr id="64" name="">
            <a:extLst xmlns:a="http://schemas.openxmlformats.org/drawingml/2006/main">
              <a:ext uri="{FF2B5EF4-FFF2-40B4-BE49-F238E27FC236}">
                <a16:creationId xmlns:a16="http://schemas.microsoft.com/office/drawing/2014/main" id="{0EF27339-5F2F-4519-9CBE-4DF5E528C025}"/>
              </a:ext>
            </a:extLst>
          </p:cNvPr>
          <p:cNvSpPr>
            <a:spLocks xmlns:a="http://schemas.openxmlformats.org/drawingml/2006/main" noGrp="1"/>
          </p:cNvSpPr>
          <p:nvPr/>
        </p:nvSpPr>
        <p:spPr>
          <a:xfrm xmlns:a="http://schemas.openxmlformats.org/drawingml/2006/main" rot="0">
            <a:off x="6019800" y="45148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現場で稼働</a:t>
            </a:r>
          </a:p>
        </p:txBody>
      </p:sp>
    </p:spTree>
    <p:extLst>
      <p:ext uri="{BB962C8B-B14F-4D97-AF65-F5344CB8AC3E}">
        <p14:creationId xmlns:p14="http://schemas.microsoft.com/office/powerpoint/2010/main" val="642504849"/>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716DB6E0-3068-4A88-B8FC-8BA751BA89A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3A32F5-087F-400B-A693-91E9E43749D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データ収集は、将来このループの中に吸収される</a:t>
            </a:r>
          </a:p>
        </p:txBody>
      </p:sp>
      <p:sp>
        <p:nvSpPr>
          <p:cNvPr id="3" name="">
            <a:extLst xmlns:a="http://schemas.openxmlformats.org/drawingml/2006/main">
              <a:ext uri="{FF2B5EF4-FFF2-40B4-BE49-F238E27FC236}">
                <a16:creationId xmlns:a16="http://schemas.microsoft.com/office/drawing/2014/main" id="{42B8FC9C-34C9-4FFF-ABB7-6127F8C5C60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D36CEEB-8396-4682-A418-79A03995978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87AB5BAC-92BB-446E-9B09-12CC31DF7A75}"/>
              </a:ext>
            </a:extLst>
          </p:cNvPr>
          <p:cNvSpPr>
            <a:spLocks xmlns:a="http://schemas.openxmlformats.org/drawingml/2006/main" noGrp="1"/>
          </p:cNvSpPr>
          <p:nvPr/>
        </p:nvSpPr>
        <p:spPr>
          <a:xfrm xmlns:a="http://schemas.openxmlformats.org/drawingml/2006/main">
            <a:off x="1428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6" name="">
            <a:extLst xmlns:a="http://schemas.openxmlformats.org/drawingml/2006/main">
              <a:ext uri="{FF2B5EF4-FFF2-40B4-BE49-F238E27FC236}">
                <a16:creationId xmlns:a16="http://schemas.microsoft.com/office/drawing/2014/main" id="{9F1A293F-D16F-45B7-AACD-4E7B1B17C8B1}"/>
              </a:ext>
            </a:extLst>
          </p:cNvPr>
          <p:cNvSpPr>
            <a:spLocks xmlns:a="http://schemas.openxmlformats.org/drawingml/2006/main" noGrp="1"/>
          </p:cNvSpPr>
          <p:nvPr/>
        </p:nvSpPr>
        <p:spPr>
          <a:xfrm xmlns:a="http://schemas.openxmlformats.org/drawingml/2006/main" rot="0">
            <a:off x="1562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モデル開発</a:t>
            </a:r>
          </a:p>
        </p:txBody>
      </p:sp>
      <p:sp>
        <p:nvSpPr>
          <p:cNvPr id="7" name="">
            <a:extLst xmlns:a="http://schemas.openxmlformats.org/drawingml/2006/main">
              <a:ext uri="{FF2B5EF4-FFF2-40B4-BE49-F238E27FC236}">
                <a16:creationId xmlns:a16="http://schemas.microsoft.com/office/drawing/2014/main" id="{22CD2FB8-30CB-447E-8433-A69057F90CE1}"/>
              </a:ext>
            </a:extLst>
          </p:cNvPr>
          <p:cNvSpPr>
            <a:spLocks xmlns:a="http://schemas.openxmlformats.org/drawingml/2006/main" noGrp="1"/>
          </p:cNvSpPr>
          <p:nvPr/>
        </p:nvSpPr>
        <p:spPr>
          <a:xfrm xmlns:a="http://schemas.openxmlformats.org/drawingml/2006/main">
            <a:off x="7524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8" name="">
            <a:extLst xmlns:a="http://schemas.openxmlformats.org/drawingml/2006/main">
              <a:ext uri="{FF2B5EF4-FFF2-40B4-BE49-F238E27FC236}">
                <a16:creationId xmlns:a16="http://schemas.microsoft.com/office/drawing/2014/main" id="{5CC85D17-D477-4CEC-8DDD-274382A36F73}"/>
              </a:ext>
            </a:extLst>
          </p:cNvPr>
          <p:cNvSpPr>
            <a:spLocks xmlns:a="http://schemas.openxmlformats.org/drawingml/2006/main" noGrp="1"/>
          </p:cNvSpPr>
          <p:nvPr/>
        </p:nvSpPr>
        <p:spPr>
          <a:xfrm xmlns:a="http://schemas.openxmlformats.org/drawingml/2006/main" rot="0">
            <a:off x="7658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ハードウェア開発</a:t>
            </a:r>
          </a:p>
        </p:txBody>
      </p:sp>
      <p:sp>
        <p:nvSpPr>
          <p:cNvPr id="9" name="">
            <a:extLst xmlns:a="http://schemas.openxmlformats.org/drawingml/2006/main">
              <a:ext uri="{FF2B5EF4-FFF2-40B4-BE49-F238E27FC236}">
                <a16:creationId xmlns:a16="http://schemas.microsoft.com/office/drawing/2014/main" id="{D0E15E40-557A-4455-BAAA-32BC68E63A27}"/>
              </a:ext>
            </a:extLst>
          </p:cNvPr>
          <p:cNvSpPr>
            <a:spLocks xmlns:a="http://schemas.openxmlformats.org/drawingml/2006/main" noGrp="1"/>
          </p:cNvSpPr>
          <p:nvPr/>
        </p:nvSpPr>
        <p:spPr>
          <a:xfrm xmlns:a="http://schemas.openxmlformats.org/drawingml/2006/main">
            <a:off x="7524750" y="4286250"/>
            <a:ext cx="2667000" cy="8763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0" name="">
            <a:extLst xmlns:a="http://schemas.openxmlformats.org/drawingml/2006/main">
              <a:ext uri="{FF2B5EF4-FFF2-40B4-BE49-F238E27FC236}">
                <a16:creationId xmlns:a16="http://schemas.microsoft.com/office/drawing/2014/main" id="{951AC859-D40A-44E9-B0EE-99716423F04C}"/>
              </a:ext>
            </a:extLst>
          </p:cNvPr>
          <p:cNvSpPr>
            <a:spLocks xmlns:a="http://schemas.openxmlformats.org/drawingml/2006/main" noGrp="1"/>
          </p:cNvSpPr>
          <p:nvPr/>
        </p:nvSpPr>
        <p:spPr>
          <a:xfrm xmlns:a="http://schemas.openxmlformats.org/drawingml/2006/main" rot="0">
            <a:off x="7658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現場統合</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ロボットが稼働</a:t>
            </a:r>
          </a:p>
        </p:txBody>
      </p:sp>
      <p:sp>
        <p:nvSpPr>
          <p:cNvPr id="11" name="">
            <a:extLst xmlns:a="http://schemas.openxmlformats.org/drawingml/2006/main">
              <a:ext uri="{FF2B5EF4-FFF2-40B4-BE49-F238E27FC236}">
                <a16:creationId xmlns:a16="http://schemas.microsoft.com/office/drawing/2014/main" id="{01DDF398-26E7-4085-BF4B-E4A7ABBB8C81}"/>
              </a:ext>
            </a:extLst>
          </p:cNvPr>
          <p:cNvSpPr>
            <a:spLocks xmlns:a="http://schemas.openxmlformats.org/drawingml/2006/main" noGrp="1"/>
          </p:cNvSpPr>
          <p:nvPr/>
        </p:nvSpPr>
        <p:spPr>
          <a:xfrm xmlns:a="http://schemas.openxmlformats.org/drawingml/2006/main">
            <a:off x="14287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E50A6CA-6515-49B9-B0F7-95BE35DD9E8F}"/>
              </a:ext>
            </a:extLst>
          </p:cNvPr>
          <p:cNvSpPr>
            <a:spLocks xmlns:a="http://schemas.openxmlformats.org/drawingml/2006/main" noGrp="1"/>
          </p:cNvSpPr>
          <p:nvPr/>
        </p:nvSpPr>
        <p:spPr>
          <a:xfrm xmlns:a="http://schemas.openxmlformats.org/drawingml/2006/main">
            <a:off x="14287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5AF73D9-12D0-419E-9D2C-7C604FCFA970}"/>
              </a:ext>
            </a:extLst>
          </p:cNvPr>
          <p:cNvSpPr>
            <a:spLocks xmlns:a="http://schemas.openxmlformats.org/drawingml/2006/main" noGrp="1"/>
          </p:cNvSpPr>
          <p:nvPr/>
        </p:nvSpPr>
        <p:spPr>
          <a:xfrm xmlns:a="http://schemas.openxmlformats.org/drawingml/2006/main">
            <a:off x="15906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903F95A-162C-436B-B077-2FD93C645343}"/>
              </a:ext>
            </a:extLst>
          </p:cNvPr>
          <p:cNvSpPr>
            <a:spLocks xmlns:a="http://schemas.openxmlformats.org/drawingml/2006/main" noGrp="1"/>
          </p:cNvSpPr>
          <p:nvPr/>
        </p:nvSpPr>
        <p:spPr>
          <a:xfrm xmlns:a="http://schemas.openxmlformats.org/drawingml/2006/main">
            <a:off x="15906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0D4DBD7-6C4E-4C2A-A1B2-58BDB7F970A2}"/>
              </a:ext>
            </a:extLst>
          </p:cNvPr>
          <p:cNvSpPr>
            <a:spLocks xmlns:a="http://schemas.openxmlformats.org/drawingml/2006/main" noGrp="1"/>
          </p:cNvSpPr>
          <p:nvPr/>
        </p:nvSpPr>
        <p:spPr>
          <a:xfrm xmlns:a="http://schemas.openxmlformats.org/drawingml/2006/main">
            <a:off x="17526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26D15C4-F9F1-4BA3-8DDE-0F2D6846679C}"/>
              </a:ext>
            </a:extLst>
          </p:cNvPr>
          <p:cNvSpPr>
            <a:spLocks xmlns:a="http://schemas.openxmlformats.org/drawingml/2006/main" noGrp="1"/>
          </p:cNvSpPr>
          <p:nvPr/>
        </p:nvSpPr>
        <p:spPr>
          <a:xfrm xmlns:a="http://schemas.openxmlformats.org/drawingml/2006/main">
            <a:off x="17526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33919B8-297C-4A8F-9627-2F793CD8D860}"/>
              </a:ext>
            </a:extLst>
          </p:cNvPr>
          <p:cNvSpPr>
            <a:spLocks xmlns:a="http://schemas.openxmlformats.org/drawingml/2006/main" noGrp="1"/>
          </p:cNvSpPr>
          <p:nvPr/>
        </p:nvSpPr>
        <p:spPr>
          <a:xfrm xmlns:a="http://schemas.openxmlformats.org/drawingml/2006/main">
            <a:off x="19145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B814E4E-4296-4EDD-921C-D7B4D97A4DFD}"/>
              </a:ext>
            </a:extLst>
          </p:cNvPr>
          <p:cNvSpPr>
            <a:spLocks xmlns:a="http://schemas.openxmlformats.org/drawingml/2006/main" noGrp="1"/>
          </p:cNvSpPr>
          <p:nvPr/>
        </p:nvSpPr>
        <p:spPr>
          <a:xfrm xmlns:a="http://schemas.openxmlformats.org/drawingml/2006/main">
            <a:off x="19145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169BFBD-A0DC-4537-A676-9B1F5B6952DA}"/>
              </a:ext>
            </a:extLst>
          </p:cNvPr>
          <p:cNvSpPr>
            <a:spLocks xmlns:a="http://schemas.openxmlformats.org/drawingml/2006/main" noGrp="1"/>
          </p:cNvSpPr>
          <p:nvPr/>
        </p:nvSpPr>
        <p:spPr>
          <a:xfrm xmlns:a="http://schemas.openxmlformats.org/drawingml/2006/main">
            <a:off x="20764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3B05A0D-B569-4DD9-80D2-66A6058D2F13}"/>
              </a:ext>
            </a:extLst>
          </p:cNvPr>
          <p:cNvSpPr>
            <a:spLocks xmlns:a="http://schemas.openxmlformats.org/drawingml/2006/main" noGrp="1"/>
          </p:cNvSpPr>
          <p:nvPr/>
        </p:nvSpPr>
        <p:spPr>
          <a:xfrm xmlns:a="http://schemas.openxmlformats.org/drawingml/2006/main">
            <a:off x="20764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AC4EEAA-5C03-4390-9314-C7EB73C18D93}"/>
              </a:ext>
            </a:extLst>
          </p:cNvPr>
          <p:cNvSpPr>
            <a:spLocks xmlns:a="http://schemas.openxmlformats.org/drawingml/2006/main" noGrp="1"/>
          </p:cNvSpPr>
          <p:nvPr/>
        </p:nvSpPr>
        <p:spPr>
          <a:xfrm xmlns:a="http://schemas.openxmlformats.org/drawingml/2006/main">
            <a:off x="22383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4856FF8-03CB-44AA-B8E0-85F014F85715}"/>
              </a:ext>
            </a:extLst>
          </p:cNvPr>
          <p:cNvSpPr>
            <a:spLocks xmlns:a="http://schemas.openxmlformats.org/drawingml/2006/main" noGrp="1"/>
          </p:cNvSpPr>
          <p:nvPr/>
        </p:nvSpPr>
        <p:spPr>
          <a:xfrm xmlns:a="http://schemas.openxmlformats.org/drawingml/2006/main">
            <a:off x="22383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3F181BA-05E6-441E-A5F5-713FDD6904BD}"/>
              </a:ext>
            </a:extLst>
          </p:cNvPr>
          <p:cNvSpPr>
            <a:spLocks xmlns:a="http://schemas.openxmlformats.org/drawingml/2006/main" noGrp="1"/>
          </p:cNvSpPr>
          <p:nvPr/>
        </p:nvSpPr>
        <p:spPr>
          <a:xfrm xmlns:a="http://schemas.openxmlformats.org/drawingml/2006/main">
            <a:off x="24003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8AA4E3E-B2FC-4FEA-8A47-9F9569B62930}"/>
              </a:ext>
            </a:extLst>
          </p:cNvPr>
          <p:cNvSpPr>
            <a:spLocks xmlns:a="http://schemas.openxmlformats.org/drawingml/2006/main" noGrp="1"/>
          </p:cNvSpPr>
          <p:nvPr/>
        </p:nvSpPr>
        <p:spPr>
          <a:xfrm xmlns:a="http://schemas.openxmlformats.org/drawingml/2006/main">
            <a:off x="24003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E6000569-43FE-461A-AC87-05D6034F97AE}"/>
              </a:ext>
            </a:extLst>
          </p:cNvPr>
          <p:cNvSpPr>
            <a:spLocks xmlns:a="http://schemas.openxmlformats.org/drawingml/2006/main" noGrp="1"/>
          </p:cNvSpPr>
          <p:nvPr/>
        </p:nvSpPr>
        <p:spPr>
          <a:xfrm xmlns:a="http://schemas.openxmlformats.org/drawingml/2006/main">
            <a:off x="25622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B8450C9-8B67-4FFF-9D89-5CBF16E7BE36}"/>
              </a:ext>
            </a:extLst>
          </p:cNvPr>
          <p:cNvSpPr>
            <a:spLocks xmlns:a="http://schemas.openxmlformats.org/drawingml/2006/main" noGrp="1"/>
          </p:cNvSpPr>
          <p:nvPr/>
        </p:nvSpPr>
        <p:spPr>
          <a:xfrm xmlns:a="http://schemas.openxmlformats.org/drawingml/2006/main">
            <a:off x="25622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1F28923-8B09-4564-993E-917507808C2F}"/>
              </a:ext>
            </a:extLst>
          </p:cNvPr>
          <p:cNvSpPr>
            <a:spLocks xmlns:a="http://schemas.openxmlformats.org/drawingml/2006/main" noGrp="1"/>
          </p:cNvSpPr>
          <p:nvPr/>
        </p:nvSpPr>
        <p:spPr>
          <a:xfrm xmlns:a="http://schemas.openxmlformats.org/drawingml/2006/main">
            <a:off x="27241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D1BDC6D-0FAA-4BBF-9A4C-1B0240D576DF}"/>
              </a:ext>
            </a:extLst>
          </p:cNvPr>
          <p:cNvSpPr>
            <a:spLocks xmlns:a="http://schemas.openxmlformats.org/drawingml/2006/main" noGrp="1"/>
          </p:cNvSpPr>
          <p:nvPr/>
        </p:nvSpPr>
        <p:spPr>
          <a:xfrm xmlns:a="http://schemas.openxmlformats.org/drawingml/2006/main">
            <a:off x="27241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0B70F98D-53EA-439A-99FC-A818A54C6172}"/>
              </a:ext>
            </a:extLst>
          </p:cNvPr>
          <p:cNvSpPr>
            <a:spLocks xmlns:a="http://schemas.openxmlformats.org/drawingml/2006/main" noGrp="1"/>
          </p:cNvSpPr>
          <p:nvPr/>
        </p:nvSpPr>
        <p:spPr>
          <a:xfrm xmlns:a="http://schemas.openxmlformats.org/drawingml/2006/main">
            <a:off x="28860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426B0E74-2C9D-45D5-A3F4-CA7EC8827944}"/>
              </a:ext>
            </a:extLst>
          </p:cNvPr>
          <p:cNvSpPr>
            <a:spLocks xmlns:a="http://schemas.openxmlformats.org/drawingml/2006/main" noGrp="1"/>
          </p:cNvSpPr>
          <p:nvPr/>
        </p:nvSpPr>
        <p:spPr>
          <a:xfrm xmlns:a="http://schemas.openxmlformats.org/drawingml/2006/main">
            <a:off x="28860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0DB16DAA-DC85-49EA-B32B-7FFB1D7F00C8}"/>
              </a:ext>
            </a:extLst>
          </p:cNvPr>
          <p:cNvSpPr>
            <a:spLocks xmlns:a="http://schemas.openxmlformats.org/drawingml/2006/main" noGrp="1"/>
          </p:cNvSpPr>
          <p:nvPr/>
        </p:nvSpPr>
        <p:spPr>
          <a:xfrm xmlns:a="http://schemas.openxmlformats.org/drawingml/2006/main">
            <a:off x="30480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6825745-8D40-4677-A569-654806CC8E16}"/>
              </a:ext>
            </a:extLst>
          </p:cNvPr>
          <p:cNvSpPr>
            <a:spLocks xmlns:a="http://schemas.openxmlformats.org/drawingml/2006/main" noGrp="1"/>
          </p:cNvSpPr>
          <p:nvPr/>
        </p:nvSpPr>
        <p:spPr>
          <a:xfrm xmlns:a="http://schemas.openxmlformats.org/drawingml/2006/main">
            <a:off x="30480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491F24D6-5462-4BFF-9DC9-C09E9B8BDFCE}"/>
              </a:ext>
            </a:extLst>
          </p:cNvPr>
          <p:cNvSpPr>
            <a:spLocks xmlns:a="http://schemas.openxmlformats.org/drawingml/2006/main" noGrp="1"/>
          </p:cNvSpPr>
          <p:nvPr/>
        </p:nvSpPr>
        <p:spPr>
          <a:xfrm xmlns:a="http://schemas.openxmlformats.org/drawingml/2006/main">
            <a:off x="32099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6EBB45E5-50B3-408C-9A7A-1F6A6DF4A8D0}"/>
              </a:ext>
            </a:extLst>
          </p:cNvPr>
          <p:cNvSpPr>
            <a:spLocks xmlns:a="http://schemas.openxmlformats.org/drawingml/2006/main" noGrp="1"/>
          </p:cNvSpPr>
          <p:nvPr/>
        </p:nvSpPr>
        <p:spPr>
          <a:xfrm xmlns:a="http://schemas.openxmlformats.org/drawingml/2006/main">
            <a:off x="32099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A8CBB2B2-4F86-4065-AC86-9F24CB737507}"/>
              </a:ext>
            </a:extLst>
          </p:cNvPr>
          <p:cNvSpPr>
            <a:spLocks xmlns:a="http://schemas.openxmlformats.org/drawingml/2006/main" noGrp="1"/>
          </p:cNvSpPr>
          <p:nvPr/>
        </p:nvSpPr>
        <p:spPr>
          <a:xfrm xmlns:a="http://schemas.openxmlformats.org/drawingml/2006/main">
            <a:off x="33718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3E6DF5DC-03AC-416D-AB89-C5EDDB068F13}"/>
              </a:ext>
            </a:extLst>
          </p:cNvPr>
          <p:cNvSpPr>
            <a:spLocks xmlns:a="http://schemas.openxmlformats.org/drawingml/2006/main" noGrp="1"/>
          </p:cNvSpPr>
          <p:nvPr/>
        </p:nvSpPr>
        <p:spPr>
          <a:xfrm xmlns:a="http://schemas.openxmlformats.org/drawingml/2006/main">
            <a:off x="33718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03F8C3CC-81BF-435F-8A0D-49846ACCF48E}"/>
              </a:ext>
            </a:extLst>
          </p:cNvPr>
          <p:cNvSpPr>
            <a:spLocks xmlns:a="http://schemas.openxmlformats.org/drawingml/2006/main" noGrp="1"/>
          </p:cNvSpPr>
          <p:nvPr/>
        </p:nvSpPr>
        <p:spPr>
          <a:xfrm xmlns:a="http://schemas.openxmlformats.org/drawingml/2006/main">
            <a:off x="35337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D1A2F877-2252-4ED8-97AA-D2AF0E1A6AE4}"/>
              </a:ext>
            </a:extLst>
          </p:cNvPr>
          <p:cNvSpPr>
            <a:spLocks xmlns:a="http://schemas.openxmlformats.org/drawingml/2006/main" noGrp="1"/>
          </p:cNvSpPr>
          <p:nvPr/>
        </p:nvSpPr>
        <p:spPr>
          <a:xfrm xmlns:a="http://schemas.openxmlformats.org/drawingml/2006/main">
            <a:off x="35337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826133B6-8242-4D40-BE0C-A40460233D47}"/>
              </a:ext>
            </a:extLst>
          </p:cNvPr>
          <p:cNvSpPr>
            <a:spLocks xmlns:a="http://schemas.openxmlformats.org/drawingml/2006/main" noGrp="1"/>
          </p:cNvSpPr>
          <p:nvPr/>
        </p:nvSpPr>
        <p:spPr>
          <a:xfrm xmlns:a="http://schemas.openxmlformats.org/drawingml/2006/main">
            <a:off x="36957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3CDAE8E8-C551-42CC-A32B-283825601E16}"/>
              </a:ext>
            </a:extLst>
          </p:cNvPr>
          <p:cNvSpPr>
            <a:spLocks xmlns:a="http://schemas.openxmlformats.org/drawingml/2006/main" noGrp="1"/>
          </p:cNvSpPr>
          <p:nvPr/>
        </p:nvSpPr>
        <p:spPr>
          <a:xfrm xmlns:a="http://schemas.openxmlformats.org/drawingml/2006/main">
            <a:off x="36957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2BBD1B24-455F-44C2-B561-FDD44C3DF20B}"/>
              </a:ext>
            </a:extLst>
          </p:cNvPr>
          <p:cNvSpPr>
            <a:spLocks xmlns:a="http://schemas.openxmlformats.org/drawingml/2006/main" noGrp="1"/>
          </p:cNvSpPr>
          <p:nvPr/>
        </p:nvSpPr>
        <p:spPr>
          <a:xfrm xmlns:a="http://schemas.openxmlformats.org/drawingml/2006/main">
            <a:off x="38576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6B681E94-E7F2-433C-BD24-E60D0229C022}"/>
              </a:ext>
            </a:extLst>
          </p:cNvPr>
          <p:cNvSpPr>
            <a:spLocks xmlns:a="http://schemas.openxmlformats.org/drawingml/2006/main" noGrp="1"/>
          </p:cNvSpPr>
          <p:nvPr/>
        </p:nvSpPr>
        <p:spPr>
          <a:xfrm xmlns:a="http://schemas.openxmlformats.org/drawingml/2006/main">
            <a:off x="38576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56457645-36A6-4088-A51F-F20B82ED30BB}"/>
              </a:ext>
            </a:extLst>
          </p:cNvPr>
          <p:cNvSpPr>
            <a:spLocks xmlns:a="http://schemas.openxmlformats.org/drawingml/2006/main" noGrp="1"/>
          </p:cNvSpPr>
          <p:nvPr/>
        </p:nvSpPr>
        <p:spPr>
          <a:xfrm xmlns:a="http://schemas.openxmlformats.org/drawingml/2006/main">
            <a:off x="4019550" y="428625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0FBEA4BC-D09D-4065-BF71-11E6A478B009}"/>
              </a:ext>
            </a:extLst>
          </p:cNvPr>
          <p:cNvSpPr>
            <a:spLocks xmlns:a="http://schemas.openxmlformats.org/drawingml/2006/main" noGrp="1"/>
          </p:cNvSpPr>
          <p:nvPr/>
        </p:nvSpPr>
        <p:spPr>
          <a:xfrm xmlns:a="http://schemas.openxmlformats.org/drawingml/2006/main">
            <a:off x="4019550" y="514350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C2401490-1798-4501-88F0-4482C3C0DC39}"/>
              </a:ext>
            </a:extLst>
          </p:cNvPr>
          <p:cNvSpPr>
            <a:spLocks xmlns:a="http://schemas.openxmlformats.org/drawingml/2006/main" noGrp="1"/>
          </p:cNvSpPr>
          <p:nvPr/>
        </p:nvSpPr>
        <p:spPr>
          <a:xfrm xmlns:a="http://schemas.openxmlformats.org/drawingml/2006/main">
            <a:off x="142875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BF006666-0912-4D39-BFE2-BC3154AED84C}"/>
              </a:ext>
            </a:extLst>
          </p:cNvPr>
          <p:cNvSpPr>
            <a:spLocks xmlns:a="http://schemas.openxmlformats.org/drawingml/2006/main" noGrp="1"/>
          </p:cNvSpPr>
          <p:nvPr/>
        </p:nvSpPr>
        <p:spPr>
          <a:xfrm xmlns:a="http://schemas.openxmlformats.org/drawingml/2006/main">
            <a:off x="407670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BFA26345-B8A4-49EF-A087-D6E85B1953D6}"/>
              </a:ext>
            </a:extLst>
          </p:cNvPr>
          <p:cNvSpPr>
            <a:spLocks xmlns:a="http://schemas.openxmlformats.org/drawingml/2006/main" noGrp="1"/>
          </p:cNvSpPr>
          <p:nvPr/>
        </p:nvSpPr>
        <p:spPr>
          <a:xfrm xmlns:a="http://schemas.openxmlformats.org/drawingml/2006/main">
            <a:off x="142875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B8ABCDDA-B708-4EC2-BD4B-8C286CF377F9}"/>
              </a:ext>
            </a:extLst>
          </p:cNvPr>
          <p:cNvSpPr>
            <a:spLocks xmlns:a="http://schemas.openxmlformats.org/drawingml/2006/main" noGrp="1"/>
          </p:cNvSpPr>
          <p:nvPr/>
        </p:nvSpPr>
        <p:spPr>
          <a:xfrm xmlns:a="http://schemas.openxmlformats.org/drawingml/2006/main">
            <a:off x="407670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89EEC74D-D6B3-49F5-A38D-D8CF74C0DF3F}"/>
              </a:ext>
            </a:extLst>
          </p:cNvPr>
          <p:cNvSpPr>
            <a:spLocks xmlns:a="http://schemas.openxmlformats.org/drawingml/2006/main" noGrp="1"/>
          </p:cNvSpPr>
          <p:nvPr/>
        </p:nvSpPr>
        <p:spPr>
          <a:xfrm xmlns:a="http://schemas.openxmlformats.org/drawingml/2006/main">
            <a:off x="142875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76BEB889-A990-4ABD-941C-1EBE48CAF968}"/>
              </a:ext>
            </a:extLst>
          </p:cNvPr>
          <p:cNvSpPr>
            <a:spLocks xmlns:a="http://schemas.openxmlformats.org/drawingml/2006/main" noGrp="1"/>
          </p:cNvSpPr>
          <p:nvPr/>
        </p:nvSpPr>
        <p:spPr>
          <a:xfrm xmlns:a="http://schemas.openxmlformats.org/drawingml/2006/main">
            <a:off x="407670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8D18D223-26B4-4DAE-B3FE-CCCDB6AB5D15}"/>
              </a:ext>
            </a:extLst>
          </p:cNvPr>
          <p:cNvSpPr>
            <a:spLocks xmlns:a="http://schemas.openxmlformats.org/drawingml/2006/main" noGrp="1"/>
          </p:cNvSpPr>
          <p:nvPr/>
        </p:nvSpPr>
        <p:spPr>
          <a:xfrm xmlns:a="http://schemas.openxmlformats.org/drawingml/2006/main">
            <a:off x="142875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9E92486A-B245-46D7-910D-8A601587C9CA}"/>
              </a:ext>
            </a:extLst>
          </p:cNvPr>
          <p:cNvSpPr>
            <a:spLocks xmlns:a="http://schemas.openxmlformats.org/drawingml/2006/main" noGrp="1"/>
          </p:cNvSpPr>
          <p:nvPr/>
        </p:nvSpPr>
        <p:spPr>
          <a:xfrm xmlns:a="http://schemas.openxmlformats.org/drawingml/2006/main">
            <a:off x="407670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738A0217-386F-4B3C-B339-38AD99986A54}"/>
              </a:ext>
            </a:extLst>
          </p:cNvPr>
          <p:cNvSpPr>
            <a:spLocks xmlns:a="http://schemas.openxmlformats.org/drawingml/2006/main" noGrp="1"/>
          </p:cNvSpPr>
          <p:nvPr/>
        </p:nvSpPr>
        <p:spPr>
          <a:xfrm xmlns:a="http://schemas.openxmlformats.org/drawingml/2006/main">
            <a:off x="142875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CE764E23-1CC7-44F1-8797-3A1F8C19D0AB}"/>
              </a:ext>
            </a:extLst>
          </p:cNvPr>
          <p:cNvSpPr>
            <a:spLocks xmlns:a="http://schemas.openxmlformats.org/drawingml/2006/main" noGrp="1"/>
          </p:cNvSpPr>
          <p:nvPr/>
        </p:nvSpPr>
        <p:spPr>
          <a:xfrm xmlns:a="http://schemas.openxmlformats.org/drawingml/2006/main">
            <a:off x="407670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D1B8EABE-7E98-4DE0-BDB8-877030D7E47F}"/>
              </a:ext>
            </a:extLst>
          </p:cNvPr>
          <p:cNvSpPr>
            <a:spLocks xmlns:a="http://schemas.openxmlformats.org/drawingml/2006/main" noGrp="1"/>
          </p:cNvSpPr>
          <p:nvPr/>
        </p:nvSpPr>
        <p:spPr>
          <a:xfrm xmlns:a="http://schemas.openxmlformats.org/drawingml/2006/main">
            <a:off x="142875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1BE43658-14A0-4C0E-81CD-C82EBAB723FB}"/>
              </a:ext>
            </a:extLst>
          </p:cNvPr>
          <p:cNvSpPr>
            <a:spLocks xmlns:a="http://schemas.openxmlformats.org/drawingml/2006/main" noGrp="1"/>
          </p:cNvSpPr>
          <p:nvPr/>
        </p:nvSpPr>
        <p:spPr>
          <a:xfrm xmlns:a="http://schemas.openxmlformats.org/drawingml/2006/main">
            <a:off x="407670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548B22A5-AD9B-4893-B9C1-5AC3010328A3}"/>
              </a:ext>
            </a:extLst>
          </p:cNvPr>
          <p:cNvSpPr>
            <a:spLocks xmlns:a="http://schemas.openxmlformats.org/drawingml/2006/main" noGrp="1"/>
          </p:cNvSpPr>
          <p:nvPr/>
        </p:nvSpPr>
        <p:spPr>
          <a:xfrm xmlns:a="http://schemas.openxmlformats.org/drawingml/2006/main" rot="0">
            <a:off x="1562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現場で得たデータ</a:t>
            </a:r>
          </a:p>
        </p:txBody>
      </p:sp>
      <p:sp>
        <p:nvSpPr>
          <p:cNvPr id="58" name="">
            <a:extLst xmlns:a="http://schemas.openxmlformats.org/drawingml/2006/main">
              <a:ext uri="{FF2B5EF4-FFF2-40B4-BE49-F238E27FC236}">
                <a16:creationId xmlns:a16="http://schemas.microsoft.com/office/drawing/2014/main" id="{C5D4FE7F-2FD4-441A-97E7-B2000D495D94}"/>
              </a:ext>
            </a:extLst>
          </p:cNvPr>
          <p:cNvSpPr>
            <a:spLocks xmlns:a="http://schemas.openxmlformats.org/drawingml/2006/main" noGrp="1"/>
          </p:cNvSpPr>
          <p:nvPr/>
        </p:nvSpPr>
        <p:spPr>
          <a:xfrm xmlns:a="http://schemas.openxmlformats.org/drawingml/2006/main">
            <a:off x="4238625" y="24765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CDB2103D-66BE-4485-837B-5B5E984C0A74}"/>
              </a:ext>
            </a:extLst>
          </p:cNvPr>
          <p:cNvSpPr>
            <a:spLocks xmlns:a="http://schemas.openxmlformats.org/drawingml/2006/main" noGrp="1"/>
          </p:cNvSpPr>
          <p:nvPr/>
        </p:nvSpPr>
        <p:spPr>
          <a:xfrm xmlns:a="http://schemas.openxmlformats.org/drawingml/2006/main" rot="5400000">
            <a:off x="7210425" y="24098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0" name="">
            <a:extLst xmlns:a="http://schemas.openxmlformats.org/drawingml/2006/main">
              <a:ext uri="{FF2B5EF4-FFF2-40B4-BE49-F238E27FC236}">
                <a16:creationId xmlns:a16="http://schemas.microsoft.com/office/drawing/2014/main" id="{CFF8565D-D51A-408A-98EA-F58C27CFB4E0}"/>
              </a:ext>
            </a:extLst>
          </p:cNvPr>
          <p:cNvSpPr>
            <a:spLocks xmlns:a="http://schemas.openxmlformats.org/drawingml/2006/main" noGrp="1"/>
          </p:cNvSpPr>
          <p:nvPr/>
        </p:nvSpPr>
        <p:spPr>
          <a:xfrm xmlns:a="http://schemas.openxmlformats.org/drawingml/2006/main">
            <a:off x="8839200" y="3019425"/>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F0AA7F7F-7322-4EBF-ABC0-8C0544F905E0}"/>
              </a:ext>
            </a:extLst>
          </p:cNvPr>
          <p:cNvSpPr>
            <a:spLocks xmlns:a="http://schemas.openxmlformats.org/drawingml/2006/main" noGrp="1"/>
          </p:cNvSpPr>
          <p:nvPr/>
        </p:nvSpPr>
        <p:spPr>
          <a:xfrm xmlns:a="http://schemas.openxmlformats.org/drawingml/2006/main" rot="10800000">
            <a:off x="8772525" y="39719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2" name="">
            <a:extLst xmlns:a="http://schemas.openxmlformats.org/drawingml/2006/main">
              <a:ext uri="{FF2B5EF4-FFF2-40B4-BE49-F238E27FC236}">
                <a16:creationId xmlns:a16="http://schemas.microsoft.com/office/drawing/2014/main" id="{D3C76356-848D-47AD-B5A8-3A1FE694491C}"/>
              </a:ext>
            </a:extLst>
          </p:cNvPr>
          <p:cNvSpPr>
            <a:spLocks xmlns:a="http://schemas.openxmlformats.org/drawingml/2006/main" noGrp="1"/>
          </p:cNvSpPr>
          <p:nvPr/>
        </p:nvSpPr>
        <p:spPr>
          <a:xfrm xmlns:a="http://schemas.openxmlformats.org/drawingml/2006/main">
            <a:off x="4381500" y="47244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62C82F62-96B9-4402-89F5-05B397D9827C}"/>
              </a:ext>
            </a:extLst>
          </p:cNvPr>
          <p:cNvSpPr>
            <a:spLocks xmlns:a="http://schemas.openxmlformats.org/drawingml/2006/main" noGrp="1"/>
          </p:cNvSpPr>
          <p:nvPr/>
        </p:nvSpPr>
        <p:spPr>
          <a:xfrm xmlns:a="http://schemas.openxmlformats.org/drawingml/2006/main" rot="16200000">
            <a:off x="4238625" y="4657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4" name="">
            <a:extLst xmlns:a="http://schemas.openxmlformats.org/drawingml/2006/main">
              <a:ext uri="{FF2B5EF4-FFF2-40B4-BE49-F238E27FC236}">
                <a16:creationId xmlns:a16="http://schemas.microsoft.com/office/drawing/2014/main" id="{3F34C5B9-CD1A-4300-A1B2-43147F15DB69}"/>
              </a:ext>
            </a:extLst>
          </p:cNvPr>
          <p:cNvSpPr>
            <a:spLocks xmlns:a="http://schemas.openxmlformats.org/drawingml/2006/main" noGrp="1"/>
          </p:cNvSpPr>
          <p:nvPr/>
        </p:nvSpPr>
        <p:spPr>
          <a:xfrm xmlns:a="http://schemas.openxmlformats.org/drawingml/2006/main">
            <a:off x="2743200" y="3162300"/>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EE269F88-EFDF-4ABC-AA22-A07474EC28B3}"/>
              </a:ext>
            </a:extLst>
          </p:cNvPr>
          <p:cNvSpPr>
            <a:spLocks xmlns:a="http://schemas.openxmlformats.org/drawingml/2006/main" noGrp="1"/>
          </p:cNvSpPr>
          <p:nvPr/>
        </p:nvSpPr>
        <p:spPr>
          <a:xfrm xmlns:a="http://schemas.openxmlformats.org/drawingml/2006/main" rot="0">
            <a:off x="2676525" y="30194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6" name="">
            <a:extLst xmlns:a="http://schemas.openxmlformats.org/drawingml/2006/main">
              <a:ext uri="{FF2B5EF4-FFF2-40B4-BE49-F238E27FC236}">
                <a16:creationId xmlns:a16="http://schemas.microsoft.com/office/drawing/2014/main" id="{13A1EA7A-8C01-4738-82A1-A3F82674BA30}"/>
              </a:ext>
            </a:extLst>
          </p:cNvPr>
          <p:cNvSpPr>
            <a:spLocks xmlns:a="http://schemas.openxmlformats.org/drawingml/2006/main" noGrp="1"/>
          </p:cNvSpPr>
          <p:nvPr/>
        </p:nvSpPr>
        <p:spPr>
          <a:xfrm xmlns:a="http://schemas.openxmlformats.org/drawingml/2006/main" rot="0">
            <a:off x="4905375" y="214312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8646A"/>
                </a:solidFill>
                <a:latin typeface="Hiragino Sans"/>
                <a:ea typeface="Hiragino Sans"/>
                <a:cs typeface="Hiragino Sans"/>
              </a:defRPr>
            </a:pPr>
            <a:r>
              <a:rPr sz="1125" b="0">
                <a:solidFill>
                  <a:srgbClr val="58646A"/>
                </a:solidFill>
                <a:latin typeface="Hiragino Sans"/>
                <a:ea typeface="Hiragino Sans"/>
                <a:cs typeface="Hiragino Sans"/>
              </a:rPr>
              <a:t>モデルを実機へ</a:t>
            </a:r>
          </a:p>
        </p:txBody>
      </p:sp>
      <p:sp>
        <p:nvSpPr>
          <p:cNvPr id="67" name="">
            <a:extLst xmlns:a="http://schemas.openxmlformats.org/drawingml/2006/main">
              <a:ext uri="{FF2B5EF4-FFF2-40B4-BE49-F238E27FC236}">
                <a16:creationId xmlns:a16="http://schemas.microsoft.com/office/drawing/2014/main" id="{CB248187-5042-4CB6-8C34-5527D6CAF47C}"/>
              </a:ext>
            </a:extLst>
          </p:cNvPr>
          <p:cNvSpPr>
            <a:spLocks xmlns:a="http://schemas.openxmlformats.org/drawingml/2006/main" noGrp="1"/>
          </p:cNvSpPr>
          <p:nvPr/>
        </p:nvSpPr>
        <p:spPr>
          <a:xfrm xmlns:a="http://schemas.openxmlformats.org/drawingml/2006/main" rot="0">
            <a:off x="4953000" y="347662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稼働そのものが</a:t>
            </a:r>
          </a:p>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データ収集になる</a:t>
            </a:r>
          </a:p>
        </p:txBody>
      </p:sp>
      <p:sp>
        <p:nvSpPr>
          <p:cNvPr id="68" name="">
            <a:extLst xmlns:a="http://schemas.openxmlformats.org/drawingml/2006/main">
              <a:ext uri="{FF2B5EF4-FFF2-40B4-BE49-F238E27FC236}">
                <a16:creationId xmlns:a16="http://schemas.microsoft.com/office/drawing/2014/main" id="{76935ADB-8A05-4DB0-921A-891A92ED153B}"/>
              </a:ext>
            </a:extLst>
          </p:cNvPr>
          <p:cNvSpPr>
            <a:spLocks xmlns:a="http://schemas.openxmlformats.org/drawingml/2006/main" noGrp="1"/>
          </p:cNvSpPr>
          <p:nvPr/>
        </p:nvSpPr>
        <p:spPr>
          <a:xfrm xmlns:a="http://schemas.openxmlformats.org/drawingml/2006/main" rot="0">
            <a:off x="723900" y="58102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データをモデル改善へ戻す</a:t>
            </a:r>
          </a:p>
        </p:txBody>
      </p:sp>
    </p:spTree>
    <p:extLst>
      <p:ext uri="{BB962C8B-B14F-4D97-AF65-F5344CB8AC3E}">
        <p14:creationId xmlns:p14="http://schemas.microsoft.com/office/powerpoint/2010/main" val="1477081925"/>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D1E8429-19F6-47D6-BED9-420270C9BCB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B65C03-50AE-4FD6-B37C-BD8E9AB6680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データ収集を通じて、先に実現場ネットワークを構築することが有利</a:t>
            </a:r>
          </a:p>
        </p:txBody>
      </p:sp>
      <p:sp>
        <p:nvSpPr>
          <p:cNvPr id="3" name="">
            <a:extLst xmlns:a="http://schemas.openxmlformats.org/drawingml/2006/main">
              <a:ext uri="{FF2B5EF4-FFF2-40B4-BE49-F238E27FC236}">
                <a16:creationId xmlns:a16="http://schemas.microsoft.com/office/drawing/2014/main" id="{0F3BF745-BD98-4160-8823-C4DADBD0A73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2F9C73F-9DB5-4ADA-A06C-E9399735BB8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43A30E31-9437-4E1F-86C3-5AC540D30A5B}"/>
              </a:ext>
            </a:extLst>
          </p:cNvPr>
          <p:cNvSpPr>
            <a:spLocks xmlns:a="http://schemas.openxmlformats.org/drawingml/2006/main" noGrp="1"/>
          </p:cNvSpPr>
          <p:nvPr/>
        </p:nvSpPr>
        <p:spPr>
          <a:xfrm xmlns:a="http://schemas.openxmlformats.org/drawingml/2006/main" rot="0">
            <a:off x="723900" y="16002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フィジカルAIは実現場のデータなしに成立しないからこそ、最上流のデータ収集層と最下流の現場統合が繋がる、この業界特有の構造がある</a:t>
            </a:r>
          </a:p>
        </p:txBody>
      </p:sp>
      <p:sp>
        <p:nvSpPr>
          <p:cNvPr id="6" name="">
            <a:extLst xmlns:a="http://schemas.openxmlformats.org/drawingml/2006/main">
              <a:ext uri="{FF2B5EF4-FFF2-40B4-BE49-F238E27FC236}">
                <a16:creationId xmlns:a16="http://schemas.microsoft.com/office/drawing/2014/main" id="{B7BE078C-3F1A-4A94-BC58-5A98F35205B9}"/>
              </a:ext>
            </a:extLst>
          </p:cNvPr>
          <p:cNvSpPr>
            <a:spLocks xmlns:a="http://schemas.openxmlformats.org/drawingml/2006/main" noGrp="1"/>
          </p:cNvSpPr>
          <p:nvPr/>
        </p:nvSpPr>
        <p:spPr>
          <a:xfrm xmlns:a="http://schemas.openxmlformats.org/drawingml/2006/main">
            <a:off x="3667125" y="214312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D6EEB539-607B-49F8-95AD-E5AB99591703}"/>
              </a:ext>
            </a:extLst>
          </p:cNvPr>
          <p:cNvSpPr>
            <a:spLocks xmlns:a="http://schemas.openxmlformats.org/drawingml/2006/main" noGrp="1"/>
          </p:cNvSpPr>
          <p:nvPr/>
        </p:nvSpPr>
        <p:spPr>
          <a:xfrm xmlns:a="http://schemas.openxmlformats.org/drawingml/2006/main" rot="0">
            <a:off x="3800475" y="22574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データ収集・加工</a:t>
            </a:r>
          </a:p>
        </p:txBody>
      </p:sp>
      <p:sp>
        <p:nvSpPr>
          <p:cNvPr id="8" name="">
            <a:extLst xmlns:a="http://schemas.openxmlformats.org/drawingml/2006/main">
              <a:ext uri="{FF2B5EF4-FFF2-40B4-BE49-F238E27FC236}">
                <a16:creationId xmlns:a16="http://schemas.microsoft.com/office/drawing/2014/main" id="{ADB454EF-79EC-4374-9963-9C862EC67720}"/>
              </a:ext>
            </a:extLst>
          </p:cNvPr>
          <p:cNvSpPr>
            <a:spLocks xmlns:a="http://schemas.openxmlformats.org/drawingml/2006/main" noGrp="1"/>
          </p:cNvSpPr>
          <p:nvPr/>
        </p:nvSpPr>
        <p:spPr>
          <a:xfrm xmlns:a="http://schemas.openxmlformats.org/drawingml/2006/main">
            <a:off x="3667125" y="280987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9" name="">
            <a:extLst xmlns:a="http://schemas.openxmlformats.org/drawingml/2006/main">
              <a:ext uri="{FF2B5EF4-FFF2-40B4-BE49-F238E27FC236}">
                <a16:creationId xmlns:a16="http://schemas.microsoft.com/office/drawing/2014/main" id="{D2751E17-4ECB-4F85-81CC-6AFBE5B609ED}"/>
              </a:ext>
            </a:extLst>
          </p:cNvPr>
          <p:cNvSpPr>
            <a:spLocks xmlns:a="http://schemas.openxmlformats.org/drawingml/2006/main" noGrp="1"/>
          </p:cNvSpPr>
          <p:nvPr/>
        </p:nvSpPr>
        <p:spPr>
          <a:xfrm xmlns:a="http://schemas.openxmlformats.org/drawingml/2006/main" rot="0">
            <a:off x="3800475" y="29241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基盤モデル・シミュレーション</a:t>
            </a:r>
          </a:p>
        </p:txBody>
      </p:sp>
      <p:sp>
        <p:nvSpPr>
          <p:cNvPr id="10" name="">
            <a:extLst xmlns:a="http://schemas.openxmlformats.org/drawingml/2006/main">
              <a:ext uri="{FF2B5EF4-FFF2-40B4-BE49-F238E27FC236}">
                <a16:creationId xmlns:a16="http://schemas.microsoft.com/office/drawing/2014/main" id="{E8160119-63F0-4AB3-9A44-ADE96C82D793}"/>
              </a:ext>
            </a:extLst>
          </p:cNvPr>
          <p:cNvSpPr>
            <a:spLocks xmlns:a="http://schemas.openxmlformats.org/drawingml/2006/main" noGrp="1"/>
          </p:cNvSpPr>
          <p:nvPr/>
        </p:nvSpPr>
        <p:spPr>
          <a:xfrm xmlns:a="http://schemas.openxmlformats.org/drawingml/2006/main">
            <a:off x="3667125" y="347662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1" name="">
            <a:extLst xmlns:a="http://schemas.openxmlformats.org/drawingml/2006/main">
              <a:ext uri="{FF2B5EF4-FFF2-40B4-BE49-F238E27FC236}">
                <a16:creationId xmlns:a16="http://schemas.microsoft.com/office/drawing/2014/main" id="{CED77C31-9BBE-4BD9-8F96-2564DE916CE2}"/>
              </a:ext>
            </a:extLst>
          </p:cNvPr>
          <p:cNvSpPr>
            <a:spLocks xmlns:a="http://schemas.openxmlformats.org/drawingml/2006/main" noGrp="1"/>
          </p:cNvSpPr>
          <p:nvPr/>
        </p:nvSpPr>
        <p:spPr>
          <a:xfrm xmlns:a="http://schemas.openxmlformats.org/drawingml/2006/main" rot="0">
            <a:off x="3800475" y="35909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ハードウェア</a:t>
            </a:r>
          </a:p>
        </p:txBody>
      </p:sp>
      <p:sp>
        <p:nvSpPr>
          <p:cNvPr id="12" name="">
            <a:extLst xmlns:a="http://schemas.openxmlformats.org/drawingml/2006/main">
              <a:ext uri="{FF2B5EF4-FFF2-40B4-BE49-F238E27FC236}">
                <a16:creationId xmlns:a16="http://schemas.microsoft.com/office/drawing/2014/main" id="{EA143909-6F68-43C7-93D5-C7BDBD8C7315}"/>
              </a:ext>
            </a:extLst>
          </p:cNvPr>
          <p:cNvSpPr>
            <a:spLocks xmlns:a="http://schemas.openxmlformats.org/drawingml/2006/main" noGrp="1"/>
          </p:cNvSpPr>
          <p:nvPr/>
        </p:nvSpPr>
        <p:spPr>
          <a:xfrm xmlns:a="http://schemas.openxmlformats.org/drawingml/2006/main">
            <a:off x="3667125" y="414337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C2D6956C-E565-408E-B334-B48C66EA8FCC}"/>
              </a:ext>
            </a:extLst>
          </p:cNvPr>
          <p:cNvSpPr>
            <a:spLocks xmlns:a="http://schemas.openxmlformats.org/drawingml/2006/main" noGrp="1"/>
          </p:cNvSpPr>
          <p:nvPr/>
        </p:nvSpPr>
        <p:spPr>
          <a:xfrm xmlns:a="http://schemas.openxmlformats.org/drawingml/2006/main" rot="0">
            <a:off x="3800475" y="42576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現場統合</a:t>
            </a:r>
          </a:p>
        </p:txBody>
      </p:sp>
      <p:sp>
        <p:nvSpPr>
          <p:cNvPr id="14" name="">
            <a:extLst xmlns:a="http://schemas.openxmlformats.org/drawingml/2006/main">
              <a:ext uri="{FF2B5EF4-FFF2-40B4-BE49-F238E27FC236}">
                <a16:creationId xmlns:a16="http://schemas.microsoft.com/office/drawing/2014/main" id="{39EAB146-6AAB-4561-8D27-3057C4BCEC34}"/>
              </a:ext>
            </a:extLst>
          </p:cNvPr>
          <p:cNvSpPr>
            <a:spLocks xmlns:a="http://schemas.openxmlformats.org/drawingml/2006/main" noGrp="1"/>
          </p:cNvSpPr>
          <p:nvPr/>
        </p:nvSpPr>
        <p:spPr>
          <a:xfrm xmlns:a="http://schemas.openxmlformats.org/drawingml/2006/main">
            <a:off x="3667125" y="5238750"/>
            <a:ext cx="4095750" cy="55245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5" name="">
            <a:extLst xmlns:a="http://schemas.openxmlformats.org/drawingml/2006/main">
              <a:ext uri="{FF2B5EF4-FFF2-40B4-BE49-F238E27FC236}">
                <a16:creationId xmlns:a16="http://schemas.microsoft.com/office/drawing/2014/main" id="{CBA3BCC3-6F89-428C-97D3-2422D2F40036}"/>
              </a:ext>
            </a:extLst>
          </p:cNvPr>
          <p:cNvSpPr>
            <a:spLocks xmlns:a="http://schemas.openxmlformats.org/drawingml/2006/main" noGrp="1"/>
          </p:cNvSpPr>
          <p:nvPr/>
        </p:nvSpPr>
        <p:spPr>
          <a:xfrm xmlns:a="http://schemas.openxmlformats.org/drawingml/2006/main" rot="0">
            <a:off x="3800475" y="535305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現場</a:t>
            </a:r>
          </a:p>
        </p:txBody>
      </p:sp>
      <p:sp>
        <p:nvSpPr>
          <p:cNvPr id="16" name="">
            <a:extLst xmlns:a="http://schemas.openxmlformats.org/drawingml/2006/main">
              <a:ext uri="{FF2B5EF4-FFF2-40B4-BE49-F238E27FC236}">
                <a16:creationId xmlns:a16="http://schemas.microsoft.com/office/drawing/2014/main" id="{AD835A3B-3869-4532-A759-0B281A611F4D}"/>
              </a:ext>
            </a:extLst>
          </p:cNvPr>
          <p:cNvSpPr>
            <a:spLocks xmlns:a="http://schemas.openxmlformats.org/drawingml/2006/main" noGrp="1"/>
          </p:cNvSpPr>
          <p:nvPr/>
        </p:nvSpPr>
        <p:spPr>
          <a:xfrm xmlns:a="http://schemas.openxmlformats.org/drawingml/2006/main">
            <a:off x="5715000" y="4791075"/>
            <a:ext cx="28575" cy="2095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EE78B1A-912D-499E-A170-2D4826F38F0F}"/>
              </a:ext>
            </a:extLst>
          </p:cNvPr>
          <p:cNvSpPr>
            <a:spLocks xmlns:a="http://schemas.openxmlformats.org/drawingml/2006/main" noGrp="1"/>
          </p:cNvSpPr>
          <p:nvPr/>
        </p:nvSpPr>
        <p:spPr>
          <a:xfrm xmlns:a="http://schemas.openxmlformats.org/drawingml/2006/main" rot="10800000">
            <a:off x="5648325" y="49720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98A0B07A-23FB-4E91-8F6E-E69D381B3BCD}"/>
              </a:ext>
            </a:extLst>
          </p:cNvPr>
          <p:cNvSpPr>
            <a:spLocks xmlns:a="http://schemas.openxmlformats.org/drawingml/2006/main" noGrp="1"/>
          </p:cNvSpPr>
          <p:nvPr/>
        </p:nvSpPr>
        <p:spPr>
          <a:xfrm xmlns:a="http://schemas.openxmlformats.org/drawingml/2006/main">
            <a:off x="7762875" y="241935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1DC4634-E9F1-4D68-9F2D-72B0FBCED833}"/>
              </a:ext>
            </a:extLst>
          </p:cNvPr>
          <p:cNvSpPr>
            <a:spLocks xmlns:a="http://schemas.openxmlformats.org/drawingml/2006/main" noGrp="1"/>
          </p:cNvSpPr>
          <p:nvPr/>
        </p:nvSpPr>
        <p:spPr>
          <a:xfrm xmlns:a="http://schemas.openxmlformats.org/drawingml/2006/main">
            <a:off x="9353550" y="2419350"/>
            <a:ext cx="28575" cy="309562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C19A3C2-2B3E-484D-B0B9-C3CD352344BD}"/>
              </a:ext>
            </a:extLst>
          </p:cNvPr>
          <p:cNvSpPr>
            <a:spLocks xmlns:a="http://schemas.openxmlformats.org/drawingml/2006/main" noGrp="1"/>
          </p:cNvSpPr>
          <p:nvPr/>
        </p:nvSpPr>
        <p:spPr>
          <a:xfrm xmlns:a="http://schemas.openxmlformats.org/drawingml/2006/main">
            <a:off x="7762875" y="548640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61513A1-4D67-4FF5-ACEE-A6E87165F600}"/>
              </a:ext>
            </a:extLst>
          </p:cNvPr>
          <p:cNvSpPr>
            <a:spLocks xmlns:a="http://schemas.openxmlformats.org/drawingml/2006/main" noGrp="1"/>
          </p:cNvSpPr>
          <p:nvPr/>
        </p:nvSpPr>
        <p:spPr>
          <a:xfrm xmlns:a="http://schemas.openxmlformats.org/drawingml/2006/main" rot="16200000">
            <a:off x="7743825" y="5419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22" name="">
            <a:extLst xmlns:a="http://schemas.openxmlformats.org/drawingml/2006/main">
              <a:ext uri="{FF2B5EF4-FFF2-40B4-BE49-F238E27FC236}">
                <a16:creationId xmlns:a16="http://schemas.microsoft.com/office/drawing/2014/main" id="{0F923038-AF1C-40E7-8588-72509A66B5A6}"/>
              </a:ext>
            </a:extLst>
          </p:cNvPr>
          <p:cNvSpPr>
            <a:spLocks xmlns:a="http://schemas.openxmlformats.org/drawingml/2006/main" noGrp="1"/>
          </p:cNvSpPr>
          <p:nvPr/>
        </p:nvSpPr>
        <p:spPr>
          <a:xfrm xmlns:a="http://schemas.openxmlformats.org/drawingml/2006/main" rot="0">
            <a:off x="9572625" y="3333750"/>
            <a:ext cx="161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上流からも</a:t>
            </a:r>
          </a:p>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現場へ直接入る</a:t>
            </a:r>
          </a:p>
        </p:txBody>
      </p:sp>
      <p:sp>
        <p:nvSpPr>
          <p:cNvPr id="23" name="">
            <a:extLst xmlns:a="http://schemas.openxmlformats.org/drawingml/2006/main">
              <a:ext uri="{FF2B5EF4-FFF2-40B4-BE49-F238E27FC236}">
                <a16:creationId xmlns:a16="http://schemas.microsoft.com/office/drawing/2014/main" id="{2A8990F3-828E-427F-A64B-43130E05FC05}"/>
              </a:ext>
            </a:extLst>
          </p:cNvPr>
          <p:cNvSpPr>
            <a:spLocks xmlns:a="http://schemas.openxmlformats.org/drawingml/2006/main" noGrp="1"/>
          </p:cNvSpPr>
          <p:nvPr/>
        </p:nvSpPr>
        <p:spPr>
          <a:xfrm xmlns:a="http://schemas.openxmlformats.org/drawingml/2006/main" rot="0">
            <a:off x="723900" y="60007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上流のデータ収集と最下流の現場統合が、同じ現場と直接つながる</a:t>
            </a:r>
          </a:p>
        </p:txBody>
      </p:sp>
    </p:spTree>
    <p:extLst>
      <p:ext uri="{BB962C8B-B14F-4D97-AF65-F5344CB8AC3E}">
        <p14:creationId xmlns:p14="http://schemas.microsoft.com/office/powerpoint/2010/main" val="424343757"/>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945EA43-D15E-4555-A13E-E58D18E287E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CC38B4-58A1-4908-A5B4-1AAC7FF8E996}"/>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現場統合層は横に広げられないが、データ収集層なら今すぐ広げられる</a:t>
            </a:r>
          </a:p>
        </p:txBody>
      </p:sp>
      <p:sp>
        <p:nvSpPr>
          <p:cNvPr id="3" name="">
            <a:extLst xmlns:a="http://schemas.openxmlformats.org/drawingml/2006/main">
              <a:ext uri="{FF2B5EF4-FFF2-40B4-BE49-F238E27FC236}">
                <a16:creationId xmlns:a16="http://schemas.microsoft.com/office/drawing/2014/main" id="{A54A6F75-0FD0-49A4-9F25-4AA914A55B3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D2D118D-8BED-4BC1-A0BC-1CF69A983ED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1BB1A8C1-E142-408E-9399-BC8E27A9CC9F}"/>
              </a:ext>
            </a:extLst>
          </p:cNvPr>
          <p:cNvSpPr>
            <a:spLocks xmlns:a="http://schemas.openxmlformats.org/drawingml/2006/main" noGrp="1"/>
          </p:cNvSpPr>
          <p:nvPr/>
        </p:nvSpPr>
        <p:spPr>
          <a:xfrm xmlns:a="http://schemas.openxmlformats.org/drawingml/2006/main" rot="0">
            <a:off x="723900" y="16002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業種をまたぐ技術的障壁がないのはデータ収集層だけである</a:t>
            </a:r>
          </a:p>
        </p:txBody>
      </p:sp>
      <p:sp>
        <p:nvSpPr>
          <p:cNvPr id="6" name="">
            <a:extLst xmlns:a="http://schemas.openxmlformats.org/drawingml/2006/main">
              <a:ext uri="{FF2B5EF4-FFF2-40B4-BE49-F238E27FC236}">
                <a16:creationId xmlns:a16="http://schemas.microsoft.com/office/drawing/2014/main" id="{F3A1C31D-28C8-4175-85E3-FCE5B6A917EE}"/>
              </a:ext>
            </a:extLst>
          </p:cNvPr>
          <p:cNvSpPr>
            <a:spLocks xmlns:a="http://schemas.openxmlformats.org/drawingml/2006/main" noGrp="1"/>
          </p:cNvSpPr>
          <p:nvPr/>
        </p:nvSpPr>
        <p:spPr>
          <a:xfrm xmlns:a="http://schemas.openxmlformats.org/drawingml/2006/main" rot="0">
            <a:off x="857250" y="24765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現場統合層</a:t>
            </a:r>
          </a:p>
        </p:txBody>
      </p:sp>
      <p:sp>
        <p:nvSpPr>
          <p:cNvPr id="7" name="">
            <a:extLst xmlns:a="http://schemas.openxmlformats.org/drawingml/2006/main">
              <a:ext uri="{FF2B5EF4-FFF2-40B4-BE49-F238E27FC236}">
                <a16:creationId xmlns:a16="http://schemas.microsoft.com/office/drawing/2014/main" id="{0E394E3E-1C68-4500-83FC-D84D92F5018F}"/>
              </a:ext>
            </a:extLst>
          </p:cNvPr>
          <p:cNvSpPr>
            <a:spLocks xmlns:a="http://schemas.openxmlformats.org/drawingml/2006/main" noGrp="1"/>
          </p:cNvSpPr>
          <p:nvPr/>
        </p:nvSpPr>
        <p:spPr>
          <a:xfrm xmlns:a="http://schemas.openxmlformats.org/drawingml/2006/main">
            <a:off x="857250" y="295275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9F2E801-935A-4290-A68A-D5C98B1C0B70}"/>
              </a:ext>
            </a:extLst>
          </p:cNvPr>
          <p:cNvSpPr>
            <a:spLocks xmlns:a="http://schemas.openxmlformats.org/drawingml/2006/main" noGrp="1"/>
          </p:cNvSpPr>
          <p:nvPr/>
        </p:nvSpPr>
        <p:spPr>
          <a:xfrm xmlns:a="http://schemas.openxmlformats.org/drawingml/2006/main">
            <a:off x="857250" y="333375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35C544D-3BED-4308-AADA-5B84A0D9C9BE}"/>
              </a:ext>
            </a:extLst>
          </p:cNvPr>
          <p:cNvSpPr>
            <a:spLocks xmlns:a="http://schemas.openxmlformats.org/drawingml/2006/main" noGrp="1"/>
          </p:cNvSpPr>
          <p:nvPr/>
        </p:nvSpPr>
        <p:spPr>
          <a:xfrm xmlns:a="http://schemas.openxmlformats.org/drawingml/2006/main" rot="0">
            <a:off x="1104900" y="3171825"/>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業種・タスクごとに</a:t>
            </a:r>
          </a:p>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個別の技術開発が必要</a:t>
            </a:r>
          </a:p>
        </p:txBody>
      </p:sp>
      <p:sp>
        <p:nvSpPr>
          <p:cNvPr id="10" name="">
            <a:extLst xmlns:a="http://schemas.openxmlformats.org/drawingml/2006/main">
              <a:ext uri="{FF2B5EF4-FFF2-40B4-BE49-F238E27FC236}">
                <a16:creationId xmlns:a16="http://schemas.microsoft.com/office/drawing/2014/main" id="{513E72AC-D252-4E87-86CE-C25B34090BFA}"/>
              </a:ext>
            </a:extLst>
          </p:cNvPr>
          <p:cNvSpPr>
            <a:spLocks xmlns:a="http://schemas.openxmlformats.org/drawingml/2006/main" noGrp="1"/>
          </p:cNvSpPr>
          <p:nvPr/>
        </p:nvSpPr>
        <p:spPr>
          <a:xfrm xmlns:a="http://schemas.openxmlformats.org/drawingml/2006/main">
            <a:off x="857250" y="44291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0126133-C98F-405C-8A77-809F7BF009C3}"/>
              </a:ext>
            </a:extLst>
          </p:cNvPr>
          <p:cNvSpPr>
            <a:spLocks xmlns:a="http://schemas.openxmlformats.org/drawingml/2006/main" noGrp="1"/>
          </p:cNvSpPr>
          <p:nvPr/>
        </p:nvSpPr>
        <p:spPr>
          <a:xfrm xmlns:a="http://schemas.openxmlformats.org/drawingml/2006/main" rot="0">
            <a:off x="1104900" y="4267200"/>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横展開している企業は</a:t>
            </a:r>
          </a:p>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現時点でゼロ</a:t>
            </a:r>
          </a:p>
        </p:txBody>
      </p:sp>
      <p:sp>
        <p:nvSpPr>
          <p:cNvPr id="12" name="">
            <a:extLst xmlns:a="http://schemas.openxmlformats.org/drawingml/2006/main">
              <a:ext uri="{FF2B5EF4-FFF2-40B4-BE49-F238E27FC236}">
                <a16:creationId xmlns:a16="http://schemas.microsoft.com/office/drawing/2014/main" id="{59ADA8E2-CC5F-49E1-99A0-9C2D2F568018}"/>
              </a:ext>
            </a:extLst>
          </p:cNvPr>
          <p:cNvSpPr>
            <a:spLocks xmlns:a="http://schemas.openxmlformats.org/drawingml/2006/main" noGrp="1"/>
          </p:cNvSpPr>
          <p:nvPr/>
        </p:nvSpPr>
        <p:spPr>
          <a:xfrm xmlns:a="http://schemas.openxmlformats.org/drawingml/2006/main">
            <a:off x="6096000" y="2333625"/>
            <a:ext cx="9525" cy="31908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BC00F1C-4389-4D1E-AB09-367AC2014A75}"/>
              </a:ext>
            </a:extLst>
          </p:cNvPr>
          <p:cNvSpPr>
            <a:spLocks xmlns:a="http://schemas.openxmlformats.org/drawingml/2006/main" noGrp="1"/>
          </p:cNvSpPr>
          <p:nvPr/>
        </p:nvSpPr>
        <p:spPr>
          <a:xfrm xmlns:a="http://schemas.openxmlformats.org/drawingml/2006/main" rot="0">
            <a:off x="6572250" y="24765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315C78"/>
                </a:solidFill>
                <a:latin typeface="Hiragino Sans"/>
                <a:ea typeface="Hiragino Sans"/>
                <a:cs typeface="Hiragino Sans"/>
              </a:defRPr>
            </a:pPr>
            <a:r>
              <a:rPr sz="1875" b="1">
                <a:solidFill>
                  <a:srgbClr val="315C78"/>
                </a:solidFill>
                <a:latin typeface="Hiragino Sans"/>
                <a:ea typeface="Hiragino Sans"/>
                <a:cs typeface="Hiragino Sans"/>
              </a:rPr>
              <a:t>データ収集層</a:t>
            </a:r>
          </a:p>
        </p:txBody>
      </p:sp>
      <p:sp>
        <p:nvSpPr>
          <p:cNvPr id="14" name="">
            <a:extLst xmlns:a="http://schemas.openxmlformats.org/drawingml/2006/main">
              <a:ext uri="{FF2B5EF4-FFF2-40B4-BE49-F238E27FC236}">
                <a16:creationId xmlns:a16="http://schemas.microsoft.com/office/drawing/2014/main" id="{392CDF7D-1A9C-433D-865A-0753AD791628}"/>
              </a:ext>
            </a:extLst>
          </p:cNvPr>
          <p:cNvSpPr>
            <a:spLocks xmlns:a="http://schemas.openxmlformats.org/drawingml/2006/main" noGrp="1"/>
          </p:cNvSpPr>
          <p:nvPr/>
        </p:nvSpPr>
        <p:spPr>
          <a:xfrm xmlns:a="http://schemas.openxmlformats.org/drawingml/2006/main">
            <a:off x="6572250" y="295275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66CC865-03E3-4EAF-94B9-C0A65D6B6F0F}"/>
              </a:ext>
            </a:extLst>
          </p:cNvPr>
          <p:cNvSpPr>
            <a:spLocks xmlns:a="http://schemas.openxmlformats.org/drawingml/2006/main" noGrp="1"/>
          </p:cNvSpPr>
          <p:nvPr/>
        </p:nvSpPr>
        <p:spPr>
          <a:xfrm xmlns:a="http://schemas.openxmlformats.org/drawingml/2006/main">
            <a:off x="6572250" y="333375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18B196A-AA31-4D08-949B-8AF7AB700146}"/>
              </a:ext>
            </a:extLst>
          </p:cNvPr>
          <p:cNvSpPr>
            <a:spLocks xmlns:a="http://schemas.openxmlformats.org/drawingml/2006/main" noGrp="1"/>
          </p:cNvSpPr>
          <p:nvPr/>
        </p:nvSpPr>
        <p:spPr>
          <a:xfrm xmlns:a="http://schemas.openxmlformats.org/drawingml/2006/main" rot="0">
            <a:off x="6819900" y="3171825"/>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カメラを装着した人間の</a:t>
            </a:r>
          </a:p>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作業を撮影するだけ</a:t>
            </a:r>
          </a:p>
        </p:txBody>
      </p:sp>
      <p:sp>
        <p:nvSpPr>
          <p:cNvPr id="17" name="">
            <a:extLst xmlns:a="http://schemas.openxmlformats.org/drawingml/2006/main">
              <a:ext uri="{FF2B5EF4-FFF2-40B4-BE49-F238E27FC236}">
                <a16:creationId xmlns:a16="http://schemas.microsoft.com/office/drawing/2014/main" id="{C89A9552-776C-4EEC-8FD9-387988D763B0}"/>
              </a:ext>
            </a:extLst>
          </p:cNvPr>
          <p:cNvSpPr>
            <a:spLocks xmlns:a="http://schemas.openxmlformats.org/drawingml/2006/main" noGrp="1"/>
          </p:cNvSpPr>
          <p:nvPr/>
        </p:nvSpPr>
        <p:spPr>
          <a:xfrm xmlns:a="http://schemas.openxmlformats.org/drawingml/2006/main">
            <a:off x="6572250" y="44291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0509A9E-1F93-4DC4-8F96-D4D18699AD6F}"/>
              </a:ext>
            </a:extLst>
          </p:cNvPr>
          <p:cNvSpPr>
            <a:spLocks xmlns:a="http://schemas.openxmlformats.org/drawingml/2006/main" noGrp="1"/>
          </p:cNvSpPr>
          <p:nvPr/>
        </p:nvSpPr>
        <p:spPr>
          <a:xfrm xmlns:a="http://schemas.openxmlformats.org/drawingml/2006/main" rot="0">
            <a:off x="6819900" y="4267200"/>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今の技術で</a:t>
            </a:r>
          </a:p>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複数業種に展開可能</a:t>
            </a:r>
          </a:p>
        </p:txBody>
      </p:sp>
    </p:spTree>
    <p:extLst>
      <p:ext uri="{BB962C8B-B14F-4D97-AF65-F5344CB8AC3E}">
        <p14:creationId xmlns:p14="http://schemas.microsoft.com/office/powerpoint/2010/main" val="1906318944"/>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71911E2F-C088-4064-8E79-E984DFBB77E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F52A30-4141-45FD-925A-0E185671575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現場は有限の資産であり、先行者優位が極めて強い</a:t>
            </a:r>
          </a:p>
        </p:txBody>
      </p:sp>
      <p:sp>
        <p:nvSpPr>
          <p:cNvPr id="3" name="">
            <a:extLst xmlns:a="http://schemas.openxmlformats.org/drawingml/2006/main">
              <a:ext uri="{FF2B5EF4-FFF2-40B4-BE49-F238E27FC236}">
                <a16:creationId xmlns:a16="http://schemas.microsoft.com/office/drawing/2014/main" id="{AC26C71E-F9C9-40C1-A158-071E69A0D56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B74C530-7500-428E-96C3-FF0E791B712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FF7F9C1E-6F7F-4815-9909-1B5ED8061865}"/>
              </a:ext>
            </a:extLst>
          </p:cNvPr>
          <p:cNvSpPr>
            <a:spLocks xmlns:a="http://schemas.openxmlformats.org/drawingml/2006/main" noGrp="1"/>
          </p:cNvSpPr>
          <p:nvPr/>
        </p:nvSpPr>
        <p:spPr>
          <a:xfrm xmlns:a="http://schemas.openxmlformats.org/drawingml/2006/main" rot="0">
            <a:off x="895350" y="24765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海外</a:t>
            </a:r>
          </a:p>
        </p:txBody>
      </p:sp>
      <p:sp>
        <p:nvSpPr>
          <p:cNvPr id="6" name="">
            <a:extLst xmlns:a="http://schemas.openxmlformats.org/drawingml/2006/main">
              <a:ext uri="{FF2B5EF4-FFF2-40B4-BE49-F238E27FC236}">
                <a16:creationId xmlns:a16="http://schemas.microsoft.com/office/drawing/2014/main" id="{06EF9FF7-6B3C-42A3-A396-65ABF7969336}"/>
              </a:ext>
            </a:extLst>
          </p:cNvPr>
          <p:cNvSpPr>
            <a:spLocks xmlns:a="http://schemas.openxmlformats.org/drawingml/2006/main" noGrp="1"/>
          </p:cNvSpPr>
          <p:nvPr/>
        </p:nvSpPr>
        <p:spPr>
          <a:xfrm xmlns:a="http://schemas.openxmlformats.org/drawingml/2006/main" rot="0">
            <a:off x="895350" y="28575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接続が進む</a:t>
            </a:r>
          </a:p>
        </p:txBody>
      </p:sp>
      <p:sp>
        <p:nvSpPr>
          <p:cNvPr id="7" name="">
            <a:extLst xmlns:a="http://schemas.openxmlformats.org/drawingml/2006/main">
              <a:ext uri="{FF2B5EF4-FFF2-40B4-BE49-F238E27FC236}">
                <a16:creationId xmlns:a16="http://schemas.microsoft.com/office/drawing/2014/main" id="{8645C5F5-7B36-4C1B-885F-D784EF21FCE0}"/>
              </a:ext>
            </a:extLst>
          </p:cNvPr>
          <p:cNvSpPr>
            <a:spLocks xmlns:a="http://schemas.openxmlformats.org/drawingml/2006/main" noGrp="1"/>
          </p:cNvSpPr>
          <p:nvPr/>
        </p:nvSpPr>
        <p:spPr>
          <a:xfrm xmlns:a="http://schemas.openxmlformats.org/drawingml/2006/main">
            <a:off x="37147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8" name="">
            <a:extLst xmlns:a="http://schemas.openxmlformats.org/drawingml/2006/main">
              <a:ext uri="{FF2B5EF4-FFF2-40B4-BE49-F238E27FC236}">
                <a16:creationId xmlns:a16="http://schemas.microsoft.com/office/drawing/2014/main" id="{4E6F57E0-80A4-43E0-A018-44EE2931EAE9}"/>
              </a:ext>
            </a:extLst>
          </p:cNvPr>
          <p:cNvSpPr>
            <a:spLocks xmlns:a="http://schemas.openxmlformats.org/drawingml/2006/main" noGrp="1"/>
          </p:cNvSpPr>
          <p:nvPr/>
        </p:nvSpPr>
        <p:spPr>
          <a:xfrm xmlns:a="http://schemas.openxmlformats.org/drawingml/2006/main" rot="0">
            <a:off x="37147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9" name="">
            <a:extLst xmlns:a="http://schemas.openxmlformats.org/drawingml/2006/main">
              <a:ext uri="{FF2B5EF4-FFF2-40B4-BE49-F238E27FC236}">
                <a16:creationId xmlns:a16="http://schemas.microsoft.com/office/drawing/2014/main" id="{CFC5CC5D-289D-42CB-8449-DCE2B5351C6F}"/>
              </a:ext>
            </a:extLst>
          </p:cNvPr>
          <p:cNvSpPr>
            <a:spLocks xmlns:a="http://schemas.openxmlformats.org/drawingml/2006/main" noGrp="1"/>
          </p:cNvSpPr>
          <p:nvPr/>
        </p:nvSpPr>
        <p:spPr>
          <a:xfrm xmlns:a="http://schemas.openxmlformats.org/drawingml/2006/main">
            <a:off x="476250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0" name="">
            <a:extLst xmlns:a="http://schemas.openxmlformats.org/drawingml/2006/main">
              <a:ext uri="{FF2B5EF4-FFF2-40B4-BE49-F238E27FC236}">
                <a16:creationId xmlns:a16="http://schemas.microsoft.com/office/drawing/2014/main" id="{B7852114-1F96-49D8-89BE-C761F18189F4}"/>
              </a:ext>
            </a:extLst>
          </p:cNvPr>
          <p:cNvSpPr>
            <a:spLocks xmlns:a="http://schemas.openxmlformats.org/drawingml/2006/main" noGrp="1"/>
          </p:cNvSpPr>
          <p:nvPr/>
        </p:nvSpPr>
        <p:spPr>
          <a:xfrm xmlns:a="http://schemas.openxmlformats.org/drawingml/2006/main" rot="0">
            <a:off x="47625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1" name="">
            <a:extLst xmlns:a="http://schemas.openxmlformats.org/drawingml/2006/main">
              <a:ext uri="{FF2B5EF4-FFF2-40B4-BE49-F238E27FC236}">
                <a16:creationId xmlns:a16="http://schemas.microsoft.com/office/drawing/2014/main" id="{B226C97D-47DA-4AB3-87AD-2AF8608929A4}"/>
              </a:ext>
            </a:extLst>
          </p:cNvPr>
          <p:cNvSpPr>
            <a:spLocks xmlns:a="http://schemas.openxmlformats.org/drawingml/2006/main" noGrp="1"/>
          </p:cNvSpPr>
          <p:nvPr/>
        </p:nvSpPr>
        <p:spPr>
          <a:xfrm xmlns:a="http://schemas.openxmlformats.org/drawingml/2006/main">
            <a:off x="58102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2" name="">
            <a:extLst xmlns:a="http://schemas.openxmlformats.org/drawingml/2006/main">
              <a:ext uri="{FF2B5EF4-FFF2-40B4-BE49-F238E27FC236}">
                <a16:creationId xmlns:a16="http://schemas.microsoft.com/office/drawing/2014/main" id="{8A1903F9-EAC1-4923-ABBC-FD7BD07B236D}"/>
              </a:ext>
            </a:extLst>
          </p:cNvPr>
          <p:cNvSpPr>
            <a:spLocks xmlns:a="http://schemas.openxmlformats.org/drawingml/2006/main" noGrp="1"/>
          </p:cNvSpPr>
          <p:nvPr/>
        </p:nvSpPr>
        <p:spPr>
          <a:xfrm xmlns:a="http://schemas.openxmlformats.org/drawingml/2006/main" rot="0">
            <a:off x="58102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3" name="">
            <a:extLst xmlns:a="http://schemas.openxmlformats.org/drawingml/2006/main">
              <a:ext uri="{FF2B5EF4-FFF2-40B4-BE49-F238E27FC236}">
                <a16:creationId xmlns:a16="http://schemas.microsoft.com/office/drawing/2014/main" id="{DFA6511C-DEDB-431C-A385-C57B53B4912F}"/>
              </a:ext>
            </a:extLst>
          </p:cNvPr>
          <p:cNvSpPr>
            <a:spLocks xmlns:a="http://schemas.openxmlformats.org/drawingml/2006/main" noGrp="1"/>
          </p:cNvSpPr>
          <p:nvPr/>
        </p:nvSpPr>
        <p:spPr>
          <a:xfrm xmlns:a="http://schemas.openxmlformats.org/drawingml/2006/main">
            <a:off x="685800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4" name="">
            <a:extLst xmlns:a="http://schemas.openxmlformats.org/drawingml/2006/main">
              <a:ext uri="{FF2B5EF4-FFF2-40B4-BE49-F238E27FC236}">
                <a16:creationId xmlns:a16="http://schemas.microsoft.com/office/drawing/2014/main" id="{7BDAC275-4D0C-4FDD-8FDC-B605EB4F6858}"/>
              </a:ext>
            </a:extLst>
          </p:cNvPr>
          <p:cNvSpPr>
            <a:spLocks xmlns:a="http://schemas.openxmlformats.org/drawingml/2006/main" noGrp="1"/>
          </p:cNvSpPr>
          <p:nvPr/>
        </p:nvSpPr>
        <p:spPr>
          <a:xfrm xmlns:a="http://schemas.openxmlformats.org/drawingml/2006/main" rot="0">
            <a:off x="68580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5" name="">
            <a:extLst xmlns:a="http://schemas.openxmlformats.org/drawingml/2006/main">
              <a:ext uri="{FF2B5EF4-FFF2-40B4-BE49-F238E27FC236}">
                <a16:creationId xmlns:a16="http://schemas.microsoft.com/office/drawing/2014/main" id="{74F90A18-314D-4E03-98AF-6864C3D2697D}"/>
              </a:ext>
            </a:extLst>
          </p:cNvPr>
          <p:cNvSpPr>
            <a:spLocks xmlns:a="http://schemas.openxmlformats.org/drawingml/2006/main" noGrp="1"/>
          </p:cNvSpPr>
          <p:nvPr/>
        </p:nvSpPr>
        <p:spPr>
          <a:xfrm xmlns:a="http://schemas.openxmlformats.org/drawingml/2006/main">
            <a:off x="79057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6" name="">
            <a:extLst xmlns:a="http://schemas.openxmlformats.org/drawingml/2006/main">
              <a:ext uri="{FF2B5EF4-FFF2-40B4-BE49-F238E27FC236}">
                <a16:creationId xmlns:a16="http://schemas.microsoft.com/office/drawing/2014/main" id="{732D746F-EDED-42D9-887D-74632A3E3043}"/>
              </a:ext>
            </a:extLst>
          </p:cNvPr>
          <p:cNvSpPr>
            <a:spLocks xmlns:a="http://schemas.openxmlformats.org/drawingml/2006/main" noGrp="1"/>
          </p:cNvSpPr>
          <p:nvPr/>
        </p:nvSpPr>
        <p:spPr>
          <a:xfrm xmlns:a="http://schemas.openxmlformats.org/drawingml/2006/main" rot="0">
            <a:off x="79057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7" name="">
            <a:extLst xmlns:a="http://schemas.openxmlformats.org/drawingml/2006/main">
              <a:ext uri="{FF2B5EF4-FFF2-40B4-BE49-F238E27FC236}">
                <a16:creationId xmlns:a16="http://schemas.microsoft.com/office/drawing/2014/main" id="{2F758F9D-4A92-4E9A-BCCF-646EC9754803}"/>
              </a:ext>
            </a:extLst>
          </p:cNvPr>
          <p:cNvSpPr>
            <a:spLocks xmlns:a="http://schemas.openxmlformats.org/drawingml/2006/main" noGrp="1"/>
          </p:cNvSpPr>
          <p:nvPr/>
        </p:nvSpPr>
        <p:spPr>
          <a:xfrm xmlns:a="http://schemas.openxmlformats.org/drawingml/2006/main">
            <a:off x="8953500" y="23812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8" name="">
            <a:extLst xmlns:a="http://schemas.openxmlformats.org/drawingml/2006/main">
              <a:ext uri="{FF2B5EF4-FFF2-40B4-BE49-F238E27FC236}">
                <a16:creationId xmlns:a16="http://schemas.microsoft.com/office/drawing/2014/main" id="{D0752BCD-46FF-4698-ABCA-B7D9F32C9725}"/>
              </a:ext>
            </a:extLst>
          </p:cNvPr>
          <p:cNvSpPr>
            <a:spLocks xmlns:a="http://schemas.openxmlformats.org/drawingml/2006/main" noGrp="1"/>
          </p:cNvSpPr>
          <p:nvPr/>
        </p:nvSpPr>
        <p:spPr>
          <a:xfrm xmlns:a="http://schemas.openxmlformats.org/drawingml/2006/main" rot="0">
            <a:off x="89535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19" name="">
            <a:extLst xmlns:a="http://schemas.openxmlformats.org/drawingml/2006/main">
              <a:ext uri="{FF2B5EF4-FFF2-40B4-BE49-F238E27FC236}">
                <a16:creationId xmlns:a16="http://schemas.microsoft.com/office/drawing/2014/main" id="{FA13B2A3-0AB1-4DDE-A929-3A3D61E85867}"/>
              </a:ext>
            </a:extLst>
          </p:cNvPr>
          <p:cNvSpPr>
            <a:spLocks xmlns:a="http://schemas.openxmlformats.org/drawingml/2006/main" noGrp="1"/>
          </p:cNvSpPr>
          <p:nvPr/>
        </p:nvSpPr>
        <p:spPr>
          <a:xfrm xmlns:a="http://schemas.openxmlformats.org/drawingml/2006/main" rot="0">
            <a:off x="895350" y="40481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日本</a:t>
            </a:r>
          </a:p>
        </p:txBody>
      </p:sp>
      <p:sp>
        <p:nvSpPr>
          <p:cNvPr id="20" name="">
            <a:extLst xmlns:a="http://schemas.openxmlformats.org/drawingml/2006/main">
              <a:ext uri="{FF2B5EF4-FFF2-40B4-BE49-F238E27FC236}">
                <a16:creationId xmlns:a16="http://schemas.microsoft.com/office/drawing/2014/main" id="{54ABA49A-9A15-40F7-8CBE-56189B4EF05C}"/>
              </a:ext>
            </a:extLst>
          </p:cNvPr>
          <p:cNvSpPr>
            <a:spLocks xmlns:a="http://schemas.openxmlformats.org/drawingml/2006/main" noGrp="1"/>
          </p:cNvSpPr>
          <p:nvPr/>
        </p:nvSpPr>
        <p:spPr>
          <a:xfrm xmlns:a="http://schemas.openxmlformats.org/drawingml/2006/main" rot="0">
            <a:off x="895350" y="4429125"/>
            <a:ext cx="180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まだほとんど</a:t>
            </a:r>
          </a:p>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浸透していない</a:t>
            </a:r>
          </a:p>
        </p:txBody>
      </p:sp>
      <p:sp>
        <p:nvSpPr>
          <p:cNvPr id="21" name="">
            <a:extLst xmlns:a="http://schemas.openxmlformats.org/drawingml/2006/main">
              <a:ext uri="{FF2B5EF4-FFF2-40B4-BE49-F238E27FC236}">
                <a16:creationId xmlns:a16="http://schemas.microsoft.com/office/drawing/2014/main" id="{887B439D-C106-47D5-90DE-F959EA44F213}"/>
              </a:ext>
            </a:extLst>
          </p:cNvPr>
          <p:cNvSpPr>
            <a:spLocks xmlns:a="http://schemas.openxmlformats.org/drawingml/2006/main" noGrp="1"/>
          </p:cNvSpPr>
          <p:nvPr/>
        </p:nvSpPr>
        <p:spPr>
          <a:xfrm xmlns:a="http://schemas.openxmlformats.org/drawingml/2006/main">
            <a:off x="3714750" y="40957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C5A618F1-EC74-4C8F-9182-9697F72EB01E}"/>
              </a:ext>
            </a:extLst>
          </p:cNvPr>
          <p:cNvSpPr>
            <a:spLocks xmlns:a="http://schemas.openxmlformats.org/drawingml/2006/main" noGrp="1"/>
          </p:cNvSpPr>
          <p:nvPr/>
        </p:nvSpPr>
        <p:spPr>
          <a:xfrm xmlns:a="http://schemas.openxmlformats.org/drawingml/2006/main" rot="0">
            <a:off x="37147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23" name="">
            <a:extLst xmlns:a="http://schemas.openxmlformats.org/drawingml/2006/main">
              <a:ext uri="{FF2B5EF4-FFF2-40B4-BE49-F238E27FC236}">
                <a16:creationId xmlns:a16="http://schemas.microsoft.com/office/drawing/2014/main" id="{035495B4-7C3A-4888-BC7C-BB561C840493}"/>
              </a:ext>
            </a:extLst>
          </p:cNvPr>
          <p:cNvSpPr>
            <a:spLocks xmlns:a="http://schemas.openxmlformats.org/drawingml/2006/main" noGrp="1"/>
          </p:cNvSpPr>
          <p:nvPr/>
        </p:nvSpPr>
        <p:spPr>
          <a:xfrm xmlns:a="http://schemas.openxmlformats.org/drawingml/2006/main">
            <a:off x="47625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4" name="">
            <a:extLst xmlns:a="http://schemas.openxmlformats.org/drawingml/2006/main">
              <a:ext uri="{FF2B5EF4-FFF2-40B4-BE49-F238E27FC236}">
                <a16:creationId xmlns:a16="http://schemas.microsoft.com/office/drawing/2014/main" id="{0E1C2654-2AC3-4DED-AFF3-4AFBC7DCB728}"/>
              </a:ext>
            </a:extLst>
          </p:cNvPr>
          <p:cNvSpPr>
            <a:spLocks xmlns:a="http://schemas.openxmlformats.org/drawingml/2006/main" noGrp="1"/>
          </p:cNvSpPr>
          <p:nvPr/>
        </p:nvSpPr>
        <p:spPr>
          <a:xfrm xmlns:a="http://schemas.openxmlformats.org/drawingml/2006/main" rot="0">
            <a:off x="47625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5" name="">
            <a:extLst xmlns:a="http://schemas.openxmlformats.org/drawingml/2006/main">
              <a:ext uri="{FF2B5EF4-FFF2-40B4-BE49-F238E27FC236}">
                <a16:creationId xmlns:a16="http://schemas.microsoft.com/office/drawing/2014/main" id="{37FCE01A-4820-4CD4-8FB5-BB9209CD4AB2}"/>
              </a:ext>
            </a:extLst>
          </p:cNvPr>
          <p:cNvSpPr>
            <a:spLocks xmlns:a="http://schemas.openxmlformats.org/drawingml/2006/main" noGrp="1"/>
          </p:cNvSpPr>
          <p:nvPr/>
        </p:nvSpPr>
        <p:spPr>
          <a:xfrm xmlns:a="http://schemas.openxmlformats.org/drawingml/2006/main">
            <a:off x="581025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6" name="">
            <a:extLst xmlns:a="http://schemas.openxmlformats.org/drawingml/2006/main">
              <a:ext uri="{FF2B5EF4-FFF2-40B4-BE49-F238E27FC236}">
                <a16:creationId xmlns:a16="http://schemas.microsoft.com/office/drawing/2014/main" id="{477CEE28-A34E-409B-BDBD-9974DDC29C49}"/>
              </a:ext>
            </a:extLst>
          </p:cNvPr>
          <p:cNvSpPr>
            <a:spLocks xmlns:a="http://schemas.openxmlformats.org/drawingml/2006/main" noGrp="1"/>
          </p:cNvSpPr>
          <p:nvPr/>
        </p:nvSpPr>
        <p:spPr>
          <a:xfrm xmlns:a="http://schemas.openxmlformats.org/drawingml/2006/main" rot="0">
            <a:off x="58102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7" name="">
            <a:extLst xmlns:a="http://schemas.openxmlformats.org/drawingml/2006/main">
              <a:ext uri="{FF2B5EF4-FFF2-40B4-BE49-F238E27FC236}">
                <a16:creationId xmlns:a16="http://schemas.microsoft.com/office/drawing/2014/main" id="{07B0788A-84E5-428B-A084-5EB24AE729D5}"/>
              </a:ext>
            </a:extLst>
          </p:cNvPr>
          <p:cNvSpPr>
            <a:spLocks xmlns:a="http://schemas.openxmlformats.org/drawingml/2006/main" noGrp="1"/>
          </p:cNvSpPr>
          <p:nvPr/>
        </p:nvSpPr>
        <p:spPr>
          <a:xfrm xmlns:a="http://schemas.openxmlformats.org/drawingml/2006/main">
            <a:off x="68580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8" name="">
            <a:extLst xmlns:a="http://schemas.openxmlformats.org/drawingml/2006/main">
              <a:ext uri="{FF2B5EF4-FFF2-40B4-BE49-F238E27FC236}">
                <a16:creationId xmlns:a16="http://schemas.microsoft.com/office/drawing/2014/main" id="{468ECCE1-C7B1-424F-BFCB-053857F19432}"/>
              </a:ext>
            </a:extLst>
          </p:cNvPr>
          <p:cNvSpPr>
            <a:spLocks xmlns:a="http://schemas.openxmlformats.org/drawingml/2006/main" noGrp="1"/>
          </p:cNvSpPr>
          <p:nvPr/>
        </p:nvSpPr>
        <p:spPr>
          <a:xfrm xmlns:a="http://schemas.openxmlformats.org/drawingml/2006/main" rot="0">
            <a:off x="68580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9" name="">
            <a:extLst xmlns:a="http://schemas.openxmlformats.org/drawingml/2006/main">
              <a:ext uri="{FF2B5EF4-FFF2-40B4-BE49-F238E27FC236}">
                <a16:creationId xmlns:a16="http://schemas.microsoft.com/office/drawing/2014/main" id="{AFB9408B-12E2-4F7A-BA01-7EC4E92ED3D6}"/>
              </a:ext>
            </a:extLst>
          </p:cNvPr>
          <p:cNvSpPr>
            <a:spLocks xmlns:a="http://schemas.openxmlformats.org/drawingml/2006/main" noGrp="1"/>
          </p:cNvSpPr>
          <p:nvPr/>
        </p:nvSpPr>
        <p:spPr>
          <a:xfrm xmlns:a="http://schemas.openxmlformats.org/drawingml/2006/main">
            <a:off x="790575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0" name="">
            <a:extLst xmlns:a="http://schemas.openxmlformats.org/drawingml/2006/main">
              <a:ext uri="{FF2B5EF4-FFF2-40B4-BE49-F238E27FC236}">
                <a16:creationId xmlns:a16="http://schemas.microsoft.com/office/drawing/2014/main" id="{84E33912-909D-4087-BF20-789B779C891C}"/>
              </a:ext>
            </a:extLst>
          </p:cNvPr>
          <p:cNvSpPr>
            <a:spLocks xmlns:a="http://schemas.openxmlformats.org/drawingml/2006/main" noGrp="1"/>
          </p:cNvSpPr>
          <p:nvPr/>
        </p:nvSpPr>
        <p:spPr>
          <a:xfrm xmlns:a="http://schemas.openxmlformats.org/drawingml/2006/main" rot="0">
            <a:off x="79057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31" name="">
            <a:extLst xmlns:a="http://schemas.openxmlformats.org/drawingml/2006/main">
              <a:ext uri="{FF2B5EF4-FFF2-40B4-BE49-F238E27FC236}">
                <a16:creationId xmlns:a16="http://schemas.microsoft.com/office/drawing/2014/main" id="{ACF5B2A8-101E-4F3C-8503-D5CED671E061}"/>
              </a:ext>
            </a:extLst>
          </p:cNvPr>
          <p:cNvSpPr>
            <a:spLocks xmlns:a="http://schemas.openxmlformats.org/drawingml/2006/main" noGrp="1"/>
          </p:cNvSpPr>
          <p:nvPr/>
        </p:nvSpPr>
        <p:spPr>
          <a:xfrm xmlns:a="http://schemas.openxmlformats.org/drawingml/2006/main">
            <a:off x="89535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2" name="">
            <a:extLst xmlns:a="http://schemas.openxmlformats.org/drawingml/2006/main">
              <a:ext uri="{FF2B5EF4-FFF2-40B4-BE49-F238E27FC236}">
                <a16:creationId xmlns:a16="http://schemas.microsoft.com/office/drawing/2014/main" id="{001A97D2-2134-4194-B030-C50F65E91D0D}"/>
              </a:ext>
            </a:extLst>
          </p:cNvPr>
          <p:cNvSpPr>
            <a:spLocks xmlns:a="http://schemas.openxmlformats.org/drawingml/2006/main" noGrp="1"/>
          </p:cNvSpPr>
          <p:nvPr/>
        </p:nvSpPr>
        <p:spPr>
          <a:xfrm xmlns:a="http://schemas.openxmlformats.org/drawingml/2006/main" rot="0">
            <a:off x="89535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33" name="">
            <a:extLst xmlns:a="http://schemas.openxmlformats.org/drawingml/2006/main">
              <a:ext uri="{FF2B5EF4-FFF2-40B4-BE49-F238E27FC236}">
                <a16:creationId xmlns:a16="http://schemas.microsoft.com/office/drawing/2014/main" id="{036551B2-C743-4896-9BD0-59887F52F110}"/>
              </a:ext>
            </a:extLst>
          </p:cNvPr>
          <p:cNvSpPr>
            <a:spLocks xmlns:a="http://schemas.openxmlformats.org/drawingml/2006/main" noGrp="1"/>
          </p:cNvSpPr>
          <p:nvPr/>
        </p:nvSpPr>
        <p:spPr>
          <a:xfrm xmlns:a="http://schemas.openxmlformats.org/drawingml/2006/main">
            <a:off x="3143250" y="3381375"/>
            <a:ext cx="72390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8A4AB477-6C88-4D48-8955-80F6AF6EDFFC}"/>
              </a:ext>
            </a:extLst>
          </p:cNvPr>
          <p:cNvSpPr>
            <a:spLocks xmlns:a="http://schemas.openxmlformats.org/drawingml/2006/main" noGrp="1"/>
          </p:cNvSpPr>
          <p:nvPr/>
        </p:nvSpPr>
        <p:spPr>
          <a:xfrm xmlns:a="http://schemas.openxmlformats.org/drawingml/2006/main" rot="0">
            <a:off x="3143250" y="514350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一つの現場が複数社と契約する負担は大きい</a:t>
            </a:r>
          </a:p>
        </p:txBody>
      </p:sp>
      <p:sp>
        <p:nvSpPr>
          <p:cNvPr id="35" name="">
            <a:extLst xmlns:a="http://schemas.openxmlformats.org/drawingml/2006/main">
              <a:ext uri="{FF2B5EF4-FFF2-40B4-BE49-F238E27FC236}">
                <a16:creationId xmlns:a16="http://schemas.microsoft.com/office/drawing/2014/main" id="{F8FBDCB1-D0C5-483C-9B5B-2B89CA6711B6}"/>
              </a:ext>
            </a:extLst>
          </p:cNvPr>
          <p:cNvSpPr>
            <a:spLocks xmlns:a="http://schemas.openxmlformats.org/drawingml/2006/main" noGrp="1"/>
          </p:cNvSpPr>
          <p:nvPr/>
        </p:nvSpPr>
        <p:spPr>
          <a:xfrm xmlns:a="http://schemas.openxmlformats.org/drawingml/2006/main" rot="0">
            <a:off x="3143250" y="5572125"/>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撮影機材の管理　　スタッフへの説明　　プライバシーに関する合意</a:t>
            </a:r>
          </a:p>
        </p:txBody>
      </p:sp>
      <p:sp>
        <p:nvSpPr>
          <p:cNvPr id="36" name="">
            <a:extLst xmlns:a="http://schemas.openxmlformats.org/drawingml/2006/main">
              <a:ext uri="{FF2B5EF4-FFF2-40B4-BE49-F238E27FC236}">
                <a16:creationId xmlns:a16="http://schemas.microsoft.com/office/drawing/2014/main" id="{065DAB39-B230-441E-8242-3207636ABCE8}"/>
              </a:ext>
            </a:extLst>
          </p:cNvPr>
          <p:cNvSpPr>
            <a:spLocks xmlns:a="http://schemas.openxmlformats.org/drawingml/2006/main" noGrp="1"/>
          </p:cNvSpPr>
          <p:nvPr/>
        </p:nvSpPr>
        <p:spPr>
          <a:xfrm xmlns:a="http://schemas.openxmlformats.org/drawingml/2006/main" rot="0">
            <a:off x="723900" y="60960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RootLensは、日本で最初にこのポジションを取りに行く</a:t>
            </a:r>
          </a:p>
        </p:txBody>
      </p:sp>
    </p:spTree>
    <p:extLst>
      <p:ext uri="{BB962C8B-B14F-4D97-AF65-F5344CB8AC3E}">
        <p14:creationId xmlns:p14="http://schemas.microsoft.com/office/powerpoint/2010/main" val="113334748"/>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A825D39-53D8-4DDD-B07D-031818FF9B6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705F82-FF2A-47CB-8F7D-43AAB0F6B22E}"/>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現場ネットワークは、時間とともに参入障壁になる</a:t>
            </a:r>
          </a:p>
        </p:txBody>
      </p:sp>
      <p:sp>
        <p:nvSpPr>
          <p:cNvPr id="3" name="">
            <a:extLst xmlns:a="http://schemas.openxmlformats.org/drawingml/2006/main">
              <a:ext uri="{FF2B5EF4-FFF2-40B4-BE49-F238E27FC236}">
                <a16:creationId xmlns:a16="http://schemas.microsoft.com/office/drawing/2014/main" id="{0ACB9292-F828-49E6-AF63-E7AD7A0C578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EACE31E-063F-4867-BE8C-0CAB573F981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0C4A9AEE-F666-4D62-AF4C-204A1620D786}"/>
              </a:ext>
            </a:extLst>
          </p:cNvPr>
          <p:cNvSpPr>
            <a:spLocks xmlns:a="http://schemas.openxmlformats.org/drawingml/2006/main" noGrp="1"/>
          </p:cNvSpPr>
          <p:nvPr/>
        </p:nvSpPr>
        <p:spPr>
          <a:xfrm xmlns:a="http://schemas.openxmlformats.org/drawingml/2006/main" rot="0">
            <a:off x="762000" y="56769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時間と現場数</a:t>
            </a:r>
          </a:p>
        </p:txBody>
      </p:sp>
      <p:sp>
        <p:nvSpPr>
          <p:cNvPr id="6" name="">
            <a:extLst xmlns:a="http://schemas.openxmlformats.org/drawingml/2006/main">
              <a:ext uri="{FF2B5EF4-FFF2-40B4-BE49-F238E27FC236}">
                <a16:creationId xmlns:a16="http://schemas.microsoft.com/office/drawing/2014/main" id="{E1B90373-6227-4E34-B9A4-16804AA70B5B}"/>
              </a:ext>
            </a:extLst>
          </p:cNvPr>
          <p:cNvSpPr>
            <a:spLocks xmlns:a="http://schemas.openxmlformats.org/drawingml/2006/main" noGrp="1"/>
          </p:cNvSpPr>
          <p:nvPr/>
        </p:nvSpPr>
        <p:spPr>
          <a:xfrm xmlns:a="http://schemas.openxmlformats.org/drawingml/2006/main">
            <a:off x="2095500" y="5791200"/>
            <a:ext cx="7572375"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FFF1042-18E2-4A87-9BE1-9A975A1CDE9D}"/>
              </a:ext>
            </a:extLst>
          </p:cNvPr>
          <p:cNvSpPr>
            <a:spLocks xmlns:a="http://schemas.openxmlformats.org/drawingml/2006/main" noGrp="1"/>
          </p:cNvSpPr>
          <p:nvPr/>
        </p:nvSpPr>
        <p:spPr>
          <a:xfrm xmlns:a="http://schemas.openxmlformats.org/drawingml/2006/main" rot="5400000">
            <a:off x="9639300" y="5724525"/>
            <a:ext cx="171450" cy="161925"/>
          </a:xfrm>
          <a:prstGeom xmlns:a="http://schemas.openxmlformats.org/drawingml/2006/main" prst="triangle">
            <a:avLst/>
          </a:prstGeom>
          <a:solidFill xmlns:a="http://schemas.openxmlformats.org/drawingml/2006/main">
            <a:srgbClr val="AAB6BC"/>
          </a:solidFill>
          <a:ln xmlns:a="http://schemas.openxmlformats.org/drawingml/2006/main" w="0">
            <a:solidFill>
              <a:srgbClr val="AAB6BC"/>
            </a:solidFill>
          </a:ln>
        </p:spPr>
      </p:sp>
      <p:sp>
        <p:nvSpPr>
          <p:cNvPr id="8" name="">
            <a:extLst xmlns:a="http://schemas.openxmlformats.org/drawingml/2006/main">
              <a:ext uri="{FF2B5EF4-FFF2-40B4-BE49-F238E27FC236}">
                <a16:creationId xmlns:a16="http://schemas.microsoft.com/office/drawing/2014/main" id="{202BB4BD-ECA8-4EAB-AF35-3B41F6E7F916}"/>
              </a:ext>
            </a:extLst>
          </p:cNvPr>
          <p:cNvSpPr>
            <a:spLocks xmlns:a="http://schemas.openxmlformats.org/drawingml/2006/main" noGrp="1"/>
          </p:cNvSpPr>
          <p:nvPr/>
        </p:nvSpPr>
        <p:spPr>
          <a:xfrm xmlns:a="http://schemas.openxmlformats.org/drawingml/2006/main">
            <a:off x="2381250" y="4905375"/>
            <a:ext cx="6667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9" name="">
            <a:extLst xmlns:a="http://schemas.openxmlformats.org/drawingml/2006/main">
              <a:ext uri="{FF2B5EF4-FFF2-40B4-BE49-F238E27FC236}">
                <a16:creationId xmlns:a16="http://schemas.microsoft.com/office/drawing/2014/main" id="{73EB0475-EF30-4133-8469-173F693B14C0}"/>
              </a:ext>
            </a:extLst>
          </p:cNvPr>
          <p:cNvSpPr>
            <a:spLocks xmlns:a="http://schemas.openxmlformats.org/drawingml/2006/main" noGrp="1"/>
          </p:cNvSpPr>
          <p:nvPr/>
        </p:nvSpPr>
        <p:spPr>
          <a:xfrm xmlns:a="http://schemas.openxmlformats.org/drawingml/2006/main" rot="0">
            <a:off x="2533650" y="5067300"/>
            <a:ext cx="6362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現場との関係</a:t>
            </a:r>
          </a:p>
        </p:txBody>
      </p:sp>
      <p:sp>
        <p:nvSpPr>
          <p:cNvPr id="10" name="">
            <a:extLst xmlns:a="http://schemas.openxmlformats.org/drawingml/2006/main">
              <a:ext uri="{FF2B5EF4-FFF2-40B4-BE49-F238E27FC236}">
                <a16:creationId xmlns:a16="http://schemas.microsoft.com/office/drawing/2014/main" id="{8322F014-1F0C-4A54-A61D-A9D3465E37E5}"/>
              </a:ext>
            </a:extLst>
          </p:cNvPr>
          <p:cNvSpPr>
            <a:spLocks xmlns:a="http://schemas.openxmlformats.org/drawingml/2006/main" noGrp="1"/>
          </p:cNvSpPr>
          <p:nvPr/>
        </p:nvSpPr>
        <p:spPr>
          <a:xfrm xmlns:a="http://schemas.openxmlformats.org/drawingml/2006/main">
            <a:off x="3143250" y="4238625"/>
            <a:ext cx="5905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1" name="">
            <a:extLst xmlns:a="http://schemas.openxmlformats.org/drawingml/2006/main">
              <a:ext uri="{FF2B5EF4-FFF2-40B4-BE49-F238E27FC236}">
                <a16:creationId xmlns:a16="http://schemas.microsoft.com/office/drawing/2014/main" id="{3A24E0BA-6A9C-4847-9174-0E359550F201}"/>
              </a:ext>
            </a:extLst>
          </p:cNvPr>
          <p:cNvSpPr>
            <a:spLocks xmlns:a="http://schemas.openxmlformats.org/drawingml/2006/main" noGrp="1"/>
          </p:cNvSpPr>
          <p:nvPr/>
        </p:nvSpPr>
        <p:spPr>
          <a:xfrm xmlns:a="http://schemas.openxmlformats.org/drawingml/2006/main" rot="0">
            <a:off x="3295650" y="4400550"/>
            <a:ext cx="560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撮影を続ける運用</a:t>
            </a:r>
          </a:p>
        </p:txBody>
      </p:sp>
      <p:sp>
        <p:nvSpPr>
          <p:cNvPr id="12" name="">
            <a:extLst xmlns:a="http://schemas.openxmlformats.org/drawingml/2006/main">
              <a:ext uri="{FF2B5EF4-FFF2-40B4-BE49-F238E27FC236}">
                <a16:creationId xmlns:a16="http://schemas.microsoft.com/office/drawing/2014/main" id="{D4090070-92F4-4522-A94D-7527EC1864E9}"/>
              </a:ext>
            </a:extLst>
          </p:cNvPr>
          <p:cNvSpPr>
            <a:spLocks xmlns:a="http://schemas.openxmlformats.org/drawingml/2006/main" noGrp="1"/>
          </p:cNvSpPr>
          <p:nvPr/>
        </p:nvSpPr>
        <p:spPr>
          <a:xfrm xmlns:a="http://schemas.openxmlformats.org/drawingml/2006/main">
            <a:off x="3905250" y="3571875"/>
            <a:ext cx="5143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6B98AB8D-FB7A-4E54-B36B-F37F19151913}"/>
              </a:ext>
            </a:extLst>
          </p:cNvPr>
          <p:cNvSpPr>
            <a:spLocks xmlns:a="http://schemas.openxmlformats.org/drawingml/2006/main" noGrp="1"/>
          </p:cNvSpPr>
          <p:nvPr/>
        </p:nvSpPr>
        <p:spPr>
          <a:xfrm xmlns:a="http://schemas.openxmlformats.org/drawingml/2006/main" rot="0">
            <a:off x="4057650" y="3733800"/>
            <a:ext cx="4838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スタッフへの説明・合意</a:t>
            </a:r>
          </a:p>
        </p:txBody>
      </p:sp>
      <p:sp>
        <p:nvSpPr>
          <p:cNvPr id="14" name="">
            <a:extLst xmlns:a="http://schemas.openxmlformats.org/drawingml/2006/main">
              <a:ext uri="{FF2B5EF4-FFF2-40B4-BE49-F238E27FC236}">
                <a16:creationId xmlns:a16="http://schemas.microsoft.com/office/drawing/2014/main" id="{44F26290-0794-48BA-8489-160F71C131E9}"/>
              </a:ext>
            </a:extLst>
          </p:cNvPr>
          <p:cNvSpPr>
            <a:spLocks xmlns:a="http://schemas.openxmlformats.org/drawingml/2006/main" noGrp="1"/>
          </p:cNvSpPr>
          <p:nvPr/>
        </p:nvSpPr>
        <p:spPr>
          <a:xfrm xmlns:a="http://schemas.openxmlformats.org/drawingml/2006/main">
            <a:off x="4667250" y="2905125"/>
            <a:ext cx="438150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5" name="">
            <a:extLst xmlns:a="http://schemas.openxmlformats.org/drawingml/2006/main">
              <a:ext uri="{FF2B5EF4-FFF2-40B4-BE49-F238E27FC236}">
                <a16:creationId xmlns:a16="http://schemas.microsoft.com/office/drawing/2014/main" id="{F3D2730A-9439-4BEA-AC2C-6AAB55F0BD06}"/>
              </a:ext>
            </a:extLst>
          </p:cNvPr>
          <p:cNvSpPr>
            <a:spLocks xmlns:a="http://schemas.openxmlformats.org/drawingml/2006/main" noGrp="1"/>
          </p:cNvSpPr>
          <p:nvPr/>
        </p:nvSpPr>
        <p:spPr>
          <a:xfrm xmlns:a="http://schemas.openxmlformats.org/drawingml/2006/main" rot="0">
            <a:off x="4819650" y="3067050"/>
            <a:ext cx="407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業種ごとのコンプライアンス対応</a:t>
            </a:r>
          </a:p>
        </p:txBody>
      </p:sp>
      <p:sp>
        <p:nvSpPr>
          <p:cNvPr id="16" name="">
            <a:extLst xmlns:a="http://schemas.openxmlformats.org/drawingml/2006/main">
              <a:ext uri="{FF2B5EF4-FFF2-40B4-BE49-F238E27FC236}">
                <a16:creationId xmlns:a16="http://schemas.microsoft.com/office/drawing/2014/main" id="{B3EF87CF-8E6B-4463-BF0B-2C8929D37F1F}"/>
              </a:ext>
            </a:extLst>
          </p:cNvPr>
          <p:cNvSpPr>
            <a:spLocks xmlns:a="http://schemas.openxmlformats.org/drawingml/2006/main" noGrp="1"/>
          </p:cNvSpPr>
          <p:nvPr/>
        </p:nvSpPr>
        <p:spPr>
          <a:xfrm xmlns:a="http://schemas.openxmlformats.org/drawingml/2006/main">
            <a:off x="11334750" y="3095625"/>
            <a:ext cx="28575" cy="22383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F3ACA5A-CD20-4E5B-8523-51F4AB3ED783}"/>
              </a:ext>
            </a:extLst>
          </p:cNvPr>
          <p:cNvSpPr>
            <a:spLocks xmlns:a="http://schemas.openxmlformats.org/drawingml/2006/main" noGrp="1"/>
          </p:cNvSpPr>
          <p:nvPr/>
        </p:nvSpPr>
        <p:spPr>
          <a:xfrm xmlns:a="http://schemas.openxmlformats.org/drawingml/2006/main" rot="0">
            <a:off x="11268075" y="29527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7C6F379F-4F17-47B8-A13C-E9FFDAE98D4C}"/>
              </a:ext>
            </a:extLst>
          </p:cNvPr>
          <p:cNvSpPr>
            <a:spLocks xmlns:a="http://schemas.openxmlformats.org/drawingml/2006/main" noGrp="1"/>
          </p:cNvSpPr>
          <p:nvPr/>
        </p:nvSpPr>
        <p:spPr>
          <a:xfrm xmlns:a="http://schemas.openxmlformats.org/drawingml/2006/main" rot="0">
            <a:off x="9239250" y="4000500"/>
            <a:ext cx="1857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後発は、この関係と運用を</a:t>
            </a:r>
          </a:p>
          <a:p xmlns:a="http://schemas.openxmlformats.org/drawingml/2006/main">
            <a:pPr algn="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一から積み直す必要がある</a:t>
            </a:r>
          </a:p>
        </p:txBody>
      </p:sp>
      <p:sp>
        <p:nvSpPr>
          <p:cNvPr id="19" name="">
            <a:extLst xmlns:a="http://schemas.openxmlformats.org/drawingml/2006/main">
              <a:ext uri="{FF2B5EF4-FFF2-40B4-BE49-F238E27FC236}">
                <a16:creationId xmlns:a16="http://schemas.microsoft.com/office/drawing/2014/main" id="{FC94222B-925A-4A24-BABD-59D9332C8926}"/>
              </a:ext>
            </a:extLst>
          </p:cNvPr>
          <p:cNvSpPr>
            <a:spLocks xmlns:a="http://schemas.openxmlformats.org/drawingml/2006/main" noGrp="1"/>
          </p:cNvSpPr>
          <p:nvPr/>
        </p:nvSpPr>
        <p:spPr>
          <a:xfrm xmlns:a="http://schemas.openxmlformats.org/drawingml/2006/main" rot="0">
            <a:off x="723900" y="61436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データだけでなく、現場へ入り続けるための関係と運用が蓄積される</a:t>
            </a:r>
          </a:p>
        </p:txBody>
      </p:sp>
    </p:spTree>
    <p:extLst>
      <p:ext uri="{BB962C8B-B14F-4D97-AF65-F5344CB8AC3E}">
        <p14:creationId xmlns:p14="http://schemas.microsoft.com/office/powerpoint/2010/main" val="1419928134"/>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AB0E1AF-A1CF-42F3-9EE4-9278549D0F7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27E00A3-414C-4351-9987-C4AAB4A2FD2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1">
                <a:solidFill>
                  <a:srgbClr val="15191B"/>
                </a:solidFill>
                <a:latin typeface="Hiragino Sans"/>
                <a:ea typeface="Hiragino Sans"/>
                <a:cs typeface="Hiragino Sans"/>
              </a:defRPr>
            </a:pPr>
            <a:r>
              <a:rPr sz="2475" b="1">
                <a:solidFill>
                  <a:srgbClr val="15191B"/>
                </a:solidFill>
                <a:latin typeface="Hiragino Sans"/>
                <a:ea typeface="Hiragino Sans"/>
                <a:cs typeface="Hiragino Sans"/>
              </a:rPr>
              <a:t>現場データを先に持つことで、ロボット導入まで進みやすくなる</a:t>
            </a:r>
          </a:p>
        </p:txBody>
      </p:sp>
      <p:sp>
        <p:nvSpPr>
          <p:cNvPr id="3" name="">
            <a:extLst xmlns:a="http://schemas.openxmlformats.org/drawingml/2006/main">
              <a:ext uri="{FF2B5EF4-FFF2-40B4-BE49-F238E27FC236}">
                <a16:creationId xmlns:a16="http://schemas.microsoft.com/office/drawing/2014/main" id="{384BEB8B-B034-445F-A4C5-D92ACBFC763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CFE9999-2570-4B67-81DC-27FD33873E1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4E0A8EAF-BE26-482C-B807-C6F33BE3CE90}"/>
              </a:ext>
            </a:extLst>
          </p:cNvPr>
          <p:cNvSpPr>
            <a:spLocks xmlns:a="http://schemas.openxmlformats.org/drawingml/2006/main" noGrp="1"/>
          </p:cNvSpPr>
          <p:nvPr/>
        </p:nvSpPr>
        <p:spPr>
          <a:xfrm xmlns:a="http://schemas.openxmlformats.org/drawingml/2006/main" rot="0">
            <a:off x="85725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744758DC-E485-44F8-A041-32B6E026BDB5}"/>
              </a:ext>
            </a:extLst>
          </p:cNvPr>
          <p:cNvSpPr>
            <a:spLocks xmlns:a="http://schemas.openxmlformats.org/drawingml/2006/main" noGrp="1"/>
          </p:cNvSpPr>
          <p:nvPr/>
        </p:nvSpPr>
        <p:spPr>
          <a:xfrm xmlns:a="http://schemas.openxmlformats.org/drawingml/2006/main">
            <a:off x="857250" y="2381250"/>
            <a:ext cx="2476500" cy="11430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A8595454-EB7E-4857-B594-E27389246F3D}"/>
              </a:ext>
            </a:extLst>
          </p:cNvPr>
          <p:cNvSpPr>
            <a:spLocks xmlns:a="http://schemas.openxmlformats.org/drawingml/2006/main" noGrp="1"/>
          </p:cNvSpPr>
          <p:nvPr/>
        </p:nvSpPr>
        <p:spPr>
          <a:xfrm xmlns:a="http://schemas.openxmlformats.org/drawingml/2006/main" rot="0">
            <a:off x="99060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現場データ収集</a:t>
            </a:r>
          </a:p>
        </p:txBody>
      </p:sp>
      <p:sp>
        <p:nvSpPr>
          <p:cNvPr id="8" name="">
            <a:extLst xmlns:a="http://schemas.openxmlformats.org/drawingml/2006/main">
              <a:ext uri="{FF2B5EF4-FFF2-40B4-BE49-F238E27FC236}">
                <a16:creationId xmlns:a16="http://schemas.microsoft.com/office/drawing/2014/main" id="{7E1FAA31-0B25-4769-9011-2D9B35AD57B8}"/>
              </a:ext>
            </a:extLst>
          </p:cNvPr>
          <p:cNvSpPr>
            <a:spLocks xmlns:a="http://schemas.openxmlformats.org/drawingml/2006/main" noGrp="1"/>
          </p:cNvSpPr>
          <p:nvPr/>
        </p:nvSpPr>
        <p:spPr>
          <a:xfrm xmlns:a="http://schemas.openxmlformats.org/drawingml/2006/main" rot="0">
            <a:off x="857250" y="3762375"/>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人間のワークフローを</a:t>
            </a:r>
          </a:p>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先に把握する</a:t>
            </a:r>
          </a:p>
        </p:txBody>
      </p:sp>
      <p:sp>
        <p:nvSpPr>
          <p:cNvPr id="9" name="">
            <a:extLst xmlns:a="http://schemas.openxmlformats.org/drawingml/2006/main">
              <a:ext uri="{FF2B5EF4-FFF2-40B4-BE49-F238E27FC236}">
                <a16:creationId xmlns:a16="http://schemas.microsoft.com/office/drawing/2014/main" id="{4E68A8EB-CA98-4ABC-BF7E-54B8568E1AA4}"/>
              </a:ext>
            </a:extLst>
          </p:cNvPr>
          <p:cNvSpPr>
            <a:spLocks xmlns:a="http://schemas.openxmlformats.org/drawingml/2006/main" noGrp="1"/>
          </p:cNvSpPr>
          <p:nvPr/>
        </p:nvSpPr>
        <p:spPr>
          <a:xfrm xmlns:a="http://schemas.openxmlformats.org/drawingml/2006/main">
            <a:off x="352425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C0FCC3F-EDD1-4B37-85EB-244821836124}"/>
              </a:ext>
            </a:extLst>
          </p:cNvPr>
          <p:cNvSpPr>
            <a:spLocks xmlns:a="http://schemas.openxmlformats.org/drawingml/2006/main" noGrp="1"/>
          </p:cNvSpPr>
          <p:nvPr/>
        </p:nvSpPr>
        <p:spPr>
          <a:xfrm xmlns:a="http://schemas.openxmlformats.org/drawingml/2006/main" rot="5400000">
            <a:off x="492442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1" name="">
            <a:extLst xmlns:a="http://schemas.openxmlformats.org/drawingml/2006/main">
              <a:ext uri="{FF2B5EF4-FFF2-40B4-BE49-F238E27FC236}">
                <a16:creationId xmlns:a16="http://schemas.microsoft.com/office/drawing/2014/main" id="{B5A2CDCE-08AE-4B9A-847E-58B9551D229C}"/>
              </a:ext>
            </a:extLst>
          </p:cNvPr>
          <p:cNvSpPr>
            <a:spLocks xmlns:a="http://schemas.openxmlformats.org/drawingml/2006/main" noGrp="1"/>
          </p:cNvSpPr>
          <p:nvPr/>
        </p:nvSpPr>
        <p:spPr>
          <a:xfrm xmlns:a="http://schemas.openxmlformats.org/drawingml/2006/main" rot="0">
            <a:off x="395287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蓄積</a:t>
            </a:r>
          </a:p>
        </p:txBody>
      </p:sp>
      <p:sp>
        <p:nvSpPr>
          <p:cNvPr id="12" name="">
            <a:extLst xmlns:a="http://schemas.openxmlformats.org/drawingml/2006/main">
              <a:ext uri="{FF2B5EF4-FFF2-40B4-BE49-F238E27FC236}">
                <a16:creationId xmlns:a16="http://schemas.microsoft.com/office/drawing/2014/main" id="{84FC6B83-02A4-486F-ACBE-0FB6E587E3C0}"/>
              </a:ext>
            </a:extLst>
          </p:cNvPr>
          <p:cNvSpPr>
            <a:spLocks xmlns:a="http://schemas.openxmlformats.org/drawingml/2006/main" noGrp="1"/>
          </p:cNvSpPr>
          <p:nvPr/>
        </p:nvSpPr>
        <p:spPr>
          <a:xfrm xmlns:a="http://schemas.openxmlformats.org/drawingml/2006/main">
            <a:off x="5238750" y="2190750"/>
            <a:ext cx="2381250" cy="15240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3" name="">
            <a:extLst xmlns:a="http://schemas.openxmlformats.org/drawingml/2006/main">
              <a:ext uri="{FF2B5EF4-FFF2-40B4-BE49-F238E27FC236}">
                <a16:creationId xmlns:a16="http://schemas.microsoft.com/office/drawing/2014/main" id="{43C6EE16-0904-4BF9-B10F-FA68889EA6DE}"/>
              </a:ext>
            </a:extLst>
          </p:cNvPr>
          <p:cNvSpPr>
            <a:spLocks xmlns:a="http://schemas.openxmlformats.org/drawingml/2006/main" noGrp="1"/>
          </p:cNvSpPr>
          <p:nvPr/>
        </p:nvSpPr>
        <p:spPr>
          <a:xfrm xmlns:a="http://schemas.openxmlformats.org/drawingml/2006/main" rot="0">
            <a:off x="5372100" y="2305050"/>
            <a:ext cx="21145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現場データ</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現場ネットワーク</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現場の知見</a:t>
            </a:r>
          </a:p>
        </p:txBody>
      </p:sp>
      <p:sp>
        <p:nvSpPr>
          <p:cNvPr id="14" name="">
            <a:extLst xmlns:a="http://schemas.openxmlformats.org/drawingml/2006/main">
              <a:ext uri="{FF2B5EF4-FFF2-40B4-BE49-F238E27FC236}">
                <a16:creationId xmlns:a16="http://schemas.microsoft.com/office/drawing/2014/main" id="{0B7C821A-FA0E-4F39-BBAE-25D8705C4FB9}"/>
              </a:ext>
            </a:extLst>
          </p:cNvPr>
          <p:cNvSpPr>
            <a:spLocks xmlns:a="http://schemas.openxmlformats.org/drawingml/2006/main" noGrp="1"/>
          </p:cNvSpPr>
          <p:nvPr/>
        </p:nvSpPr>
        <p:spPr>
          <a:xfrm xmlns:a="http://schemas.openxmlformats.org/drawingml/2006/main">
            <a:off x="781050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1728329-23FE-4B8C-9247-6FD875AED862}"/>
              </a:ext>
            </a:extLst>
          </p:cNvPr>
          <p:cNvSpPr>
            <a:spLocks xmlns:a="http://schemas.openxmlformats.org/drawingml/2006/main" noGrp="1"/>
          </p:cNvSpPr>
          <p:nvPr/>
        </p:nvSpPr>
        <p:spPr>
          <a:xfrm xmlns:a="http://schemas.openxmlformats.org/drawingml/2006/main" rot="5400000">
            <a:off x="921067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6" name="">
            <a:extLst xmlns:a="http://schemas.openxmlformats.org/drawingml/2006/main">
              <a:ext uri="{FF2B5EF4-FFF2-40B4-BE49-F238E27FC236}">
                <a16:creationId xmlns:a16="http://schemas.microsoft.com/office/drawing/2014/main" id="{182F8324-824E-4B65-9756-EF50B359BE8A}"/>
              </a:ext>
            </a:extLst>
          </p:cNvPr>
          <p:cNvSpPr>
            <a:spLocks xmlns:a="http://schemas.openxmlformats.org/drawingml/2006/main" noGrp="1"/>
          </p:cNvSpPr>
          <p:nvPr/>
        </p:nvSpPr>
        <p:spPr>
          <a:xfrm xmlns:a="http://schemas.openxmlformats.org/drawingml/2006/main" rot="0">
            <a:off x="823912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活用</a:t>
            </a:r>
          </a:p>
        </p:txBody>
      </p:sp>
      <p:sp>
        <p:nvSpPr>
          <p:cNvPr id="17" name="">
            <a:extLst xmlns:a="http://schemas.openxmlformats.org/drawingml/2006/main">
              <a:ext uri="{FF2B5EF4-FFF2-40B4-BE49-F238E27FC236}">
                <a16:creationId xmlns:a16="http://schemas.microsoft.com/office/drawing/2014/main" id="{1829D260-E9D5-4178-8707-53E7F17F9EB5}"/>
              </a:ext>
            </a:extLst>
          </p:cNvPr>
          <p:cNvSpPr>
            <a:spLocks xmlns:a="http://schemas.openxmlformats.org/drawingml/2006/main" noGrp="1"/>
          </p:cNvSpPr>
          <p:nvPr/>
        </p:nvSpPr>
        <p:spPr>
          <a:xfrm xmlns:a="http://schemas.openxmlformats.org/drawingml/2006/main" rot="0">
            <a:off x="895350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第2段階</a:t>
            </a:r>
          </a:p>
        </p:txBody>
      </p:sp>
      <p:sp>
        <p:nvSpPr>
          <p:cNvPr id="18" name="">
            <a:extLst xmlns:a="http://schemas.openxmlformats.org/drawingml/2006/main">
              <a:ext uri="{FF2B5EF4-FFF2-40B4-BE49-F238E27FC236}">
                <a16:creationId xmlns:a16="http://schemas.microsoft.com/office/drawing/2014/main" id="{D10F0E60-6972-44EC-A6BC-8D6498CAC872}"/>
              </a:ext>
            </a:extLst>
          </p:cNvPr>
          <p:cNvSpPr>
            <a:spLocks xmlns:a="http://schemas.openxmlformats.org/drawingml/2006/main" noGrp="1"/>
          </p:cNvSpPr>
          <p:nvPr/>
        </p:nvSpPr>
        <p:spPr>
          <a:xfrm xmlns:a="http://schemas.openxmlformats.org/drawingml/2006/main">
            <a:off x="8953500" y="2381250"/>
            <a:ext cx="2476500" cy="114300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9" name="">
            <a:extLst xmlns:a="http://schemas.openxmlformats.org/drawingml/2006/main">
              <a:ext uri="{FF2B5EF4-FFF2-40B4-BE49-F238E27FC236}">
                <a16:creationId xmlns:a16="http://schemas.microsoft.com/office/drawing/2014/main" id="{1A4E6788-DE69-46E1-8C04-52CC3D165E3D}"/>
              </a:ext>
            </a:extLst>
          </p:cNvPr>
          <p:cNvSpPr>
            <a:spLocks xmlns:a="http://schemas.openxmlformats.org/drawingml/2006/main" noGrp="1"/>
          </p:cNvSpPr>
          <p:nvPr/>
        </p:nvSpPr>
        <p:spPr>
          <a:xfrm xmlns:a="http://schemas.openxmlformats.org/drawingml/2006/main" rot="0">
            <a:off x="908685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ロボットを</a:t>
            </a:r>
          </a:p>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現場へ導入</a:t>
            </a:r>
          </a:p>
        </p:txBody>
      </p:sp>
      <p:sp>
        <p:nvSpPr>
          <p:cNvPr id="20" name="">
            <a:extLst xmlns:a="http://schemas.openxmlformats.org/drawingml/2006/main">
              <a:ext uri="{FF2B5EF4-FFF2-40B4-BE49-F238E27FC236}">
                <a16:creationId xmlns:a16="http://schemas.microsoft.com/office/drawing/2014/main" id="{AD12164F-B29C-4930-A431-F811292301D4}"/>
              </a:ext>
            </a:extLst>
          </p:cNvPr>
          <p:cNvSpPr>
            <a:spLocks xmlns:a="http://schemas.openxmlformats.org/drawingml/2006/main" noGrp="1"/>
          </p:cNvSpPr>
          <p:nvPr/>
        </p:nvSpPr>
        <p:spPr>
          <a:xfrm xmlns:a="http://schemas.openxmlformats.org/drawingml/2006/main" rot="0">
            <a:off x="8953500" y="3762375"/>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作業に合わせて導入・運用を調整</a:t>
            </a:r>
          </a:p>
        </p:txBody>
      </p:sp>
      <p:sp>
        <p:nvSpPr>
          <p:cNvPr id="21" name="">
            <a:extLst xmlns:a="http://schemas.openxmlformats.org/drawingml/2006/main">
              <a:ext uri="{FF2B5EF4-FFF2-40B4-BE49-F238E27FC236}">
                <a16:creationId xmlns:a16="http://schemas.microsoft.com/office/drawing/2014/main" id="{587CB793-8422-4A1C-A64D-B48D7E7B298C}"/>
              </a:ext>
            </a:extLst>
          </p:cNvPr>
          <p:cNvSpPr>
            <a:spLocks xmlns:a="http://schemas.openxmlformats.org/drawingml/2006/main" noGrp="1"/>
          </p:cNvSpPr>
          <p:nvPr/>
        </p:nvSpPr>
        <p:spPr>
          <a:xfrm xmlns:a="http://schemas.openxmlformats.org/drawingml/2006/main">
            <a:off x="857250" y="4762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DEA59A5-6886-4503-A7F0-C13B6E71C77C}"/>
              </a:ext>
            </a:extLst>
          </p:cNvPr>
          <p:cNvSpPr>
            <a:spLocks xmlns:a="http://schemas.openxmlformats.org/drawingml/2006/main" noGrp="1"/>
          </p:cNvSpPr>
          <p:nvPr/>
        </p:nvSpPr>
        <p:spPr>
          <a:xfrm xmlns:a="http://schemas.openxmlformats.org/drawingml/2006/main" rot="0">
            <a:off x="723900" y="52863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ロボット企業と協業し、自ら導入と運用調整を担うこともできる</a:t>
            </a:r>
          </a:p>
        </p:txBody>
      </p:sp>
    </p:spTree>
    <p:extLst>
      <p:ext uri="{BB962C8B-B14F-4D97-AF65-F5344CB8AC3E}">
        <p14:creationId xmlns:p14="http://schemas.microsoft.com/office/powerpoint/2010/main" val="1869694073"/>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EDFB366-0D92-4B4A-A54D-1CDC61CC8D7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582226-E26D-4E8A-A941-69F09BB7C22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RootLensの方向性</a:t>
            </a:r>
          </a:p>
        </p:txBody>
      </p:sp>
      <p:sp>
        <p:nvSpPr>
          <p:cNvPr id="3" name="">
            <a:extLst xmlns:a="http://schemas.openxmlformats.org/drawingml/2006/main">
              <a:ext uri="{FF2B5EF4-FFF2-40B4-BE49-F238E27FC236}">
                <a16:creationId xmlns:a16="http://schemas.microsoft.com/office/drawing/2014/main" id="{CD9F2CB8-FB20-412F-8081-3AED6380775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36F59E5-9384-40C7-8427-75AA07346E1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0BC0725A-05FF-4FB6-8910-E07709585F1A}"/>
              </a:ext>
            </a:extLst>
          </p:cNvPr>
          <p:cNvSpPr>
            <a:spLocks xmlns:a="http://schemas.openxmlformats.org/drawingml/2006/main" noGrp="1"/>
          </p:cNvSpPr>
          <p:nvPr/>
        </p:nvSpPr>
        <p:spPr>
          <a:xfrm xmlns:a="http://schemas.openxmlformats.org/drawingml/2006/main" rot="0">
            <a:off x="7239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FE252410-7F44-456E-B85E-27C966936371}"/>
              </a:ext>
            </a:extLst>
          </p:cNvPr>
          <p:cNvSpPr>
            <a:spLocks xmlns:a="http://schemas.openxmlformats.org/drawingml/2006/main" noGrp="1"/>
          </p:cNvSpPr>
          <p:nvPr/>
        </p:nvSpPr>
        <p:spPr>
          <a:xfrm xmlns:a="http://schemas.openxmlformats.org/drawingml/2006/main" rot="0">
            <a:off x="723900" y="242887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現場データネットワークを広げる</a:t>
            </a:r>
          </a:p>
        </p:txBody>
      </p:sp>
      <p:sp>
        <p:nvSpPr>
          <p:cNvPr id="7" name="">
            <a:extLst xmlns:a="http://schemas.openxmlformats.org/drawingml/2006/main">
              <a:ext uri="{FF2B5EF4-FFF2-40B4-BE49-F238E27FC236}">
                <a16:creationId xmlns:a16="http://schemas.microsoft.com/office/drawing/2014/main" id="{404D5226-8612-4D73-94F6-F5852E384296}"/>
              </a:ext>
            </a:extLst>
          </p:cNvPr>
          <p:cNvSpPr>
            <a:spLocks xmlns:a="http://schemas.openxmlformats.org/drawingml/2006/main" noGrp="1"/>
          </p:cNvSpPr>
          <p:nvPr/>
        </p:nvSpPr>
        <p:spPr>
          <a:xfrm xmlns:a="http://schemas.openxmlformats.org/drawingml/2006/main" rot="0">
            <a:off x="723900" y="30956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データ収集・販売による収益を確保する。現場との関係構築と、多業種へのコンプライアンス対応を通じて、後発が真似できない参入障壁を積み上げる。</a:t>
            </a:r>
          </a:p>
        </p:txBody>
      </p:sp>
      <p:sp>
        <p:nvSpPr>
          <p:cNvPr id="8" name="">
            <a:extLst xmlns:a="http://schemas.openxmlformats.org/drawingml/2006/main">
              <a:ext uri="{FF2B5EF4-FFF2-40B4-BE49-F238E27FC236}">
                <a16:creationId xmlns:a16="http://schemas.microsoft.com/office/drawing/2014/main" id="{09C7CD26-15B7-41B6-AF96-5269A57D30F1}"/>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961B1BD-2BB8-4587-8C37-C136EE8B4C27}"/>
              </a:ext>
            </a:extLst>
          </p:cNvPr>
          <p:cNvSpPr>
            <a:spLocks xmlns:a="http://schemas.openxmlformats.org/drawingml/2006/main" noGrp="1"/>
          </p:cNvSpPr>
          <p:nvPr/>
        </p:nvSpPr>
        <p:spPr>
          <a:xfrm xmlns:a="http://schemas.openxmlformats.org/drawingml/2006/main" rot="0">
            <a:off x="64770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第2段階</a:t>
            </a:r>
          </a:p>
        </p:txBody>
      </p:sp>
      <p:sp>
        <p:nvSpPr>
          <p:cNvPr id="10" name="">
            <a:extLst xmlns:a="http://schemas.openxmlformats.org/drawingml/2006/main">
              <a:ext uri="{FF2B5EF4-FFF2-40B4-BE49-F238E27FC236}">
                <a16:creationId xmlns:a16="http://schemas.microsoft.com/office/drawing/2014/main" id="{9712B505-9F30-4C53-BABB-CA939A945C79}"/>
              </a:ext>
            </a:extLst>
          </p:cNvPr>
          <p:cNvSpPr>
            <a:spLocks xmlns:a="http://schemas.openxmlformats.org/drawingml/2006/main" noGrp="1"/>
          </p:cNvSpPr>
          <p:nvPr/>
        </p:nvSpPr>
        <p:spPr>
          <a:xfrm xmlns:a="http://schemas.openxmlformats.org/drawingml/2006/main" rot="0">
            <a:off x="6477000" y="2428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自らロボットの現場導入を担う</a:t>
            </a:r>
          </a:p>
        </p:txBody>
      </p:sp>
      <p:sp>
        <p:nvSpPr>
          <p:cNvPr id="11" name="">
            <a:extLst xmlns:a="http://schemas.openxmlformats.org/drawingml/2006/main">
              <a:ext uri="{FF2B5EF4-FFF2-40B4-BE49-F238E27FC236}">
                <a16:creationId xmlns:a16="http://schemas.microsoft.com/office/drawing/2014/main" id="{963360A5-DD1F-45F6-BEB6-E82C2A7C5935}"/>
              </a:ext>
            </a:extLst>
          </p:cNvPr>
          <p:cNvSpPr>
            <a:spLocks xmlns:a="http://schemas.openxmlformats.org/drawingml/2006/main" noGrp="1"/>
          </p:cNvSpPr>
          <p:nvPr/>
        </p:nvSpPr>
        <p:spPr>
          <a:xfrm xmlns:a="http://schemas.openxmlformats.org/drawingml/2006/main" rot="0">
            <a:off x="6477000" y="32861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まず既存ロボットを現場へ導入し、作業に合わせて運用を調整する。その後、現場データを使った動作モデルと実機の改良まで自社で担う。</a:t>
            </a:r>
          </a:p>
        </p:txBody>
      </p:sp>
      <p:sp>
        <p:nvSpPr>
          <p:cNvPr id="12" name="">
            <a:extLst xmlns:a="http://schemas.openxmlformats.org/drawingml/2006/main">
              <a:ext uri="{FF2B5EF4-FFF2-40B4-BE49-F238E27FC236}">
                <a16:creationId xmlns:a16="http://schemas.microsoft.com/office/drawing/2014/main" id="{6094592C-4911-4E02-8C0F-0C7FCE4F2C61}"/>
              </a:ext>
            </a:extLst>
          </p:cNvPr>
          <p:cNvSpPr>
            <a:spLocks xmlns:a="http://schemas.openxmlformats.org/drawingml/2006/main" noGrp="1"/>
          </p:cNvSpPr>
          <p:nvPr/>
        </p:nvSpPr>
        <p:spPr>
          <a:xfrm xmlns:a="http://schemas.openxmlformats.org/drawingml/2006/main" rot="0">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この方向性を一言で表したのが、「現場データ収集から始めるフィジカルAIプレーヤー」である。</a:t>
            </a:r>
          </a:p>
        </p:txBody>
      </p:sp>
    </p:spTree>
    <p:extLst>
      <p:ext uri="{BB962C8B-B14F-4D97-AF65-F5344CB8AC3E}">
        <p14:creationId xmlns:p14="http://schemas.microsoft.com/office/powerpoint/2010/main" val="549529653"/>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A8F36E8-3782-4D02-A3D2-FA0F1194E41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6576A2A-AE98-4B53-9732-DCA68FF5462F}"/>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事業構造と両面市場</a:t>
            </a:r>
          </a:p>
        </p:txBody>
      </p:sp>
      <p:sp>
        <p:nvSpPr>
          <p:cNvPr id="3" name="">
            <a:extLst xmlns:a="http://schemas.openxmlformats.org/drawingml/2006/main">
              <a:ext uri="{FF2B5EF4-FFF2-40B4-BE49-F238E27FC236}">
                <a16:creationId xmlns:a16="http://schemas.microsoft.com/office/drawing/2014/main" id="{2954AACA-53B3-4238-9A88-3384E38DCDE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099060B-B8D0-4B24-8A56-6C33A427D35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08D6C9F9-8224-4B11-95AE-D32A9BF5CA8F}"/>
              </a:ext>
            </a:extLst>
          </p:cNvPr>
          <p:cNvSpPr>
            <a:spLocks xmlns:a="http://schemas.openxmlformats.org/drawingml/2006/main" noGrp="1"/>
          </p:cNvSpPr>
          <p:nvPr/>
        </p:nvSpPr>
        <p:spPr>
          <a:xfrm xmlns:a="http://schemas.openxmlformats.org/drawingml/2006/main" rot="0">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0DD5AA7D-82F2-488B-8546-B2AC938D56B3}"/>
              </a:ext>
            </a:extLst>
          </p:cNvPr>
          <p:cNvSpPr>
            <a:spLocks xmlns:a="http://schemas.openxmlformats.org/drawingml/2006/main" noGrp="1"/>
          </p:cNvSpPr>
          <p:nvPr/>
        </p:nvSpPr>
        <p:spPr>
          <a:xfrm xmlns:a="http://schemas.openxmlformats.org/drawingml/2006/main" rot="0">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6C3DB834-12E5-459E-9A8F-F56C7C5A18FA}"/>
              </a:ext>
            </a:extLst>
          </p:cNvPr>
          <p:cNvSpPr>
            <a:spLocks xmlns:a="http://schemas.openxmlformats.org/drawingml/2006/main" noGrp="1"/>
          </p:cNvSpPr>
          <p:nvPr/>
        </p:nvSpPr>
        <p:spPr>
          <a:xfrm xmlns:a="http://schemas.openxmlformats.org/drawingml/2006/main" rot="0">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B7946820-5589-4758-AE89-8C0E9E887140}"/>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AA2DB782-79FA-43C5-A239-E72D14CC2BD5}"/>
              </a:ext>
            </a:extLst>
          </p:cNvPr>
          <p:cNvSpPr>
            <a:spLocks xmlns:a="http://schemas.openxmlformats.org/drawingml/2006/main" noGrp="1"/>
          </p:cNvSpPr>
          <p:nvPr/>
        </p:nvSpPr>
        <p:spPr>
          <a:xfrm xmlns:a="http://schemas.openxmlformats.org/drawingml/2006/main" rot="0">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254BF8E6-ED48-41E4-827B-3190D5FFA177}"/>
              </a:ext>
            </a:extLst>
          </p:cNvPr>
          <p:cNvSpPr>
            <a:spLocks xmlns:a="http://schemas.openxmlformats.org/drawingml/2006/main" noGrp="1"/>
          </p:cNvSpPr>
          <p:nvPr/>
        </p:nvSpPr>
        <p:spPr>
          <a:xfrm xmlns:a="http://schemas.openxmlformats.org/drawingml/2006/main" rot="0">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9B34BD57-55B9-450D-8947-FAD33CA86996}"/>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B895C96-269B-46B5-8035-C4CCC63686A5}"/>
              </a:ext>
            </a:extLst>
          </p:cNvPr>
          <p:cNvSpPr>
            <a:spLocks xmlns:a="http://schemas.openxmlformats.org/drawingml/2006/main" noGrp="1"/>
          </p:cNvSpPr>
          <p:nvPr/>
        </p:nvSpPr>
        <p:spPr>
          <a:xfrm xmlns:a="http://schemas.openxmlformats.org/drawingml/2006/main" rot="0">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28F1E3F6-297E-4095-9D5D-2D79D9A31D93}"/>
              </a:ext>
            </a:extLst>
          </p:cNvPr>
          <p:cNvSpPr>
            <a:spLocks xmlns:a="http://schemas.openxmlformats.org/drawingml/2006/main" noGrp="1"/>
          </p:cNvSpPr>
          <p:nvPr/>
        </p:nvSpPr>
        <p:spPr>
          <a:xfrm xmlns:a="http://schemas.openxmlformats.org/drawingml/2006/main" rot="0">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現場運用</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データ品質</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販売フロー</a:t>
            </a:r>
          </a:p>
        </p:txBody>
      </p:sp>
      <p:sp>
        <p:nvSpPr>
          <p:cNvPr id="14" name="">
            <a:extLst xmlns:a="http://schemas.openxmlformats.org/drawingml/2006/main">
              <a:ext uri="{FF2B5EF4-FFF2-40B4-BE49-F238E27FC236}">
                <a16:creationId xmlns:a16="http://schemas.microsoft.com/office/drawing/2014/main" id="{572C14DF-AD40-4A2A-B1C4-D86661370192}"/>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C9977188-A12D-440B-A485-E04CDB9B70A8}"/>
              </a:ext>
            </a:extLst>
          </p:cNvPr>
          <p:cNvSpPr>
            <a:spLocks xmlns:a="http://schemas.openxmlformats.org/drawingml/2006/main" noGrp="1"/>
          </p:cNvSpPr>
          <p:nvPr/>
        </p:nvSpPr>
        <p:spPr>
          <a:xfrm xmlns:a="http://schemas.openxmlformats.org/drawingml/2006/main" rot="0">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データバイヤー</a:t>
            </a:r>
          </a:p>
        </p:txBody>
      </p:sp>
      <p:sp>
        <p:nvSpPr>
          <p:cNvPr id="16" name="">
            <a:extLst xmlns:a="http://schemas.openxmlformats.org/drawingml/2006/main">
              <a:ext uri="{FF2B5EF4-FFF2-40B4-BE49-F238E27FC236}">
                <a16:creationId xmlns:a16="http://schemas.microsoft.com/office/drawing/2014/main" id="{CCCD5D9A-633F-4E82-87FD-917951435D49}"/>
              </a:ext>
            </a:extLst>
          </p:cNvPr>
          <p:cNvSpPr>
            <a:spLocks xmlns:a="http://schemas.openxmlformats.org/drawingml/2006/main" noGrp="1"/>
          </p:cNvSpPr>
          <p:nvPr/>
        </p:nvSpPr>
        <p:spPr>
          <a:xfrm xmlns:a="http://schemas.openxmlformats.org/drawingml/2006/main" rot="0">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A1CDB10D-03DF-491C-8DD3-1CD9CCA3A0F9}"/>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DBD43A0-92F4-4614-8173-ACD87A13EC0C}"/>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414ED73-E8F9-401B-A909-002D2AEE5243}"/>
              </a:ext>
            </a:extLst>
          </p:cNvPr>
          <p:cNvSpPr>
            <a:spLocks xmlns:a="http://schemas.openxmlformats.org/drawingml/2006/main" noGrp="1"/>
          </p:cNvSpPr>
          <p:nvPr/>
        </p:nvSpPr>
        <p:spPr>
          <a:xfrm xmlns:a="http://schemas.openxmlformats.org/drawingml/2006/main" rot="0">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D7C5D5BB-649D-4DE2-A40C-3E4F2E3E845D}"/>
              </a:ext>
            </a:extLst>
          </p:cNvPr>
          <p:cNvSpPr>
            <a:spLocks xmlns:a="http://schemas.openxmlformats.org/drawingml/2006/main" noGrp="1"/>
          </p:cNvSpPr>
          <p:nvPr/>
        </p:nvSpPr>
        <p:spPr>
          <a:xfrm xmlns:a="http://schemas.openxmlformats.org/drawingml/2006/main" rot="0">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6125D98B-AA30-40CC-BEEC-63EEAA2CA336}"/>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142FBF7-97A0-4F82-87E1-1A5E6022E33F}"/>
              </a:ext>
            </a:extLst>
          </p:cNvPr>
          <p:cNvSpPr>
            <a:spLocks xmlns:a="http://schemas.openxmlformats.org/drawingml/2006/main" noGrp="1"/>
          </p:cNvSpPr>
          <p:nvPr/>
        </p:nvSpPr>
        <p:spPr>
          <a:xfrm xmlns:a="http://schemas.openxmlformats.org/drawingml/2006/main" rot="0">
            <a:off x="7239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撮影先と販売先という2種類の市場を開拓する必要があり、両面を同時に開拓することは簡単ではない。現段階では、若干現場開拓が先行している。</a:t>
            </a:r>
          </a:p>
        </p:txBody>
      </p:sp>
    </p:spTree>
    <p:extLst>
      <p:ext uri="{BB962C8B-B14F-4D97-AF65-F5344CB8AC3E}">
        <p14:creationId xmlns:p14="http://schemas.microsoft.com/office/powerpoint/2010/main" val="506522786"/>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55A1001-15DB-41B7-ABCC-B7522D6AB55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064ECB-BCBA-4E30-A6F8-2FDC8492E86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これまでの活動実績｜現場開拓</a:t>
            </a:r>
          </a:p>
        </p:txBody>
      </p:sp>
      <p:sp>
        <p:nvSpPr>
          <p:cNvPr id="3" name="">
            <a:extLst xmlns:a="http://schemas.openxmlformats.org/drawingml/2006/main">
              <a:ext uri="{FF2B5EF4-FFF2-40B4-BE49-F238E27FC236}">
                <a16:creationId xmlns:a16="http://schemas.microsoft.com/office/drawing/2014/main" id="{EF399399-8120-4B15-AA4A-40BA22D0427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A839CC9-BBB4-4BCB-876C-13D948DE8D3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4CF6D780-9EF0-4115-B658-EF02A26F6222}"/>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現場への訪問</a:t>
            </a:r>
          </a:p>
        </p:txBody>
      </p:sp>
      <p:sp>
        <p:nvSpPr>
          <p:cNvPr id="6" name="">
            <a:extLst xmlns:a="http://schemas.openxmlformats.org/drawingml/2006/main">
              <a:ext uri="{FF2B5EF4-FFF2-40B4-BE49-F238E27FC236}">
                <a16:creationId xmlns:a16="http://schemas.microsoft.com/office/drawing/2014/main" id="{8BD62D0E-1D0F-454D-9205-160E40E21980}"/>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30件ほどの現場へ訪問。そこで出会ったベーカリー経営者の許可のもと、店舗で実際にデータ収集をテストした。</a:t>
            </a:r>
          </a:p>
        </p:txBody>
      </p:sp>
      <p:sp>
        <p:nvSpPr>
          <p:cNvPr id="7" name="">
            <a:extLst xmlns:a="http://schemas.openxmlformats.org/drawingml/2006/main">
              <a:ext uri="{FF2B5EF4-FFF2-40B4-BE49-F238E27FC236}">
                <a16:creationId xmlns:a16="http://schemas.microsoft.com/office/drawing/2014/main" id="{A79E305A-10F4-43B9-868B-95E051928401}"/>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6E986CF-281E-4732-B4C9-41DA41704601}"/>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ベーカリーでの収集</a:t>
            </a:r>
          </a:p>
        </p:txBody>
      </p:sp>
      <p:sp>
        <p:nvSpPr>
          <p:cNvPr id="9" name="">
            <a:extLst xmlns:a="http://schemas.openxmlformats.org/drawingml/2006/main">
              <a:ext uri="{FF2B5EF4-FFF2-40B4-BE49-F238E27FC236}">
                <a16:creationId xmlns:a16="http://schemas.microsoft.com/office/drawing/2014/main" id="{6EF4F6A2-0F24-41E6-B6C6-6FC956731443}"/>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スタッフから逐一フィードバックを受け、撮影機材を改善。合計50時間ほどのデータを収集した。</a:t>
            </a:r>
          </a:p>
        </p:txBody>
      </p:sp>
      <p:sp>
        <p:nvSpPr>
          <p:cNvPr id="10" name="">
            <a:extLst xmlns:a="http://schemas.openxmlformats.org/drawingml/2006/main">
              <a:ext uri="{FF2B5EF4-FFF2-40B4-BE49-F238E27FC236}">
                <a16:creationId xmlns:a16="http://schemas.microsoft.com/office/drawing/2014/main" id="{D85120DD-D60F-4447-BBD4-9FECE1742E7A}"/>
              </a:ext>
            </a:extLst>
          </p:cNvPr>
          <p:cNvSpPr>
            <a:spLocks xmlns:a="http://schemas.openxmlformats.org/drawingml/2006/main" noGrp="1"/>
          </p:cNvSpPr>
          <p:nvPr/>
        </p:nvSpPr>
        <p:spPr>
          <a:xfrm xmlns:a="http://schemas.openxmlformats.org/drawingml/2006/main">
            <a:off x="723900" y="35242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5F40150-1E00-451B-99BA-2DB6FFA1E1F5}"/>
              </a:ext>
            </a:extLst>
          </p:cNvPr>
          <p:cNvSpPr>
            <a:spLocks xmlns:a="http://schemas.openxmlformats.org/drawingml/2006/main" noGrp="1"/>
          </p:cNvSpPr>
          <p:nvPr/>
        </p:nvSpPr>
        <p:spPr>
          <a:xfrm xmlns:a="http://schemas.openxmlformats.org/drawingml/2006/main" rot="0">
            <a:off x="723900" y="3619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飲食店への打診</a:t>
            </a:r>
          </a:p>
        </p:txBody>
      </p:sp>
      <p:sp>
        <p:nvSpPr>
          <p:cNvPr id="12" name="">
            <a:extLst xmlns:a="http://schemas.openxmlformats.org/drawingml/2006/main">
              <a:ext uri="{FF2B5EF4-FFF2-40B4-BE49-F238E27FC236}">
                <a16:creationId xmlns:a16="http://schemas.microsoft.com/office/drawing/2014/main" id="{86134CC9-21F7-45B1-B57B-B51C67BD03A2}"/>
              </a:ext>
            </a:extLst>
          </p:cNvPr>
          <p:cNvSpPr>
            <a:spLocks xmlns:a="http://schemas.openxmlformats.org/drawingml/2006/main" noGrp="1"/>
          </p:cNvSpPr>
          <p:nvPr/>
        </p:nvSpPr>
        <p:spPr>
          <a:xfrm xmlns:a="http://schemas.openxmlformats.org/drawingml/2006/main" rot="0">
            <a:off x="3714750" y="3600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SNSのDMを通じて複数の飲食店に連絡し、神戸の一社と合意の手続きを進めている。</a:t>
            </a:r>
          </a:p>
        </p:txBody>
      </p:sp>
      <p:sp>
        <p:nvSpPr>
          <p:cNvPr id="13" name="">
            <a:extLst xmlns:a="http://schemas.openxmlformats.org/drawingml/2006/main">
              <a:ext uri="{FF2B5EF4-FFF2-40B4-BE49-F238E27FC236}">
                <a16:creationId xmlns:a16="http://schemas.microsoft.com/office/drawing/2014/main" id="{E0BB4005-20CD-43E5-810F-31908ED6CE4F}"/>
              </a:ext>
            </a:extLst>
          </p:cNvPr>
          <p:cNvSpPr>
            <a:spLocks xmlns:a="http://schemas.openxmlformats.org/drawingml/2006/main" noGrp="1"/>
          </p:cNvSpPr>
          <p:nvPr/>
        </p:nvSpPr>
        <p:spPr>
          <a:xfrm xmlns:a="http://schemas.openxmlformats.org/drawingml/2006/main">
            <a:off x="723900" y="4429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19EC05A-4574-4188-8E80-E5E22D91D0D9}"/>
              </a:ext>
            </a:extLst>
          </p:cNvPr>
          <p:cNvSpPr>
            <a:spLocks xmlns:a="http://schemas.openxmlformats.org/drawingml/2006/main" noGrp="1"/>
          </p:cNvSpPr>
          <p:nvPr/>
        </p:nvSpPr>
        <p:spPr>
          <a:xfrm xmlns:a="http://schemas.openxmlformats.org/drawingml/2006/main" rot="0">
            <a:off x="723900" y="4524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小売店への打診</a:t>
            </a:r>
          </a:p>
        </p:txBody>
      </p:sp>
      <p:sp>
        <p:nvSpPr>
          <p:cNvPr id="15" name="">
            <a:extLst xmlns:a="http://schemas.openxmlformats.org/drawingml/2006/main">
              <a:ext uri="{FF2B5EF4-FFF2-40B4-BE49-F238E27FC236}">
                <a16:creationId xmlns:a16="http://schemas.microsoft.com/office/drawing/2014/main" id="{56D808B2-E20F-4F25-8402-AD6B1D6211F9}"/>
              </a:ext>
            </a:extLst>
          </p:cNvPr>
          <p:cNvSpPr>
            <a:spLocks xmlns:a="http://schemas.openxmlformats.org/drawingml/2006/main" noGrp="1"/>
          </p:cNvSpPr>
          <p:nvPr/>
        </p:nvSpPr>
        <p:spPr>
          <a:xfrm xmlns:a="http://schemas.openxmlformats.org/drawingml/2006/main" rot="0">
            <a:off x="3714750" y="4505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大崎の紹介で関西のとみづやと接触し、撮影協力について9月17日に直接説明する予定。</a:t>
            </a:r>
          </a:p>
        </p:txBody>
      </p:sp>
      <p:sp>
        <p:nvSpPr>
          <p:cNvPr id="16" name="">
            <a:extLst xmlns:a="http://schemas.openxmlformats.org/drawingml/2006/main">
              <a:ext uri="{FF2B5EF4-FFF2-40B4-BE49-F238E27FC236}">
                <a16:creationId xmlns:a16="http://schemas.microsoft.com/office/drawing/2014/main" id="{CB915A5C-E3C6-4AC5-B4B0-834ADBC2F64D}"/>
              </a:ext>
            </a:extLst>
          </p:cNvPr>
          <p:cNvSpPr>
            <a:spLocks xmlns:a="http://schemas.openxmlformats.org/drawingml/2006/main" noGrp="1"/>
          </p:cNvSpPr>
          <p:nvPr/>
        </p:nvSpPr>
        <p:spPr>
          <a:xfrm xmlns:a="http://schemas.openxmlformats.org/drawingml/2006/main">
            <a:off x="723900" y="5334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5BC9D33-E514-4235-B118-0E2761DC5703}"/>
              </a:ext>
            </a:extLst>
          </p:cNvPr>
          <p:cNvSpPr>
            <a:spLocks xmlns:a="http://schemas.openxmlformats.org/drawingml/2006/main" noGrp="1"/>
          </p:cNvSpPr>
          <p:nvPr/>
        </p:nvSpPr>
        <p:spPr>
          <a:xfrm xmlns:a="http://schemas.openxmlformats.org/drawingml/2006/main" rot="0">
            <a:off x="723900" y="55721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ロボット企業への訪問</a:t>
            </a:r>
          </a:p>
        </p:txBody>
      </p:sp>
      <p:sp>
        <p:nvSpPr>
          <p:cNvPr id="18" name="">
            <a:extLst xmlns:a="http://schemas.openxmlformats.org/drawingml/2006/main">
              <a:ext uri="{FF2B5EF4-FFF2-40B4-BE49-F238E27FC236}">
                <a16:creationId xmlns:a16="http://schemas.microsoft.com/office/drawing/2014/main" id="{2328B878-129D-461E-8712-B8A3B369B19E}"/>
              </a:ext>
            </a:extLst>
          </p:cNvPr>
          <p:cNvSpPr>
            <a:spLocks xmlns:a="http://schemas.openxmlformats.org/drawingml/2006/main" noGrp="1"/>
          </p:cNvSpPr>
          <p:nvPr/>
        </p:nvSpPr>
        <p:spPr>
          <a:xfrm xmlns:a="http://schemas.openxmlformats.org/drawingml/2006/main" rot="0">
            <a:off x="3714750" y="555307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DENSO WAVEを直接訪問し、産業ロボット領域での協働の可能性を探る。</a:t>
            </a:r>
          </a:p>
        </p:txBody>
      </p:sp>
    </p:spTree>
    <p:extLst>
      <p:ext uri="{BB962C8B-B14F-4D97-AF65-F5344CB8AC3E}">
        <p14:creationId xmlns:p14="http://schemas.microsoft.com/office/powerpoint/2010/main" val="706660393"/>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5566DCC-BF15-4E78-BCBD-41FDB0B4EF3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E62281-0C2B-4358-9BD7-6A3700872FBF}"/>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販売先は確保できる段階にある。ボトルネックは収集規模だけである</a:t>
            </a:r>
          </a:p>
        </p:txBody>
      </p:sp>
      <p:sp>
        <p:nvSpPr>
          <p:cNvPr id="3" name="">
            <a:extLst xmlns:a="http://schemas.openxmlformats.org/drawingml/2006/main">
              <a:ext uri="{FF2B5EF4-FFF2-40B4-BE49-F238E27FC236}">
                <a16:creationId xmlns:a16="http://schemas.microsoft.com/office/drawing/2014/main" id="{BC0F134E-FE4F-4337-BAB6-0FCF0DA115C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445771B-B9FD-421F-BD51-62F6A0839C2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25E14187-AC10-4371-ABF4-DA6C90C6FAFF}"/>
              </a:ext>
            </a:extLst>
          </p:cNvPr>
          <p:cNvSpPr>
            <a:spLocks xmlns:a="http://schemas.openxmlformats.org/drawingml/2006/main" noGrp="1"/>
          </p:cNvSpPr>
          <p:nvPr/>
        </p:nvSpPr>
        <p:spPr>
          <a:xfrm xmlns:a="http://schemas.openxmlformats.org/drawingml/2006/main" rot="0">
            <a:off x="857250" y="20002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海外</a:t>
            </a:r>
          </a:p>
        </p:txBody>
      </p:sp>
      <p:sp>
        <p:nvSpPr>
          <p:cNvPr id="6" name="">
            <a:extLst xmlns:a="http://schemas.openxmlformats.org/drawingml/2006/main">
              <a:ext uri="{FF2B5EF4-FFF2-40B4-BE49-F238E27FC236}">
                <a16:creationId xmlns:a16="http://schemas.microsoft.com/office/drawing/2014/main" id="{703A714A-FF1A-4632-B68F-872D9DDAE2E1}"/>
              </a:ext>
            </a:extLst>
          </p:cNvPr>
          <p:cNvSpPr>
            <a:spLocks xmlns:a="http://schemas.openxmlformats.org/drawingml/2006/main" noGrp="1"/>
          </p:cNvSpPr>
          <p:nvPr/>
        </p:nvSpPr>
        <p:spPr>
          <a:xfrm xmlns:a="http://schemas.openxmlformats.org/drawingml/2006/main">
            <a:off x="857250" y="247650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FDB9D65-839B-4DAC-A310-7143657254AA}"/>
              </a:ext>
            </a:extLst>
          </p:cNvPr>
          <p:cNvSpPr>
            <a:spLocks xmlns:a="http://schemas.openxmlformats.org/drawingml/2006/main" noGrp="1"/>
          </p:cNvSpPr>
          <p:nvPr/>
        </p:nvSpPr>
        <p:spPr>
          <a:xfrm xmlns:a="http://schemas.openxmlformats.org/drawingml/2006/main">
            <a:off x="857250" y="29051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EAE08C8-1B78-4616-82BA-C8BFE2B555F0}"/>
              </a:ext>
            </a:extLst>
          </p:cNvPr>
          <p:cNvSpPr>
            <a:spLocks xmlns:a="http://schemas.openxmlformats.org/drawingml/2006/main" noGrp="1"/>
          </p:cNvSpPr>
          <p:nvPr/>
        </p:nvSpPr>
        <p:spPr>
          <a:xfrm xmlns:a="http://schemas.openxmlformats.org/drawingml/2006/main" rot="0">
            <a:off x="1104900" y="2743200"/>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5191B"/>
                </a:solidFill>
                <a:latin typeface="Hiragino Sans"/>
                <a:ea typeface="Hiragino Sans"/>
                <a:cs typeface="Hiragino Sans"/>
              </a:defRPr>
            </a:pPr>
            <a:r>
              <a:rPr sz="1575" b="1">
                <a:solidFill>
                  <a:srgbClr val="15191B"/>
                </a:solidFill>
                <a:latin typeface="Hiragino Sans"/>
                <a:ea typeface="Hiragino Sans"/>
                <a:cs typeface="Hiragino Sans"/>
              </a:rPr>
              <a:t>8社とサンプルのやり取りまで到達</a:t>
            </a:r>
          </a:p>
        </p:txBody>
      </p:sp>
      <p:sp>
        <p:nvSpPr>
          <p:cNvPr id="9" name="">
            <a:extLst xmlns:a="http://schemas.openxmlformats.org/drawingml/2006/main">
              <a:ext uri="{FF2B5EF4-FFF2-40B4-BE49-F238E27FC236}">
                <a16:creationId xmlns:a16="http://schemas.microsoft.com/office/drawing/2014/main" id="{F54EDC3B-9707-43D0-A4C3-E42341F3EADE}"/>
              </a:ext>
            </a:extLst>
          </p:cNvPr>
          <p:cNvSpPr>
            <a:spLocks xmlns:a="http://schemas.openxmlformats.org/drawingml/2006/main" noGrp="1"/>
          </p:cNvSpPr>
          <p:nvPr/>
        </p:nvSpPr>
        <p:spPr>
          <a:xfrm xmlns:a="http://schemas.openxmlformats.org/drawingml/2006/main">
            <a:off x="857250" y="38576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7899DBD-2B98-4E77-AD6C-E914CF47510E}"/>
              </a:ext>
            </a:extLst>
          </p:cNvPr>
          <p:cNvSpPr>
            <a:spLocks xmlns:a="http://schemas.openxmlformats.org/drawingml/2006/main" noGrp="1"/>
          </p:cNvSpPr>
          <p:nvPr/>
        </p:nvSpPr>
        <p:spPr>
          <a:xfrm xmlns:a="http://schemas.openxmlformats.org/drawingml/2006/main" rot="0">
            <a:off x="1104900" y="3667125"/>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合意に至らない理由は品質ではなく収集規模。</a:t>
            </a:r>
          </a:p>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スケールが解決する課題である</a:t>
            </a:r>
          </a:p>
        </p:txBody>
      </p:sp>
      <p:sp>
        <p:nvSpPr>
          <p:cNvPr id="11" name="">
            <a:extLst xmlns:a="http://schemas.openxmlformats.org/drawingml/2006/main">
              <a:ext uri="{FF2B5EF4-FFF2-40B4-BE49-F238E27FC236}">
                <a16:creationId xmlns:a16="http://schemas.microsoft.com/office/drawing/2014/main" id="{CEB0174B-B1B5-424A-AB42-736B9C06829A}"/>
              </a:ext>
            </a:extLst>
          </p:cNvPr>
          <p:cNvSpPr>
            <a:spLocks xmlns:a="http://schemas.openxmlformats.org/drawingml/2006/main" noGrp="1"/>
          </p:cNvSpPr>
          <p:nvPr/>
        </p:nvSpPr>
        <p:spPr>
          <a:xfrm xmlns:a="http://schemas.openxmlformats.org/drawingml/2006/main">
            <a:off x="6096000" y="1857375"/>
            <a:ext cx="9525" cy="361950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5ED8686-90E2-42BA-A611-578270A6B98E}"/>
              </a:ext>
            </a:extLst>
          </p:cNvPr>
          <p:cNvSpPr>
            <a:spLocks xmlns:a="http://schemas.openxmlformats.org/drawingml/2006/main" noGrp="1"/>
          </p:cNvSpPr>
          <p:nvPr/>
        </p:nvSpPr>
        <p:spPr>
          <a:xfrm xmlns:a="http://schemas.openxmlformats.org/drawingml/2006/main" rot="0">
            <a:off x="6572250" y="20002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315C78"/>
                </a:solidFill>
                <a:latin typeface="Hiragino Sans"/>
                <a:ea typeface="Hiragino Sans"/>
                <a:cs typeface="Hiragino Sans"/>
              </a:defRPr>
            </a:pPr>
            <a:r>
              <a:rPr sz="1875" b="1">
                <a:solidFill>
                  <a:srgbClr val="315C78"/>
                </a:solidFill>
                <a:latin typeface="Hiragino Sans"/>
                <a:ea typeface="Hiragino Sans"/>
                <a:cs typeface="Hiragino Sans"/>
              </a:rPr>
              <a:t>国内｜Nextremer</a:t>
            </a:r>
          </a:p>
        </p:txBody>
      </p:sp>
      <p:sp>
        <p:nvSpPr>
          <p:cNvPr id="13" name="">
            <a:extLst xmlns:a="http://schemas.openxmlformats.org/drawingml/2006/main">
              <a:ext uri="{FF2B5EF4-FFF2-40B4-BE49-F238E27FC236}">
                <a16:creationId xmlns:a16="http://schemas.microsoft.com/office/drawing/2014/main" id="{1ADB4497-0418-452B-9B11-C1BFA04FD990}"/>
              </a:ext>
            </a:extLst>
          </p:cNvPr>
          <p:cNvSpPr>
            <a:spLocks xmlns:a="http://schemas.openxmlformats.org/drawingml/2006/main" noGrp="1"/>
          </p:cNvSpPr>
          <p:nvPr/>
        </p:nvSpPr>
        <p:spPr>
          <a:xfrm xmlns:a="http://schemas.openxmlformats.org/drawingml/2006/main">
            <a:off x="6572250" y="247650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57E4A31-C465-4630-8F48-91C81025C9AF}"/>
              </a:ext>
            </a:extLst>
          </p:cNvPr>
          <p:cNvSpPr>
            <a:spLocks xmlns:a="http://schemas.openxmlformats.org/drawingml/2006/main" noGrp="1"/>
          </p:cNvSpPr>
          <p:nvPr/>
        </p:nvSpPr>
        <p:spPr>
          <a:xfrm xmlns:a="http://schemas.openxmlformats.org/drawingml/2006/main">
            <a:off x="6572250" y="285750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D672BAF-3AD1-495D-8490-5BCEDD16DEE0}"/>
              </a:ext>
            </a:extLst>
          </p:cNvPr>
          <p:cNvSpPr>
            <a:spLocks xmlns:a="http://schemas.openxmlformats.org/drawingml/2006/main" noGrp="1"/>
          </p:cNvSpPr>
          <p:nvPr/>
        </p:nvSpPr>
        <p:spPr>
          <a:xfrm xmlns:a="http://schemas.openxmlformats.org/drawingml/2006/main" rot="0">
            <a:off x="6819900" y="2686050"/>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手数料なしのレベニューシェア。</a:t>
            </a:r>
          </a:p>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当社は現場開拓とデータ収集に専念できる</a:t>
            </a:r>
          </a:p>
        </p:txBody>
      </p:sp>
      <p:sp>
        <p:nvSpPr>
          <p:cNvPr id="16" name="">
            <a:extLst xmlns:a="http://schemas.openxmlformats.org/drawingml/2006/main">
              <a:ext uri="{FF2B5EF4-FFF2-40B4-BE49-F238E27FC236}">
                <a16:creationId xmlns:a16="http://schemas.microsoft.com/office/drawing/2014/main" id="{C187ADBC-99FB-4B71-9E2D-EEE88EEC5AE7}"/>
              </a:ext>
            </a:extLst>
          </p:cNvPr>
          <p:cNvSpPr>
            <a:spLocks xmlns:a="http://schemas.openxmlformats.org/drawingml/2006/main" noGrp="1"/>
          </p:cNvSpPr>
          <p:nvPr/>
        </p:nvSpPr>
        <p:spPr>
          <a:xfrm xmlns:a="http://schemas.openxmlformats.org/drawingml/2006/main">
            <a:off x="6572250" y="371475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1505FC3-0D95-4B3C-8605-5C24ABB13900}"/>
              </a:ext>
            </a:extLst>
          </p:cNvPr>
          <p:cNvSpPr>
            <a:spLocks xmlns:a="http://schemas.openxmlformats.org/drawingml/2006/main" noGrp="1"/>
          </p:cNvSpPr>
          <p:nvPr/>
        </p:nvSpPr>
        <p:spPr>
          <a:xfrm xmlns:a="http://schemas.openxmlformats.org/drawingml/2006/main" rot="0">
            <a:off x="6819900" y="3543300"/>
            <a:ext cx="428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データの加工・販売サービスに掲載予定。</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現場合意フローを共同構築中</a:t>
            </a:r>
          </a:p>
        </p:txBody>
      </p:sp>
      <p:sp>
        <p:nvSpPr>
          <p:cNvPr id="18" name="">
            <a:extLst xmlns:a="http://schemas.openxmlformats.org/drawingml/2006/main">
              <a:ext uri="{FF2B5EF4-FFF2-40B4-BE49-F238E27FC236}">
                <a16:creationId xmlns:a16="http://schemas.microsoft.com/office/drawing/2014/main" id="{F526BF50-328F-495F-AA83-7D3C5546C0D4}"/>
              </a:ext>
            </a:extLst>
          </p:cNvPr>
          <p:cNvSpPr>
            <a:spLocks xmlns:a="http://schemas.openxmlformats.org/drawingml/2006/main" noGrp="1"/>
          </p:cNvSpPr>
          <p:nvPr/>
        </p:nvSpPr>
        <p:spPr>
          <a:xfrm xmlns:a="http://schemas.openxmlformats.org/drawingml/2006/main">
            <a:off x="6572250" y="457200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FE9676F-2F07-4628-BC35-DCD945D73DB3}"/>
              </a:ext>
            </a:extLst>
          </p:cNvPr>
          <p:cNvSpPr>
            <a:spLocks xmlns:a="http://schemas.openxmlformats.org/drawingml/2006/main" noGrp="1"/>
          </p:cNvSpPr>
          <p:nvPr/>
        </p:nvSpPr>
        <p:spPr>
          <a:xfrm xmlns:a="http://schemas.openxmlformats.org/drawingml/2006/main" rot="0">
            <a:off x="6819900" y="4400550"/>
            <a:ext cx="428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アノテーション付きデータとして</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高単価の販売先にもアプローチ可能</a:t>
            </a:r>
          </a:p>
        </p:txBody>
      </p:sp>
    </p:spTree>
    <p:extLst>
      <p:ext uri="{BB962C8B-B14F-4D97-AF65-F5344CB8AC3E}">
        <p14:creationId xmlns:p14="http://schemas.microsoft.com/office/powerpoint/2010/main" val="1806005950"/>
      </p:ext>
    </p:extLst>
  </p:cSld>
</p:sld>
</file>

<file path=ppt/slides/slide1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2BFA195-7F94-41FB-B360-485CBC52FCE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867505-26BB-430B-AF3C-6D3433606EA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チーム体制</a:t>
            </a:r>
          </a:p>
        </p:txBody>
      </p:sp>
      <p:sp>
        <p:nvSpPr>
          <p:cNvPr id="3" name="">
            <a:extLst xmlns:a="http://schemas.openxmlformats.org/drawingml/2006/main">
              <a:ext uri="{FF2B5EF4-FFF2-40B4-BE49-F238E27FC236}">
                <a16:creationId xmlns:a16="http://schemas.microsoft.com/office/drawing/2014/main" id="{BB341EA7-F966-4BDC-8263-D5CB5094DEB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211CF58-1118-44DF-9AAC-580C48AD585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16</a:t>
            </a:r>
          </a:p>
        </p:txBody>
      </p:sp>
      <p:sp>
        <p:nvSpPr>
          <p:cNvPr id="5" name="">
            <a:extLst xmlns:a="http://schemas.openxmlformats.org/drawingml/2006/main">
              <a:ext uri="{FF2B5EF4-FFF2-40B4-BE49-F238E27FC236}">
                <a16:creationId xmlns:a16="http://schemas.microsoft.com/office/drawing/2014/main" id="{93644BA8-1285-4CF2-9563-93AD43067D07}"/>
              </a:ext>
            </a:extLst>
          </p:cNvPr>
          <p:cNvSpPr>
            <a:spLocks xmlns:a="http://schemas.openxmlformats.org/drawingml/2006/main" noGrp="1"/>
          </p:cNvSpPr>
          <p:nvPr/>
        </p:nvSpPr>
        <p:spPr>
          <a:xfrm xmlns:a="http://schemas.openxmlformats.org/drawingml/2006/main" rot="0">
            <a:off x="723900" y="17621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森雄大</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共同創業者</a:t>
            </a:r>
          </a:p>
        </p:txBody>
      </p:sp>
      <p:sp>
        <p:nvSpPr>
          <p:cNvPr id="6" name="">
            <a:extLst xmlns:a="http://schemas.openxmlformats.org/drawingml/2006/main">
              <a:ext uri="{FF2B5EF4-FFF2-40B4-BE49-F238E27FC236}">
                <a16:creationId xmlns:a16="http://schemas.microsoft.com/office/drawing/2014/main" id="{0D5F1C5B-8503-4E9A-B403-DEAC8A608C2D}"/>
              </a:ext>
            </a:extLst>
          </p:cNvPr>
          <p:cNvSpPr>
            <a:spLocks xmlns:a="http://schemas.openxmlformats.org/drawingml/2006/main" noGrp="1"/>
          </p:cNvSpPr>
          <p:nvPr/>
        </p:nvSpPr>
        <p:spPr>
          <a:xfrm xmlns:a="http://schemas.openxmlformats.org/drawingml/2006/main" rot="0">
            <a:off x="3524250" y="1743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大阪大学基礎工学部卒業後、本事業を立ち上げ。現場開拓、販売先開拓、撮影デバイスの設計・開発、事業全体の推進を担う。</a:t>
            </a:r>
          </a:p>
        </p:txBody>
      </p:sp>
      <p:sp>
        <p:nvSpPr>
          <p:cNvPr id="7" name="">
            <a:extLst xmlns:a="http://schemas.openxmlformats.org/drawingml/2006/main">
              <a:ext uri="{FF2B5EF4-FFF2-40B4-BE49-F238E27FC236}">
                <a16:creationId xmlns:a16="http://schemas.microsoft.com/office/drawing/2014/main" id="{DF4C2881-6113-4B51-B8FA-F7F50DF3B85A}"/>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46B3AE6-8207-4AF6-8C1D-1103B4F689F9}"/>
              </a:ext>
            </a:extLst>
          </p:cNvPr>
          <p:cNvSpPr>
            <a:spLocks xmlns:a="http://schemas.openxmlformats.org/drawingml/2006/main" noGrp="1"/>
          </p:cNvSpPr>
          <p:nvPr/>
        </p:nvSpPr>
        <p:spPr>
          <a:xfrm xmlns:a="http://schemas.openxmlformats.org/drawingml/2006/main" rot="0">
            <a:off x="723900" y="27146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河野瞭人</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共同創業者</a:t>
            </a:r>
          </a:p>
        </p:txBody>
      </p:sp>
      <p:sp>
        <p:nvSpPr>
          <p:cNvPr id="9" name="">
            <a:extLst xmlns:a="http://schemas.openxmlformats.org/drawingml/2006/main">
              <a:ext uri="{FF2B5EF4-FFF2-40B4-BE49-F238E27FC236}">
                <a16:creationId xmlns:a16="http://schemas.microsoft.com/office/drawing/2014/main" id="{015628F0-A03D-4385-90D4-DA11AC33336D}"/>
              </a:ext>
            </a:extLst>
          </p:cNvPr>
          <p:cNvSpPr>
            <a:spLocks xmlns:a="http://schemas.openxmlformats.org/drawingml/2006/main" noGrp="1"/>
          </p:cNvSpPr>
          <p:nvPr/>
        </p:nvSpPr>
        <p:spPr>
          <a:xfrm xmlns:a="http://schemas.openxmlformats.org/drawingml/2006/main" rot="0">
            <a:off x="3524250" y="2695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神戸大学大学院システム情報学研究科で、二足歩行ロボットのlocomotionにおけるSim-to-Realを研究。事業ではシミュレーション領域を担う。</a:t>
            </a:r>
          </a:p>
        </p:txBody>
      </p:sp>
      <p:sp>
        <p:nvSpPr>
          <p:cNvPr id="10" name="">
            <a:extLst xmlns:a="http://schemas.openxmlformats.org/drawingml/2006/main">
              <a:ext uri="{FF2B5EF4-FFF2-40B4-BE49-F238E27FC236}">
                <a16:creationId xmlns:a16="http://schemas.microsoft.com/office/drawing/2014/main" id="{273A9CFA-828C-4F58-9C27-C7A25B29ED00}"/>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646D8FE-76A6-40BF-ACF5-4D24D1D002B3}"/>
              </a:ext>
            </a:extLst>
          </p:cNvPr>
          <p:cNvSpPr>
            <a:spLocks xmlns:a="http://schemas.openxmlformats.org/drawingml/2006/main" noGrp="1"/>
          </p:cNvSpPr>
          <p:nvPr/>
        </p:nvSpPr>
        <p:spPr>
          <a:xfrm xmlns:a="http://schemas.openxmlformats.org/drawingml/2006/main" rot="0">
            <a:off x="723900" y="36671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川島健二</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現場パートナー</a:t>
            </a:r>
          </a:p>
        </p:txBody>
      </p:sp>
      <p:sp>
        <p:nvSpPr>
          <p:cNvPr id="12" name="">
            <a:extLst xmlns:a="http://schemas.openxmlformats.org/drawingml/2006/main">
              <a:ext uri="{FF2B5EF4-FFF2-40B4-BE49-F238E27FC236}">
                <a16:creationId xmlns:a16="http://schemas.microsoft.com/office/drawing/2014/main" id="{06BC59BE-00A8-4B28-831B-A60540150260}"/>
              </a:ext>
            </a:extLst>
          </p:cNvPr>
          <p:cNvSpPr>
            <a:spLocks xmlns:a="http://schemas.openxmlformats.org/drawingml/2006/main" noGrp="1"/>
          </p:cNvSpPr>
          <p:nvPr/>
        </p:nvSpPr>
        <p:spPr>
          <a:xfrm xmlns:a="http://schemas.openxmlformats.org/drawingml/2006/main" rot="0">
            <a:off x="3524250" y="3648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箕面デニッシュ合同会社。ベーカリー店舗での撮影に協力し、スタッフからのフィードバックと継続収集を通じて、撮影機材と現場運用の改善を支える。</a:t>
            </a:r>
          </a:p>
        </p:txBody>
      </p:sp>
      <p:sp>
        <p:nvSpPr>
          <p:cNvPr id="13" name="">
            <a:extLst xmlns:a="http://schemas.openxmlformats.org/drawingml/2006/main">
              <a:ext uri="{FF2B5EF4-FFF2-40B4-BE49-F238E27FC236}">
                <a16:creationId xmlns:a16="http://schemas.microsoft.com/office/drawing/2014/main" id="{B5365069-12EA-49EE-8A41-9BF761F03444}"/>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217E8A2-DD60-4675-832C-8263F2A37466}"/>
              </a:ext>
            </a:extLst>
          </p:cNvPr>
          <p:cNvSpPr>
            <a:spLocks xmlns:a="http://schemas.openxmlformats.org/drawingml/2006/main" noGrp="1"/>
          </p:cNvSpPr>
          <p:nvPr/>
        </p:nvSpPr>
        <p:spPr>
          <a:xfrm xmlns:a="http://schemas.openxmlformats.org/drawingml/2006/main" rot="0">
            <a:off x="723900" y="46196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大崎操</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事業支援</a:t>
            </a:r>
          </a:p>
        </p:txBody>
      </p:sp>
      <p:sp>
        <p:nvSpPr>
          <p:cNvPr id="15" name="">
            <a:extLst xmlns:a="http://schemas.openxmlformats.org/drawingml/2006/main">
              <a:ext uri="{FF2B5EF4-FFF2-40B4-BE49-F238E27FC236}">
                <a16:creationId xmlns:a16="http://schemas.microsoft.com/office/drawing/2014/main" id="{16A10DDC-E711-4A73-9959-7EC839978121}"/>
              </a:ext>
            </a:extLst>
          </p:cNvPr>
          <p:cNvSpPr>
            <a:spLocks xmlns:a="http://schemas.openxmlformats.org/drawingml/2006/main" noGrp="1"/>
          </p:cNvSpPr>
          <p:nvPr/>
        </p:nvSpPr>
        <p:spPr>
          <a:xfrm xmlns:a="http://schemas.openxmlformats.org/drawingml/2006/main" rot="0">
            <a:off x="3524250" y="4600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三菱UFJ銀行を経て、関西スーパーマーケットで常務取締役・管理本部長を務めた。会社立ち上げ、契約・合意書、小売・製造のネットワークを使った現場開拓を支援。</a:t>
            </a:r>
          </a:p>
        </p:txBody>
      </p:sp>
    </p:spTree>
    <p:extLst>
      <p:ext uri="{BB962C8B-B14F-4D97-AF65-F5344CB8AC3E}">
        <p14:creationId xmlns:p14="http://schemas.microsoft.com/office/powerpoint/2010/main" val="1614353896"/>
      </p:ext>
    </p:extLst>
  </p:cSld>
</p:sld>
</file>

<file path=ppt/slides/slide1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AC266AA-FE17-4319-85DA-BAE4A842CB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9FF587-D0C4-46F3-9BBB-1306E5BE05B6}"/>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撮影デバイスの進化</a:t>
            </a:r>
          </a:p>
        </p:txBody>
      </p:sp>
      <p:sp>
        <p:nvSpPr>
          <p:cNvPr id="3" name="">
            <a:extLst xmlns:a="http://schemas.openxmlformats.org/drawingml/2006/main">
              <a:ext uri="{FF2B5EF4-FFF2-40B4-BE49-F238E27FC236}">
                <a16:creationId xmlns:a16="http://schemas.microsoft.com/office/drawing/2014/main" id="{FDB6E9B6-1016-46BF-9239-EFFA57C5180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61A370B-BFEC-4883-88A3-29923559258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f7e4b0184224233"/>
          <a:srcRect xmlns:a="http://schemas.openxmlformats.org/drawingml/2006/main" l="0" t="24081" r="0" b="24081"/>
          <a:stretch xmlns:a="http://schemas.openxmlformats.org/drawingml/2006/main">
            <a:fillRect l="0" t="0" r="0" b="0"/>
          </a:stretch>
        </p:blipFill>
        <p:spPr>
          <a:xfrm xmlns:a="http://schemas.openxmlformats.org/drawingml/2006/main">
            <a:off x="723900" y="1857375"/>
            <a:ext cx="3238500" cy="2238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0B6B4B7-46F2-40FA-B2C0-D16D5E2300CB}"/>
              </a:ext>
            </a:extLst>
          </p:cNvPr>
          <p:cNvSpPr>
            <a:spLocks xmlns:a="http://schemas.openxmlformats.org/drawingml/2006/main" noGrp="1"/>
          </p:cNvSpPr>
          <p:nvPr/>
        </p:nvSpPr>
        <p:spPr>
          <a:xfrm xmlns:a="http://schemas.openxmlformats.org/drawingml/2006/main" rot="0">
            <a:off x="72390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332D241A-DE56-4823-8F10-86C2C7AF787F}"/>
              </a:ext>
            </a:extLst>
          </p:cNvPr>
          <p:cNvSpPr>
            <a:spLocks xmlns:a="http://schemas.openxmlformats.org/drawingml/2006/main" noGrp="1"/>
          </p:cNvSpPr>
          <p:nvPr/>
        </p:nvSpPr>
        <p:spPr>
          <a:xfrm xmlns:a="http://schemas.openxmlformats.org/drawingml/2006/main" rot="0">
            <a:off x="137160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7065B999-C59C-4C41-8B04-3529016B24CE}"/>
              </a:ext>
            </a:extLst>
          </p:cNvPr>
          <p:cNvSpPr>
            <a:spLocks xmlns:a="http://schemas.openxmlformats.org/drawingml/2006/main" noGrp="1"/>
          </p:cNvSpPr>
          <p:nvPr/>
        </p:nvSpPr>
        <p:spPr>
          <a:xfrm xmlns:a="http://schemas.openxmlformats.org/drawingml/2006/main" rot="0">
            <a:off x="137160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スマートフォンを頭部へ固定</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a7adefcf994645dc"/>
          <a:srcRect xmlns:a="http://schemas.openxmlformats.org/drawingml/2006/main" l="5872" t="0" r="5872" b="0"/>
          <a:stretch xmlns:a="http://schemas.openxmlformats.org/drawingml/2006/main">
            <a:fillRect l="0" t="0" r="0" b="0"/>
          </a:stretch>
        </p:blipFill>
        <p:spPr>
          <a:xfrm xmlns:a="http://schemas.openxmlformats.org/drawingml/2006/main">
            <a:off x="4314825" y="1857375"/>
            <a:ext cx="323850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837E7B79-6515-4595-9BBC-C82336C3B426}"/>
              </a:ext>
            </a:extLst>
          </p:cNvPr>
          <p:cNvSpPr>
            <a:spLocks xmlns:a="http://schemas.openxmlformats.org/drawingml/2006/main" noGrp="1"/>
          </p:cNvSpPr>
          <p:nvPr/>
        </p:nvSpPr>
        <p:spPr>
          <a:xfrm xmlns:a="http://schemas.openxmlformats.org/drawingml/2006/main" rot="0">
            <a:off x="4314825"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76233E68-5789-4B5E-90EB-D652A4786719}"/>
              </a:ext>
            </a:extLst>
          </p:cNvPr>
          <p:cNvSpPr>
            <a:spLocks xmlns:a="http://schemas.openxmlformats.org/drawingml/2006/main" noGrp="1"/>
          </p:cNvSpPr>
          <p:nvPr/>
        </p:nvSpPr>
        <p:spPr>
          <a:xfrm xmlns:a="http://schemas.openxmlformats.org/drawingml/2006/main" rot="0">
            <a:off x="4962525"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RootCap</a:t>
            </a:r>
          </a:p>
        </p:txBody>
      </p:sp>
      <p:sp>
        <p:nvSpPr>
          <p:cNvPr id="12" name="">
            <a:extLst xmlns:a="http://schemas.openxmlformats.org/drawingml/2006/main">
              <a:ext uri="{FF2B5EF4-FFF2-40B4-BE49-F238E27FC236}">
                <a16:creationId xmlns:a16="http://schemas.microsoft.com/office/drawing/2014/main" id="{746689EE-7160-4F17-9973-3CA5F2601EA3}"/>
              </a:ext>
            </a:extLst>
          </p:cNvPr>
          <p:cNvSpPr>
            <a:spLocks xmlns:a="http://schemas.openxmlformats.org/drawingml/2006/main" noGrp="1"/>
          </p:cNvSpPr>
          <p:nvPr/>
        </p:nvSpPr>
        <p:spPr>
          <a:xfrm xmlns:a="http://schemas.openxmlformats.org/drawingml/2006/main" rot="0">
            <a:off x="4962525"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3Dモデルからマウントを設計</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53a51298be3f4f83"/>
          <a:srcRect xmlns:a="http://schemas.openxmlformats.org/drawingml/2006/main" l="0" t="6438" r="0" b="6438"/>
          <a:stretch xmlns:a="http://schemas.openxmlformats.org/drawingml/2006/main">
            <a:fillRect l="0" t="0" r="0" b="0"/>
          </a:stretch>
        </p:blipFill>
        <p:spPr>
          <a:xfrm xmlns:a="http://schemas.openxmlformats.org/drawingml/2006/main">
            <a:off x="7905750" y="1857375"/>
            <a:ext cx="323850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89590BBD-16A5-4C66-8C9C-3AD1D645363E}"/>
              </a:ext>
            </a:extLst>
          </p:cNvPr>
          <p:cNvSpPr>
            <a:spLocks xmlns:a="http://schemas.openxmlformats.org/drawingml/2006/main" noGrp="1"/>
          </p:cNvSpPr>
          <p:nvPr/>
        </p:nvSpPr>
        <p:spPr>
          <a:xfrm xmlns:a="http://schemas.openxmlformats.org/drawingml/2006/main" rot="0">
            <a:off x="790575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F08176AD-EE16-46D5-85B0-8CBE7974A3FF}"/>
              </a:ext>
            </a:extLst>
          </p:cNvPr>
          <p:cNvSpPr>
            <a:spLocks xmlns:a="http://schemas.openxmlformats.org/drawingml/2006/main" noGrp="1"/>
          </p:cNvSpPr>
          <p:nvPr/>
        </p:nvSpPr>
        <p:spPr>
          <a:xfrm xmlns:a="http://schemas.openxmlformats.org/drawingml/2006/main" rot="0">
            <a:off x="855345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RootGlasss</a:t>
            </a:r>
          </a:p>
        </p:txBody>
      </p:sp>
      <p:sp>
        <p:nvSpPr>
          <p:cNvPr id="16" name="">
            <a:extLst xmlns:a="http://schemas.openxmlformats.org/drawingml/2006/main">
              <a:ext uri="{FF2B5EF4-FFF2-40B4-BE49-F238E27FC236}">
                <a16:creationId xmlns:a16="http://schemas.microsoft.com/office/drawing/2014/main" id="{5F2B9632-DCAE-4117-A7A0-91539FA0883D}"/>
              </a:ext>
            </a:extLst>
          </p:cNvPr>
          <p:cNvSpPr>
            <a:spLocks xmlns:a="http://schemas.openxmlformats.org/drawingml/2006/main" noGrp="1"/>
          </p:cNvSpPr>
          <p:nvPr/>
        </p:nvSpPr>
        <p:spPr>
          <a:xfrm xmlns:a="http://schemas.openxmlformats.org/drawingml/2006/main" rot="0">
            <a:off x="855345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636F2B10-0280-414C-9C69-5AF176A6CB76}"/>
              </a:ext>
            </a:extLst>
          </p:cNvPr>
          <p:cNvSpPr>
            <a:spLocks xmlns:a="http://schemas.openxmlformats.org/drawingml/2006/main" noGrp="1"/>
          </p:cNvSpPr>
          <p:nvPr/>
        </p:nvSpPr>
        <p:spPr>
          <a:xfrm xmlns:a="http://schemas.openxmlformats.org/drawingml/2006/main">
            <a:off x="723900" y="5334000"/>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2E4D9B0-4EA2-4A41-B96F-F1C1EBCE932B}"/>
              </a:ext>
            </a:extLst>
          </p:cNvPr>
          <p:cNvSpPr>
            <a:spLocks xmlns:a="http://schemas.openxmlformats.org/drawingml/2006/main" noGrp="1"/>
          </p:cNvSpPr>
          <p:nvPr/>
        </p:nvSpPr>
        <p:spPr>
          <a:xfrm xmlns:a="http://schemas.openxmlformats.org/drawingml/2006/main" rot="0">
            <a:off x="723900" y="5572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ベーカリーでスマートグラスを試すと、「これならつけてもいい」と言うスタッフが増えた。軽く見た目に違和感が少ないこと、熱・バッテリーを含め長時間装着できることは、想定以上に現場の許可を左右する。</a:t>
            </a:r>
          </a:p>
        </p:txBody>
      </p:sp>
    </p:spTree>
    <p:extLst>
      <p:ext uri="{BB962C8B-B14F-4D97-AF65-F5344CB8AC3E}">
        <p14:creationId xmlns:p14="http://schemas.microsoft.com/office/powerpoint/2010/main" val="1266545333"/>
      </p:ext>
    </p:extLst>
  </p:cSld>
</p:sld>
</file>

<file path=ppt/slides/slide1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B2C037D-7EC7-485F-B0AC-79FA943CCD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9E79B0-64C0-42A8-ABD1-2020AEDC4B26}"/>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ユニットエコノミクス｜前提</a:t>
            </a:r>
          </a:p>
        </p:txBody>
      </p:sp>
      <p:sp>
        <p:nvSpPr>
          <p:cNvPr id="3" name="">
            <a:extLst xmlns:a="http://schemas.openxmlformats.org/drawingml/2006/main">
              <a:ext uri="{FF2B5EF4-FFF2-40B4-BE49-F238E27FC236}">
                <a16:creationId xmlns:a16="http://schemas.microsoft.com/office/drawing/2014/main" id="{6D2A303E-F7F9-4F4B-B8C6-FE9354B78AD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8DF354B-797D-4600-AAF3-B16531959F6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18</a:t>
            </a:r>
          </a:p>
        </p:txBody>
      </p:sp>
      <p:graphicFrame>
        <p:nvGraphicFramePr>
          <p:cNvPr id="11" name=""/>
          <p:cNvGraphicFramePr/>
          <p:nvPr/>
        </p:nvGraphicFramePr>
        <p:xfrm>
          <a:off xmlns:a="http://schemas.openxmlformats.org/drawingml/2006/main" x="723900" y="1809750"/>
          <a:ext xmlns:a="http://schemas.openxmlformats.org/drawingml/2006/main" cx="10572750" cy="3667125"/>
        </p:xfrm>
        <a:graphic xmlns:a="http://schemas.openxmlformats.org/drawingml/2006/main">
          <a:graphicData uri="http://schemas.openxmlformats.org/drawingml/2006/table">
            <a:tbl>
              <a:tblPr/>
              <a:tblGrid>
                <a:gridCol w="3143250"/>
                <a:gridCol w="4286250"/>
                <a:gridCol w="3143250"/>
              </a:tblGrid>
              <a:tr h="523875">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前提</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数値</a:t>
                      </a:r>
                    </a:p>
                  </a:txBody>
                  <a:tcPr marL="91440" marR="91440" marT="45720" marB="45720">
                    <a:solidFill>
                      <a:srgbClr val="25333A"/>
                    </a:solidFill>
                  </a:tcPr>
                </a:tc>
              </a:tr>
              <a:tr h="523875">
                <a:tc>
                  <a:txBody>
                    <a:bodyPr/>
                    <a:lstStyle/>
                    <a:p>
                      <a:r>
                        <a:rPr sz="1275"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1,600円/h（下限）</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同一データを1回だけ販売</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平均1回（悲観シナリオ）</a:t>
                      </a:r>
                    </a:p>
                  </a:txBody>
                  <a:tcPr marL="91440" marR="91440" marT="45720" marB="45720">
                    <a:solidFill>
                      <a:srgbClr val="DCE8EF"/>
                    </a:solidFill>
                  </a:tcPr>
                </a:tc>
              </a:tr>
              <a:tr h="523875">
                <a:tc>
                  <a:txBody>
                    <a:bodyPr/>
                    <a:lstStyle/>
                    <a:p>
                      <a:r>
                        <a:rPr sz="1275" b="0">
                          <a:solidFill>
                            <a:srgbClr val="15191B"/>
                          </a:solidFill>
                          <a:latin typeface="Hiragino Sans"/>
                          <a:ea typeface="Hiragino Sans"/>
                          <a:cs typeface="Hiragino Sans"/>
                        </a:rPr>
                        <a:t>現場還元</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売上の50%</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会社の取り分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8万円/台、10か月償却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約73円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デバイス償却後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約727円</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08602BB3-A5BB-4862-B184-A360CE8FCBAE}"/>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1台あたり月間稼働：1日5時間 × 22営業日 ＝ 110時間/月（中間シナリオ）</a:t>
            </a:r>
          </a:p>
        </p:txBody>
      </p:sp>
    </p:spTree>
    <p:extLst>
      <p:ext uri="{BB962C8B-B14F-4D97-AF65-F5344CB8AC3E}">
        <p14:creationId xmlns:p14="http://schemas.microsoft.com/office/powerpoint/2010/main" val="1648770961"/>
      </p:ext>
    </p:extLst>
  </p:cSld>
</p:sld>
</file>

<file path=ppt/slides/slide1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EDE1D04-F123-4725-902D-24C478FCF60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4A4C50C-0177-451F-B3D1-7DA42444C72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スケール別PL</a:t>
            </a:r>
          </a:p>
        </p:txBody>
      </p:sp>
      <p:sp>
        <p:nvSpPr>
          <p:cNvPr id="3" name="">
            <a:extLst xmlns:a="http://schemas.openxmlformats.org/drawingml/2006/main">
              <a:ext uri="{FF2B5EF4-FFF2-40B4-BE49-F238E27FC236}">
                <a16:creationId xmlns:a16="http://schemas.microsoft.com/office/drawing/2014/main" id="{939481FE-C4D6-4C86-AEA7-41205D4B99F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E598EBC-0A67-41D1-8999-FB53DC096A37}"/>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19</a:t>
            </a:r>
          </a:p>
        </p:txBody>
      </p:sp>
      <p:graphicFrame>
        <p:nvGraphicFramePr>
          <p:cNvPr id="12" name=""/>
          <p:cNvGraphicFramePr/>
          <p:nvPr/>
        </p:nvGraphicFramePr>
        <p:xfrm>
          <a:off xmlns:a="http://schemas.openxmlformats.org/drawingml/2006/main" x="723900" y="1714500"/>
          <a:ext xmlns:a="http://schemas.openxmlformats.org/drawingml/2006/main" cx="10572750" cy="3714750"/>
        </p:xfrm>
        <a:graphic xmlns:a="http://schemas.openxmlformats.org/drawingml/2006/main">
          <a:graphicData uri="http://schemas.openxmlformats.org/drawingml/2006/table">
            <a:tbl>
              <a:tblPr/>
              <a:tblGrid>
                <a:gridCol w="3238500"/>
                <a:gridCol w="2286000"/>
                <a:gridCol w="2286000"/>
                <a:gridCol w="2762250"/>
              </a:tblGrid>
              <a:tr h="464344">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64344">
                <a:tc>
                  <a:txBody>
                    <a:bodyPr/>
                    <a:lstStyle/>
                    <a:p>
                      <a:r>
                        <a:rPr sz="1200"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91台</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流通総額</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会社取り分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727.2万円</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初期デバイス投資</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3002865-E281-4DB6-ABE9-55BDC2E954AB}"/>
              </a:ext>
            </a:extLst>
          </p:cNvPr>
          <p:cNvSpPr>
            <a:spLocks xmlns:a="http://schemas.openxmlformats.org/drawingml/2006/main" noGrp="1"/>
          </p:cNvSpPr>
          <p:nvPr/>
        </p:nvSpPr>
        <p:spPr>
          <a:xfrm xmlns:a="http://schemas.openxmlformats.org/drawingml/2006/main" rot="0">
            <a:off x="723900" y="56007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月10,000時間を12か月継続：会社取り分9,600万円、デバイス償却後約8,726万円。</a:t>
            </a:r>
          </a:p>
        </p:txBody>
      </p:sp>
      <p:sp>
        <p:nvSpPr>
          <p:cNvPr id="7" name="">
            <a:extLst xmlns:a="http://schemas.openxmlformats.org/drawingml/2006/main">
              <a:ext uri="{FF2B5EF4-FFF2-40B4-BE49-F238E27FC236}">
                <a16:creationId xmlns:a16="http://schemas.microsoft.com/office/drawing/2014/main" id="{41BF1625-CA62-463A-A763-EC993F7B0814}"/>
              </a:ext>
            </a:extLst>
          </p:cNvPr>
          <p:cNvSpPr>
            <a:spLocks xmlns:a="http://schemas.openxmlformats.org/drawingml/2006/main" noGrp="1"/>
          </p:cNvSpPr>
          <p:nvPr/>
        </p:nvSpPr>
        <p:spPr>
          <a:xfrm xmlns:a="http://schemas.openxmlformats.org/drawingml/2006/main" rot="0">
            <a:off x="723900" y="59817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データは在庫として積み上がり、過去に収集した分も売り続けられる。平均2回販売なら会社取り分は月1,600万円、3回なら月2,400万円になる。</a:t>
            </a:r>
          </a:p>
        </p:txBody>
      </p:sp>
    </p:spTree>
    <p:extLst>
      <p:ext uri="{BB962C8B-B14F-4D97-AF65-F5344CB8AC3E}">
        <p14:creationId xmlns:p14="http://schemas.microsoft.com/office/powerpoint/2010/main" val="940929057"/>
      </p:ext>
    </p:extLst>
  </p:cSld>
</p:sld>
</file>

<file path=ppt/slides/slide2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2EBA284-A9AE-4493-ABE7-DC775F0F862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9F09B5-7991-4D07-AEDE-C3365FD779B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デバイスコスト以外に想定されるコスト</a:t>
            </a:r>
          </a:p>
        </p:txBody>
      </p:sp>
      <p:sp>
        <p:nvSpPr>
          <p:cNvPr id="3" name="">
            <a:extLst xmlns:a="http://schemas.openxmlformats.org/drawingml/2006/main">
              <a:ext uri="{FF2B5EF4-FFF2-40B4-BE49-F238E27FC236}">
                <a16:creationId xmlns:a16="http://schemas.microsoft.com/office/drawing/2014/main" id="{D79EC6A3-D41D-4EF9-A4C2-AC8511DD292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DE29ACD-4623-4CC2-8E98-C72149C8C3C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20</a:t>
            </a:r>
          </a:p>
        </p:txBody>
      </p:sp>
      <p:sp>
        <p:nvSpPr>
          <p:cNvPr id="5" name="">
            <a:extLst xmlns:a="http://schemas.openxmlformats.org/drawingml/2006/main">
              <a:ext uri="{FF2B5EF4-FFF2-40B4-BE49-F238E27FC236}">
                <a16:creationId xmlns:a16="http://schemas.microsoft.com/office/drawing/2014/main" id="{7DBC96FA-F13D-4BBD-98A7-6CD28BE8E085}"/>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ストレージ・転送費</a:t>
            </a:r>
          </a:p>
        </p:txBody>
      </p:sp>
      <p:sp>
        <p:nvSpPr>
          <p:cNvPr id="6" name="">
            <a:extLst xmlns:a="http://schemas.openxmlformats.org/drawingml/2006/main">
              <a:ext uri="{FF2B5EF4-FFF2-40B4-BE49-F238E27FC236}">
                <a16:creationId xmlns:a16="http://schemas.microsoft.com/office/drawing/2014/main" id="{83F42442-D6F0-4DAE-9608-F86148F62AF1}"/>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映像は1時間あたり5〜15GB。月500時間で2.5〜7.5TB、月10,000時間で50〜150TB。Nextremerへ格納し、自社負担を抑える。</a:t>
            </a:r>
          </a:p>
        </p:txBody>
      </p:sp>
      <p:sp>
        <p:nvSpPr>
          <p:cNvPr id="7" name="">
            <a:extLst xmlns:a="http://schemas.openxmlformats.org/drawingml/2006/main">
              <a:ext uri="{FF2B5EF4-FFF2-40B4-BE49-F238E27FC236}">
                <a16:creationId xmlns:a16="http://schemas.microsoft.com/office/drawing/2014/main" id="{E83F2770-4CDE-4BFE-A9A2-ACF20F715AF9}"/>
              </a:ext>
            </a:extLst>
          </p:cNvPr>
          <p:cNvSpPr>
            <a:spLocks xmlns:a="http://schemas.openxmlformats.org/drawingml/2006/main" noGrp="1"/>
          </p:cNvSpPr>
          <p:nvPr/>
        </p:nvSpPr>
        <p:spPr>
          <a:xfrm xmlns:a="http://schemas.openxmlformats.org/drawingml/2006/main">
            <a:off x="723900" y="26003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4D2D319-5822-43F5-9D25-841096D4FE9D}"/>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現場開拓・維持の人件費</a:t>
            </a:r>
          </a:p>
        </p:txBody>
      </p:sp>
      <p:sp>
        <p:nvSpPr>
          <p:cNvPr id="9" name="">
            <a:extLst xmlns:a="http://schemas.openxmlformats.org/drawingml/2006/main">
              <a:ext uri="{FF2B5EF4-FFF2-40B4-BE49-F238E27FC236}">
                <a16:creationId xmlns:a16="http://schemas.microsoft.com/office/drawing/2014/main" id="{3F0EEA74-81CA-4AD2-A5D9-6D9066D1FB63}"/>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飛び込み営業、契約、機材の配布・回収、スタッフへの説明、トラブル対応、データチェック。現在は創業メンバーの時間で吸収している。</a:t>
            </a:r>
          </a:p>
        </p:txBody>
      </p:sp>
      <p:sp>
        <p:nvSpPr>
          <p:cNvPr id="10" name="">
            <a:extLst xmlns:a="http://schemas.openxmlformats.org/drawingml/2006/main">
              <a:ext uri="{FF2B5EF4-FFF2-40B4-BE49-F238E27FC236}">
                <a16:creationId xmlns:a16="http://schemas.microsoft.com/office/drawing/2014/main" id="{A672FEE9-2363-4A4A-9E2B-1B2234DB76A4}"/>
              </a:ext>
            </a:extLst>
          </p:cNvPr>
          <p:cNvSpPr>
            <a:spLocks xmlns:a="http://schemas.openxmlformats.org/drawingml/2006/main" noGrp="1"/>
          </p:cNvSpPr>
          <p:nvPr/>
        </p:nvSpPr>
        <p:spPr>
          <a:xfrm xmlns:a="http://schemas.openxmlformats.org/drawingml/2006/main">
            <a:off x="723900" y="3619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0DF62B4-F802-4680-B59D-F1EF5F45113D}"/>
              </a:ext>
            </a:extLst>
          </p:cNvPr>
          <p:cNvSpPr>
            <a:spLocks xmlns:a="http://schemas.openxmlformats.org/drawingml/2006/main" noGrp="1"/>
          </p:cNvSpPr>
          <p:nvPr/>
        </p:nvSpPr>
        <p:spPr>
          <a:xfrm xmlns:a="http://schemas.openxmlformats.org/drawingml/2006/main" rot="0">
            <a:off x="723900" y="3762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デバイス破損・紛失</a:t>
            </a:r>
          </a:p>
        </p:txBody>
      </p:sp>
      <p:sp>
        <p:nvSpPr>
          <p:cNvPr id="12" name="">
            <a:extLst xmlns:a="http://schemas.openxmlformats.org/drawingml/2006/main">
              <a:ext uri="{FF2B5EF4-FFF2-40B4-BE49-F238E27FC236}">
                <a16:creationId xmlns:a16="http://schemas.microsoft.com/office/drawing/2014/main" id="{37A81E31-18EA-47DD-A249-D63AD1E78551}"/>
              </a:ext>
            </a:extLst>
          </p:cNvPr>
          <p:cNvSpPr>
            <a:spLocks xmlns:a="http://schemas.openxmlformats.org/drawingml/2006/main" noGrp="1"/>
          </p:cNvSpPr>
          <p:nvPr/>
        </p:nvSpPr>
        <p:spPr>
          <a:xfrm xmlns:a="http://schemas.openxmlformats.org/drawingml/2006/main" rot="0">
            <a:off x="3714750" y="3743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長時間使う消耗品的な性質がある。8〜10か月の償却期間は、実際の使用状況に応じて見直す必要がある。</a:t>
            </a:r>
          </a:p>
        </p:txBody>
      </p:sp>
      <p:sp>
        <p:nvSpPr>
          <p:cNvPr id="13" name="">
            <a:extLst xmlns:a="http://schemas.openxmlformats.org/drawingml/2006/main">
              <a:ext uri="{FF2B5EF4-FFF2-40B4-BE49-F238E27FC236}">
                <a16:creationId xmlns:a16="http://schemas.microsoft.com/office/drawing/2014/main" id="{6713F3B4-753C-4150-9F7E-F4C2E39FDAE6}"/>
              </a:ext>
            </a:extLst>
          </p:cNvPr>
          <p:cNvSpPr>
            <a:spLocks xmlns:a="http://schemas.openxmlformats.org/drawingml/2006/main" noGrp="1"/>
          </p:cNvSpPr>
          <p:nvPr/>
        </p:nvSpPr>
        <p:spPr>
          <a:xfrm xmlns:a="http://schemas.openxmlformats.org/drawingml/2006/main">
            <a:off x="723900" y="46005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5C84161-CFDB-4F1C-831E-37F8EB1730E3}"/>
              </a:ext>
            </a:extLst>
          </p:cNvPr>
          <p:cNvSpPr>
            <a:spLocks xmlns:a="http://schemas.openxmlformats.org/drawingml/2006/main" noGrp="1"/>
          </p:cNvSpPr>
          <p:nvPr/>
        </p:nvSpPr>
        <p:spPr>
          <a:xfrm xmlns:a="http://schemas.openxmlformats.org/drawingml/2006/main" rot="0">
            <a:off x="723900" y="4714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契約・法務</a:t>
            </a:r>
          </a:p>
        </p:txBody>
      </p:sp>
      <p:sp>
        <p:nvSpPr>
          <p:cNvPr id="15" name="">
            <a:extLst xmlns:a="http://schemas.openxmlformats.org/drawingml/2006/main">
              <a:ext uri="{FF2B5EF4-FFF2-40B4-BE49-F238E27FC236}">
                <a16:creationId xmlns:a16="http://schemas.microsoft.com/office/drawing/2014/main" id="{2036FEF2-0C38-4FCC-8C3B-A893207F7415}"/>
              </a:ext>
            </a:extLst>
          </p:cNvPr>
          <p:cNvSpPr>
            <a:spLocks xmlns:a="http://schemas.openxmlformats.org/drawingml/2006/main" noGrp="1"/>
          </p:cNvSpPr>
          <p:nvPr/>
        </p:nvSpPr>
        <p:spPr>
          <a:xfrm xmlns:a="http://schemas.openxmlformats.org/drawingml/2006/main" rot="0">
            <a:off x="3714750" y="4695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現段階では大崎が吸収しているが、規模拡大時には法務チームや外部弁護士のコストが発生する。</a:t>
            </a:r>
          </a:p>
        </p:txBody>
      </p:sp>
    </p:spTree>
    <p:extLst>
      <p:ext uri="{BB962C8B-B14F-4D97-AF65-F5344CB8AC3E}">
        <p14:creationId xmlns:p14="http://schemas.microsoft.com/office/powerpoint/2010/main" val="297151895"/>
      </p:ext>
    </p:extLst>
  </p:cSld>
</p:sld>
</file>

<file path=ppt/slides/slide2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2108E20-3AC1-4DF3-BD3B-D772FE2AFF5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235582-43C1-4A1E-A234-0D8B9C8A9D4F}"/>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スケール時のボトルネック</a:t>
            </a:r>
          </a:p>
        </p:txBody>
      </p:sp>
      <p:sp>
        <p:nvSpPr>
          <p:cNvPr id="3" name="">
            <a:extLst xmlns:a="http://schemas.openxmlformats.org/drawingml/2006/main">
              <a:ext uri="{FF2B5EF4-FFF2-40B4-BE49-F238E27FC236}">
                <a16:creationId xmlns:a16="http://schemas.microsoft.com/office/drawing/2014/main" id="{0453C372-F6B9-4752-AA01-210CE2903A2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1A707D3-B87C-43A2-89A7-058A1D3C15D7}"/>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504DDA2B-5C47-4D51-98EA-929FBB12D6B2}"/>
              </a:ext>
            </a:extLst>
          </p:cNvPr>
          <p:cNvSpPr>
            <a:spLocks xmlns:a="http://schemas.openxmlformats.org/drawingml/2006/main" noGrp="1"/>
          </p:cNvSpPr>
          <p:nvPr/>
        </p:nvSpPr>
        <p:spPr>
          <a:xfrm xmlns:a="http://schemas.openxmlformats.org/drawingml/2006/main" rot="0">
            <a:off x="723900" y="1952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現場開拓のスピード</a:t>
            </a:r>
          </a:p>
        </p:txBody>
      </p:sp>
      <p:sp>
        <p:nvSpPr>
          <p:cNvPr id="6" name="">
            <a:extLst xmlns:a="http://schemas.openxmlformats.org/drawingml/2006/main">
              <a:ext uri="{FF2B5EF4-FFF2-40B4-BE49-F238E27FC236}">
                <a16:creationId xmlns:a16="http://schemas.microsoft.com/office/drawing/2014/main" id="{0634B96D-44FE-45B1-9B1C-9FD3EEC06AAE}"/>
              </a:ext>
            </a:extLst>
          </p:cNvPr>
          <p:cNvSpPr>
            <a:spLocks xmlns:a="http://schemas.openxmlformats.org/drawingml/2006/main" noGrp="1"/>
          </p:cNvSpPr>
          <p:nvPr/>
        </p:nvSpPr>
        <p:spPr>
          <a:xfrm xmlns:a="http://schemas.openxmlformats.org/drawingml/2006/main" rot="0">
            <a:off x="3714750" y="1933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30店舗を確保する営業リソース。1店舗目から2店舗目へ進むにつれ、獲得サイクルが短縮していくか。</a:t>
            </a:r>
          </a:p>
        </p:txBody>
      </p:sp>
      <p:sp>
        <p:nvSpPr>
          <p:cNvPr id="7" name="">
            <a:extLst xmlns:a="http://schemas.openxmlformats.org/drawingml/2006/main">
              <a:ext uri="{FF2B5EF4-FFF2-40B4-BE49-F238E27FC236}">
                <a16:creationId xmlns:a16="http://schemas.microsoft.com/office/drawing/2014/main" id="{79AD6426-B72A-45F1-BE97-5E0AD55057E3}"/>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3A10B5F-BB30-4473-BC28-D2196192ED58}"/>
              </a:ext>
            </a:extLst>
          </p:cNvPr>
          <p:cNvSpPr>
            <a:spLocks xmlns:a="http://schemas.openxmlformats.org/drawingml/2006/main" noGrp="1"/>
          </p:cNvSpPr>
          <p:nvPr/>
        </p:nvSpPr>
        <p:spPr>
          <a:xfrm xmlns:a="http://schemas.openxmlformats.org/drawingml/2006/main" rot="0">
            <a:off x="723900" y="3095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現場運用の負担</a:t>
            </a:r>
          </a:p>
        </p:txBody>
      </p:sp>
      <p:sp>
        <p:nvSpPr>
          <p:cNvPr id="9" name="">
            <a:extLst xmlns:a="http://schemas.openxmlformats.org/drawingml/2006/main">
              <a:ext uri="{FF2B5EF4-FFF2-40B4-BE49-F238E27FC236}">
                <a16:creationId xmlns:a16="http://schemas.microsoft.com/office/drawing/2014/main" id="{887E324C-D749-4184-BF4F-10029336C8E2}"/>
              </a:ext>
            </a:extLst>
          </p:cNvPr>
          <p:cNvSpPr>
            <a:spLocks xmlns:a="http://schemas.openxmlformats.org/drawingml/2006/main" noGrp="1"/>
          </p:cNvSpPr>
          <p:nvPr/>
        </p:nvSpPr>
        <p:spPr>
          <a:xfrm xmlns:a="http://schemas.openxmlformats.org/drawingml/2006/main" rot="0">
            <a:off x="3714750" y="3076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30店舗へデバイスを配布・回収し、トラブルへ対応する運用体制。店舗数 × 定期訪問になると、人件費が膨らむ。</a:t>
            </a:r>
          </a:p>
        </p:txBody>
      </p:sp>
      <p:sp>
        <p:nvSpPr>
          <p:cNvPr id="10" name="">
            <a:extLst xmlns:a="http://schemas.openxmlformats.org/drawingml/2006/main">
              <a:ext uri="{FF2B5EF4-FFF2-40B4-BE49-F238E27FC236}">
                <a16:creationId xmlns:a16="http://schemas.microsoft.com/office/drawing/2014/main" id="{4C9FBDB6-5A0E-4609-B61F-540C8F898EC3}"/>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0DC0538-290C-4F16-9B1B-7EB81276C4F0}"/>
              </a:ext>
            </a:extLst>
          </p:cNvPr>
          <p:cNvSpPr>
            <a:spLocks xmlns:a="http://schemas.openxmlformats.org/drawingml/2006/main" noGrp="1"/>
          </p:cNvSpPr>
          <p:nvPr/>
        </p:nvSpPr>
        <p:spPr>
          <a:xfrm xmlns:a="http://schemas.openxmlformats.org/drawingml/2006/main" rot="0">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買い手側の受け入れ規模</a:t>
            </a:r>
          </a:p>
        </p:txBody>
      </p:sp>
      <p:sp>
        <p:nvSpPr>
          <p:cNvPr id="12" name="">
            <a:extLst xmlns:a="http://schemas.openxmlformats.org/drawingml/2006/main">
              <a:ext uri="{FF2B5EF4-FFF2-40B4-BE49-F238E27FC236}">
                <a16:creationId xmlns:a16="http://schemas.microsoft.com/office/drawing/2014/main" id="{B81C6BBC-1D34-4124-823B-60B6AB378FAF}"/>
              </a:ext>
            </a:extLst>
          </p:cNvPr>
          <p:cNvSpPr>
            <a:spLocks xmlns:a="http://schemas.openxmlformats.org/drawingml/2006/main" noGrp="1"/>
          </p:cNvSpPr>
          <p:nvPr/>
        </p:nvSpPr>
        <p:spPr>
          <a:xfrm xmlns:a="http://schemas.openxmlformats.org/drawingml/2006/main" rot="0">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月10,000時間を継続的に売り切れる販路を、Nextremer、海外、国内需要の組み合わせで確保できるか。</a:t>
            </a:r>
          </a:p>
        </p:txBody>
      </p:sp>
      <p:sp>
        <p:nvSpPr>
          <p:cNvPr id="13" name="">
            <a:extLst xmlns:a="http://schemas.openxmlformats.org/drawingml/2006/main">
              <a:ext uri="{FF2B5EF4-FFF2-40B4-BE49-F238E27FC236}">
                <a16:creationId xmlns:a16="http://schemas.microsoft.com/office/drawing/2014/main" id="{48A8EDA0-4B35-425A-B4AF-36B6FD097DF3}"/>
              </a:ext>
            </a:extLst>
          </p:cNvPr>
          <p:cNvSpPr>
            <a:spLocks xmlns:a="http://schemas.openxmlformats.org/drawingml/2006/main" noGrp="1"/>
          </p:cNvSpPr>
          <p:nvPr/>
        </p:nvSpPr>
        <p:spPr>
          <a:xfrm xmlns:a="http://schemas.openxmlformats.org/drawingml/2006/main">
            <a:off x="723900" y="5191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189280837"/>
      </p:ext>
    </p:extLst>
  </p:cSld>
</p:sld>
</file>

<file path=ppt/slides/slide2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B391C4BF-92A6-4EC0-84C0-15A299A9EDB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7A5EE8F-150B-4CE5-92D2-67183CB5421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今後の見通し｜2026 Q4</a:t>
            </a:r>
          </a:p>
        </p:txBody>
      </p:sp>
      <p:sp>
        <p:nvSpPr>
          <p:cNvPr id="3" name="">
            <a:extLst xmlns:a="http://schemas.openxmlformats.org/drawingml/2006/main">
              <a:ext uri="{FF2B5EF4-FFF2-40B4-BE49-F238E27FC236}">
                <a16:creationId xmlns:a16="http://schemas.microsoft.com/office/drawing/2014/main" id="{16667C47-C9BB-44E9-9B7F-1CA18EF21C1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2848D6D-FA94-43E6-9777-6FCF93F32AD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22</a:t>
            </a:r>
          </a:p>
        </p:txBody>
      </p:sp>
      <p:sp>
        <p:nvSpPr>
          <p:cNvPr id="5" name="">
            <a:extLst xmlns:a="http://schemas.openxmlformats.org/drawingml/2006/main">
              <a:ext uri="{FF2B5EF4-FFF2-40B4-BE49-F238E27FC236}">
                <a16:creationId xmlns:a16="http://schemas.microsoft.com/office/drawing/2014/main" id="{E136C91A-C5CB-4238-B01B-4F9C121DACE3}"/>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9D360D9-E9D9-4864-86CD-7E25651C516B}"/>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6003E86F-7A23-43E9-AAAD-B3CC1DE2CF3E}"/>
              </a:ext>
            </a:extLst>
          </p:cNvPr>
          <p:cNvSpPr>
            <a:spLocks xmlns:a="http://schemas.openxmlformats.org/drawingml/2006/main" noGrp="1"/>
          </p:cNvSpPr>
          <p:nvPr/>
        </p:nvSpPr>
        <p:spPr>
          <a:xfrm xmlns:a="http://schemas.openxmlformats.org/drawingml/2006/main">
            <a:off x="3057525"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C8FF02BD-55AC-489C-929D-1A242E8F50EF}"/>
              </a:ext>
            </a:extLst>
          </p:cNvPr>
          <p:cNvSpPr>
            <a:spLocks xmlns:a="http://schemas.openxmlformats.org/drawingml/2006/main" noGrp="1"/>
          </p:cNvSpPr>
          <p:nvPr/>
        </p:nvSpPr>
        <p:spPr>
          <a:xfrm xmlns:a="http://schemas.openxmlformats.org/drawingml/2006/main" rot="0">
            <a:off x="3057525"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10月</a:t>
            </a:r>
          </a:p>
        </p:txBody>
      </p:sp>
      <p:sp>
        <p:nvSpPr>
          <p:cNvPr id="9" name="">
            <a:extLst xmlns:a="http://schemas.openxmlformats.org/drawingml/2006/main">
              <a:ext uri="{FF2B5EF4-FFF2-40B4-BE49-F238E27FC236}">
                <a16:creationId xmlns:a16="http://schemas.microsoft.com/office/drawing/2014/main" id="{1E786704-5817-44F1-907E-E9E621DFA8AE}"/>
              </a:ext>
            </a:extLst>
          </p:cNvPr>
          <p:cNvSpPr>
            <a:spLocks xmlns:a="http://schemas.openxmlformats.org/drawingml/2006/main" noGrp="1"/>
          </p:cNvSpPr>
          <p:nvPr/>
        </p:nvSpPr>
        <p:spPr>
          <a:xfrm xmlns:a="http://schemas.openxmlformats.org/drawingml/2006/main">
            <a:off x="5803900"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3539AFB2-99D2-4D84-AD1A-4517AF4EC616}"/>
              </a:ext>
            </a:extLst>
          </p:cNvPr>
          <p:cNvSpPr>
            <a:spLocks xmlns:a="http://schemas.openxmlformats.org/drawingml/2006/main" noGrp="1"/>
          </p:cNvSpPr>
          <p:nvPr/>
        </p:nvSpPr>
        <p:spPr>
          <a:xfrm xmlns:a="http://schemas.openxmlformats.org/drawingml/2006/main" rot="0">
            <a:off x="5803900"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11月</a:t>
            </a:r>
          </a:p>
        </p:txBody>
      </p:sp>
      <p:sp>
        <p:nvSpPr>
          <p:cNvPr id="11" name="">
            <a:extLst xmlns:a="http://schemas.openxmlformats.org/drawingml/2006/main">
              <a:ext uri="{FF2B5EF4-FFF2-40B4-BE49-F238E27FC236}">
                <a16:creationId xmlns:a16="http://schemas.microsoft.com/office/drawing/2014/main" id="{B4CC32CF-B8BD-4E5D-A3E0-721CE57FB779}"/>
              </a:ext>
            </a:extLst>
          </p:cNvPr>
          <p:cNvSpPr>
            <a:spLocks xmlns:a="http://schemas.openxmlformats.org/drawingml/2006/main" noGrp="1"/>
          </p:cNvSpPr>
          <p:nvPr/>
        </p:nvSpPr>
        <p:spPr>
          <a:xfrm xmlns:a="http://schemas.openxmlformats.org/drawingml/2006/main">
            <a:off x="8550275"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80A735C2-FA90-49F5-ADFD-8DC99B1EB886}"/>
              </a:ext>
            </a:extLst>
          </p:cNvPr>
          <p:cNvSpPr>
            <a:spLocks xmlns:a="http://schemas.openxmlformats.org/drawingml/2006/main" noGrp="1"/>
          </p:cNvSpPr>
          <p:nvPr/>
        </p:nvSpPr>
        <p:spPr>
          <a:xfrm xmlns:a="http://schemas.openxmlformats.org/drawingml/2006/main" rot="0">
            <a:off x="8550275"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12月</a:t>
            </a:r>
          </a:p>
        </p:txBody>
      </p:sp>
      <p:sp>
        <p:nvSpPr>
          <p:cNvPr id="13" name="">
            <a:extLst xmlns:a="http://schemas.openxmlformats.org/drawingml/2006/main">
              <a:ext uri="{FF2B5EF4-FFF2-40B4-BE49-F238E27FC236}">
                <a16:creationId xmlns:a16="http://schemas.microsoft.com/office/drawing/2014/main" id="{17BA413C-FA88-40EA-AFA1-5448DC49E831}"/>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5C13B5E9-E0B9-4854-A6D8-729724E92237}"/>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5" name="">
            <a:extLst xmlns:a="http://schemas.openxmlformats.org/drawingml/2006/main">
              <a:ext uri="{FF2B5EF4-FFF2-40B4-BE49-F238E27FC236}">
                <a16:creationId xmlns:a16="http://schemas.microsoft.com/office/drawing/2014/main" id="{712D80B3-65B6-4E50-9120-14B37C1AD9C3}"/>
              </a:ext>
            </a:extLst>
          </p:cNvPr>
          <p:cNvSpPr>
            <a:spLocks xmlns:a="http://schemas.openxmlformats.org/drawingml/2006/main" noGrp="1"/>
          </p:cNvSpPr>
          <p:nvPr/>
        </p:nvSpPr>
        <p:spPr>
          <a:xfrm xmlns:a="http://schemas.openxmlformats.org/drawingml/2006/main">
            <a:off x="3057525"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427A62E1-3823-45F3-9DBC-D87E6A9CD09E}"/>
              </a:ext>
            </a:extLst>
          </p:cNvPr>
          <p:cNvSpPr>
            <a:spLocks xmlns:a="http://schemas.openxmlformats.org/drawingml/2006/main" noGrp="1"/>
          </p:cNvSpPr>
          <p:nvPr/>
        </p:nvSpPr>
        <p:spPr>
          <a:xfrm xmlns:a="http://schemas.openxmlformats.org/drawingml/2006/main">
            <a:off x="5803900"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7" name="">
            <a:extLst xmlns:a="http://schemas.openxmlformats.org/drawingml/2006/main">
              <a:ext uri="{FF2B5EF4-FFF2-40B4-BE49-F238E27FC236}">
                <a16:creationId xmlns:a16="http://schemas.microsoft.com/office/drawing/2014/main" id="{11211D78-C9AE-4EE7-85D1-F51AD4A896A8}"/>
              </a:ext>
            </a:extLst>
          </p:cNvPr>
          <p:cNvSpPr>
            <a:spLocks xmlns:a="http://schemas.openxmlformats.org/drawingml/2006/main" noGrp="1"/>
          </p:cNvSpPr>
          <p:nvPr/>
        </p:nvSpPr>
        <p:spPr>
          <a:xfrm xmlns:a="http://schemas.openxmlformats.org/drawingml/2006/main">
            <a:off x="8550275"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8986B35A-DA17-4D66-B0AC-60F61A2A50C7}"/>
              </a:ext>
            </a:extLst>
          </p:cNvPr>
          <p:cNvSpPr>
            <a:spLocks xmlns:a="http://schemas.openxmlformats.org/drawingml/2006/main" noGrp="1"/>
          </p:cNvSpPr>
          <p:nvPr/>
        </p:nvSpPr>
        <p:spPr>
          <a:xfrm xmlns:a="http://schemas.openxmlformats.org/drawingml/2006/main">
            <a:off x="3133725"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9" name="">
            <a:extLst xmlns:a="http://schemas.openxmlformats.org/drawingml/2006/main">
              <a:ext uri="{FF2B5EF4-FFF2-40B4-BE49-F238E27FC236}">
                <a16:creationId xmlns:a16="http://schemas.microsoft.com/office/drawing/2014/main" id="{BD3BFE4C-BF0D-41BF-9C8B-55492EB49A50}"/>
              </a:ext>
            </a:extLst>
          </p:cNvPr>
          <p:cNvSpPr>
            <a:spLocks xmlns:a="http://schemas.openxmlformats.org/drawingml/2006/main" noGrp="1"/>
          </p:cNvSpPr>
          <p:nvPr/>
        </p:nvSpPr>
        <p:spPr>
          <a:xfrm xmlns:a="http://schemas.openxmlformats.org/drawingml/2006/main" rot="0">
            <a:off x="3209925"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月500時間</a:t>
            </a:r>
          </a:p>
        </p:txBody>
      </p:sp>
      <p:sp>
        <p:nvSpPr>
          <p:cNvPr id="20" name="">
            <a:extLst xmlns:a="http://schemas.openxmlformats.org/drawingml/2006/main">
              <a:ext uri="{FF2B5EF4-FFF2-40B4-BE49-F238E27FC236}">
                <a16:creationId xmlns:a16="http://schemas.microsoft.com/office/drawing/2014/main" id="{254B5D8E-59D0-4313-9459-64D5B41DD8CC}"/>
              </a:ext>
            </a:extLst>
          </p:cNvPr>
          <p:cNvSpPr>
            <a:spLocks xmlns:a="http://schemas.openxmlformats.org/drawingml/2006/main" noGrp="1"/>
          </p:cNvSpPr>
          <p:nvPr/>
        </p:nvSpPr>
        <p:spPr>
          <a:xfrm xmlns:a="http://schemas.openxmlformats.org/drawingml/2006/main">
            <a:off x="5880100"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1" name="">
            <a:extLst xmlns:a="http://schemas.openxmlformats.org/drawingml/2006/main">
              <a:ext uri="{FF2B5EF4-FFF2-40B4-BE49-F238E27FC236}">
                <a16:creationId xmlns:a16="http://schemas.microsoft.com/office/drawing/2014/main" id="{C2F639C6-57C6-4F6A-8708-72A7303C1F5C}"/>
              </a:ext>
            </a:extLst>
          </p:cNvPr>
          <p:cNvSpPr>
            <a:spLocks xmlns:a="http://schemas.openxmlformats.org/drawingml/2006/main" noGrp="1"/>
          </p:cNvSpPr>
          <p:nvPr/>
        </p:nvSpPr>
        <p:spPr>
          <a:xfrm xmlns:a="http://schemas.openxmlformats.org/drawingml/2006/main" rot="0">
            <a:off x="5956300"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月500時間</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現場の課題を確認</a:t>
            </a:r>
          </a:p>
        </p:txBody>
      </p:sp>
      <p:sp>
        <p:nvSpPr>
          <p:cNvPr id="22" name="">
            <a:extLst xmlns:a="http://schemas.openxmlformats.org/drawingml/2006/main">
              <a:ext uri="{FF2B5EF4-FFF2-40B4-BE49-F238E27FC236}">
                <a16:creationId xmlns:a16="http://schemas.microsoft.com/office/drawing/2014/main" id="{8C49584E-0DE2-46E2-AFC2-622FE8F154C8}"/>
              </a:ext>
            </a:extLst>
          </p:cNvPr>
          <p:cNvSpPr>
            <a:spLocks xmlns:a="http://schemas.openxmlformats.org/drawingml/2006/main" noGrp="1"/>
          </p:cNvSpPr>
          <p:nvPr/>
        </p:nvSpPr>
        <p:spPr>
          <a:xfrm xmlns:a="http://schemas.openxmlformats.org/drawingml/2006/main">
            <a:off x="8626475"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3" name="">
            <a:extLst xmlns:a="http://schemas.openxmlformats.org/drawingml/2006/main">
              <a:ext uri="{FF2B5EF4-FFF2-40B4-BE49-F238E27FC236}">
                <a16:creationId xmlns:a16="http://schemas.microsoft.com/office/drawing/2014/main" id="{F52CBE69-6966-40A2-BAEF-A22408488A40}"/>
              </a:ext>
            </a:extLst>
          </p:cNvPr>
          <p:cNvSpPr>
            <a:spLocks xmlns:a="http://schemas.openxmlformats.org/drawingml/2006/main" noGrp="1"/>
          </p:cNvSpPr>
          <p:nvPr/>
        </p:nvSpPr>
        <p:spPr>
          <a:xfrm xmlns:a="http://schemas.openxmlformats.org/drawingml/2006/main" rot="0">
            <a:off x="8702675"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月1,000時間</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飲食・小売へ拡大</a:t>
            </a:r>
          </a:p>
        </p:txBody>
      </p:sp>
      <p:sp>
        <p:nvSpPr>
          <p:cNvPr id="24" name="">
            <a:extLst xmlns:a="http://schemas.openxmlformats.org/drawingml/2006/main">
              <a:ext uri="{FF2B5EF4-FFF2-40B4-BE49-F238E27FC236}">
                <a16:creationId xmlns:a16="http://schemas.microsoft.com/office/drawing/2014/main" id="{CF068260-11CA-4B4D-B7FA-D48679562613}"/>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5" name="">
            <a:extLst xmlns:a="http://schemas.openxmlformats.org/drawingml/2006/main">
              <a:ext uri="{FF2B5EF4-FFF2-40B4-BE49-F238E27FC236}">
                <a16:creationId xmlns:a16="http://schemas.microsoft.com/office/drawing/2014/main" id="{BF032E7C-5625-4F90-A7A3-5CED3585D375}"/>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6" name="">
            <a:extLst xmlns:a="http://schemas.openxmlformats.org/drawingml/2006/main">
              <a:ext uri="{FF2B5EF4-FFF2-40B4-BE49-F238E27FC236}">
                <a16:creationId xmlns:a16="http://schemas.microsoft.com/office/drawing/2014/main" id="{9581DFFE-67E8-4D85-8283-ECA970B08495}"/>
              </a:ext>
            </a:extLst>
          </p:cNvPr>
          <p:cNvSpPr>
            <a:spLocks xmlns:a="http://schemas.openxmlformats.org/drawingml/2006/main" noGrp="1"/>
          </p:cNvSpPr>
          <p:nvPr/>
        </p:nvSpPr>
        <p:spPr>
          <a:xfrm xmlns:a="http://schemas.openxmlformats.org/drawingml/2006/main">
            <a:off x="3057525"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91E1E467-FDBA-460F-ADD8-057E14B80317}"/>
              </a:ext>
            </a:extLst>
          </p:cNvPr>
          <p:cNvSpPr>
            <a:spLocks xmlns:a="http://schemas.openxmlformats.org/drawingml/2006/main" noGrp="1"/>
          </p:cNvSpPr>
          <p:nvPr/>
        </p:nvSpPr>
        <p:spPr>
          <a:xfrm xmlns:a="http://schemas.openxmlformats.org/drawingml/2006/main">
            <a:off x="5803900"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CC7281A2-3112-47B4-8048-A0D681CF0492}"/>
              </a:ext>
            </a:extLst>
          </p:cNvPr>
          <p:cNvSpPr>
            <a:spLocks xmlns:a="http://schemas.openxmlformats.org/drawingml/2006/main" noGrp="1"/>
          </p:cNvSpPr>
          <p:nvPr/>
        </p:nvSpPr>
        <p:spPr>
          <a:xfrm xmlns:a="http://schemas.openxmlformats.org/drawingml/2006/main">
            <a:off x="8550275"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3277172A-EF7B-4D04-B19C-AA50F03488AB}"/>
              </a:ext>
            </a:extLst>
          </p:cNvPr>
          <p:cNvSpPr>
            <a:spLocks xmlns:a="http://schemas.openxmlformats.org/drawingml/2006/main" noGrp="1"/>
          </p:cNvSpPr>
          <p:nvPr/>
        </p:nvSpPr>
        <p:spPr>
          <a:xfrm xmlns:a="http://schemas.openxmlformats.org/drawingml/2006/main">
            <a:off x="3133725" y="2819400"/>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EDFC2965-C57C-4ADB-A3C5-9C34A82EEB2D}"/>
              </a:ext>
            </a:extLst>
          </p:cNvPr>
          <p:cNvSpPr>
            <a:spLocks xmlns:a="http://schemas.openxmlformats.org/drawingml/2006/main" noGrp="1"/>
          </p:cNvSpPr>
          <p:nvPr/>
        </p:nvSpPr>
        <p:spPr>
          <a:xfrm xmlns:a="http://schemas.openxmlformats.org/drawingml/2006/main" rot="0">
            <a:off x="3209925" y="2781300"/>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Nextremerと合意し格納開始</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海外販売先へ再打診</a:t>
            </a:r>
          </a:p>
        </p:txBody>
      </p:sp>
      <p:sp>
        <p:nvSpPr>
          <p:cNvPr id="31" name="">
            <a:extLst xmlns:a="http://schemas.openxmlformats.org/drawingml/2006/main">
              <a:ext uri="{FF2B5EF4-FFF2-40B4-BE49-F238E27FC236}">
                <a16:creationId xmlns:a16="http://schemas.microsoft.com/office/drawing/2014/main" id="{60181384-207B-4F17-B21A-A5B5F0AC6D0A}"/>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62781D51-6328-4DA2-9309-999437020D0C}"/>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6D8991AC-91A3-4D67-B957-746EC4962946}"/>
              </a:ext>
            </a:extLst>
          </p:cNvPr>
          <p:cNvSpPr>
            <a:spLocks xmlns:a="http://schemas.openxmlformats.org/drawingml/2006/main" noGrp="1"/>
          </p:cNvSpPr>
          <p:nvPr/>
        </p:nvSpPr>
        <p:spPr>
          <a:xfrm xmlns:a="http://schemas.openxmlformats.org/drawingml/2006/main">
            <a:off x="3057525"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BEDDEF49-3727-4AB6-B22A-C92AFD8552DC}"/>
              </a:ext>
            </a:extLst>
          </p:cNvPr>
          <p:cNvSpPr>
            <a:spLocks xmlns:a="http://schemas.openxmlformats.org/drawingml/2006/main" noGrp="1"/>
          </p:cNvSpPr>
          <p:nvPr/>
        </p:nvSpPr>
        <p:spPr>
          <a:xfrm xmlns:a="http://schemas.openxmlformats.org/drawingml/2006/main">
            <a:off x="5803900"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C4C62E51-8102-4B6D-A253-5F983C81A8A2}"/>
              </a:ext>
            </a:extLst>
          </p:cNvPr>
          <p:cNvSpPr>
            <a:spLocks xmlns:a="http://schemas.openxmlformats.org/drawingml/2006/main" noGrp="1"/>
          </p:cNvSpPr>
          <p:nvPr/>
        </p:nvSpPr>
        <p:spPr>
          <a:xfrm xmlns:a="http://schemas.openxmlformats.org/drawingml/2006/main">
            <a:off x="8550275"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1B75B44D-68FE-4995-BFC0-5BCA487CE96F}"/>
              </a:ext>
            </a:extLst>
          </p:cNvPr>
          <p:cNvSpPr>
            <a:spLocks xmlns:a="http://schemas.openxmlformats.org/drawingml/2006/main" noGrp="1"/>
          </p:cNvSpPr>
          <p:nvPr/>
        </p:nvSpPr>
        <p:spPr>
          <a:xfrm xmlns:a="http://schemas.openxmlformats.org/drawingml/2006/main">
            <a:off x="3133725" y="3400425"/>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7" name="">
            <a:extLst xmlns:a="http://schemas.openxmlformats.org/drawingml/2006/main">
              <a:ext uri="{FF2B5EF4-FFF2-40B4-BE49-F238E27FC236}">
                <a16:creationId xmlns:a16="http://schemas.microsoft.com/office/drawing/2014/main" id="{60B76897-11DB-4394-B813-ECB8C8DEE545}"/>
              </a:ext>
            </a:extLst>
          </p:cNvPr>
          <p:cNvSpPr>
            <a:spLocks xmlns:a="http://schemas.openxmlformats.org/drawingml/2006/main" noGrp="1"/>
          </p:cNvSpPr>
          <p:nvPr/>
        </p:nvSpPr>
        <p:spPr>
          <a:xfrm xmlns:a="http://schemas.openxmlformats.org/drawingml/2006/main" rot="0">
            <a:off x="3209925" y="3362325"/>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設計で協働できる企業へ打診</a:t>
            </a:r>
          </a:p>
        </p:txBody>
      </p:sp>
      <p:sp>
        <p:nvSpPr>
          <p:cNvPr id="38" name="">
            <a:extLst xmlns:a="http://schemas.openxmlformats.org/drawingml/2006/main">
              <a:ext uri="{FF2B5EF4-FFF2-40B4-BE49-F238E27FC236}">
                <a16:creationId xmlns:a16="http://schemas.microsoft.com/office/drawing/2014/main" id="{10A61B0F-EC9B-45DC-8123-F94233F83FF3}"/>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9" name="">
            <a:extLst xmlns:a="http://schemas.openxmlformats.org/drawingml/2006/main">
              <a:ext uri="{FF2B5EF4-FFF2-40B4-BE49-F238E27FC236}">
                <a16:creationId xmlns:a16="http://schemas.microsoft.com/office/drawing/2014/main" id="{6DB97323-3068-4C15-9E63-46F2EFB75758}"/>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40" name="">
            <a:extLst xmlns:a="http://schemas.openxmlformats.org/drawingml/2006/main">
              <a:ext uri="{FF2B5EF4-FFF2-40B4-BE49-F238E27FC236}">
                <a16:creationId xmlns:a16="http://schemas.microsoft.com/office/drawing/2014/main" id="{7FE53D25-0B57-4405-8368-A02F92DA5E3D}"/>
              </a:ext>
            </a:extLst>
          </p:cNvPr>
          <p:cNvSpPr>
            <a:spLocks xmlns:a="http://schemas.openxmlformats.org/drawingml/2006/main" noGrp="1"/>
          </p:cNvSpPr>
          <p:nvPr/>
        </p:nvSpPr>
        <p:spPr>
          <a:xfrm xmlns:a="http://schemas.openxmlformats.org/drawingml/2006/main">
            <a:off x="3057525"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927F4101-3125-409A-9123-2BF7BB699FBA}"/>
              </a:ext>
            </a:extLst>
          </p:cNvPr>
          <p:cNvSpPr>
            <a:spLocks xmlns:a="http://schemas.openxmlformats.org/drawingml/2006/main" noGrp="1"/>
          </p:cNvSpPr>
          <p:nvPr/>
        </p:nvSpPr>
        <p:spPr>
          <a:xfrm xmlns:a="http://schemas.openxmlformats.org/drawingml/2006/main">
            <a:off x="5803900"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FB15FA4E-8682-4798-8A35-69B3D32D2299}"/>
              </a:ext>
            </a:extLst>
          </p:cNvPr>
          <p:cNvSpPr>
            <a:spLocks xmlns:a="http://schemas.openxmlformats.org/drawingml/2006/main" noGrp="1"/>
          </p:cNvSpPr>
          <p:nvPr/>
        </p:nvSpPr>
        <p:spPr>
          <a:xfrm xmlns:a="http://schemas.openxmlformats.org/drawingml/2006/main">
            <a:off x="8550275"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EB486AE1-7C83-4232-9532-F396740DAD35}"/>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6787F21B-1AA9-47A0-827E-55CBF3F74847}"/>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5" name="">
            <a:extLst xmlns:a="http://schemas.openxmlformats.org/drawingml/2006/main">
              <a:ext uri="{FF2B5EF4-FFF2-40B4-BE49-F238E27FC236}">
                <a16:creationId xmlns:a16="http://schemas.microsoft.com/office/drawing/2014/main" id="{8E6DD840-3C17-4A20-AE8F-E19B012E9FF0}"/>
              </a:ext>
            </a:extLst>
          </p:cNvPr>
          <p:cNvSpPr>
            <a:spLocks xmlns:a="http://schemas.openxmlformats.org/drawingml/2006/main" noGrp="1"/>
          </p:cNvSpPr>
          <p:nvPr/>
        </p:nvSpPr>
        <p:spPr>
          <a:xfrm xmlns:a="http://schemas.openxmlformats.org/drawingml/2006/main">
            <a:off x="3057525"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7D8C4AD6-7ACD-4E0B-A3F1-58C1580D9398}"/>
              </a:ext>
            </a:extLst>
          </p:cNvPr>
          <p:cNvSpPr>
            <a:spLocks xmlns:a="http://schemas.openxmlformats.org/drawingml/2006/main" noGrp="1"/>
          </p:cNvSpPr>
          <p:nvPr/>
        </p:nvSpPr>
        <p:spPr>
          <a:xfrm xmlns:a="http://schemas.openxmlformats.org/drawingml/2006/main">
            <a:off x="5803900"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3D4E89C8-57E6-4259-B01C-678FE7D8914B}"/>
              </a:ext>
            </a:extLst>
          </p:cNvPr>
          <p:cNvSpPr>
            <a:spLocks xmlns:a="http://schemas.openxmlformats.org/drawingml/2006/main" noGrp="1"/>
          </p:cNvSpPr>
          <p:nvPr/>
        </p:nvSpPr>
        <p:spPr>
          <a:xfrm xmlns:a="http://schemas.openxmlformats.org/drawingml/2006/main">
            <a:off x="8550275"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88D5085F-5566-4AE9-80F8-912EE95681BE}"/>
              </a:ext>
            </a:extLst>
          </p:cNvPr>
          <p:cNvSpPr>
            <a:spLocks xmlns:a="http://schemas.openxmlformats.org/drawingml/2006/main" noGrp="1"/>
          </p:cNvSpPr>
          <p:nvPr/>
        </p:nvSpPr>
        <p:spPr>
          <a:xfrm xmlns:a="http://schemas.openxmlformats.org/drawingml/2006/main">
            <a:off x="5880100" y="45624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9" name="">
            <a:extLst xmlns:a="http://schemas.openxmlformats.org/drawingml/2006/main">
              <a:ext uri="{FF2B5EF4-FFF2-40B4-BE49-F238E27FC236}">
                <a16:creationId xmlns:a16="http://schemas.microsoft.com/office/drawing/2014/main" id="{E956E0FA-9B90-401B-AE54-0F0C71EBF186}"/>
              </a:ext>
            </a:extLst>
          </p:cNvPr>
          <p:cNvSpPr>
            <a:spLocks xmlns:a="http://schemas.openxmlformats.org/drawingml/2006/main" noGrp="1"/>
          </p:cNvSpPr>
          <p:nvPr/>
        </p:nvSpPr>
        <p:spPr>
          <a:xfrm xmlns:a="http://schemas.openxmlformats.org/drawingml/2006/main" rot="0">
            <a:off x="5956300" y="45243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合意フローと</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データ取扱いを確認</a:t>
            </a:r>
          </a:p>
        </p:txBody>
      </p:sp>
      <p:sp>
        <p:nvSpPr>
          <p:cNvPr id="50" name="">
            <a:extLst xmlns:a="http://schemas.openxmlformats.org/drawingml/2006/main">
              <a:ext uri="{FF2B5EF4-FFF2-40B4-BE49-F238E27FC236}">
                <a16:creationId xmlns:a16="http://schemas.microsoft.com/office/drawing/2014/main" id="{F02A0FCF-F0C3-495C-BEC1-2C5BAB1C124B}"/>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269E493D-1015-4019-AE4C-F47C9E958800}"/>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52" name="">
            <a:extLst xmlns:a="http://schemas.openxmlformats.org/drawingml/2006/main">
              <a:ext uri="{FF2B5EF4-FFF2-40B4-BE49-F238E27FC236}">
                <a16:creationId xmlns:a16="http://schemas.microsoft.com/office/drawing/2014/main" id="{FE3E7C9B-70ED-4C20-BCBB-9FA3499FB36B}"/>
              </a:ext>
            </a:extLst>
          </p:cNvPr>
          <p:cNvSpPr>
            <a:spLocks xmlns:a="http://schemas.openxmlformats.org/drawingml/2006/main" noGrp="1"/>
          </p:cNvSpPr>
          <p:nvPr/>
        </p:nvSpPr>
        <p:spPr>
          <a:xfrm xmlns:a="http://schemas.openxmlformats.org/drawingml/2006/main">
            <a:off x="3057525"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FB09DD57-937A-4136-A703-A2E8B0BFECAB}"/>
              </a:ext>
            </a:extLst>
          </p:cNvPr>
          <p:cNvSpPr>
            <a:spLocks xmlns:a="http://schemas.openxmlformats.org/drawingml/2006/main" noGrp="1"/>
          </p:cNvSpPr>
          <p:nvPr/>
        </p:nvSpPr>
        <p:spPr>
          <a:xfrm xmlns:a="http://schemas.openxmlformats.org/drawingml/2006/main">
            <a:off x="5803900"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CE5B3333-99B0-4D0E-AE2A-7ADAF45A93F0}"/>
              </a:ext>
            </a:extLst>
          </p:cNvPr>
          <p:cNvSpPr>
            <a:spLocks xmlns:a="http://schemas.openxmlformats.org/drawingml/2006/main" noGrp="1"/>
          </p:cNvSpPr>
          <p:nvPr/>
        </p:nvSpPr>
        <p:spPr>
          <a:xfrm xmlns:a="http://schemas.openxmlformats.org/drawingml/2006/main">
            <a:off x="8550275"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Tree>
    <p:extLst>
      <p:ext uri="{BB962C8B-B14F-4D97-AF65-F5344CB8AC3E}">
        <p14:creationId xmlns:p14="http://schemas.microsoft.com/office/powerpoint/2010/main" val="57781043"/>
      </p:ext>
    </p:extLst>
  </p:cSld>
</p:sld>
</file>

<file path=ppt/slides/slide2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8F528861-F27B-45E9-A2DB-044F398A4B4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50A5E8-5E80-481E-A69C-7366393254A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今後の見通し｜2027</a:t>
            </a:r>
          </a:p>
        </p:txBody>
      </p:sp>
      <p:sp>
        <p:nvSpPr>
          <p:cNvPr id="3" name="">
            <a:extLst xmlns:a="http://schemas.openxmlformats.org/drawingml/2006/main">
              <a:ext uri="{FF2B5EF4-FFF2-40B4-BE49-F238E27FC236}">
                <a16:creationId xmlns:a16="http://schemas.microsoft.com/office/drawing/2014/main" id="{810F0075-DF44-4A05-B802-7C7D3ECCE7C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2799945-4B7C-440B-9902-E67A582424F0}"/>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23</a:t>
            </a:r>
          </a:p>
        </p:txBody>
      </p:sp>
      <p:sp>
        <p:nvSpPr>
          <p:cNvPr id="5" name="">
            <a:extLst xmlns:a="http://schemas.openxmlformats.org/drawingml/2006/main">
              <a:ext uri="{FF2B5EF4-FFF2-40B4-BE49-F238E27FC236}">
                <a16:creationId xmlns:a16="http://schemas.microsoft.com/office/drawing/2014/main" id="{E080D538-5016-4B11-A4CD-AA39A49676A9}"/>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5C07729-7D89-4B90-9E98-BCE3089395B7}"/>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39798768-E279-42DA-9861-1216DF8D537B}"/>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04D63E67-CF04-4FC1-B75A-02FEAA41F50F}"/>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839C2596-9E61-4993-9BFD-E866527D2307}"/>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63E18A33-3212-4692-A684-D245A913B8B0}"/>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0EADF6FF-6369-43ED-8A11-F307794BEEB5}"/>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1095691B-4BE0-4532-97F8-DE2D143DC454}"/>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C4E391F0-8CCD-4A02-9BC2-64D062C77A42}"/>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248E9F65-E400-4891-91B9-1124E0480E2F}"/>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D59353B3-0494-4E6F-A89D-1158166EB077}"/>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7BFEAEAC-C1F2-45E4-95A5-F36395A0A572}"/>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0084D6AF-8C1A-47C5-B7C6-94B702C7188F}"/>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51E7094D-94EB-425B-88B4-B05D4FCC1802}"/>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512D453F-CD1E-4E52-8F8A-44B822522035}"/>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D3C65517-ABB8-47BE-AD78-0E34421A359B}"/>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E10A42B7-ED0B-4797-B8AB-482352C16A78}"/>
              </a:ext>
            </a:extLst>
          </p:cNvPr>
          <p:cNvSpPr>
            <a:spLocks xmlns:a="http://schemas.openxmlformats.org/drawingml/2006/main" noGrp="1"/>
          </p:cNvSpPr>
          <p:nvPr/>
        </p:nvSpPr>
        <p:spPr>
          <a:xfrm xmlns:a="http://schemas.openxmlformats.org/drawingml/2006/main">
            <a:off x="3133725" y="223837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EA6EA836-F8C2-4EAB-BACF-47E9541EF12D}"/>
              </a:ext>
            </a:extLst>
          </p:cNvPr>
          <p:cNvSpPr>
            <a:spLocks xmlns:a="http://schemas.openxmlformats.org/drawingml/2006/main" noGrp="1"/>
          </p:cNvSpPr>
          <p:nvPr/>
        </p:nvSpPr>
        <p:spPr>
          <a:xfrm xmlns:a="http://schemas.openxmlformats.org/drawingml/2006/main" rot="0">
            <a:off x="3209925" y="220027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宿泊・改装・清掃へ拡大</a:t>
            </a:r>
          </a:p>
        </p:txBody>
      </p:sp>
      <p:sp>
        <p:nvSpPr>
          <p:cNvPr id="23" name="">
            <a:extLst xmlns:a="http://schemas.openxmlformats.org/drawingml/2006/main">
              <a:ext uri="{FF2B5EF4-FFF2-40B4-BE49-F238E27FC236}">
                <a16:creationId xmlns:a16="http://schemas.microsoft.com/office/drawing/2014/main" id="{5D471D94-F625-4DBD-9D8C-F5519C1FE8FB}"/>
              </a:ext>
            </a:extLst>
          </p:cNvPr>
          <p:cNvSpPr>
            <a:spLocks xmlns:a="http://schemas.openxmlformats.org/drawingml/2006/main" noGrp="1"/>
          </p:cNvSpPr>
          <p:nvPr/>
        </p:nvSpPr>
        <p:spPr>
          <a:xfrm xmlns:a="http://schemas.openxmlformats.org/drawingml/2006/main">
            <a:off x="5193506" y="2238375"/>
            <a:ext cx="6026944"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4" name="">
            <a:extLst xmlns:a="http://schemas.openxmlformats.org/drawingml/2006/main">
              <a:ext uri="{FF2B5EF4-FFF2-40B4-BE49-F238E27FC236}">
                <a16:creationId xmlns:a16="http://schemas.microsoft.com/office/drawing/2014/main" id="{30D5C5AE-8D2C-4080-A028-91CBA54CDAA8}"/>
              </a:ext>
            </a:extLst>
          </p:cNvPr>
          <p:cNvSpPr>
            <a:spLocks xmlns:a="http://schemas.openxmlformats.org/drawingml/2006/main" noGrp="1"/>
          </p:cNvSpPr>
          <p:nvPr/>
        </p:nvSpPr>
        <p:spPr>
          <a:xfrm xmlns:a="http://schemas.openxmlformats.org/drawingml/2006/main" rot="0">
            <a:off x="5269706" y="2200275"/>
            <a:ext cx="5874544"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介護・医療を含む撮影先の拡大</a:t>
            </a:r>
          </a:p>
        </p:txBody>
      </p:sp>
      <p:sp>
        <p:nvSpPr>
          <p:cNvPr id="25" name="">
            <a:extLst xmlns:a="http://schemas.openxmlformats.org/drawingml/2006/main">
              <a:ext uri="{FF2B5EF4-FFF2-40B4-BE49-F238E27FC236}">
                <a16:creationId xmlns:a16="http://schemas.microsoft.com/office/drawing/2014/main" id="{151E9A95-3506-4241-83B0-0444BE722925}"/>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F1694AED-7E7A-457A-84E9-2840785DF37F}"/>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7" name="">
            <a:extLst xmlns:a="http://schemas.openxmlformats.org/drawingml/2006/main">
              <a:ext uri="{FF2B5EF4-FFF2-40B4-BE49-F238E27FC236}">
                <a16:creationId xmlns:a16="http://schemas.microsoft.com/office/drawing/2014/main" id="{1F7C0696-B9A8-4BAE-AC12-856B653B588B}"/>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3CEB3388-69AA-4BC3-B97B-2122C5663B69}"/>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E49FD89B-339A-4258-8296-1EF0951E81EB}"/>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CFE54D58-EE69-4C8C-97AF-946ECBCD4115}"/>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5B1B5841-F63A-49F3-9821-E4AED0368D91}"/>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B6AD4F2E-7467-4D5B-BCD9-B150127D0937}"/>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879F1A24-95DD-44D6-95B0-9B6BB24B2066}"/>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3D2B8316-DC5F-460B-A9BE-63825792A576}"/>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35638B79-187E-4E3E-81C9-16E9BC513E30}"/>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83D31449-44B3-4B1F-B349-C2246676C8B4}"/>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9829F3C0-9214-4C5D-BED0-5669700CA4C3}"/>
              </a:ext>
            </a:extLst>
          </p:cNvPr>
          <p:cNvSpPr>
            <a:spLocks xmlns:a="http://schemas.openxmlformats.org/drawingml/2006/main" noGrp="1"/>
          </p:cNvSpPr>
          <p:nvPr/>
        </p:nvSpPr>
        <p:spPr>
          <a:xfrm xmlns:a="http://schemas.openxmlformats.org/drawingml/2006/main">
            <a:off x="3133725" y="340042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8" name="">
            <a:extLst xmlns:a="http://schemas.openxmlformats.org/drawingml/2006/main">
              <a:ext uri="{FF2B5EF4-FFF2-40B4-BE49-F238E27FC236}">
                <a16:creationId xmlns:a16="http://schemas.microsoft.com/office/drawing/2014/main" id="{BE872F11-E44C-4140-9B69-8F7EF2FA9FD0}"/>
              </a:ext>
            </a:extLst>
          </p:cNvPr>
          <p:cNvSpPr>
            <a:spLocks xmlns:a="http://schemas.openxmlformats.org/drawingml/2006/main" noGrp="1"/>
          </p:cNvSpPr>
          <p:nvPr/>
        </p:nvSpPr>
        <p:spPr>
          <a:xfrm xmlns:a="http://schemas.openxmlformats.org/drawingml/2006/main" rot="0">
            <a:off x="3209925" y="336232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撮影デバイス開発</a:t>
            </a:r>
          </a:p>
        </p:txBody>
      </p:sp>
      <p:sp>
        <p:nvSpPr>
          <p:cNvPr id="39" name="">
            <a:extLst xmlns:a="http://schemas.openxmlformats.org/drawingml/2006/main">
              <a:ext uri="{FF2B5EF4-FFF2-40B4-BE49-F238E27FC236}">
                <a16:creationId xmlns:a16="http://schemas.microsoft.com/office/drawing/2014/main" id="{282823B1-0E78-4369-ADE6-E6E3CEE5B475}"/>
              </a:ext>
            </a:extLst>
          </p:cNvPr>
          <p:cNvSpPr>
            <a:spLocks xmlns:a="http://schemas.openxmlformats.org/drawingml/2006/main" noGrp="1"/>
          </p:cNvSpPr>
          <p:nvPr/>
        </p:nvSpPr>
        <p:spPr>
          <a:xfrm xmlns:a="http://schemas.openxmlformats.org/drawingml/2006/main">
            <a:off x="5193506" y="340042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0" name="">
            <a:extLst xmlns:a="http://schemas.openxmlformats.org/drawingml/2006/main">
              <a:ext uri="{FF2B5EF4-FFF2-40B4-BE49-F238E27FC236}">
                <a16:creationId xmlns:a16="http://schemas.microsoft.com/office/drawing/2014/main" id="{F480E3C9-DC57-4834-8C3C-045341EB926E}"/>
              </a:ext>
            </a:extLst>
          </p:cNvPr>
          <p:cNvSpPr>
            <a:spLocks xmlns:a="http://schemas.openxmlformats.org/drawingml/2006/main" noGrp="1"/>
          </p:cNvSpPr>
          <p:nvPr/>
        </p:nvSpPr>
        <p:spPr>
          <a:xfrm xmlns:a="http://schemas.openxmlformats.org/drawingml/2006/main" rot="0">
            <a:off x="5269706" y="336232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意匠・特許を出願</a:t>
            </a:r>
          </a:p>
        </p:txBody>
      </p:sp>
      <p:sp>
        <p:nvSpPr>
          <p:cNvPr id="41" name="">
            <a:extLst xmlns:a="http://schemas.openxmlformats.org/drawingml/2006/main">
              <a:ext uri="{FF2B5EF4-FFF2-40B4-BE49-F238E27FC236}">
                <a16:creationId xmlns:a16="http://schemas.microsoft.com/office/drawing/2014/main" id="{EFD985C6-1232-4329-B66A-9C1FEB891208}"/>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968E7E9F-9F85-466A-873B-5F053387DB55}"/>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43" name="">
            <a:extLst xmlns:a="http://schemas.openxmlformats.org/drawingml/2006/main">
              <a:ext uri="{FF2B5EF4-FFF2-40B4-BE49-F238E27FC236}">
                <a16:creationId xmlns:a16="http://schemas.microsoft.com/office/drawing/2014/main" id="{3748E803-989F-4F08-A5D7-3426B428C64B}"/>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DC6FB3F1-1BF1-4F82-AE74-43322BCA3BDC}"/>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BD69A3E9-701E-4F0D-8343-C3CEF1CAAFC1}"/>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612FB616-89FC-4C5F-BC85-61700D4529B3}"/>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E83D88FD-6067-42F5-B9D2-5095B35BAFC9}"/>
              </a:ext>
            </a:extLst>
          </p:cNvPr>
          <p:cNvSpPr>
            <a:spLocks xmlns:a="http://schemas.openxmlformats.org/drawingml/2006/main" noGrp="1"/>
          </p:cNvSpPr>
          <p:nvPr/>
        </p:nvSpPr>
        <p:spPr>
          <a:xfrm xmlns:a="http://schemas.openxmlformats.org/drawingml/2006/main">
            <a:off x="5193506"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8" name="">
            <a:extLst xmlns:a="http://schemas.openxmlformats.org/drawingml/2006/main">
              <a:ext uri="{FF2B5EF4-FFF2-40B4-BE49-F238E27FC236}">
                <a16:creationId xmlns:a16="http://schemas.microsoft.com/office/drawing/2014/main" id="{AEF64B21-6FD2-443E-8960-BA7E2C7BF283}"/>
              </a:ext>
            </a:extLst>
          </p:cNvPr>
          <p:cNvSpPr>
            <a:spLocks xmlns:a="http://schemas.openxmlformats.org/drawingml/2006/main" noGrp="1"/>
          </p:cNvSpPr>
          <p:nvPr/>
        </p:nvSpPr>
        <p:spPr>
          <a:xfrm xmlns:a="http://schemas.openxmlformats.org/drawingml/2006/main" rot="0">
            <a:off x="5269706"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機密性の高い</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現場データの活用を検討</a:t>
            </a:r>
          </a:p>
        </p:txBody>
      </p:sp>
      <p:sp>
        <p:nvSpPr>
          <p:cNvPr id="49" name="">
            <a:extLst xmlns:a="http://schemas.openxmlformats.org/drawingml/2006/main">
              <a:ext uri="{FF2B5EF4-FFF2-40B4-BE49-F238E27FC236}">
                <a16:creationId xmlns:a16="http://schemas.microsoft.com/office/drawing/2014/main" id="{C3C806BD-A6D9-4A8A-9FC7-D09997353AF1}"/>
              </a:ext>
            </a:extLst>
          </p:cNvPr>
          <p:cNvSpPr>
            <a:spLocks xmlns:a="http://schemas.openxmlformats.org/drawingml/2006/main" noGrp="1"/>
          </p:cNvSpPr>
          <p:nvPr/>
        </p:nvSpPr>
        <p:spPr>
          <a:xfrm xmlns:a="http://schemas.openxmlformats.org/drawingml/2006/main">
            <a:off x="7253288"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0" name="">
            <a:extLst xmlns:a="http://schemas.openxmlformats.org/drawingml/2006/main">
              <a:ext uri="{FF2B5EF4-FFF2-40B4-BE49-F238E27FC236}">
                <a16:creationId xmlns:a16="http://schemas.microsoft.com/office/drawing/2014/main" id="{AB6C4A08-4347-4FEA-AC5F-E1E6EAAF0A31}"/>
              </a:ext>
            </a:extLst>
          </p:cNvPr>
          <p:cNvSpPr>
            <a:spLocks xmlns:a="http://schemas.openxmlformats.org/drawingml/2006/main" noGrp="1"/>
          </p:cNvSpPr>
          <p:nvPr/>
        </p:nvSpPr>
        <p:spPr>
          <a:xfrm xmlns:a="http://schemas.openxmlformats.org/drawingml/2006/main" rot="0">
            <a:off x="7329488"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企業・政府へ</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データ収集を提案</a:t>
            </a:r>
          </a:p>
        </p:txBody>
      </p:sp>
      <p:sp>
        <p:nvSpPr>
          <p:cNvPr id="51" name="">
            <a:extLst xmlns:a="http://schemas.openxmlformats.org/drawingml/2006/main">
              <a:ext uri="{FF2B5EF4-FFF2-40B4-BE49-F238E27FC236}">
                <a16:creationId xmlns:a16="http://schemas.microsoft.com/office/drawing/2014/main" id="{CD740F44-A351-4C51-B302-D12CDCD7E972}"/>
              </a:ext>
            </a:extLst>
          </p:cNvPr>
          <p:cNvSpPr>
            <a:spLocks xmlns:a="http://schemas.openxmlformats.org/drawingml/2006/main" noGrp="1"/>
          </p:cNvSpPr>
          <p:nvPr/>
        </p:nvSpPr>
        <p:spPr>
          <a:xfrm xmlns:a="http://schemas.openxmlformats.org/drawingml/2006/main">
            <a:off x="9313069"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2" name="">
            <a:extLst xmlns:a="http://schemas.openxmlformats.org/drawingml/2006/main">
              <a:ext uri="{FF2B5EF4-FFF2-40B4-BE49-F238E27FC236}">
                <a16:creationId xmlns:a16="http://schemas.microsoft.com/office/drawing/2014/main" id="{A4D3CFF7-F2DB-4E60-9E21-43268ED420F1}"/>
              </a:ext>
            </a:extLst>
          </p:cNvPr>
          <p:cNvSpPr>
            <a:spLocks xmlns:a="http://schemas.openxmlformats.org/drawingml/2006/main" noGrp="1"/>
          </p:cNvSpPr>
          <p:nvPr/>
        </p:nvSpPr>
        <p:spPr>
          <a:xfrm xmlns:a="http://schemas.openxmlformats.org/drawingml/2006/main" rot="0">
            <a:off x="9389269"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750" b="1">
                <a:solidFill>
                  <a:srgbClr val="15191B"/>
                </a:solidFill>
                <a:latin typeface="Hiragino Sans"/>
                <a:ea typeface="Hiragino Sans"/>
                <a:cs typeface="Hiragino Sans"/>
              </a:defRPr>
            </a:pPr>
            <a:r>
              <a:rPr sz="750" b="1">
                <a:solidFill>
                  <a:srgbClr val="15191B"/>
                </a:solidFill>
                <a:latin typeface="Hiragino Sans"/>
                <a:ea typeface="Hiragino Sans"/>
                <a:cs typeface="Hiragino Sans"/>
              </a:rPr>
              <a:t>大学とロボット学習・</a:t>
            </a:r>
          </a:p>
          <a:p xmlns:a="http://schemas.openxmlformats.org/drawingml/2006/main">
            <a:pPr algn="ctr">
              <a:defRPr sz="750" b="1">
                <a:solidFill>
                  <a:srgbClr val="15191B"/>
                </a:solidFill>
                <a:latin typeface="Hiragino Sans"/>
                <a:ea typeface="Hiragino Sans"/>
                <a:cs typeface="Hiragino Sans"/>
              </a:defRPr>
            </a:pPr>
            <a:r>
              <a:rPr sz="750" b="1">
                <a:solidFill>
                  <a:srgbClr val="15191B"/>
                </a:solidFill>
                <a:latin typeface="Hiragino Sans"/>
                <a:ea typeface="Hiragino Sans"/>
                <a:cs typeface="Hiragino Sans"/>
              </a:rPr>
              <a:t>現場再現の研究を開始</a:t>
            </a:r>
          </a:p>
        </p:txBody>
      </p:sp>
      <p:sp>
        <p:nvSpPr>
          <p:cNvPr id="53" name="">
            <a:extLst xmlns:a="http://schemas.openxmlformats.org/drawingml/2006/main">
              <a:ext uri="{FF2B5EF4-FFF2-40B4-BE49-F238E27FC236}">
                <a16:creationId xmlns:a16="http://schemas.microsoft.com/office/drawing/2014/main" id="{39F26D30-AC17-417C-B08A-5DCEE565C9D9}"/>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66151179-F065-45F0-9FF2-0318EAB4C743}"/>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55" name="">
            <a:extLst xmlns:a="http://schemas.openxmlformats.org/drawingml/2006/main">
              <a:ext uri="{FF2B5EF4-FFF2-40B4-BE49-F238E27FC236}">
                <a16:creationId xmlns:a16="http://schemas.microsoft.com/office/drawing/2014/main" id="{E64BA413-3861-477C-9C38-A6271A54522F}"/>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6" name="">
            <a:extLst xmlns:a="http://schemas.openxmlformats.org/drawingml/2006/main">
              <a:ext uri="{FF2B5EF4-FFF2-40B4-BE49-F238E27FC236}">
                <a16:creationId xmlns:a16="http://schemas.microsoft.com/office/drawing/2014/main" id="{9FBD8144-3A59-44AC-BFB5-0647BDDF51B3}"/>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7" name="">
            <a:extLst xmlns:a="http://schemas.openxmlformats.org/drawingml/2006/main">
              <a:ext uri="{FF2B5EF4-FFF2-40B4-BE49-F238E27FC236}">
                <a16:creationId xmlns:a16="http://schemas.microsoft.com/office/drawing/2014/main" id="{FDFAB7A9-3C96-49FA-9509-682FA36076F6}"/>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8" name="">
            <a:extLst xmlns:a="http://schemas.openxmlformats.org/drawingml/2006/main">
              <a:ext uri="{FF2B5EF4-FFF2-40B4-BE49-F238E27FC236}">
                <a16:creationId xmlns:a16="http://schemas.microsoft.com/office/drawing/2014/main" id="{381F7B64-7DFF-4E6D-8986-E097BDEB1B77}"/>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9" name="">
            <a:extLst xmlns:a="http://schemas.openxmlformats.org/drawingml/2006/main">
              <a:ext uri="{FF2B5EF4-FFF2-40B4-BE49-F238E27FC236}">
                <a16:creationId xmlns:a16="http://schemas.microsoft.com/office/drawing/2014/main" id="{240D7A99-A2B4-47E3-BA2F-907368DCF25C}"/>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0" name="">
            <a:extLst xmlns:a="http://schemas.openxmlformats.org/drawingml/2006/main">
              <a:ext uri="{FF2B5EF4-FFF2-40B4-BE49-F238E27FC236}">
                <a16:creationId xmlns:a16="http://schemas.microsoft.com/office/drawing/2014/main" id="{E115054C-C86A-46B1-94B2-47E11B6C4C09}"/>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61" name="">
            <a:extLst xmlns:a="http://schemas.openxmlformats.org/drawingml/2006/main">
              <a:ext uri="{FF2B5EF4-FFF2-40B4-BE49-F238E27FC236}">
                <a16:creationId xmlns:a16="http://schemas.microsoft.com/office/drawing/2014/main" id="{FC894DAD-DD7A-4AB2-B5B8-C6A8377A21FC}"/>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2" name="">
            <a:extLst xmlns:a="http://schemas.openxmlformats.org/drawingml/2006/main">
              <a:ext uri="{FF2B5EF4-FFF2-40B4-BE49-F238E27FC236}">
                <a16:creationId xmlns:a16="http://schemas.microsoft.com/office/drawing/2014/main" id="{6DE8D094-5FDC-4D82-B047-22F9C1C9AD0C}"/>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3" name="">
            <a:extLst xmlns:a="http://schemas.openxmlformats.org/drawingml/2006/main">
              <a:ext uri="{FF2B5EF4-FFF2-40B4-BE49-F238E27FC236}">
                <a16:creationId xmlns:a16="http://schemas.microsoft.com/office/drawing/2014/main" id="{4A731148-9FF2-4986-9266-53849170F073}"/>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4" name="">
            <a:extLst xmlns:a="http://schemas.openxmlformats.org/drawingml/2006/main">
              <a:ext uri="{FF2B5EF4-FFF2-40B4-BE49-F238E27FC236}">
                <a16:creationId xmlns:a16="http://schemas.microsoft.com/office/drawing/2014/main" id="{4661E504-96D7-4CA3-B67F-BFAC53105CE4}"/>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Tree>
    <p:extLst>
      <p:ext uri="{BB962C8B-B14F-4D97-AF65-F5344CB8AC3E}">
        <p14:creationId xmlns:p14="http://schemas.microsoft.com/office/powerpoint/2010/main" val="161918979"/>
      </p:ext>
    </p:extLst>
  </p:cSld>
</p:sld>
</file>

<file path=ppt/slides/slide2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47FA2149-B17D-40C8-9BBA-9E6DF0B42A8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76C612-540E-4380-B657-ACF7EAB44A1E}"/>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今後の見通し｜2028</a:t>
            </a:r>
          </a:p>
        </p:txBody>
      </p:sp>
      <p:sp>
        <p:nvSpPr>
          <p:cNvPr id="3" name="">
            <a:extLst xmlns:a="http://schemas.openxmlformats.org/drawingml/2006/main">
              <a:ext uri="{FF2B5EF4-FFF2-40B4-BE49-F238E27FC236}">
                <a16:creationId xmlns:a16="http://schemas.microsoft.com/office/drawing/2014/main" id="{D224BE2A-8DD3-4962-A610-2939EE39962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6D7DC9B-6183-4525-BB75-40861D5F5AB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24</a:t>
            </a:r>
          </a:p>
        </p:txBody>
      </p:sp>
      <p:sp>
        <p:nvSpPr>
          <p:cNvPr id="5" name="">
            <a:extLst xmlns:a="http://schemas.openxmlformats.org/drawingml/2006/main">
              <a:ext uri="{FF2B5EF4-FFF2-40B4-BE49-F238E27FC236}">
                <a16:creationId xmlns:a16="http://schemas.microsoft.com/office/drawing/2014/main" id="{C8157FFA-33BA-463F-8F9C-484ACCBCE8E7}"/>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5738E8F-5577-4BB0-90FA-F79B9F314A8C}"/>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DC4359B7-2981-49CA-9A35-6A1877A86040}"/>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63EE9C1C-AA26-471E-8717-DBBD36DD5DC2}"/>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75BE160E-0FA0-41DD-B0C5-19E42AC53ABA}"/>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F3E59844-77F3-46D0-A79E-FF11BDAF5BA7}"/>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6C2C0471-0D68-4751-A4A6-5365FB61E5A4}"/>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2E6C8830-851B-4344-9B8A-22D9D163E236}"/>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9064963B-56D9-46DB-A29D-0444BF0E6483}"/>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DE915254-921F-447A-A0B1-90BF01B834B3}"/>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9CC72196-2EAD-4040-98C7-CBF2CDD79523}"/>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5AAED22B-9F17-47B8-92F1-00C5D282FFD9}"/>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C6D6FC27-A259-4DBD-98E4-056534361D79}"/>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04CC8739-EF4C-403A-91A8-B09F74F45E72}"/>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5C8A227E-767F-4E52-9289-DEFD2A1B277C}"/>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B165B581-0B3F-49D6-A91E-D67E022599CD}"/>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7CA52EE3-969F-4550-9996-571F9712F871}"/>
              </a:ext>
            </a:extLst>
          </p:cNvPr>
          <p:cNvSpPr>
            <a:spLocks xmlns:a="http://schemas.openxmlformats.org/drawingml/2006/main" noGrp="1"/>
          </p:cNvSpPr>
          <p:nvPr/>
        </p:nvSpPr>
        <p:spPr>
          <a:xfrm xmlns:a="http://schemas.openxmlformats.org/drawingml/2006/main">
            <a:off x="3133725" y="2238375"/>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1E5161ED-CF14-4FB7-951D-4A58AE0610B7}"/>
              </a:ext>
            </a:extLst>
          </p:cNvPr>
          <p:cNvSpPr>
            <a:spLocks xmlns:a="http://schemas.openxmlformats.org/drawingml/2006/main" noGrp="1"/>
          </p:cNvSpPr>
          <p:nvPr/>
        </p:nvSpPr>
        <p:spPr>
          <a:xfrm xmlns:a="http://schemas.openxmlformats.org/drawingml/2006/main" rot="0">
            <a:off x="3209925" y="2200275"/>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撮影先と実証に使える現場を拡大</a:t>
            </a:r>
          </a:p>
        </p:txBody>
      </p:sp>
      <p:sp>
        <p:nvSpPr>
          <p:cNvPr id="23" name="">
            <a:extLst xmlns:a="http://schemas.openxmlformats.org/drawingml/2006/main">
              <a:ext uri="{FF2B5EF4-FFF2-40B4-BE49-F238E27FC236}">
                <a16:creationId xmlns:a16="http://schemas.microsoft.com/office/drawing/2014/main" id="{AC80DA6C-C4C7-4957-827F-C8CC934C5463}"/>
              </a:ext>
            </a:extLst>
          </p:cNvPr>
          <p:cNvSpPr>
            <a:spLocks xmlns:a="http://schemas.openxmlformats.org/drawingml/2006/main" noGrp="1"/>
          </p:cNvSpPr>
          <p:nvPr/>
        </p:nvSpPr>
        <p:spPr>
          <a:xfrm xmlns:a="http://schemas.openxmlformats.org/drawingml/2006/main">
            <a:off x="7253288" y="2238375"/>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4" name="">
            <a:extLst xmlns:a="http://schemas.openxmlformats.org/drawingml/2006/main">
              <a:ext uri="{FF2B5EF4-FFF2-40B4-BE49-F238E27FC236}">
                <a16:creationId xmlns:a16="http://schemas.microsoft.com/office/drawing/2014/main" id="{C0ACADEE-5938-4464-807A-C0C38D4270EF}"/>
              </a:ext>
            </a:extLst>
          </p:cNvPr>
          <p:cNvSpPr>
            <a:spLocks xmlns:a="http://schemas.openxmlformats.org/drawingml/2006/main" noGrp="1"/>
          </p:cNvSpPr>
          <p:nvPr/>
        </p:nvSpPr>
        <p:spPr>
          <a:xfrm xmlns:a="http://schemas.openxmlformats.org/drawingml/2006/main" rot="0">
            <a:off x="7329488" y="2200275"/>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蓄積データから、ロボットを</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導入しやすい業種と現場を絞る</a:t>
            </a:r>
          </a:p>
        </p:txBody>
      </p:sp>
      <p:sp>
        <p:nvSpPr>
          <p:cNvPr id="25" name="">
            <a:extLst xmlns:a="http://schemas.openxmlformats.org/drawingml/2006/main">
              <a:ext uri="{FF2B5EF4-FFF2-40B4-BE49-F238E27FC236}">
                <a16:creationId xmlns:a16="http://schemas.microsoft.com/office/drawing/2014/main" id="{440D8489-034D-40CE-9DF4-4327A75D640D}"/>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1DBE9D16-8D41-4999-B95B-E8A0AE6EEA1A}"/>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7" name="">
            <a:extLst xmlns:a="http://schemas.openxmlformats.org/drawingml/2006/main">
              <a:ext uri="{FF2B5EF4-FFF2-40B4-BE49-F238E27FC236}">
                <a16:creationId xmlns:a16="http://schemas.microsoft.com/office/drawing/2014/main" id="{FF1FD22C-3EBA-4542-9D5C-3F65C9EC8352}"/>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075E34D6-1DFD-4697-9D84-BB3B01A9748E}"/>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9D745DB4-3A87-4182-9B01-565CF54F14B0}"/>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FC0352FB-15C7-4B86-8DC8-BED626E5D108}"/>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A81D992B-10DA-467E-A2EB-44A3DD0A7D3E}"/>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C715BB8D-9928-4271-BBCB-84CB00B57AF8}"/>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DDBB425F-A6D5-4AAD-87E7-4019C32A36B1}"/>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E4F5A17E-3491-4C74-8235-F01CB9E3F839}"/>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F868CE9C-F60E-45AD-8C8C-EFB3A1A14F6E}"/>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BFFD701B-6ED0-49B8-8D58-9C317B984095}"/>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B8080097-FECF-4FCF-BD5E-984083279A2C}"/>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8" name="">
            <a:extLst xmlns:a="http://schemas.openxmlformats.org/drawingml/2006/main">
              <a:ext uri="{FF2B5EF4-FFF2-40B4-BE49-F238E27FC236}">
                <a16:creationId xmlns:a16="http://schemas.microsoft.com/office/drawing/2014/main" id="{1E49B74F-D4FD-4F30-A123-96EF7241E84E}"/>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39" name="">
            <a:extLst xmlns:a="http://schemas.openxmlformats.org/drawingml/2006/main">
              <a:ext uri="{FF2B5EF4-FFF2-40B4-BE49-F238E27FC236}">
                <a16:creationId xmlns:a16="http://schemas.microsoft.com/office/drawing/2014/main" id="{65E1B484-250D-41DD-92D1-211C5FDE771D}"/>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E0B53690-E819-40A3-A6C3-7E314261D10D}"/>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355BE86F-D060-4DD8-8889-7CE981C24540}"/>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BD8F782E-ED77-42F2-9FCF-98DBBFAEC5D3}"/>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F3A90710-71AE-4D48-B4AD-70DDC6D2F7B4}"/>
              </a:ext>
            </a:extLst>
          </p:cNvPr>
          <p:cNvSpPr>
            <a:spLocks xmlns:a="http://schemas.openxmlformats.org/drawingml/2006/main" noGrp="1"/>
          </p:cNvSpPr>
          <p:nvPr/>
        </p:nvSpPr>
        <p:spPr>
          <a:xfrm xmlns:a="http://schemas.openxmlformats.org/drawingml/2006/main">
            <a:off x="3133725" y="3981450"/>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4" name="">
            <a:extLst xmlns:a="http://schemas.openxmlformats.org/drawingml/2006/main">
              <a:ext uri="{FF2B5EF4-FFF2-40B4-BE49-F238E27FC236}">
                <a16:creationId xmlns:a16="http://schemas.microsoft.com/office/drawing/2014/main" id="{134EDB3F-76FA-459B-9ADD-599383AFE565}"/>
              </a:ext>
            </a:extLst>
          </p:cNvPr>
          <p:cNvSpPr>
            <a:spLocks xmlns:a="http://schemas.openxmlformats.org/drawingml/2006/main" noGrp="1"/>
          </p:cNvSpPr>
          <p:nvPr/>
        </p:nvSpPr>
        <p:spPr>
          <a:xfrm xmlns:a="http://schemas.openxmlformats.org/drawingml/2006/main" rot="0">
            <a:off x="3209925" y="3943350"/>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企業・大学へ実証や研究に使う現場を紹介</a:t>
            </a:r>
          </a:p>
        </p:txBody>
      </p:sp>
      <p:sp>
        <p:nvSpPr>
          <p:cNvPr id="45" name="">
            <a:extLst xmlns:a="http://schemas.openxmlformats.org/drawingml/2006/main">
              <a:ext uri="{FF2B5EF4-FFF2-40B4-BE49-F238E27FC236}">
                <a16:creationId xmlns:a16="http://schemas.microsoft.com/office/drawing/2014/main" id="{0B5F8D9E-8477-401C-922A-B4C825FBD97A}"/>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1AE27AFF-6DBE-4A02-A5E4-BC4DEF417E38}"/>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7" name="">
            <a:extLst xmlns:a="http://schemas.openxmlformats.org/drawingml/2006/main">
              <a:ext uri="{FF2B5EF4-FFF2-40B4-BE49-F238E27FC236}">
                <a16:creationId xmlns:a16="http://schemas.microsoft.com/office/drawing/2014/main" id="{A7B656AD-DAC8-439B-A8D7-6E483A1682D0}"/>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4526A241-F2FE-40EE-A239-6E1EC4C5D057}"/>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9" name="">
            <a:extLst xmlns:a="http://schemas.openxmlformats.org/drawingml/2006/main">
              <a:ext uri="{FF2B5EF4-FFF2-40B4-BE49-F238E27FC236}">
                <a16:creationId xmlns:a16="http://schemas.microsoft.com/office/drawing/2014/main" id="{0564B69D-EFDE-4BA5-9846-4289BACF42EF}"/>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240E8133-CF37-447A-9991-0DC924F31D7D}"/>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A51A10A9-5685-40E1-8665-70D46E14A490}"/>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0182D22F-367D-45A4-9F9C-B2B0AE775056}"/>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53" name="">
            <a:extLst xmlns:a="http://schemas.openxmlformats.org/drawingml/2006/main">
              <a:ext uri="{FF2B5EF4-FFF2-40B4-BE49-F238E27FC236}">
                <a16:creationId xmlns:a16="http://schemas.microsoft.com/office/drawing/2014/main" id="{4266799F-71A3-464A-906F-F641B9B9B5A5}"/>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ECA2D5F2-0E37-4610-989C-94D4023F3208}"/>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5" name="">
            <a:extLst xmlns:a="http://schemas.openxmlformats.org/drawingml/2006/main">
              <a:ext uri="{FF2B5EF4-FFF2-40B4-BE49-F238E27FC236}">
                <a16:creationId xmlns:a16="http://schemas.microsoft.com/office/drawing/2014/main" id="{90E0431C-9F38-448A-9F45-70CD8B0ED863}"/>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6" name="">
            <a:extLst xmlns:a="http://schemas.openxmlformats.org/drawingml/2006/main">
              <a:ext uri="{FF2B5EF4-FFF2-40B4-BE49-F238E27FC236}">
                <a16:creationId xmlns:a16="http://schemas.microsoft.com/office/drawing/2014/main" id="{6803F55B-56D3-40B1-A908-47ECF6BCA557}"/>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7" name="">
            <a:extLst xmlns:a="http://schemas.openxmlformats.org/drawingml/2006/main">
              <a:ext uri="{FF2B5EF4-FFF2-40B4-BE49-F238E27FC236}">
                <a16:creationId xmlns:a16="http://schemas.microsoft.com/office/drawing/2014/main" id="{09A498D4-00AD-4699-A19E-204828C8E04B}"/>
              </a:ext>
            </a:extLst>
          </p:cNvPr>
          <p:cNvSpPr>
            <a:spLocks xmlns:a="http://schemas.openxmlformats.org/drawingml/2006/main" noGrp="1"/>
          </p:cNvSpPr>
          <p:nvPr/>
        </p:nvSpPr>
        <p:spPr>
          <a:xfrm xmlns:a="http://schemas.openxmlformats.org/drawingml/2006/main">
            <a:off x="7253288" y="5143500"/>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8" name="">
            <a:extLst xmlns:a="http://schemas.openxmlformats.org/drawingml/2006/main">
              <a:ext uri="{FF2B5EF4-FFF2-40B4-BE49-F238E27FC236}">
                <a16:creationId xmlns:a16="http://schemas.microsoft.com/office/drawing/2014/main" id="{57247CB3-56E4-40B8-AC23-CEF84B9A1C20}"/>
              </a:ext>
            </a:extLst>
          </p:cNvPr>
          <p:cNvSpPr>
            <a:spLocks xmlns:a="http://schemas.openxmlformats.org/drawingml/2006/main" noGrp="1"/>
          </p:cNvSpPr>
          <p:nvPr/>
        </p:nvSpPr>
        <p:spPr>
          <a:xfrm xmlns:a="http://schemas.openxmlformats.org/drawingml/2006/main" rot="0">
            <a:off x="7329488" y="5105400"/>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既存ロボットを現場へ導入し</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作業に合わせて運用を調整</a:t>
            </a:r>
          </a:p>
        </p:txBody>
      </p:sp>
      <p:sp>
        <p:nvSpPr>
          <p:cNvPr id="59" name="">
            <a:extLst xmlns:a="http://schemas.openxmlformats.org/drawingml/2006/main">
              <a:ext uri="{FF2B5EF4-FFF2-40B4-BE49-F238E27FC236}">
                <a16:creationId xmlns:a16="http://schemas.microsoft.com/office/drawing/2014/main" id="{9117146F-F7F4-47C8-ADC2-69166EE44C33}"/>
              </a:ext>
            </a:extLst>
          </p:cNvPr>
          <p:cNvSpPr>
            <a:spLocks xmlns:a="http://schemas.openxmlformats.org/drawingml/2006/main" noGrp="1"/>
          </p:cNvSpPr>
          <p:nvPr/>
        </p:nvSpPr>
        <p:spPr>
          <a:xfrm xmlns:a="http://schemas.openxmlformats.org/drawingml/2006/main" rot="0">
            <a:off x="723900" y="59055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2028年は既存ロボットの導入から始め、自社でのモデル・実機開発はまだ行わない</a:t>
            </a:r>
          </a:p>
        </p:txBody>
      </p:sp>
    </p:spTree>
    <p:extLst>
      <p:ext uri="{BB962C8B-B14F-4D97-AF65-F5344CB8AC3E}">
        <p14:creationId xmlns:p14="http://schemas.microsoft.com/office/powerpoint/2010/main" val="1684843228"/>
      </p:ext>
    </p:extLst>
  </p:cSld>
</p:sld>
</file>

<file path=ppt/slides/slide2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3065846E-A1AF-4577-80F5-C4614B729B5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E3F854-35D8-4716-8FBB-81746A50DF0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今後の見通し｜2029</a:t>
            </a:r>
          </a:p>
        </p:txBody>
      </p:sp>
      <p:sp>
        <p:nvSpPr>
          <p:cNvPr id="3" name="">
            <a:extLst xmlns:a="http://schemas.openxmlformats.org/drawingml/2006/main">
              <a:ext uri="{FF2B5EF4-FFF2-40B4-BE49-F238E27FC236}">
                <a16:creationId xmlns:a16="http://schemas.microsoft.com/office/drawing/2014/main" id="{5447875A-DEBF-41F5-8A4F-3075A846D79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119A8FB-1C72-4931-BFF6-D3C826D6B83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BA307146-9D75-4AF6-A16F-B21319170950}"/>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3BF535F-7606-4418-A083-BCF3F1676F0B}"/>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B8838BB2-0EE8-4E94-B7D0-A3716F6F9553}"/>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B0FD9744-7518-4608-A927-51954F25DD89}"/>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F8A516E8-FB9B-4F78-B4B8-2BFFC65ECE0A}"/>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99F807A2-46E2-4D45-B077-7CF08304154C}"/>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177E3E2D-30AC-42C3-BEDC-28E84C043DCE}"/>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16C198FF-AF69-47D3-87D7-3C47C820B57A}"/>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19C8D123-217A-4DBB-B1E3-185A17A59C06}"/>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93DB4D20-9BF5-4616-BC1C-5733518D01E7}"/>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4AC4B749-D605-4CE5-AA29-D884A67E1202}"/>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B35800C8-9A8A-41F7-A8C4-F7E9FE5FEB78}"/>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08E88699-5767-4BB2-A840-894E68534F3D}"/>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DF865A95-7537-4C56-8859-CF6070194E58}"/>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1D2D52E0-A93C-47AC-BBAA-C0D551703005}"/>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D4F95BC0-6A82-492A-8A7B-D38231794A75}"/>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B8A45B6F-6AA4-4B5D-BD9F-F76327F84AED}"/>
              </a:ext>
            </a:extLst>
          </p:cNvPr>
          <p:cNvSpPr>
            <a:spLocks xmlns:a="http://schemas.openxmlformats.org/drawingml/2006/main" noGrp="1"/>
          </p:cNvSpPr>
          <p:nvPr/>
        </p:nvSpPr>
        <p:spPr>
          <a:xfrm xmlns:a="http://schemas.openxmlformats.org/drawingml/2006/main">
            <a:off x="3133725" y="2238375"/>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5AB99521-6919-43E3-9386-E42B0B436CAD}"/>
              </a:ext>
            </a:extLst>
          </p:cNvPr>
          <p:cNvSpPr>
            <a:spLocks xmlns:a="http://schemas.openxmlformats.org/drawingml/2006/main" noGrp="1"/>
          </p:cNvSpPr>
          <p:nvPr/>
        </p:nvSpPr>
        <p:spPr>
          <a:xfrm xmlns:a="http://schemas.openxmlformats.org/drawingml/2006/main" rot="0">
            <a:off x="3209925" y="2200275"/>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ロボット導入先と、各現場の作業データを増やす</a:t>
            </a:r>
          </a:p>
        </p:txBody>
      </p:sp>
      <p:sp>
        <p:nvSpPr>
          <p:cNvPr id="23" name="">
            <a:extLst xmlns:a="http://schemas.openxmlformats.org/drawingml/2006/main">
              <a:ext uri="{FF2B5EF4-FFF2-40B4-BE49-F238E27FC236}">
                <a16:creationId xmlns:a16="http://schemas.microsoft.com/office/drawing/2014/main" id="{6752C6E9-E12C-4A70-B929-6434B12E7E6A}"/>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9FDCAA17-2CF0-4E2C-A14C-58EBF365B4A4}"/>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5" name="">
            <a:extLst xmlns:a="http://schemas.openxmlformats.org/drawingml/2006/main">
              <a:ext uri="{FF2B5EF4-FFF2-40B4-BE49-F238E27FC236}">
                <a16:creationId xmlns:a16="http://schemas.microsoft.com/office/drawing/2014/main" id="{F09D1840-8918-4DDC-9FDC-8F1F3A46D6F9}"/>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739C2405-750A-40C2-970E-4BD73F008959}"/>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7B58FA5B-843E-4841-821F-2C6E591AFEE0}"/>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6867F55B-F6A9-4A6B-B964-E8E690AAF3FB}"/>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8B9751D5-E261-4C89-B75B-123E1F5F3F54}"/>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2D322D34-33D2-4A87-8752-212D05CAC8CF}"/>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1" name="">
            <a:extLst xmlns:a="http://schemas.openxmlformats.org/drawingml/2006/main">
              <a:ext uri="{FF2B5EF4-FFF2-40B4-BE49-F238E27FC236}">
                <a16:creationId xmlns:a16="http://schemas.microsoft.com/office/drawing/2014/main" id="{F194928F-2A56-4B9D-833D-B1C1366E4A26}"/>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34EEE9B2-9665-4F43-8C34-C0D513DC4D6F}"/>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3" name="">
            <a:extLst xmlns:a="http://schemas.openxmlformats.org/drawingml/2006/main">
              <a:ext uri="{FF2B5EF4-FFF2-40B4-BE49-F238E27FC236}">
                <a16:creationId xmlns:a16="http://schemas.microsoft.com/office/drawing/2014/main" id="{D4540F31-A249-4A1C-B61D-23BDA958EE09}"/>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A7E83F9C-B13D-43A4-844D-CCC7D6C85B1D}"/>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2A9C1903-E1C5-4B2B-89A6-BF4097A4CD33}"/>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49642B3B-6890-4306-9FD8-4F149CD1E443}"/>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37" name="">
            <a:extLst xmlns:a="http://schemas.openxmlformats.org/drawingml/2006/main">
              <a:ext uri="{FF2B5EF4-FFF2-40B4-BE49-F238E27FC236}">
                <a16:creationId xmlns:a16="http://schemas.microsoft.com/office/drawing/2014/main" id="{C273CBFE-F6C1-46CA-A27E-84169BB0E082}"/>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8" name="">
            <a:extLst xmlns:a="http://schemas.openxmlformats.org/drawingml/2006/main">
              <a:ext uri="{FF2B5EF4-FFF2-40B4-BE49-F238E27FC236}">
                <a16:creationId xmlns:a16="http://schemas.microsoft.com/office/drawing/2014/main" id="{B3FE5969-40F4-43E4-826E-DD818CAFB156}"/>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9" name="">
            <a:extLst xmlns:a="http://schemas.openxmlformats.org/drawingml/2006/main">
              <a:ext uri="{FF2B5EF4-FFF2-40B4-BE49-F238E27FC236}">
                <a16:creationId xmlns:a16="http://schemas.microsoft.com/office/drawing/2014/main" id="{2EFABB65-E856-45D9-9669-5A7CD4AB71CC}"/>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62A30F94-0450-4290-B3F6-183C63071545}"/>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8B53A06F-95DB-4850-93D4-19D3BA8D1AF7}"/>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44E9FB30-0B03-45AC-B491-A9C6D03CDE13}"/>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3" name="">
            <a:extLst xmlns:a="http://schemas.openxmlformats.org/drawingml/2006/main">
              <a:ext uri="{FF2B5EF4-FFF2-40B4-BE49-F238E27FC236}">
                <a16:creationId xmlns:a16="http://schemas.microsoft.com/office/drawing/2014/main" id="{D5D5F71F-4CC4-4B1F-B1E2-7936C663610A}"/>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EA97BFC6-0594-4897-A079-9E8B5083868D}"/>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9043544C-AE19-40D0-87D6-C3430E76817C}"/>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B1981E19-28DF-4DC6-AD1E-9BB533EEFE8F}"/>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75619E8D-89B7-4ABD-B177-5FB5601118DE}"/>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64E2345F-9838-4A85-8003-02182423AF53}"/>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49" name="">
            <a:extLst xmlns:a="http://schemas.openxmlformats.org/drawingml/2006/main">
              <a:ext uri="{FF2B5EF4-FFF2-40B4-BE49-F238E27FC236}">
                <a16:creationId xmlns:a16="http://schemas.microsoft.com/office/drawing/2014/main" id="{886EA4C0-FFF1-44B2-B4E7-4E7A3D059742}"/>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6059EFAA-3AFB-4C15-BD76-7A3C4B95CF96}"/>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17188DFC-EF72-483C-954C-648C9BC584CA}"/>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B002EB83-35E4-443D-8628-675155B74E79}"/>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6F0B8456-047F-4BB9-BEE5-B000F1CDA9C6}"/>
              </a:ext>
            </a:extLst>
          </p:cNvPr>
          <p:cNvSpPr>
            <a:spLocks xmlns:a="http://schemas.openxmlformats.org/drawingml/2006/main" noGrp="1"/>
          </p:cNvSpPr>
          <p:nvPr/>
        </p:nvSpPr>
        <p:spPr>
          <a:xfrm xmlns:a="http://schemas.openxmlformats.org/drawingml/2006/main">
            <a:off x="3133725" y="5143500"/>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4" name="">
            <a:extLst xmlns:a="http://schemas.openxmlformats.org/drawingml/2006/main">
              <a:ext uri="{FF2B5EF4-FFF2-40B4-BE49-F238E27FC236}">
                <a16:creationId xmlns:a16="http://schemas.microsoft.com/office/drawing/2014/main" id="{B9356BB4-27D0-4829-AD72-BEE384B1C72B}"/>
              </a:ext>
            </a:extLst>
          </p:cNvPr>
          <p:cNvSpPr>
            <a:spLocks xmlns:a="http://schemas.openxmlformats.org/drawingml/2006/main" noGrp="1"/>
          </p:cNvSpPr>
          <p:nvPr/>
        </p:nvSpPr>
        <p:spPr>
          <a:xfrm xmlns:a="http://schemas.openxmlformats.org/drawingml/2006/main" rot="0">
            <a:off x="3209925" y="5105400"/>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既存ロボットの導入を拡大し、現場データを使った</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動作モデルと実機の改良に自社で着手</a:t>
            </a:r>
          </a:p>
        </p:txBody>
      </p:sp>
      <p:sp>
        <p:nvSpPr>
          <p:cNvPr id="55" name="">
            <a:extLst xmlns:a="http://schemas.openxmlformats.org/drawingml/2006/main">
              <a:ext uri="{FF2B5EF4-FFF2-40B4-BE49-F238E27FC236}">
                <a16:creationId xmlns:a16="http://schemas.microsoft.com/office/drawing/2014/main" id="{431B0A32-D0AA-4FC8-9836-E850D13B625C}"/>
              </a:ext>
            </a:extLst>
          </p:cNvPr>
          <p:cNvSpPr>
            <a:spLocks xmlns:a="http://schemas.openxmlformats.org/drawingml/2006/main" noGrp="1"/>
          </p:cNvSpPr>
          <p:nvPr/>
        </p:nvSpPr>
        <p:spPr>
          <a:xfrm xmlns:a="http://schemas.openxmlformats.org/drawingml/2006/main" rot="0">
            <a:off x="723900" y="59055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2029年から、ロボットの動作モデルと実機の開発を自社の事業へ加える</a:t>
            </a:r>
          </a:p>
        </p:txBody>
      </p:sp>
    </p:spTree>
    <p:extLst>
      <p:ext uri="{BB962C8B-B14F-4D97-AF65-F5344CB8AC3E}">
        <p14:creationId xmlns:p14="http://schemas.microsoft.com/office/powerpoint/2010/main" val="18636247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2026-09-15T04:32:10.3440000Z</dcterms:created>
  <dcterms:modified xsi:type="dcterms:W3CDTF">2026-09-15T04:32:10.3440000Z</dcterms:modified>
</coreProperties>
</file>
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57a1a221fce4e0a" /><Relationship Type="http://schemas.openxmlformats.org/officeDocument/2006/relationships/extended-properties" Target="/docProps/app.xml" Id="Rb90998d6e87b4225" /><Relationship Type="http://schemas.openxmlformats.org/officeDocument/2006/relationships/officeDocument" Target="/ppt/presentation.xml" Id="Rded619821d86431b" /></Relationships>
</file>

<file path=ppt/presentation.xml><?xml version="1.0" encoding="utf-8"?>
<p:presentation xmlns:p="http://schemas.openxmlformats.org/presentationml/2006/main">
  <p:sldMasterIdLst>
    <p:sldMasterId xmlns:r="http://schemas.openxmlformats.org/officeDocument/2006/relationships" id="2147483648" r:id="R156c7ee74cf94397"/>
  </p:sldMasterIdLst>
  <p:notesMasterIdLst>
    <p:notesMasterId xmlns:r="http://schemas.openxmlformats.org/officeDocument/2006/relationships" r:id="R0187f9f758df42c0"/>
  </p:notesMasterIdLst>
  <p:sldIdLst>
    <p:sldId xmlns:r="http://schemas.openxmlformats.org/officeDocument/2006/relationships" id="256" r:id="R0d98791bfa7c4b28"/>
    <p:sldId xmlns:r="http://schemas.openxmlformats.org/officeDocument/2006/relationships" id="257" r:id="R2b249db130c14625"/>
    <p:sldId xmlns:r="http://schemas.openxmlformats.org/officeDocument/2006/relationships" id="258" r:id="R48faf5777c3f4d7e"/>
    <p:sldId xmlns:r="http://schemas.openxmlformats.org/officeDocument/2006/relationships" id="259" r:id="R3e6f996f098748ea"/>
    <p:sldId xmlns:r="http://schemas.openxmlformats.org/officeDocument/2006/relationships" id="260" r:id="R6fb25d93022c4f92"/>
    <p:sldId xmlns:r="http://schemas.openxmlformats.org/officeDocument/2006/relationships" id="261" r:id="Rc21dd6a5381f446a"/>
    <p:sldId xmlns:r="http://schemas.openxmlformats.org/officeDocument/2006/relationships" id="262" r:id="R07aee0ca2c8b4c2a"/>
    <p:sldId xmlns:r="http://schemas.openxmlformats.org/officeDocument/2006/relationships" id="263" r:id="R9edf95bce3a5470f"/>
    <p:sldId xmlns:r="http://schemas.openxmlformats.org/officeDocument/2006/relationships" id="264" r:id="Rc31a037d04fa4193"/>
    <p:sldId xmlns:r="http://schemas.openxmlformats.org/officeDocument/2006/relationships" id="265" r:id="Rb2af593b27974300"/>
    <p:sldId xmlns:r="http://schemas.openxmlformats.org/officeDocument/2006/relationships" id="266" r:id="Rd683cbfafad84f9b"/>
    <p:sldId xmlns:r="http://schemas.openxmlformats.org/officeDocument/2006/relationships" id="267" r:id="R0acc047e30944765"/>
    <p:sldId xmlns:r="http://schemas.openxmlformats.org/officeDocument/2006/relationships" id="268" r:id="R1af09bb3c42440bb"/>
    <p:sldId xmlns:r="http://schemas.openxmlformats.org/officeDocument/2006/relationships" id="269" r:id="R6a7ad36e703a4ce9"/>
    <p:sldId xmlns:r="http://schemas.openxmlformats.org/officeDocument/2006/relationships" id="270" r:id="Rec8665f46a374dc5"/>
    <p:sldId xmlns:r="http://schemas.openxmlformats.org/officeDocument/2006/relationships" id="271" r:id="Rb6345080a3da40fe"/>
    <p:sldId xmlns:r="http://schemas.openxmlformats.org/officeDocument/2006/relationships" id="272" r:id="R5bea347658a84f87"/>
    <p:sldId xmlns:r="http://schemas.openxmlformats.org/officeDocument/2006/relationships" id="273" r:id="R78937ad7646f4dbe"/>
    <p:sldId xmlns:r="http://schemas.openxmlformats.org/officeDocument/2006/relationships" id="274" r:id="Ra70691176e7f4466"/>
    <p:sldId xmlns:r="http://schemas.openxmlformats.org/officeDocument/2006/relationships" id="275" r:id="Raff9c4943b164fc2"/>
    <p:sldId xmlns:r="http://schemas.openxmlformats.org/officeDocument/2006/relationships" id="276" r:id="Rf763077e761c4046"/>
    <p:sldId xmlns:r="http://schemas.openxmlformats.org/officeDocument/2006/relationships" id="277" r:id="R38abeee48bb74d64"/>
    <p:sldId xmlns:r="http://schemas.openxmlformats.org/officeDocument/2006/relationships" id="278" r:id="Ra9cae45d724c415b"/>
    <p:sldId xmlns:r="http://schemas.openxmlformats.org/officeDocument/2006/relationships" id="279" r:id="R86a99cfb05fc42de"/>
    <p:sldId xmlns:r="http://schemas.openxmlformats.org/officeDocument/2006/relationships" id="280" r:id="Rf4843ab33db5468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448509ba05940fa" /><Relationship Type="http://schemas.openxmlformats.org/officeDocument/2006/relationships/slideMaster" Target="/ppt/slideMasters/slideMaster1.xml" Id="R156c7ee74cf94397" /><Relationship Type="http://schemas.openxmlformats.org/officeDocument/2006/relationships/notesMaster" Target="/ppt/notesMasters/notesMaster1.xml" Id="R0187f9f758df42c0" /><Relationship Type="http://schemas.openxmlformats.org/officeDocument/2006/relationships/presProps" Target="/ppt/presProps.xml" Id="Rf73a3ba7eee24627" /><Relationship Type="http://schemas.openxmlformats.org/officeDocument/2006/relationships/tableStyles" Target="/ppt/tableStyles.xml" Id="R94c19da6f21c4802" /><Relationship Type="http://schemas.openxmlformats.org/officeDocument/2006/relationships/slide" Target="/ppt/slides/slide1.xml" Id="R0d98791bfa7c4b28" /><Relationship Type="http://schemas.openxmlformats.org/officeDocument/2006/relationships/slide" Target="/ppt/slides/slide2.xml" Id="R2b249db130c14625" /><Relationship Type="http://schemas.openxmlformats.org/officeDocument/2006/relationships/slide" Target="/ppt/slides/slide3.xml" Id="R48faf5777c3f4d7e" /><Relationship Type="http://schemas.openxmlformats.org/officeDocument/2006/relationships/slide" Target="/ppt/slides/slide4.xml" Id="R3e6f996f098748ea" /><Relationship Type="http://schemas.openxmlformats.org/officeDocument/2006/relationships/slide" Target="/ppt/slides/slide5.xml" Id="R6fb25d93022c4f92" /><Relationship Type="http://schemas.openxmlformats.org/officeDocument/2006/relationships/slide" Target="/ppt/slides/slide6.xml" Id="Rc21dd6a5381f446a" /><Relationship Type="http://schemas.openxmlformats.org/officeDocument/2006/relationships/slide" Target="/ppt/slides/slide7.xml" Id="R07aee0ca2c8b4c2a" /><Relationship Type="http://schemas.openxmlformats.org/officeDocument/2006/relationships/slide" Target="/ppt/slides/slide8.xml" Id="R9edf95bce3a5470f" /><Relationship Type="http://schemas.openxmlformats.org/officeDocument/2006/relationships/slide" Target="/ppt/slides/slide9.xml" Id="Rc31a037d04fa4193" /><Relationship Type="http://schemas.openxmlformats.org/officeDocument/2006/relationships/slide" Target="/ppt/slides/slide10.xml" Id="Rb2af593b27974300" /><Relationship Type="http://schemas.openxmlformats.org/officeDocument/2006/relationships/slide" Target="/ppt/slides/slide11.xml" Id="Rd683cbfafad84f9b" /><Relationship Type="http://schemas.openxmlformats.org/officeDocument/2006/relationships/slide" Target="/ppt/slides/slide12.xml" Id="R0acc047e30944765" /><Relationship Type="http://schemas.openxmlformats.org/officeDocument/2006/relationships/slide" Target="/ppt/slides/slide13.xml" Id="R1af09bb3c42440bb" /><Relationship Type="http://schemas.openxmlformats.org/officeDocument/2006/relationships/slide" Target="/ppt/slides/slide14.xml" Id="R6a7ad36e703a4ce9" /><Relationship Type="http://schemas.openxmlformats.org/officeDocument/2006/relationships/slide" Target="/ppt/slides/slide15.xml" Id="Rec8665f46a374dc5" /><Relationship Type="http://schemas.openxmlformats.org/officeDocument/2006/relationships/slide" Target="/ppt/slides/slide16.xml" Id="Rb6345080a3da40fe" /><Relationship Type="http://schemas.openxmlformats.org/officeDocument/2006/relationships/slide" Target="/ppt/slides/slide17.xml" Id="R5bea347658a84f87" /><Relationship Type="http://schemas.openxmlformats.org/officeDocument/2006/relationships/slide" Target="/ppt/slides/slide18.xml" Id="R78937ad7646f4dbe" /><Relationship Type="http://schemas.openxmlformats.org/officeDocument/2006/relationships/slide" Target="/ppt/slides/slide19.xml" Id="Ra70691176e7f4466" /><Relationship Type="http://schemas.openxmlformats.org/officeDocument/2006/relationships/slide" Target="/ppt/slides/slide20.xml" Id="Raff9c4943b164fc2" /><Relationship Type="http://schemas.openxmlformats.org/officeDocument/2006/relationships/slide" Target="/ppt/slides/slide21.xml" Id="Rf763077e761c4046" /><Relationship Type="http://schemas.openxmlformats.org/officeDocument/2006/relationships/slide" Target="/ppt/slides/slide22.xml" Id="R38abeee48bb74d64" /><Relationship Type="http://schemas.openxmlformats.org/officeDocument/2006/relationships/slide" Target="/ppt/slides/slide23.xml" Id="Ra9cae45d724c415b" /><Relationship Type="http://schemas.openxmlformats.org/officeDocument/2006/relationships/slide" Target="/ppt/slides/slide24.xml" Id="R86a99cfb05fc42de" /><Relationship Type="http://schemas.openxmlformats.org/officeDocument/2006/relationships/slide" Target="/ppt/slides/slide25.xml" Id="Rf4843ab33db5468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ae297f1de8496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2c0120818e44aa" /><Relationship Type="http://schemas.openxmlformats.org/officeDocument/2006/relationships/notesMaster" Target="/ppt/notesMasters/notesMaster1.xml" Id="Rf63618a5923d4f0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6f49a923894369" /><Relationship Type="http://schemas.openxmlformats.org/officeDocument/2006/relationships/notesMaster" Target="/ppt/notesMasters/notesMaster1.xml" Id="R1af800b7ceee40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ef26a8ec504021" /><Relationship Type="http://schemas.openxmlformats.org/officeDocument/2006/relationships/notesMaster" Target="/ppt/notesMasters/notesMaster1.xml" Id="Reb13d434ed4d481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1dd0cf80fb244b3" /><Relationship Type="http://schemas.openxmlformats.org/officeDocument/2006/relationships/notesMaster" Target="/ppt/notesMasters/notesMaster1.xml" Id="R08dcbfc80a4e46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ff0aff36daa94ebc" /><Relationship Type="http://schemas.openxmlformats.org/officeDocument/2006/relationships/notesMaster" Target="/ppt/notesMasters/notesMaster1.xml" Id="Rba716fbc9210437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564c14eec84012" /><Relationship Type="http://schemas.openxmlformats.org/officeDocument/2006/relationships/notesMaster" Target="/ppt/notesMasters/notesMaster1.xml" Id="R6d67371652af498a" /></Relationships>
</file>

<file path=ppt/notesSlides/_rels/notesSlide7.xml.rels>&#65279;<?xml version="1.0" encoding="utf-8"?><Relationships xmlns="http://schemas.openxmlformats.org/package/2006/relationships"><Relationship Type="http://schemas.openxmlformats.org/officeDocument/2006/relationships/slide" Target="/ppt/slides/slide7.xml" Id="R9d61f8bca75b4560" /><Relationship Type="http://schemas.openxmlformats.org/officeDocument/2006/relationships/notesMaster" Target="/ppt/notesMasters/notesMaster1.xml" Id="R5a822feab2434333" /></Relationships>
</file>

<file path=ppt/notesSlides/_rels/notesSlide8.xml.rels>&#65279;<?xml version="1.0" encoding="utf-8"?><Relationships xmlns="http://schemas.openxmlformats.org/package/2006/relationships"><Relationship Type="http://schemas.openxmlformats.org/officeDocument/2006/relationships/slide" Target="/ppt/slides/slide8.xml" Id="R8d913d93f4f04c15" /><Relationship Type="http://schemas.openxmlformats.org/officeDocument/2006/relationships/notesMaster" Target="/ppt/notesMasters/notesMaster1.xml" Id="Re0570959ee6c42fc" /></Relationships>
</file>

<file path=ppt/notesSlides/_rels/notesSlide9.xml.rels>&#65279;<?xml version="1.0" encoding="utf-8"?><Relationships xmlns="http://schemas.openxmlformats.org/package/2006/relationships"><Relationship Type="http://schemas.openxmlformats.org/officeDocument/2006/relationships/slide" Target="/ppt/slides/slide9.xml" Id="Ree4214c936bd46ac" /><Relationship Type="http://schemas.openxmlformats.org/officeDocument/2006/relationships/notesMaster" Target="/ppt/notesMasters/notesMaster1.xml" Id="Ra960f6ba593e432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a6a46e77e324c88" /><Relationship Type="http://schemas.openxmlformats.org/officeDocument/2006/relationships/notesMaster" Target="/ppt/notesMasters/notesMaster1.xml" Id="R07576ec8f8f2440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bec9631afb14cc6" /><Relationship Type="http://schemas.openxmlformats.org/officeDocument/2006/relationships/notesMaster" Target="/ppt/notesMasters/notesMaster1.xml" Id="R7913d5105d244da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03346a454614db6" /><Relationship Type="http://schemas.openxmlformats.org/officeDocument/2006/relationships/notesMaster" Target="/ppt/notesMasters/notesMaster1.xml" Id="R0fa306d503884a3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5d85d6030e54729" /><Relationship Type="http://schemas.openxmlformats.org/officeDocument/2006/relationships/notesMaster" Target="/ppt/notesMasters/notesMaster1.xml" Id="Rb4c5801e42304a9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4533920fea643a9" /><Relationship Type="http://schemas.openxmlformats.org/officeDocument/2006/relationships/notesMaster" Target="/ppt/notesMasters/notesMaster1.xml" Id="Rd6082657eea645f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2a1fc4499544395" /><Relationship Type="http://schemas.openxmlformats.org/officeDocument/2006/relationships/notesMaster" Target="/ppt/notesMasters/notesMaster1.xml" Id="R852379b6cc5840b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777f0af95034b04" /><Relationship Type="http://schemas.openxmlformats.org/officeDocument/2006/relationships/notesMaster" Target="/ppt/notesMasters/notesMaster1.xml" Id="R9a5fa25a314a43d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6d1d22ec1c34a50" /><Relationship Type="http://schemas.openxmlformats.org/officeDocument/2006/relationships/notesMaster" Target="/ppt/notesMasters/notesMaster1.xml" Id="R7e72b1f9ab2c4a6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6b6ab56ee814e9e" /><Relationship Type="http://schemas.openxmlformats.org/officeDocument/2006/relationships/notesMaster" Target="/ppt/notesMasters/notesMaster1.xml" Id="R7e65b2c570b44fd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445e66aa8fc4670" /><Relationship Type="http://schemas.openxmlformats.org/officeDocument/2006/relationships/notesMaster" Target="/ppt/notesMasters/notesMaster1.xml" Id="Reef19d9768c44b3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b26d2cac5d847be" /><Relationship Type="http://schemas.openxmlformats.org/officeDocument/2006/relationships/notesMaster" Target="/ppt/notesMasters/notesMaster1.xml" Id="Rb10e7efa6716416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be339f93ee247f0" /><Relationship Type="http://schemas.openxmlformats.org/officeDocument/2006/relationships/notesMaster" Target="/ppt/notesMasters/notesMaster1.xml" Id="R6d23501c665440e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fe73b44ad674608" /><Relationship Type="http://schemas.openxmlformats.org/officeDocument/2006/relationships/notesMaster" Target="/ppt/notesMasters/notesMaster1.xml" Id="R7d68994b0f7f419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a40aa11e8f543c1" /><Relationship Type="http://schemas.openxmlformats.org/officeDocument/2006/relationships/notesMaster" Target="/ppt/notesMasters/notesMaster1.xml" Id="R24ee399806ca427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14447286fed4e10" /><Relationship Type="http://schemas.openxmlformats.org/officeDocument/2006/relationships/notesMaster" Target="/ppt/notesMasters/notesMaster1.xml" Id="R8536eaf8f72942c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b4477b188f84378" /><Relationship Type="http://schemas.openxmlformats.org/officeDocument/2006/relationships/notesMaster" Target="/ppt/notesMasters/notesMaster1.xml" Id="R8417d7d9d0524d7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私たちは、現場データ収集から始めるフィジカルAIプレーヤーになる企業です。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の横幅は、その企業が接続している現場の範囲を表します。垂直統合型は特定の現場に絞るため横幅が短く、複数の技術レイヤーを自社で担うため縦に長くなります。水平統合型は一つの技術レイヤーを担いながら、多数の業種・現場へ接続するため横に広くなります。現場と直接接触するのは、一番下の現場統合層と、一番上流の現場データ収集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多くのフィジカルAI企業はロボットと現場を垂直統合する形で研究開発を進めています。特定の業種・タスクに絞り、完全な自律運用が難しい場合は遠隔操作での商用化から始める企業もあれば、自律運用の幅を地道に広げる企業もあります。代表例は1XとSunday Roboticsです。</a:t>
            </a:r>
          </a:p>
          <a:p xmlns:a="http://schemas.openxmlformats.org/drawingml/2006/main">
            <a:r>
              <a:t/>
            </a:r>
          </a:p>
          <a:p xmlns:a="http://schemas.openxmlformats.org/drawingml/2006/main">
            <a:r>
              <a:t>一方、水平統合型は、そのバリューチェーンをレイヤーごとに分解した企業群です。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データ収集層には、人間の作業データ、テレオペレーション、合成データ、生データの加工があり、さらに上流では収集専用デバイスの開発も広がり始めています。基盤モデル開発はPhysical Intelligence（PI）やNVIDIAが挙げられ、桁違いの投資ができる企業に限られます。シミュレーション・デジタルツインは、実データの必要量を下げながらモデル開発まで進める近接レイヤーです。</a:t>
            </a:r>
          </a:p>
          <a:p xmlns:a="http://schemas.openxmlformats.org/drawingml/2006/main">
            <a:r>
              <a:t/>
            </a:r>
          </a:p>
          <a:p xmlns:a="http://schemas.openxmlformats.org/drawingml/2006/main">
            <a:r>
              <a:t>ハードウェアは中国系企業が安価なロボットの供給で強く、現場統合層は既存のロボットやモデルを使って現場への導入を優先します。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私の考えでは、モデル開発・ハードウェア開発・現場統合という3つの領域を自社のループとして持ち、実際に現場でロボットを稼働させている企業が主流になります。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独立したレイヤーとして存在するデータ収集も、現場へロボットが投入されれば、このループの中に吸収されると考えています。ロボットの稼働そのものがデータ収集になり、そのデータがモデル改善へ直結するためです。モデル、ハードウェア、現場統合を自社のループとして持つ企業ほど、改善速度が上が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と直接の接点を持つレイヤーは2つあります。一つは現場統合層。ロボットを実際にその場所に導入して動かす企業なので、当然現場と繋がります。しかしもう一つ、一番上流の現場データ収集企業も、撮影のために現場に入り込む必要があるため、将来ロボットが使われる現場と直接の関係を築くこと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現場統合はタスクごとに技術開発が必要ですが、人間の作業を撮影するデータ収集は、今の技術でも業種をまたいで広げられます。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現場は多いですが有限です。現場側の負担を考えると、一つの現場が複数の収集会社と契約するとは考えにくく、先行者優位が強いと見ています。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ロボット企業が現場を含むフィードバックループを作るには、現場ネットワークが必要です。多業種で合意やコンプライアンス対応を積み重ねること自体が参入障壁になります。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現場データを先に持つことは、ロボット企業との協業だけでなく、自分たちがロボットを現場へ導入し、作業に合わせて運用を調整する側へ進むための布石になります。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の構想は2段階です。まず現場データネットワークを広げます。次に、そのデータとネットワークを使い、既存ロボットの現場導入と運用調整を担います。さらに先では、現場データを使った動作モデルと実機の改良まで自社で行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撮影先と販売先の両面を開拓する必要があります。現在は若干現場開拓が先行しています。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飛び込み営業からベーカリーでの実撮影へ進み、カフェチェーン、スーパーマーケットへ現場開拓を広げています。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海外8社とは、ベーカリーで収集したサンプルデータのやり取りまで進みました。合意に至っていないのは、私たちの収集スケールが世界的にはまだ小さく、低い優先度として扱われているためです。</a:t>
            </a:r>
          </a:p>
          <a:p xmlns:a="http://schemas.openxmlformats.org/drawingml/2006/main">
            <a:r>
              <a:t/>
            </a:r>
          </a:p>
          <a:p xmlns:a="http://schemas.openxmlformats.org/drawingml/2006/main">
            <a:r>
              <a:t>国内ではNextremerと、現場合意、加工、販売を含む運用フローを擦り合わせています。Nextremerは私たちよりロボット実装に近い下流へアプローチできるため、高度なアノテーション付きデータを求める販売先へ届き、より高い単価を狙えます。手数料なしのレベニューシェアなので、私たちは現場開拓とデータ収集に注力で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現在4名で活動しています。共同創業者2名に加え、ベーカリーで撮影と運用改善を支える川島健二さん、経営管理・法務・業界ネットワークを支援する大崎操さんが参画しています。</a:t>
            </a:r>
          </a:p>
          <a:p xmlns:a="http://schemas.openxmlformats.org/drawingml/2006/main">
            <a:r>
              <a:t/>
            </a:r>
          </a:p>
          <a:p xmlns:a="http://schemas.openxmlformats.org/drawingml/2006/main">
            <a:r>
              <a:t>公開情報：</a:t>
            </a:r>
          </a:p>
          <a:p xmlns:a="http://schemas.openxmlformats.org/drawingml/2006/main">
            <a:r>
              <a:t>河野瞭人 https://akitozizi818.github.io/portfolio/</a:t>
            </a:r>
          </a:p>
          <a:p xmlns:a="http://schemas.openxmlformats.org/drawingml/2006/main">
            <a:r>
              <a:t>神戸大学卒業研究発表会プログラム https://www.csi.kobe-u.ac.jp/current_students/kyougaku/file/Bprogram20250217.pdf</a:t>
            </a:r>
          </a:p>
          <a:p xmlns:a="http://schemas.openxmlformats.org/drawingml/2006/main">
            <a:r>
              <a:t>関西スーパーマーケットIR https://www.kansaisuper.co.jp/wp-content/uploads/2021/12/irinfo_536.pdf</a:t>
            </a:r>
          </a:p>
          <a:p xmlns:a="http://schemas.openxmlformats.org/drawingml/2006/main">
            <a:r>
              <a:t>箕面デニッシュ合同会社 https://info.gbiz.go.jp/hojin/ichiran?hojinBango=5120903005558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期のスマートフォンヘッドマウントから、3Dモデルをゼロから設計した帽子型、スマートグラスへ進化させました。ベーカリーで試すと『これならつけてもいい』という反応が増え、軽さや見た目の違和感が現場の許可を想定以上に左右すると分かりました。</a:t>
            </a:r>
          </a:p>
          <a:p xmlns:a="http://schemas.openxmlformats.org/drawingml/2006/main">
            <a:r>
              <a:t/>
            </a:r>
          </a:p>
          <a:p xmlns:a="http://schemas.openxmlformats.org/drawingml/2006/main">
            <a:r>
              <a:t>専用の軽量撮影デバイスを試験的に購入し、負担の少ない形状で熱とバッテリーの問題を解決する撮影デバイスの開発も始めています。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販売単価は1,600円/hを下限とし、売上の50%を現場へ還元します。この試算は同一データを平均1回だけ販売する悲観シナリオです。複数のバイヤーへの販売は含めず、デバイス償却後は1時間あたり約727円です。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は同一データを平均1回だけ販売する悲観シナリオです。月10,000時間を1年間続けると、12万時間のデータ資産が残ります。同一データを平均2回販売できれば月間の会社取り分は1,600万円、3回なら2,400万円です。</a:t>
            </a:r>
          </a:p>
          <a:p xmlns:a="http://schemas.openxmlformats.org/drawingml/2006/main">
            <a:r>
              <a:t/>
            </a:r>
          </a:p>
          <a:p xmlns:a="http://schemas.openxmlformats.org/drawingml/2006/main">
            <a:r>
              <a:t>データは在庫として積み上がり、過去に収集した分も売り続けられます。月ごとの売上だけでなく、累積データ資産の価値がこの事業の重要な性質です。</a:t>
            </a:r>
          </a:p>
          <a:p xmlns:a="http://schemas.openxmlformats.org/drawingml/2006/main">
            <a:r>
              <a:t/>
            </a:r>
          </a:p>
          <a:p xmlns:a="http://schemas.openxmlformats.org/drawingml/2006/main">
            <a:r>
              <a:t>原本のVC向け試算では、月10,000時間時に現場開拓・運用を4〜6人、人件費を月150〜250万円程度と置くと、営業利益は年6,000万円前後です。ここは実際の獲得サイクルと現場運用を通じて検証します。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バイス費以外には、ストレージ、現場運用の人件費、破損・紛失、法務のコストがあります。本命は現場開拓と維持の人件費です。飛び込み営業、契約、配布・回収、スタッフへの説明、トラブル対応、データチェックが、収集時間に対してどこまでリニアに増えるかがユニットエコノミクスの分岐点になります。</a:t>
            </a:r>
          </a:p>
          <a:p xmlns:a="http://schemas.openxmlformats.org/drawingml/2006/main">
            <a:r>
              <a:t/>
            </a:r>
          </a:p>
          <a:p xmlns:a="http://schemas.openxmlformats.org/drawingml/2006/main">
            <a:r>
              <a:t>川島さんのベーカリーでは、一度契約した現場が継続的にデータを出し続けるかを、収集時間の推移から検証しています。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月10,000時間へ拡大する際のボトルネックは、現場開拓、現場運用、買い手側の受け入れ規模です。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2026年Q4は、10月に500時間、12月に1,000時間を目標とし、現場運用と販売先の条件を確認します。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2027年は撮影先とデバイスを拡大します。Q1は宿泊・リフォーム・清掃とデバイスの意匠・特許、Q2は介護・医療とプライバシー性の高いデータの活用、Q3は国内の垂直統合型ロボティクス企業や政府プロジェクトへの打診、Q4は国内大学とAIモデル開発・Real2Simの研究開発へ進む流れ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2028年前半は、ロボット企業と実証実験を行える現場を繋ぎ、大学との研究にも現場を提供します。後半は、蓄積したデータと経験からロボットを導入しやすい業種と現場を絞り、既存ロボットを実際に導入します。この段階では自社でロボットを開発するのではなく、現場の作業に合わせた導入と運用調整から始め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セクション3で述べた第2段階への移行です。2028年に始めた既存ロボットの現場導入を広げながら、現場で得た作業データをロボットの動作モデル改善へ使います。実機についても、現場で見つかった課題を設計と改良へ戻します。2029年からは、導入と運用調整だけでなく、動作モデルと実機の開発も自社の事業へ加える構想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30c859959fa4cd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2afeae796d469a" /><Relationship Type="http://schemas.openxmlformats.org/officeDocument/2006/relationships/slideLayout" Target="/ppt/slideLayouts/slideLayout1.xml" Id="Re6c90323622c46f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c90323622c46f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6b3fcb30695484e" /><Relationship Type="http://schemas.openxmlformats.org/officeDocument/2006/relationships/notesSlide" Target="/ppt/notesSlides/notesSlide1.xml" Id="Rac186909d3f4433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60a504fd40c4e6b" /><Relationship Type="http://schemas.openxmlformats.org/officeDocument/2006/relationships/notesSlide" Target="/ppt/notesSlides/notesSlide2.xml" Id="R89a3a8e5a4cd49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196d1c63ddd43e3" /><Relationship Type="http://schemas.openxmlformats.org/officeDocument/2006/relationships/notesSlide" Target="/ppt/notesSlides/notesSlide3.xml" Id="Rb526e5ee66fd4b1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600aa54d9684d9b" /><Relationship Type="http://schemas.openxmlformats.org/officeDocument/2006/relationships/notesSlide" Target="/ppt/notesSlides/notesSlide4.xml" Id="R3cfab0b5db604e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1e52513ca9a4ee2" /><Relationship Type="http://schemas.openxmlformats.org/officeDocument/2006/relationships/notesSlide" Target="/ppt/notesSlides/notesSlide5.xml" Id="Rb48aaf8bd276409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76cb885bc544b7d" /><Relationship Type="http://schemas.openxmlformats.org/officeDocument/2006/relationships/notesSlide" Target="/ppt/notesSlides/notesSlide6.xml" Id="Rff6979e68ece452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9860599985b4588" /><Relationship Type="http://schemas.openxmlformats.org/officeDocument/2006/relationships/notesSlide" Target="/ppt/notesSlides/notesSlide7.xml" Id="Rea018743cbc842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6c8058cc70d4b97" /><Relationship Type="http://schemas.openxmlformats.org/officeDocument/2006/relationships/notesSlide" Target="/ppt/notesSlides/notesSlide8.xml" Id="R6ff753139b224b1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d83f147c39d4ba3" /><Relationship Type="http://schemas.openxmlformats.org/officeDocument/2006/relationships/notesSlide" Target="/ppt/notesSlides/notesSlide9.xml" Id="Rf6b3d4516e40478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43cf391621a4338" /><Relationship Type="http://schemas.openxmlformats.org/officeDocument/2006/relationships/notesSlide" Target="/ppt/notesSlides/notesSlide10.xml" Id="R3fc875cfb9414d9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ab9f4709e30477f" /><Relationship Type="http://schemas.openxmlformats.org/officeDocument/2006/relationships/notesSlide" Target="/ppt/notesSlides/notesSlide11.xml" Id="R240c357ce365407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66ac9e0e2a24907" /><Relationship Type="http://schemas.openxmlformats.org/officeDocument/2006/relationships/notesSlide" Target="/ppt/notesSlides/notesSlide12.xml" Id="Rf25430a98c2c4c2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3611ec29aa24bf3" /><Relationship Type="http://schemas.openxmlformats.org/officeDocument/2006/relationships/notesSlide" Target="/ppt/notesSlides/notesSlide13.xml" Id="R1fd5afe6f3694d8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1b4d65bbf364f8a" /><Relationship Type="http://schemas.openxmlformats.org/officeDocument/2006/relationships/notesSlide" Target="/ppt/notesSlides/notesSlide14.xml" Id="R057782b8e8db4ea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2d82ded5cc44967" /><Relationship Type="http://schemas.openxmlformats.org/officeDocument/2006/relationships/notesSlide" Target="/ppt/notesSlides/notesSlide15.xml" Id="R29cf9507ec2e46a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ba3c2a4a0fb4faa" /><Relationship Type="http://schemas.openxmlformats.org/officeDocument/2006/relationships/notesSlide" Target="/ppt/notesSlides/notesSlide16.xml" Id="Ra041769ee41048b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782cf0f9f404b04" /><Relationship Type="http://schemas.openxmlformats.org/officeDocument/2006/relationships/image" Target="/ppt/media/image.jpeg" Id="R60f02a3abd684ab9" /><Relationship Type="http://schemas.openxmlformats.org/officeDocument/2006/relationships/image" Target="/ppt/media/image2.jpeg" Id="Rd76a967c0e7a4d67" /><Relationship Type="http://schemas.openxmlformats.org/officeDocument/2006/relationships/image" Target="/ppt/media/image3.jpeg" Id="Re73949936fc64516" /><Relationship Type="http://schemas.openxmlformats.org/officeDocument/2006/relationships/notesSlide" Target="/ppt/notesSlides/notesSlide17.xml" Id="R8fcc8c74589b445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96ce49c00af4b38" /><Relationship Type="http://schemas.openxmlformats.org/officeDocument/2006/relationships/notesSlide" Target="/ppt/notesSlides/notesSlide18.xml" Id="R92b3ea8bfc944b8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4ab87f909db41c9" /><Relationship Type="http://schemas.openxmlformats.org/officeDocument/2006/relationships/notesSlide" Target="/ppt/notesSlides/notesSlide19.xml" Id="R4350c965fa47422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97c4f0cc764407c" /><Relationship Type="http://schemas.openxmlformats.org/officeDocument/2006/relationships/notesSlide" Target="/ppt/notesSlides/notesSlide20.xml" Id="R6dfc91aec27e497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51f039773754cd3" /><Relationship Type="http://schemas.openxmlformats.org/officeDocument/2006/relationships/notesSlide" Target="/ppt/notesSlides/notesSlide21.xml" Id="R2d8fbb695568483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8c4fa24698949f0" /><Relationship Type="http://schemas.openxmlformats.org/officeDocument/2006/relationships/notesSlide" Target="/ppt/notesSlides/notesSlide22.xml" Id="R8acb0480cabc479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04ad94019274eb0" /><Relationship Type="http://schemas.openxmlformats.org/officeDocument/2006/relationships/notesSlide" Target="/ppt/notesSlides/notesSlide23.xml" Id="R3bc75f61c9b34c8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a08278df98745df" /><Relationship Type="http://schemas.openxmlformats.org/officeDocument/2006/relationships/notesSlide" Target="/ppt/notesSlides/notesSlide24.xml" Id="Rd5b8f93da1334b3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64253b1fc1b4aeb" /><Relationship Type="http://schemas.openxmlformats.org/officeDocument/2006/relationships/notesSlide" Target="/ppt/notesSlides/notesSlide25.xml" Id="R18ecf0abf29f499c" /></Relationships>
</file>

<file path=ppt/slides/slide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0A25E23-6B8F-4D0D-9BEA-2A496E426FA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2813789-8C21-4FF6-B6D7-AA27304CA506}"/>
              </a:ext>
            </a:extLst>
          </p:cNvPr>
          <p:cNvSpPr>
            <a:spLocks xmlns:a="http://schemas.openxmlformats.org/drawingml/2006/main" noGrp="1"/>
          </p:cNvSpPr>
          <p:nvPr/>
        </p:nvSpPr>
        <p:spPr>
          <a:xfrm xmlns:a="http://schemas.openxmlformats.org/drawingml/2006/main" rot="0">
            <a:off x="666750" y="11715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15191B"/>
                </a:solidFill>
                <a:latin typeface="Hiragino Sans"/>
                <a:ea typeface="Hiragino Sans"/>
                <a:cs typeface="Hiragino Sans"/>
              </a:defRPr>
            </a:pPr>
            <a:r>
              <a:rPr sz="3300" b="1">
                <a:solidFill>
                  <a:srgbClr val="15191B"/>
                </a:solidFill>
                <a:latin typeface="Hiragino Sans"/>
                <a:ea typeface="Hiragino Sans"/>
                <a:cs typeface="Hiragino Sans"/>
              </a:rPr>
              <a:t>RootLens</a:t>
            </a:r>
          </a:p>
        </p:txBody>
      </p:sp>
      <p:sp>
        <p:nvSpPr>
          <p:cNvPr id="3" name="">
            <a:extLst xmlns:a="http://schemas.openxmlformats.org/drawingml/2006/main">
              <a:ext uri="{FF2B5EF4-FFF2-40B4-BE49-F238E27FC236}">
                <a16:creationId xmlns:a16="http://schemas.microsoft.com/office/drawing/2014/main" id="{3625A2A8-392A-4D86-B557-CEBC13552E8E}"/>
              </a:ext>
            </a:extLst>
          </p:cNvPr>
          <p:cNvSpPr>
            <a:spLocks xmlns:a="http://schemas.openxmlformats.org/drawingml/2006/main" noGrp="1"/>
          </p:cNvSpPr>
          <p:nvPr/>
        </p:nvSpPr>
        <p:spPr>
          <a:xfrm xmlns:a="http://schemas.openxmlformats.org/drawingml/2006/main" rot="0">
            <a:off x="666750" y="2543175"/>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現場データ収集から始める</a:t>
            </a:r>
          </a:p>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フィジカルAIプレーヤー</a:t>
            </a:r>
          </a:p>
        </p:txBody>
      </p:sp>
      <p:sp>
        <p:nvSpPr>
          <p:cNvPr id="4" name="">
            <a:extLst xmlns:a="http://schemas.openxmlformats.org/drawingml/2006/main">
              <a:ext uri="{FF2B5EF4-FFF2-40B4-BE49-F238E27FC236}">
                <a16:creationId xmlns:a16="http://schemas.microsoft.com/office/drawing/2014/main" id="{AE5E7381-1813-4970-BC6D-C8F90F9AF56B}"/>
              </a:ext>
            </a:extLst>
          </p:cNvPr>
          <p:cNvSpPr>
            <a:spLocks xmlns:a="http://schemas.openxmlformats.org/drawingml/2006/main" noGrp="1"/>
          </p:cNvSpPr>
          <p:nvPr/>
        </p:nvSpPr>
        <p:spPr>
          <a:xfrm xmlns:a="http://schemas.openxmlformats.org/drawingml/2006/main">
            <a:off x="666750" y="497205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F5B34C7-4BB3-449A-A3CB-A3809FCE1080}"/>
              </a:ext>
            </a:extLst>
          </p:cNvPr>
          <p:cNvSpPr>
            <a:spLocks xmlns:a="http://schemas.openxmlformats.org/drawingml/2006/main" noGrp="1"/>
          </p:cNvSpPr>
          <p:nvPr/>
        </p:nvSpPr>
        <p:spPr>
          <a:xfrm xmlns:a="http://schemas.openxmlformats.org/drawingml/2006/main" rot="0">
            <a:off x="666750" y="5238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会社紹介資料</a:t>
            </a:r>
          </a:p>
        </p:txBody>
      </p:sp>
      <p:sp>
        <p:nvSpPr>
          <p:cNvPr id="6" name="">
            <a:extLst xmlns:a="http://schemas.openxmlformats.org/drawingml/2006/main">
              <a:ext uri="{FF2B5EF4-FFF2-40B4-BE49-F238E27FC236}">
                <a16:creationId xmlns:a16="http://schemas.microsoft.com/office/drawing/2014/main" id="{A537F938-7407-48E8-9135-C86D3D8F837A}"/>
              </a:ext>
            </a:extLst>
          </p:cNvPr>
          <p:cNvSpPr>
            <a:spLocks xmlns:a="http://schemas.openxmlformats.org/drawingml/2006/main" noGrp="1"/>
          </p:cNvSpPr>
          <p:nvPr/>
        </p:nvSpPr>
        <p:spPr>
          <a:xfrm xmlns:a="http://schemas.openxmlformats.org/drawingml/2006/main" rot="0">
            <a:off x="10096500" y="5238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2026.09</a:t>
            </a:r>
          </a:p>
        </p:txBody>
      </p:sp>
    </p:spTree>
    <p:extLst>
      <p:ext uri="{BB962C8B-B14F-4D97-AF65-F5344CB8AC3E}">
        <p14:creationId xmlns:p14="http://schemas.microsoft.com/office/powerpoint/2010/main" val="1287877840"/>
      </p:ext>
    </p:extLst>
  </p:cSld>
</p:sld>
</file>

<file path=ppt/slides/slide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2E64B8AD-CF3B-4FBB-BB03-9FC986F604D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9E6E840-17DB-4BC1-BA85-98A0B304DF8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フィジカルAI業界の構造</a:t>
            </a:r>
          </a:p>
        </p:txBody>
      </p:sp>
      <p:sp>
        <p:nvSpPr>
          <p:cNvPr id="3" name="">
            <a:extLst xmlns:a="http://schemas.openxmlformats.org/drawingml/2006/main">
              <a:ext uri="{FF2B5EF4-FFF2-40B4-BE49-F238E27FC236}">
                <a16:creationId xmlns:a16="http://schemas.microsoft.com/office/drawing/2014/main" id="{D00415A5-3948-46BA-A9E1-3A36C66413E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02938AD-CDA1-4808-93B8-7973B2099F5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02</a:t>
            </a:r>
          </a:p>
        </p:txBody>
      </p:sp>
      <p:sp>
        <p:nvSpPr>
          <p:cNvPr id="5" name="">
            <a:extLst xmlns:a="http://schemas.openxmlformats.org/drawingml/2006/main">
              <a:ext uri="{FF2B5EF4-FFF2-40B4-BE49-F238E27FC236}">
                <a16:creationId xmlns:a16="http://schemas.microsoft.com/office/drawing/2014/main" id="{76503B01-D475-4236-A706-930947353AA5}"/>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04E99B5B-D86F-4A3B-AC2E-4BB7C725229B}"/>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030A7D5-FEDC-4D29-A866-41E734CA2E46}"/>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2B198D0-2184-4DFB-9C86-BB4402A6ADF6}"/>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3A3AE3D-47AC-43C7-A5BA-5EB3C3636BB6}"/>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44CFDC48-7E71-41CD-8D79-5510E4D686FC}"/>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5AC60D8B-1CCE-4D60-81C7-699FCC45CFAD}"/>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4E9AFC0B-1F60-4C99-8725-836280160C3F}"/>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C7AC6454-A5C0-43D0-9F8C-B62811F96CFD}"/>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A4EA97E6-3783-4CF2-9ED2-53F0E963A314}"/>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BD23DBAF-F178-4EC9-ACF9-F10755609E9D}"/>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F74B222D-9297-41FE-9653-C76BD4B2FEDC}"/>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6F43CA7E-4172-4829-90F0-B007FB5ABA40}"/>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902FCED-84A3-48CC-B16B-28738D144A43}"/>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6844374-F3F7-4A52-B55D-6D33AA37698C}"/>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0D9A8F8-B53D-4E2D-9E93-451DBB98D9CC}"/>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D2767C53-B007-499F-853A-657945230D4C}"/>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51C303C7-2613-46C3-9638-7314CE107A14}"/>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1EEBB81-1D39-468D-98FF-C2F8476808C9}"/>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4608D231-54ED-467E-9414-F2E064A81018}"/>
              </a:ext>
            </a:extLst>
          </p:cNvPr>
          <p:cNvSpPr>
            <a:spLocks xmlns:a="http://schemas.openxmlformats.org/drawingml/2006/main" noGrp="1"/>
          </p:cNvSpPr>
          <p:nvPr/>
        </p:nvSpPr>
        <p:spPr>
          <a:xfrm xmlns:a="http://schemas.openxmlformats.org/drawingml/2006/main">
            <a:off x="2990850" y="23050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5" name="">
            <a:extLst xmlns:a="http://schemas.openxmlformats.org/drawingml/2006/main">
              <a:ext uri="{FF2B5EF4-FFF2-40B4-BE49-F238E27FC236}">
                <a16:creationId xmlns:a16="http://schemas.microsoft.com/office/drawing/2014/main" id="{81C4E49C-5181-4A7D-AD36-BC567CF0E18B}"/>
              </a:ext>
            </a:extLst>
          </p:cNvPr>
          <p:cNvSpPr>
            <a:spLocks xmlns:a="http://schemas.openxmlformats.org/drawingml/2006/main" noGrp="1"/>
          </p:cNvSpPr>
          <p:nvPr/>
        </p:nvSpPr>
        <p:spPr>
          <a:xfrm xmlns:a="http://schemas.openxmlformats.org/drawingml/2006/main" rot="0">
            <a:off x="5248275" y="2371725"/>
            <a:ext cx="5153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水平統合型　　一つのレイヤーで、多数の現場を占める</a:t>
            </a:r>
          </a:p>
        </p:txBody>
      </p:sp>
      <p:sp>
        <p:nvSpPr>
          <p:cNvPr id="26" name="">
            <a:extLst xmlns:a="http://schemas.openxmlformats.org/drawingml/2006/main">
              <a:ext uri="{FF2B5EF4-FFF2-40B4-BE49-F238E27FC236}">
                <a16:creationId xmlns:a16="http://schemas.microsoft.com/office/drawing/2014/main" id="{DFA7F8AC-A93B-4CB9-8C23-5FAFB3F17C03}"/>
              </a:ext>
            </a:extLst>
          </p:cNvPr>
          <p:cNvSpPr>
            <a:spLocks xmlns:a="http://schemas.openxmlformats.org/drawingml/2006/main" noGrp="1"/>
          </p:cNvSpPr>
          <p:nvPr/>
        </p:nvSpPr>
        <p:spPr>
          <a:xfrm xmlns:a="http://schemas.openxmlformats.org/drawingml/2006/main" rot="0">
            <a:off x="5248275" y="2600325"/>
            <a:ext cx="51530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DeepReach / BuildAI</a:t>
            </a:r>
          </a:p>
        </p:txBody>
      </p:sp>
      <p:sp>
        <p:nvSpPr>
          <p:cNvPr id="27" name="">
            <a:extLst xmlns:a="http://schemas.openxmlformats.org/drawingml/2006/main">
              <a:ext uri="{FF2B5EF4-FFF2-40B4-BE49-F238E27FC236}">
                <a16:creationId xmlns:a16="http://schemas.microsoft.com/office/drawing/2014/main" id="{A2338EB3-C5A7-4BE1-AD3C-97806DACF94C}"/>
              </a:ext>
            </a:extLst>
          </p:cNvPr>
          <p:cNvSpPr>
            <a:spLocks xmlns:a="http://schemas.openxmlformats.org/drawingml/2006/main" noGrp="1"/>
          </p:cNvSpPr>
          <p:nvPr/>
        </p:nvSpPr>
        <p:spPr>
          <a:xfrm xmlns:a="http://schemas.openxmlformats.org/drawingml/2006/main">
            <a:off x="2990850" y="29908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8" name="">
            <a:extLst xmlns:a="http://schemas.openxmlformats.org/drawingml/2006/main">
              <a:ext uri="{FF2B5EF4-FFF2-40B4-BE49-F238E27FC236}">
                <a16:creationId xmlns:a16="http://schemas.microsoft.com/office/drawing/2014/main" id="{0D9A6E23-9C79-41A5-BA27-78904BFA2284}"/>
              </a:ext>
            </a:extLst>
          </p:cNvPr>
          <p:cNvSpPr>
            <a:spLocks xmlns:a="http://schemas.openxmlformats.org/drawingml/2006/main" noGrp="1"/>
          </p:cNvSpPr>
          <p:nvPr/>
        </p:nvSpPr>
        <p:spPr>
          <a:xfrm xmlns:a="http://schemas.openxmlformats.org/drawingml/2006/main" rot="0">
            <a:off x="5248275" y="31432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PI / SkilledAI / NVIDIA</a:t>
            </a:r>
          </a:p>
        </p:txBody>
      </p:sp>
      <p:sp>
        <p:nvSpPr>
          <p:cNvPr id="29" name="">
            <a:extLst xmlns:a="http://schemas.openxmlformats.org/drawingml/2006/main">
              <a:ext uri="{FF2B5EF4-FFF2-40B4-BE49-F238E27FC236}">
                <a16:creationId xmlns:a16="http://schemas.microsoft.com/office/drawing/2014/main" id="{3541F5CE-336C-4B66-A429-207ABA722C3B}"/>
              </a:ext>
            </a:extLst>
          </p:cNvPr>
          <p:cNvSpPr>
            <a:spLocks xmlns:a="http://schemas.openxmlformats.org/drawingml/2006/main" noGrp="1"/>
          </p:cNvSpPr>
          <p:nvPr/>
        </p:nvSpPr>
        <p:spPr>
          <a:xfrm xmlns:a="http://schemas.openxmlformats.org/drawingml/2006/main">
            <a:off x="2990850" y="36766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D74FAA66-7C31-40FE-9B7F-2CC358B352B9}"/>
              </a:ext>
            </a:extLst>
          </p:cNvPr>
          <p:cNvSpPr>
            <a:spLocks xmlns:a="http://schemas.openxmlformats.org/drawingml/2006/main" noGrp="1"/>
          </p:cNvSpPr>
          <p:nvPr/>
        </p:nvSpPr>
        <p:spPr>
          <a:xfrm xmlns:a="http://schemas.openxmlformats.org/drawingml/2006/main" rot="0">
            <a:off x="5248275" y="38290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Unitree</a:t>
            </a:r>
          </a:p>
        </p:txBody>
      </p:sp>
      <p:sp>
        <p:nvSpPr>
          <p:cNvPr id="31" name="">
            <a:extLst xmlns:a="http://schemas.openxmlformats.org/drawingml/2006/main">
              <a:ext uri="{FF2B5EF4-FFF2-40B4-BE49-F238E27FC236}">
                <a16:creationId xmlns:a16="http://schemas.microsoft.com/office/drawing/2014/main" id="{1512FFF8-57D6-4BA0-9809-40CD1A522438}"/>
              </a:ext>
            </a:extLst>
          </p:cNvPr>
          <p:cNvSpPr>
            <a:spLocks xmlns:a="http://schemas.openxmlformats.org/drawingml/2006/main" noGrp="1"/>
          </p:cNvSpPr>
          <p:nvPr/>
        </p:nvSpPr>
        <p:spPr>
          <a:xfrm xmlns:a="http://schemas.openxmlformats.org/drawingml/2006/main">
            <a:off x="2990850" y="43624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2" name="">
            <a:extLst xmlns:a="http://schemas.openxmlformats.org/drawingml/2006/main">
              <a:ext uri="{FF2B5EF4-FFF2-40B4-BE49-F238E27FC236}">
                <a16:creationId xmlns:a16="http://schemas.microsoft.com/office/drawing/2014/main" id="{A9EB473B-F106-4A7E-8D07-70161C6843AB}"/>
              </a:ext>
            </a:extLst>
          </p:cNvPr>
          <p:cNvSpPr>
            <a:spLocks xmlns:a="http://schemas.openxmlformats.org/drawingml/2006/main" noGrp="1"/>
          </p:cNvSpPr>
          <p:nvPr/>
        </p:nvSpPr>
        <p:spPr>
          <a:xfrm xmlns:a="http://schemas.openxmlformats.org/drawingml/2006/main" rot="0">
            <a:off x="5248275" y="45148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HIVE Robotics / Formic</a:t>
            </a:r>
          </a:p>
        </p:txBody>
      </p:sp>
      <p:sp>
        <p:nvSpPr>
          <p:cNvPr id="33" name="">
            <a:extLst xmlns:a="http://schemas.openxmlformats.org/drawingml/2006/main">
              <a:ext uri="{FF2B5EF4-FFF2-40B4-BE49-F238E27FC236}">
                <a16:creationId xmlns:a16="http://schemas.microsoft.com/office/drawing/2014/main" id="{D1BBBC70-7D08-4C21-A0A3-8D7D502187B9}"/>
              </a:ext>
            </a:extLst>
          </p:cNvPr>
          <p:cNvSpPr>
            <a:spLocks xmlns:a="http://schemas.openxmlformats.org/drawingml/2006/main" noGrp="1"/>
          </p:cNvSpPr>
          <p:nvPr/>
        </p:nvSpPr>
        <p:spPr>
          <a:xfrm xmlns:a="http://schemas.openxmlformats.org/drawingml/2006/main">
            <a:off x="2990850" y="2305050"/>
            <a:ext cx="2047875" cy="26098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4" name="">
            <a:extLst xmlns:a="http://schemas.openxmlformats.org/drawingml/2006/main">
              <a:ext uri="{FF2B5EF4-FFF2-40B4-BE49-F238E27FC236}">
                <a16:creationId xmlns:a16="http://schemas.microsoft.com/office/drawing/2014/main" id="{18612CD7-D75F-4A23-B2D4-F7178CCFB72D}"/>
              </a:ext>
            </a:extLst>
          </p:cNvPr>
          <p:cNvSpPr>
            <a:spLocks xmlns:a="http://schemas.openxmlformats.org/drawingml/2006/main" noGrp="1"/>
          </p:cNvSpPr>
          <p:nvPr/>
        </p:nvSpPr>
        <p:spPr>
          <a:xfrm xmlns:a="http://schemas.openxmlformats.org/drawingml/2006/main" rot="0">
            <a:off x="3162300" y="2571750"/>
            <a:ext cx="1704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垂直統合型</a:t>
            </a:r>
          </a:p>
        </p:txBody>
      </p:sp>
      <p:sp>
        <p:nvSpPr>
          <p:cNvPr id="35" name="">
            <a:extLst xmlns:a="http://schemas.openxmlformats.org/drawingml/2006/main">
              <a:ext uri="{FF2B5EF4-FFF2-40B4-BE49-F238E27FC236}">
                <a16:creationId xmlns:a16="http://schemas.microsoft.com/office/drawing/2014/main" id="{1B76FC84-BC38-4463-BB86-ADEB30E70110}"/>
              </a:ext>
            </a:extLst>
          </p:cNvPr>
          <p:cNvSpPr>
            <a:spLocks xmlns:a="http://schemas.openxmlformats.org/drawingml/2006/main" noGrp="1"/>
          </p:cNvSpPr>
          <p:nvPr/>
        </p:nvSpPr>
        <p:spPr>
          <a:xfrm xmlns:a="http://schemas.openxmlformats.org/drawingml/2006/main" rot="0">
            <a:off x="3162300" y="3133725"/>
            <a:ext cx="1704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特定の現場を</a:t>
            </a:r>
          </a:p>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複数レイヤーで担う</a:t>
            </a:r>
          </a:p>
        </p:txBody>
      </p:sp>
      <p:sp>
        <p:nvSpPr>
          <p:cNvPr id="36" name="">
            <a:extLst xmlns:a="http://schemas.openxmlformats.org/drawingml/2006/main">
              <a:ext uri="{FF2B5EF4-FFF2-40B4-BE49-F238E27FC236}">
                <a16:creationId xmlns:a16="http://schemas.microsoft.com/office/drawing/2014/main" id="{3AEB626E-C756-4093-A23F-D1BEF11DB666}"/>
              </a:ext>
            </a:extLst>
          </p:cNvPr>
          <p:cNvSpPr>
            <a:spLocks xmlns:a="http://schemas.openxmlformats.org/drawingml/2006/main" noGrp="1"/>
          </p:cNvSpPr>
          <p:nvPr/>
        </p:nvSpPr>
        <p:spPr>
          <a:xfrm xmlns:a="http://schemas.openxmlformats.org/drawingml/2006/main" rot="0">
            <a:off x="3162300" y="4067175"/>
            <a:ext cx="17049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1X</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Sunday Robotics</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ATOM</a:t>
            </a:r>
          </a:p>
        </p:txBody>
      </p:sp>
    </p:spTree>
    <p:extLst>
      <p:ext uri="{BB962C8B-B14F-4D97-AF65-F5344CB8AC3E}">
        <p14:creationId xmlns:p14="http://schemas.microsoft.com/office/powerpoint/2010/main" val="615185909"/>
      </p:ext>
    </p:extLst>
  </p:cSld>
</p:sld>
</file>

<file path=ppt/slides/slide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CFABE34-782D-4E03-8FDA-AF43D406736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50604E1-E50C-45F6-949F-D1C039ECDEDA}"/>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垂直統合型と水平統合型</a:t>
            </a:r>
          </a:p>
        </p:txBody>
      </p:sp>
      <p:sp>
        <p:nvSpPr>
          <p:cNvPr id="3" name="">
            <a:extLst xmlns:a="http://schemas.openxmlformats.org/drawingml/2006/main">
              <a:ext uri="{FF2B5EF4-FFF2-40B4-BE49-F238E27FC236}">
                <a16:creationId xmlns:a16="http://schemas.microsoft.com/office/drawing/2014/main" id="{26B2229E-8726-40E3-9D05-F448CD2A294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23B85E5-AE0F-4AE5-873C-19A3276D742C}"/>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03</a:t>
            </a:r>
          </a:p>
        </p:txBody>
      </p:sp>
      <p:sp>
        <p:nvSpPr>
          <p:cNvPr id="5" name="">
            <a:extLst xmlns:a="http://schemas.openxmlformats.org/drawingml/2006/main">
              <a:ext uri="{FF2B5EF4-FFF2-40B4-BE49-F238E27FC236}">
                <a16:creationId xmlns:a16="http://schemas.microsoft.com/office/drawing/2014/main" id="{E6DF3488-0E86-43B2-B246-1C3966183E71}"/>
              </a:ext>
            </a:extLst>
          </p:cNvPr>
          <p:cNvSpPr>
            <a:spLocks xmlns:a="http://schemas.openxmlformats.org/drawingml/2006/main" noGrp="1"/>
          </p:cNvSpPr>
          <p:nvPr/>
        </p:nvSpPr>
        <p:spPr>
          <a:xfrm xmlns:a="http://schemas.openxmlformats.org/drawingml/2006/main" rot="0">
            <a:off x="7239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垂直統合型</a:t>
            </a:r>
          </a:p>
        </p:txBody>
      </p:sp>
      <p:sp>
        <p:nvSpPr>
          <p:cNvPr id="6" name="">
            <a:extLst xmlns:a="http://schemas.openxmlformats.org/drawingml/2006/main">
              <a:ext uri="{FF2B5EF4-FFF2-40B4-BE49-F238E27FC236}">
                <a16:creationId xmlns:a16="http://schemas.microsoft.com/office/drawing/2014/main" id="{40193D4D-F9DF-465E-BBD1-3A7845BDE83B}"/>
              </a:ext>
            </a:extLst>
          </p:cNvPr>
          <p:cNvSpPr>
            <a:spLocks xmlns:a="http://schemas.openxmlformats.org/drawingml/2006/main" noGrp="1"/>
          </p:cNvSpPr>
          <p:nvPr/>
        </p:nvSpPr>
        <p:spPr>
          <a:xfrm xmlns:a="http://schemas.openxmlformats.org/drawingml/2006/main" rot="0">
            <a:off x="723900" y="2381250"/>
            <a:ext cx="4762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特定の業種・タスクに絞り、決め打ちで</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現場で実際に動くロボットを作る。</a:t>
            </a:r>
          </a:p>
          <a:p xmlns:a="http://schemas.openxmlformats.org/drawingml/2006/main">
            <a:r>
              <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完全な自律運用が難しい場合は、遠隔操作で働くレベルから商用化する企業もあれば、自律運用の幅を地道に広げる企業もある。</a:t>
            </a:r>
          </a:p>
        </p:txBody>
      </p:sp>
      <p:sp>
        <p:nvSpPr>
          <p:cNvPr id="7" name="">
            <a:extLst xmlns:a="http://schemas.openxmlformats.org/drawingml/2006/main">
              <a:ext uri="{FF2B5EF4-FFF2-40B4-BE49-F238E27FC236}">
                <a16:creationId xmlns:a16="http://schemas.microsoft.com/office/drawing/2014/main" id="{16CD6504-4F68-47EC-9281-4DF67C67D510}"/>
              </a:ext>
            </a:extLst>
          </p:cNvPr>
          <p:cNvSpPr>
            <a:spLocks xmlns:a="http://schemas.openxmlformats.org/drawingml/2006/main" noGrp="1"/>
          </p:cNvSpPr>
          <p:nvPr/>
        </p:nvSpPr>
        <p:spPr>
          <a:xfrm xmlns:a="http://schemas.openxmlformats.org/drawingml/2006/main" rot="0">
            <a:off x="723900" y="46672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代表例</a:t>
            </a:r>
          </a:p>
        </p:txBody>
      </p:sp>
      <p:sp>
        <p:nvSpPr>
          <p:cNvPr id="8" name="">
            <a:extLst xmlns:a="http://schemas.openxmlformats.org/drawingml/2006/main">
              <a:ext uri="{FF2B5EF4-FFF2-40B4-BE49-F238E27FC236}">
                <a16:creationId xmlns:a16="http://schemas.microsoft.com/office/drawing/2014/main" id="{4E4EDF4A-B821-4DAD-881E-F53D1EBF6CE1}"/>
              </a:ext>
            </a:extLst>
          </p:cNvPr>
          <p:cNvSpPr>
            <a:spLocks xmlns:a="http://schemas.openxmlformats.org/drawingml/2006/main" noGrp="1"/>
          </p:cNvSpPr>
          <p:nvPr/>
        </p:nvSpPr>
        <p:spPr>
          <a:xfrm xmlns:a="http://schemas.openxmlformats.org/drawingml/2006/main" rot="0">
            <a:off x="723900" y="50006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1X / Sunday Robotics</a:t>
            </a:r>
          </a:p>
        </p:txBody>
      </p:sp>
      <p:sp>
        <p:nvSpPr>
          <p:cNvPr id="9" name="">
            <a:extLst xmlns:a="http://schemas.openxmlformats.org/drawingml/2006/main">
              <a:ext uri="{FF2B5EF4-FFF2-40B4-BE49-F238E27FC236}">
                <a16:creationId xmlns:a16="http://schemas.microsoft.com/office/drawing/2014/main" id="{059F107F-E757-46F6-95B9-0D23698B9152}"/>
              </a:ext>
            </a:extLst>
          </p:cNvPr>
          <p:cNvSpPr>
            <a:spLocks xmlns:a="http://schemas.openxmlformats.org/drawingml/2006/main" noGrp="1"/>
          </p:cNvSpPr>
          <p:nvPr/>
        </p:nvSpPr>
        <p:spPr>
          <a:xfrm xmlns:a="http://schemas.openxmlformats.org/drawingml/2006/main">
            <a:off x="5972175" y="1952625"/>
            <a:ext cx="9525" cy="38576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A3D3C4B-7639-4795-A99C-1CA609C2C922}"/>
              </a:ext>
            </a:extLst>
          </p:cNvPr>
          <p:cNvSpPr>
            <a:spLocks xmlns:a="http://schemas.openxmlformats.org/drawingml/2006/main" noGrp="1"/>
          </p:cNvSpPr>
          <p:nvPr/>
        </p:nvSpPr>
        <p:spPr>
          <a:xfrm xmlns:a="http://schemas.openxmlformats.org/drawingml/2006/main" rot="0">
            <a:off x="64770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水平統合型</a:t>
            </a:r>
          </a:p>
        </p:txBody>
      </p:sp>
      <p:sp>
        <p:nvSpPr>
          <p:cNvPr id="11" name="">
            <a:extLst xmlns:a="http://schemas.openxmlformats.org/drawingml/2006/main">
              <a:ext uri="{FF2B5EF4-FFF2-40B4-BE49-F238E27FC236}">
                <a16:creationId xmlns:a16="http://schemas.microsoft.com/office/drawing/2014/main" id="{BE57FDF2-3EF3-474B-9970-F04B09D0DE16}"/>
              </a:ext>
            </a:extLst>
          </p:cNvPr>
          <p:cNvSpPr>
            <a:spLocks xmlns:a="http://schemas.openxmlformats.org/drawingml/2006/main" noGrp="1"/>
          </p:cNvSpPr>
          <p:nvPr/>
        </p:nvSpPr>
        <p:spPr>
          <a:xfrm xmlns:a="http://schemas.openxmlformats.org/drawingml/2006/main" rot="0">
            <a:off x="6477000" y="2381250"/>
            <a:ext cx="4667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垂直統合型のバリューチェーンを分解するイメージであり、現在多くのレイヤーが存在する。データ収集・加工、基盤モデル・シミュレーション、ハードウェア、現場統合が、それぞれ独立した事業として広がっている。</a:t>
            </a:r>
          </a:p>
        </p:txBody>
      </p:sp>
      <p:sp>
        <p:nvSpPr>
          <p:cNvPr id="12" name="">
            <a:extLst xmlns:a="http://schemas.openxmlformats.org/drawingml/2006/main">
              <a:ext uri="{FF2B5EF4-FFF2-40B4-BE49-F238E27FC236}">
                <a16:creationId xmlns:a16="http://schemas.microsoft.com/office/drawing/2014/main" id="{6A93FE92-6A87-4205-B446-27F6075EE449}"/>
              </a:ext>
            </a:extLst>
          </p:cNvPr>
          <p:cNvSpPr>
            <a:spLocks xmlns:a="http://schemas.openxmlformats.org/drawingml/2006/main" noGrp="1"/>
          </p:cNvSpPr>
          <p:nvPr/>
        </p:nvSpPr>
        <p:spPr>
          <a:xfrm xmlns:a="http://schemas.openxmlformats.org/drawingml/2006/main" rot="0">
            <a:off x="6477000" y="447675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実際には、垂直統合と水平展開の両方の性質を持つ企業もある。</a:t>
            </a:r>
          </a:p>
        </p:txBody>
      </p:sp>
    </p:spTree>
    <p:extLst>
      <p:ext uri="{BB962C8B-B14F-4D97-AF65-F5344CB8AC3E}">
        <p14:creationId xmlns:p14="http://schemas.microsoft.com/office/powerpoint/2010/main" val="1637566739"/>
      </p:ext>
    </p:extLst>
  </p:cSld>
</p:sld>
</file>

<file path=ppt/slides/slide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723B075-BCBD-4DB9-AAE2-754B70FCB54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3819AE8-7B16-4A0B-BC1A-7FE3D38A655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水平統合型に存在するレイヤー</a:t>
            </a:r>
          </a:p>
        </p:txBody>
      </p:sp>
      <p:sp>
        <p:nvSpPr>
          <p:cNvPr id="3" name="">
            <a:extLst xmlns:a="http://schemas.openxmlformats.org/drawingml/2006/main">
              <a:ext uri="{FF2B5EF4-FFF2-40B4-BE49-F238E27FC236}">
                <a16:creationId xmlns:a16="http://schemas.microsoft.com/office/drawing/2014/main" id="{3D3E187D-8753-419E-81C4-5CA800C6D9D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B96896E-F9F4-4EEC-BD44-1B37524125C8}"/>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04</a:t>
            </a:r>
          </a:p>
        </p:txBody>
      </p:sp>
      <p:sp>
        <p:nvSpPr>
          <p:cNvPr id="5" name="">
            <a:extLst xmlns:a="http://schemas.openxmlformats.org/drawingml/2006/main">
              <a:ext uri="{FF2B5EF4-FFF2-40B4-BE49-F238E27FC236}">
                <a16:creationId xmlns:a16="http://schemas.microsoft.com/office/drawing/2014/main" id="{339029CD-200D-4B48-87BC-3FC1A9CD2A2E}"/>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データ収集層</a:t>
            </a:r>
          </a:p>
        </p:txBody>
      </p:sp>
      <p:sp>
        <p:nvSpPr>
          <p:cNvPr id="6" name="">
            <a:extLst xmlns:a="http://schemas.openxmlformats.org/drawingml/2006/main">
              <a:ext uri="{FF2B5EF4-FFF2-40B4-BE49-F238E27FC236}">
                <a16:creationId xmlns:a16="http://schemas.microsoft.com/office/drawing/2014/main" id="{B5D4AF4B-8297-4A99-B00D-FDCC2325FBDF}"/>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人間の作業データ、テレオペレーション、合成データ、生データの加工。さらに上流では、収集に特化したデバイス開発も広がりはじめている。</a:t>
            </a:r>
          </a:p>
        </p:txBody>
      </p:sp>
      <p:sp>
        <p:nvSpPr>
          <p:cNvPr id="7" name="">
            <a:extLst xmlns:a="http://schemas.openxmlformats.org/drawingml/2006/main">
              <a:ext uri="{FF2B5EF4-FFF2-40B4-BE49-F238E27FC236}">
                <a16:creationId xmlns:a16="http://schemas.microsoft.com/office/drawing/2014/main" id="{9EBCCC2B-72F2-4145-B934-ADF9792AE19F}"/>
              </a:ext>
            </a:extLst>
          </p:cNvPr>
          <p:cNvSpPr>
            <a:spLocks xmlns:a="http://schemas.openxmlformats.org/drawingml/2006/main" noGrp="1"/>
          </p:cNvSpPr>
          <p:nvPr/>
        </p:nvSpPr>
        <p:spPr>
          <a:xfrm xmlns:a="http://schemas.openxmlformats.org/drawingml/2006/main">
            <a:off x="723900" y="2743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9148738-68F3-4E09-9295-D55A63A620CE}"/>
              </a:ext>
            </a:extLst>
          </p:cNvPr>
          <p:cNvSpPr>
            <a:spLocks xmlns:a="http://schemas.openxmlformats.org/drawingml/2006/main" noGrp="1"/>
          </p:cNvSpPr>
          <p:nvPr/>
        </p:nvSpPr>
        <p:spPr>
          <a:xfrm xmlns:a="http://schemas.openxmlformats.org/drawingml/2006/main" rot="0">
            <a:off x="723900" y="2857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基盤モデル・シミュレーション</a:t>
            </a:r>
          </a:p>
        </p:txBody>
      </p:sp>
      <p:sp>
        <p:nvSpPr>
          <p:cNvPr id="9" name="">
            <a:extLst xmlns:a="http://schemas.openxmlformats.org/drawingml/2006/main">
              <a:ext uri="{FF2B5EF4-FFF2-40B4-BE49-F238E27FC236}">
                <a16:creationId xmlns:a16="http://schemas.microsoft.com/office/drawing/2014/main" id="{95BA3A5E-32B1-4F93-9F44-D43D0B3D01BE}"/>
              </a:ext>
            </a:extLst>
          </p:cNvPr>
          <p:cNvSpPr>
            <a:spLocks xmlns:a="http://schemas.openxmlformats.org/drawingml/2006/main" noGrp="1"/>
          </p:cNvSpPr>
          <p:nvPr/>
        </p:nvSpPr>
        <p:spPr>
          <a:xfrm xmlns:a="http://schemas.openxmlformats.org/drawingml/2006/main" rot="0">
            <a:off x="3714750" y="2838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PIやNVIDIA。近いレイヤーには、現実世界を再現し、必要な実データ量を下げながらモデル開発まで進めるシミュレーション・デジタルツインがある。</a:t>
            </a:r>
          </a:p>
        </p:txBody>
      </p:sp>
      <p:sp>
        <p:nvSpPr>
          <p:cNvPr id="10" name="">
            <a:extLst xmlns:a="http://schemas.openxmlformats.org/drawingml/2006/main">
              <a:ext uri="{FF2B5EF4-FFF2-40B4-BE49-F238E27FC236}">
                <a16:creationId xmlns:a16="http://schemas.microsoft.com/office/drawing/2014/main" id="{30312579-B0F4-46BC-81E2-F94EEBCD3690}"/>
              </a:ext>
            </a:extLst>
          </p:cNvPr>
          <p:cNvSpPr>
            <a:spLocks xmlns:a="http://schemas.openxmlformats.org/drawingml/2006/main" noGrp="1"/>
          </p:cNvSpPr>
          <p:nvPr/>
        </p:nvSpPr>
        <p:spPr>
          <a:xfrm xmlns:a="http://schemas.openxmlformats.org/drawingml/2006/main">
            <a:off x="723900" y="3886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F64D101-62DE-4399-AAB3-EFE382E91A6B}"/>
              </a:ext>
            </a:extLst>
          </p:cNvPr>
          <p:cNvSpPr>
            <a:spLocks xmlns:a="http://schemas.openxmlformats.org/drawingml/2006/main" noGrp="1"/>
          </p:cNvSpPr>
          <p:nvPr/>
        </p:nvSpPr>
        <p:spPr>
          <a:xfrm xmlns:a="http://schemas.openxmlformats.org/drawingml/2006/main" rot="0">
            <a:off x="723900" y="4000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ハードウェア開発層</a:t>
            </a:r>
          </a:p>
        </p:txBody>
      </p:sp>
      <p:sp>
        <p:nvSpPr>
          <p:cNvPr id="12" name="">
            <a:extLst xmlns:a="http://schemas.openxmlformats.org/drawingml/2006/main">
              <a:ext uri="{FF2B5EF4-FFF2-40B4-BE49-F238E27FC236}">
                <a16:creationId xmlns:a16="http://schemas.microsoft.com/office/drawing/2014/main" id="{69960F9E-AFE9-41D7-BDB9-D233CA4216C9}"/>
              </a:ext>
            </a:extLst>
          </p:cNvPr>
          <p:cNvSpPr>
            <a:spLocks xmlns:a="http://schemas.openxmlformats.org/drawingml/2006/main" noGrp="1"/>
          </p:cNvSpPr>
          <p:nvPr/>
        </p:nvSpPr>
        <p:spPr>
          <a:xfrm xmlns:a="http://schemas.openxmlformats.org/drawingml/2006/main" rot="0">
            <a:off x="3714750" y="3981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特に中国系企業が安価なロボットを提供する面で強く、Unitree等が筆頭である。</a:t>
            </a:r>
          </a:p>
        </p:txBody>
      </p:sp>
      <p:sp>
        <p:nvSpPr>
          <p:cNvPr id="13" name="">
            <a:extLst xmlns:a="http://schemas.openxmlformats.org/drawingml/2006/main">
              <a:ext uri="{FF2B5EF4-FFF2-40B4-BE49-F238E27FC236}">
                <a16:creationId xmlns:a16="http://schemas.microsoft.com/office/drawing/2014/main" id="{2D5E6575-E7B0-41EB-8AFC-92AE6C70785F}"/>
              </a:ext>
            </a:extLst>
          </p:cNvPr>
          <p:cNvSpPr>
            <a:spLocks xmlns:a="http://schemas.openxmlformats.org/drawingml/2006/main" noGrp="1"/>
          </p:cNvSpPr>
          <p:nvPr/>
        </p:nvSpPr>
        <p:spPr>
          <a:xfrm xmlns:a="http://schemas.openxmlformats.org/drawingml/2006/main">
            <a:off x="723900" y="47434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5845F24-F5E6-484D-9F5D-6B34C3C1B118}"/>
              </a:ext>
            </a:extLst>
          </p:cNvPr>
          <p:cNvSpPr>
            <a:spLocks xmlns:a="http://schemas.openxmlformats.org/drawingml/2006/main" noGrp="1"/>
          </p:cNvSpPr>
          <p:nvPr/>
        </p:nvSpPr>
        <p:spPr>
          <a:xfrm xmlns:a="http://schemas.openxmlformats.org/drawingml/2006/main" rot="0">
            <a:off x="723900" y="4857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現場統合層</a:t>
            </a:r>
          </a:p>
        </p:txBody>
      </p:sp>
      <p:sp>
        <p:nvSpPr>
          <p:cNvPr id="15" name="">
            <a:extLst xmlns:a="http://schemas.openxmlformats.org/drawingml/2006/main">
              <a:ext uri="{FF2B5EF4-FFF2-40B4-BE49-F238E27FC236}">
                <a16:creationId xmlns:a16="http://schemas.microsoft.com/office/drawing/2014/main" id="{579C9F89-A395-440E-B654-B1637EC40B6C}"/>
              </a:ext>
            </a:extLst>
          </p:cNvPr>
          <p:cNvSpPr>
            <a:spLocks xmlns:a="http://schemas.openxmlformats.org/drawingml/2006/main" noGrp="1"/>
          </p:cNvSpPr>
          <p:nvPr/>
        </p:nvSpPr>
        <p:spPr>
          <a:xfrm xmlns:a="http://schemas.openxmlformats.org/drawingml/2006/main" rot="0">
            <a:off x="3714750" y="4838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既存のロボットやモデルを積極的に利用し、現場への統合を優先する。国内にもスタートアップが多い。</a:t>
            </a:r>
          </a:p>
        </p:txBody>
      </p:sp>
    </p:spTree>
    <p:extLst>
      <p:ext uri="{BB962C8B-B14F-4D97-AF65-F5344CB8AC3E}">
        <p14:creationId xmlns:p14="http://schemas.microsoft.com/office/powerpoint/2010/main" val="1173156865"/>
      </p:ext>
    </p:extLst>
  </p:cSld>
</p:sld>
</file>

<file path=ppt/slides/slide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B53D4B08-885B-4FE4-8079-EDD222C5D94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AB590C9-F57D-4874-B7C5-847F646553F8}"/>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私の仮説：現場を含むフィードバックループ</a:t>
            </a:r>
          </a:p>
        </p:txBody>
      </p:sp>
      <p:sp>
        <p:nvSpPr>
          <p:cNvPr id="3" name="">
            <a:extLst xmlns:a="http://schemas.openxmlformats.org/drawingml/2006/main">
              <a:ext uri="{FF2B5EF4-FFF2-40B4-BE49-F238E27FC236}">
                <a16:creationId xmlns:a16="http://schemas.microsoft.com/office/drawing/2014/main" id="{0AA7213F-2C97-49EE-A662-958476D4EA1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AD52941-AF8A-41EE-955D-B75B610D0FAF}"/>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05</a:t>
            </a:r>
          </a:p>
        </p:txBody>
      </p:sp>
      <p:sp>
        <p:nvSpPr>
          <p:cNvPr id="5" name="">
            <a:extLst xmlns:a="http://schemas.openxmlformats.org/drawingml/2006/main">
              <a:ext uri="{FF2B5EF4-FFF2-40B4-BE49-F238E27FC236}">
                <a16:creationId xmlns:a16="http://schemas.microsoft.com/office/drawing/2014/main" id="{61F4C0A1-34EA-4860-9F93-35FF203C394C}"/>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CCA90470-D0F7-4050-A13E-A3D20683CE24}"/>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2707804-AE1F-4C69-8ACD-B0A1FE3F0737}"/>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DB2DA2A-0E3F-4820-B9C0-368ECAFF8266}"/>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C88A9E9-3EDC-4EE0-90C9-A898B661FBD6}"/>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0DE064DF-1125-413C-8B24-A35536B4E885}"/>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CBEA9D7B-87A0-4480-90F8-729BE2856581}"/>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7C82CB1D-92F1-49C6-BBB1-12519FE81BF3}"/>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746705FB-4E33-4F9F-90CC-6C020C4666A7}"/>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4BBBBC4D-9399-4248-B1C5-725FE7C4184A}"/>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7684610E-6167-4897-A38D-23F5427ECE13}"/>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C6FDD1DA-6AA7-48DF-8CF9-C4F6A30326C8}"/>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30933DD2-EB83-4A13-B305-DB27369AF079}"/>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FC36E3B-10A7-457E-A706-446C6CD9DFD5}"/>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4A89AC9-B522-468E-B463-4322400BAF0A}"/>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7135152-4640-4F70-91F2-8E897AF1D8D7}"/>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9E67B0BE-BD62-4508-B6B8-26D684C20A29}"/>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F2824218-8717-45CD-A827-6BF58A0E05B2}"/>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2170610-CE0B-45C6-8166-421E89C3C7A5}"/>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A0ECE445-67C3-4946-8AAD-841A48CDE147}"/>
              </a:ext>
            </a:extLst>
          </p:cNvPr>
          <p:cNvSpPr>
            <a:spLocks xmlns:a="http://schemas.openxmlformats.org/drawingml/2006/main" noGrp="1"/>
          </p:cNvSpPr>
          <p:nvPr/>
        </p:nvSpPr>
        <p:spPr>
          <a:xfrm xmlns:a="http://schemas.openxmlformats.org/drawingml/2006/main">
            <a:off x="2990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93077B7C-EF32-446A-9D88-25F70A910B93}"/>
              </a:ext>
            </a:extLst>
          </p:cNvPr>
          <p:cNvSpPr>
            <a:spLocks xmlns:a="http://schemas.openxmlformats.org/drawingml/2006/main" noGrp="1"/>
          </p:cNvSpPr>
          <p:nvPr/>
        </p:nvSpPr>
        <p:spPr>
          <a:xfrm xmlns:a="http://schemas.openxmlformats.org/drawingml/2006/main">
            <a:off x="2990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AD8100C-43E5-46CD-A866-31623C88FC60}"/>
              </a:ext>
            </a:extLst>
          </p:cNvPr>
          <p:cNvSpPr>
            <a:spLocks xmlns:a="http://schemas.openxmlformats.org/drawingml/2006/main" noGrp="1"/>
          </p:cNvSpPr>
          <p:nvPr/>
        </p:nvSpPr>
        <p:spPr>
          <a:xfrm xmlns:a="http://schemas.openxmlformats.org/drawingml/2006/main">
            <a:off x="3181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73A9506-A118-41C8-93CC-0936BFB43E45}"/>
              </a:ext>
            </a:extLst>
          </p:cNvPr>
          <p:cNvSpPr>
            <a:spLocks xmlns:a="http://schemas.openxmlformats.org/drawingml/2006/main" noGrp="1"/>
          </p:cNvSpPr>
          <p:nvPr/>
        </p:nvSpPr>
        <p:spPr>
          <a:xfrm xmlns:a="http://schemas.openxmlformats.org/drawingml/2006/main">
            <a:off x="3181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8BAAFF2-768C-4CDF-83AA-0B04596CE330}"/>
              </a:ext>
            </a:extLst>
          </p:cNvPr>
          <p:cNvSpPr>
            <a:spLocks xmlns:a="http://schemas.openxmlformats.org/drawingml/2006/main" noGrp="1"/>
          </p:cNvSpPr>
          <p:nvPr/>
        </p:nvSpPr>
        <p:spPr>
          <a:xfrm xmlns:a="http://schemas.openxmlformats.org/drawingml/2006/main">
            <a:off x="3371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94D94845-68DB-4FE9-BA29-ACEDAC1A7641}"/>
              </a:ext>
            </a:extLst>
          </p:cNvPr>
          <p:cNvSpPr>
            <a:spLocks xmlns:a="http://schemas.openxmlformats.org/drawingml/2006/main" noGrp="1"/>
          </p:cNvSpPr>
          <p:nvPr/>
        </p:nvSpPr>
        <p:spPr>
          <a:xfrm xmlns:a="http://schemas.openxmlformats.org/drawingml/2006/main">
            <a:off x="3371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0B763103-7698-4910-B99A-599C4032D0E1}"/>
              </a:ext>
            </a:extLst>
          </p:cNvPr>
          <p:cNvSpPr>
            <a:spLocks xmlns:a="http://schemas.openxmlformats.org/drawingml/2006/main" noGrp="1"/>
          </p:cNvSpPr>
          <p:nvPr/>
        </p:nvSpPr>
        <p:spPr>
          <a:xfrm xmlns:a="http://schemas.openxmlformats.org/drawingml/2006/main">
            <a:off x="3562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A25A105E-B395-4697-B7F9-754C2F98EB2E}"/>
              </a:ext>
            </a:extLst>
          </p:cNvPr>
          <p:cNvSpPr>
            <a:spLocks xmlns:a="http://schemas.openxmlformats.org/drawingml/2006/main" noGrp="1"/>
          </p:cNvSpPr>
          <p:nvPr/>
        </p:nvSpPr>
        <p:spPr>
          <a:xfrm xmlns:a="http://schemas.openxmlformats.org/drawingml/2006/main">
            <a:off x="3562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2E442B89-ABAB-4257-83B5-B5EE6B22FBF4}"/>
              </a:ext>
            </a:extLst>
          </p:cNvPr>
          <p:cNvSpPr>
            <a:spLocks xmlns:a="http://schemas.openxmlformats.org/drawingml/2006/main" noGrp="1"/>
          </p:cNvSpPr>
          <p:nvPr/>
        </p:nvSpPr>
        <p:spPr>
          <a:xfrm xmlns:a="http://schemas.openxmlformats.org/drawingml/2006/main">
            <a:off x="3752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69CB3515-EDC4-42F8-9EC6-98B8DBC80F32}"/>
              </a:ext>
            </a:extLst>
          </p:cNvPr>
          <p:cNvSpPr>
            <a:spLocks xmlns:a="http://schemas.openxmlformats.org/drawingml/2006/main" noGrp="1"/>
          </p:cNvSpPr>
          <p:nvPr/>
        </p:nvSpPr>
        <p:spPr>
          <a:xfrm xmlns:a="http://schemas.openxmlformats.org/drawingml/2006/main">
            <a:off x="3752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7F29DC74-FFD1-4F9B-A307-7650050B5388}"/>
              </a:ext>
            </a:extLst>
          </p:cNvPr>
          <p:cNvSpPr>
            <a:spLocks xmlns:a="http://schemas.openxmlformats.org/drawingml/2006/main" noGrp="1"/>
          </p:cNvSpPr>
          <p:nvPr/>
        </p:nvSpPr>
        <p:spPr>
          <a:xfrm xmlns:a="http://schemas.openxmlformats.org/drawingml/2006/main">
            <a:off x="3943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8F8EFA87-B768-4C80-8C7F-317B2ACC96B3}"/>
              </a:ext>
            </a:extLst>
          </p:cNvPr>
          <p:cNvSpPr>
            <a:spLocks xmlns:a="http://schemas.openxmlformats.org/drawingml/2006/main" noGrp="1"/>
          </p:cNvSpPr>
          <p:nvPr/>
        </p:nvSpPr>
        <p:spPr>
          <a:xfrm xmlns:a="http://schemas.openxmlformats.org/drawingml/2006/main">
            <a:off x="3943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2FD9145E-E6CF-4D5C-AE20-25947F2D0727}"/>
              </a:ext>
            </a:extLst>
          </p:cNvPr>
          <p:cNvSpPr>
            <a:spLocks xmlns:a="http://schemas.openxmlformats.org/drawingml/2006/main" noGrp="1"/>
          </p:cNvSpPr>
          <p:nvPr/>
        </p:nvSpPr>
        <p:spPr>
          <a:xfrm xmlns:a="http://schemas.openxmlformats.org/drawingml/2006/main">
            <a:off x="4133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8DF2BEE2-48B1-47B1-8AC4-6CC8F8DE601A}"/>
              </a:ext>
            </a:extLst>
          </p:cNvPr>
          <p:cNvSpPr>
            <a:spLocks xmlns:a="http://schemas.openxmlformats.org/drawingml/2006/main" noGrp="1"/>
          </p:cNvSpPr>
          <p:nvPr/>
        </p:nvSpPr>
        <p:spPr>
          <a:xfrm xmlns:a="http://schemas.openxmlformats.org/drawingml/2006/main">
            <a:off x="4133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BAC5E77B-30F9-4E99-96F5-9ACAE4649F25}"/>
              </a:ext>
            </a:extLst>
          </p:cNvPr>
          <p:cNvSpPr>
            <a:spLocks xmlns:a="http://schemas.openxmlformats.org/drawingml/2006/main" noGrp="1"/>
          </p:cNvSpPr>
          <p:nvPr/>
        </p:nvSpPr>
        <p:spPr>
          <a:xfrm xmlns:a="http://schemas.openxmlformats.org/drawingml/2006/main">
            <a:off x="4324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AC9C2899-8BAA-412D-A900-32343D462369}"/>
              </a:ext>
            </a:extLst>
          </p:cNvPr>
          <p:cNvSpPr>
            <a:spLocks xmlns:a="http://schemas.openxmlformats.org/drawingml/2006/main" noGrp="1"/>
          </p:cNvSpPr>
          <p:nvPr/>
        </p:nvSpPr>
        <p:spPr>
          <a:xfrm xmlns:a="http://schemas.openxmlformats.org/drawingml/2006/main">
            <a:off x="4324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60CADC0F-5966-4CCF-987E-4BD775B10A0A}"/>
              </a:ext>
            </a:extLst>
          </p:cNvPr>
          <p:cNvSpPr>
            <a:spLocks xmlns:a="http://schemas.openxmlformats.org/drawingml/2006/main" noGrp="1"/>
          </p:cNvSpPr>
          <p:nvPr/>
        </p:nvSpPr>
        <p:spPr>
          <a:xfrm xmlns:a="http://schemas.openxmlformats.org/drawingml/2006/main">
            <a:off x="4514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6220D04F-C3E9-4424-93ED-D113C9BCBB9B}"/>
              </a:ext>
            </a:extLst>
          </p:cNvPr>
          <p:cNvSpPr>
            <a:spLocks xmlns:a="http://schemas.openxmlformats.org/drawingml/2006/main" noGrp="1"/>
          </p:cNvSpPr>
          <p:nvPr/>
        </p:nvSpPr>
        <p:spPr>
          <a:xfrm xmlns:a="http://schemas.openxmlformats.org/drawingml/2006/main">
            <a:off x="4514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DA69A8AE-661B-49F3-8818-785DADFF8821}"/>
              </a:ext>
            </a:extLst>
          </p:cNvPr>
          <p:cNvSpPr>
            <a:spLocks xmlns:a="http://schemas.openxmlformats.org/drawingml/2006/main" noGrp="1"/>
          </p:cNvSpPr>
          <p:nvPr/>
        </p:nvSpPr>
        <p:spPr>
          <a:xfrm xmlns:a="http://schemas.openxmlformats.org/drawingml/2006/main">
            <a:off x="4705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D6E85D42-D8E0-46CE-A43D-CDC46A1E0E5B}"/>
              </a:ext>
            </a:extLst>
          </p:cNvPr>
          <p:cNvSpPr>
            <a:spLocks xmlns:a="http://schemas.openxmlformats.org/drawingml/2006/main" noGrp="1"/>
          </p:cNvSpPr>
          <p:nvPr/>
        </p:nvSpPr>
        <p:spPr>
          <a:xfrm xmlns:a="http://schemas.openxmlformats.org/drawingml/2006/main">
            <a:off x="4705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16A217FE-E83C-4BE6-AD80-60A289FFC79E}"/>
              </a:ext>
            </a:extLst>
          </p:cNvPr>
          <p:cNvSpPr>
            <a:spLocks xmlns:a="http://schemas.openxmlformats.org/drawingml/2006/main" noGrp="1"/>
          </p:cNvSpPr>
          <p:nvPr/>
        </p:nvSpPr>
        <p:spPr>
          <a:xfrm xmlns:a="http://schemas.openxmlformats.org/drawingml/2006/main">
            <a:off x="4895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CD0C7BE6-77D8-48A6-93A4-3627DAE80D87}"/>
              </a:ext>
            </a:extLst>
          </p:cNvPr>
          <p:cNvSpPr>
            <a:spLocks xmlns:a="http://schemas.openxmlformats.org/drawingml/2006/main" noGrp="1"/>
          </p:cNvSpPr>
          <p:nvPr/>
        </p:nvSpPr>
        <p:spPr>
          <a:xfrm xmlns:a="http://schemas.openxmlformats.org/drawingml/2006/main">
            <a:off x="4895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AC476E74-85FC-451F-BC75-6FA7E826E9D6}"/>
              </a:ext>
            </a:extLst>
          </p:cNvPr>
          <p:cNvSpPr>
            <a:spLocks xmlns:a="http://schemas.openxmlformats.org/drawingml/2006/main" noGrp="1"/>
          </p:cNvSpPr>
          <p:nvPr/>
        </p:nvSpPr>
        <p:spPr>
          <a:xfrm xmlns:a="http://schemas.openxmlformats.org/drawingml/2006/main">
            <a:off x="5086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76BEEE33-501D-47F3-98DC-321FA82ACEB9}"/>
              </a:ext>
            </a:extLst>
          </p:cNvPr>
          <p:cNvSpPr>
            <a:spLocks xmlns:a="http://schemas.openxmlformats.org/drawingml/2006/main" noGrp="1"/>
          </p:cNvSpPr>
          <p:nvPr/>
        </p:nvSpPr>
        <p:spPr>
          <a:xfrm xmlns:a="http://schemas.openxmlformats.org/drawingml/2006/main">
            <a:off x="5086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7B18C5C5-CF01-4F6C-9F6F-5587C13E4A6F}"/>
              </a:ext>
            </a:extLst>
          </p:cNvPr>
          <p:cNvSpPr>
            <a:spLocks xmlns:a="http://schemas.openxmlformats.org/drawingml/2006/main" noGrp="1"/>
          </p:cNvSpPr>
          <p:nvPr/>
        </p:nvSpPr>
        <p:spPr>
          <a:xfrm xmlns:a="http://schemas.openxmlformats.org/drawingml/2006/main">
            <a:off x="5276850" y="23050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024F6F18-67F1-4106-A70A-ADC77891FFAC}"/>
              </a:ext>
            </a:extLst>
          </p:cNvPr>
          <p:cNvSpPr>
            <a:spLocks xmlns:a="http://schemas.openxmlformats.org/drawingml/2006/main" noGrp="1"/>
          </p:cNvSpPr>
          <p:nvPr/>
        </p:nvSpPr>
        <p:spPr>
          <a:xfrm xmlns:a="http://schemas.openxmlformats.org/drawingml/2006/main">
            <a:off x="5276850" y="28384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85A6DB93-C7CB-43CD-A283-FC9B515E7FF2}"/>
              </a:ext>
            </a:extLst>
          </p:cNvPr>
          <p:cNvSpPr>
            <a:spLocks xmlns:a="http://schemas.openxmlformats.org/drawingml/2006/main" noGrp="1"/>
          </p:cNvSpPr>
          <p:nvPr/>
        </p:nvSpPr>
        <p:spPr>
          <a:xfrm xmlns:a="http://schemas.openxmlformats.org/drawingml/2006/main">
            <a:off x="29908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4B5A609A-B7FB-4437-A9E8-38E2BC9B5FA2}"/>
              </a:ext>
            </a:extLst>
          </p:cNvPr>
          <p:cNvSpPr>
            <a:spLocks xmlns:a="http://schemas.openxmlformats.org/drawingml/2006/main" noGrp="1"/>
          </p:cNvSpPr>
          <p:nvPr/>
        </p:nvSpPr>
        <p:spPr>
          <a:xfrm xmlns:a="http://schemas.openxmlformats.org/drawingml/2006/main">
            <a:off x="53530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1D23ECE0-7311-4036-8BE4-AB6AE1B4233D}"/>
              </a:ext>
            </a:extLst>
          </p:cNvPr>
          <p:cNvSpPr>
            <a:spLocks xmlns:a="http://schemas.openxmlformats.org/drawingml/2006/main" noGrp="1"/>
          </p:cNvSpPr>
          <p:nvPr/>
        </p:nvSpPr>
        <p:spPr>
          <a:xfrm xmlns:a="http://schemas.openxmlformats.org/drawingml/2006/main">
            <a:off x="29908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7AF7AABD-60D4-42A7-B77F-3A96D93EDDD6}"/>
              </a:ext>
            </a:extLst>
          </p:cNvPr>
          <p:cNvSpPr>
            <a:spLocks xmlns:a="http://schemas.openxmlformats.org/drawingml/2006/main" noGrp="1"/>
          </p:cNvSpPr>
          <p:nvPr/>
        </p:nvSpPr>
        <p:spPr>
          <a:xfrm xmlns:a="http://schemas.openxmlformats.org/drawingml/2006/main">
            <a:off x="53530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0F7B80F7-D1C0-45D4-A09F-9794F24C6345}"/>
              </a:ext>
            </a:extLst>
          </p:cNvPr>
          <p:cNvSpPr>
            <a:spLocks xmlns:a="http://schemas.openxmlformats.org/drawingml/2006/main" noGrp="1"/>
          </p:cNvSpPr>
          <p:nvPr/>
        </p:nvSpPr>
        <p:spPr>
          <a:xfrm xmlns:a="http://schemas.openxmlformats.org/drawingml/2006/main">
            <a:off x="29908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875A04AD-9B31-4659-96F9-EA16FCDF8D0A}"/>
              </a:ext>
            </a:extLst>
          </p:cNvPr>
          <p:cNvSpPr>
            <a:spLocks xmlns:a="http://schemas.openxmlformats.org/drawingml/2006/main" noGrp="1"/>
          </p:cNvSpPr>
          <p:nvPr/>
        </p:nvSpPr>
        <p:spPr>
          <a:xfrm xmlns:a="http://schemas.openxmlformats.org/drawingml/2006/main">
            <a:off x="53530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AEEDD1AB-BAC4-40D0-B69D-A80C6C7B48A9}"/>
              </a:ext>
            </a:extLst>
          </p:cNvPr>
          <p:cNvSpPr>
            <a:spLocks xmlns:a="http://schemas.openxmlformats.org/drawingml/2006/main" noGrp="1"/>
          </p:cNvSpPr>
          <p:nvPr/>
        </p:nvSpPr>
        <p:spPr>
          <a:xfrm xmlns:a="http://schemas.openxmlformats.org/drawingml/2006/main">
            <a:off x="2990850" y="2990850"/>
            <a:ext cx="2381250" cy="1924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7" name="">
            <a:extLst xmlns:a="http://schemas.openxmlformats.org/drawingml/2006/main">
              <a:ext uri="{FF2B5EF4-FFF2-40B4-BE49-F238E27FC236}">
                <a16:creationId xmlns:a16="http://schemas.microsoft.com/office/drawing/2014/main" id="{E70BFB60-0B61-4F07-8BFD-7A1501AE042E}"/>
              </a:ext>
            </a:extLst>
          </p:cNvPr>
          <p:cNvSpPr>
            <a:spLocks xmlns:a="http://schemas.openxmlformats.org/drawingml/2006/main" noGrp="1"/>
          </p:cNvSpPr>
          <p:nvPr/>
        </p:nvSpPr>
        <p:spPr>
          <a:xfrm xmlns:a="http://schemas.openxmlformats.org/drawingml/2006/main" rot="0">
            <a:off x="3181350" y="3143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モデル開発</a:t>
            </a:r>
          </a:p>
        </p:txBody>
      </p:sp>
      <p:sp>
        <p:nvSpPr>
          <p:cNvPr id="58" name="">
            <a:extLst xmlns:a="http://schemas.openxmlformats.org/drawingml/2006/main">
              <a:ext uri="{FF2B5EF4-FFF2-40B4-BE49-F238E27FC236}">
                <a16:creationId xmlns:a16="http://schemas.microsoft.com/office/drawing/2014/main" id="{A487366B-7934-433C-9D0E-5C7612CDFC38}"/>
              </a:ext>
            </a:extLst>
          </p:cNvPr>
          <p:cNvSpPr>
            <a:spLocks xmlns:a="http://schemas.openxmlformats.org/drawingml/2006/main" noGrp="1"/>
          </p:cNvSpPr>
          <p:nvPr/>
        </p:nvSpPr>
        <p:spPr>
          <a:xfrm xmlns:a="http://schemas.openxmlformats.org/drawingml/2006/main" rot="0">
            <a:off x="3181350" y="38290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ハードウェア開発</a:t>
            </a:r>
          </a:p>
        </p:txBody>
      </p:sp>
      <p:sp>
        <p:nvSpPr>
          <p:cNvPr id="59" name="">
            <a:extLst xmlns:a="http://schemas.openxmlformats.org/drawingml/2006/main">
              <a:ext uri="{FF2B5EF4-FFF2-40B4-BE49-F238E27FC236}">
                <a16:creationId xmlns:a16="http://schemas.microsoft.com/office/drawing/2014/main" id="{BE0156A8-25C9-47EE-9C9D-99D07E458C40}"/>
              </a:ext>
            </a:extLst>
          </p:cNvPr>
          <p:cNvSpPr>
            <a:spLocks xmlns:a="http://schemas.openxmlformats.org/drawingml/2006/main" noGrp="1"/>
          </p:cNvSpPr>
          <p:nvPr/>
        </p:nvSpPr>
        <p:spPr>
          <a:xfrm xmlns:a="http://schemas.openxmlformats.org/drawingml/2006/main" rot="0">
            <a:off x="3181350" y="45148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60" name="">
            <a:extLst xmlns:a="http://schemas.openxmlformats.org/drawingml/2006/main">
              <a:ext uri="{FF2B5EF4-FFF2-40B4-BE49-F238E27FC236}">
                <a16:creationId xmlns:a16="http://schemas.microsoft.com/office/drawing/2014/main" id="{E7D54A64-E1AD-4562-AE42-F7D1DCBD86E6}"/>
              </a:ext>
            </a:extLst>
          </p:cNvPr>
          <p:cNvSpPr>
            <a:spLocks xmlns:a="http://schemas.openxmlformats.org/drawingml/2006/main" noGrp="1"/>
          </p:cNvSpPr>
          <p:nvPr/>
        </p:nvSpPr>
        <p:spPr>
          <a:xfrm xmlns:a="http://schemas.openxmlformats.org/drawingml/2006/main">
            <a:off x="5372100" y="32575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20431078-A650-499D-8B9F-D6DB9EB58EA8}"/>
              </a:ext>
            </a:extLst>
          </p:cNvPr>
          <p:cNvSpPr>
            <a:spLocks xmlns:a="http://schemas.openxmlformats.org/drawingml/2006/main" noGrp="1"/>
          </p:cNvSpPr>
          <p:nvPr/>
        </p:nvSpPr>
        <p:spPr>
          <a:xfrm xmlns:a="http://schemas.openxmlformats.org/drawingml/2006/main">
            <a:off x="5695950" y="3257550"/>
            <a:ext cx="19050" cy="13716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C6BD0E4E-AC92-45F0-8B24-C398B65D5192}"/>
              </a:ext>
            </a:extLst>
          </p:cNvPr>
          <p:cNvSpPr>
            <a:spLocks xmlns:a="http://schemas.openxmlformats.org/drawingml/2006/main" noGrp="1"/>
          </p:cNvSpPr>
          <p:nvPr/>
        </p:nvSpPr>
        <p:spPr>
          <a:xfrm xmlns:a="http://schemas.openxmlformats.org/drawingml/2006/main">
            <a:off x="5372100" y="46291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C19EAC9E-9663-460C-A216-EEA4CE3BC425}"/>
              </a:ext>
            </a:extLst>
          </p:cNvPr>
          <p:cNvSpPr>
            <a:spLocks xmlns:a="http://schemas.openxmlformats.org/drawingml/2006/main" noGrp="1"/>
          </p:cNvSpPr>
          <p:nvPr/>
        </p:nvSpPr>
        <p:spPr>
          <a:xfrm xmlns:a="http://schemas.openxmlformats.org/drawingml/2006/main" rot="0">
            <a:off x="5867400" y="345757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現場で得たデータを戻す</a:t>
            </a:r>
          </a:p>
        </p:txBody>
      </p:sp>
      <p:sp>
        <p:nvSpPr>
          <p:cNvPr id="64" name="">
            <a:extLst xmlns:a="http://schemas.openxmlformats.org/drawingml/2006/main">
              <a:ext uri="{FF2B5EF4-FFF2-40B4-BE49-F238E27FC236}">
                <a16:creationId xmlns:a16="http://schemas.microsoft.com/office/drawing/2014/main" id="{3D4D9476-279E-402C-A104-81F8181419E3}"/>
              </a:ext>
            </a:extLst>
          </p:cNvPr>
          <p:cNvSpPr>
            <a:spLocks xmlns:a="http://schemas.openxmlformats.org/drawingml/2006/main" noGrp="1"/>
          </p:cNvSpPr>
          <p:nvPr/>
        </p:nvSpPr>
        <p:spPr>
          <a:xfrm xmlns:a="http://schemas.openxmlformats.org/drawingml/2006/main" rot="0">
            <a:off x="6019800" y="45148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現場で稼働</a:t>
            </a:r>
          </a:p>
        </p:txBody>
      </p:sp>
    </p:spTree>
    <p:extLst>
      <p:ext uri="{BB962C8B-B14F-4D97-AF65-F5344CB8AC3E}">
        <p14:creationId xmlns:p14="http://schemas.microsoft.com/office/powerpoint/2010/main" val="1353804264"/>
      </p:ext>
    </p:extLst>
  </p:cSld>
</p:sld>
</file>

<file path=ppt/slides/slide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C8002231-32A4-492B-AF40-9D3C6100EA4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C89617-4691-4F15-BA08-A47C87FA33C2}"/>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データ収集は、将来このループの中に吸収される</a:t>
            </a:r>
          </a:p>
        </p:txBody>
      </p:sp>
      <p:sp>
        <p:nvSpPr>
          <p:cNvPr id="3" name="">
            <a:extLst xmlns:a="http://schemas.openxmlformats.org/drawingml/2006/main">
              <a:ext uri="{FF2B5EF4-FFF2-40B4-BE49-F238E27FC236}">
                <a16:creationId xmlns:a16="http://schemas.microsoft.com/office/drawing/2014/main" id="{A155F3D8-0F6F-49D4-92C4-30F2B339D63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0BC6825-97C6-4C39-94CA-7361605AE49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06</a:t>
            </a:r>
          </a:p>
        </p:txBody>
      </p:sp>
      <p:sp>
        <p:nvSpPr>
          <p:cNvPr id="5" name="">
            <a:extLst xmlns:a="http://schemas.openxmlformats.org/drawingml/2006/main">
              <a:ext uri="{FF2B5EF4-FFF2-40B4-BE49-F238E27FC236}">
                <a16:creationId xmlns:a16="http://schemas.microsoft.com/office/drawing/2014/main" id="{923F0296-6A49-417D-980C-34023B9462D7}"/>
              </a:ext>
            </a:extLst>
          </p:cNvPr>
          <p:cNvSpPr>
            <a:spLocks xmlns:a="http://schemas.openxmlformats.org/drawingml/2006/main" noGrp="1"/>
          </p:cNvSpPr>
          <p:nvPr/>
        </p:nvSpPr>
        <p:spPr>
          <a:xfrm xmlns:a="http://schemas.openxmlformats.org/drawingml/2006/main">
            <a:off x="1428750" y="2095500"/>
            <a:ext cx="2667000" cy="781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6" name="">
            <a:extLst xmlns:a="http://schemas.openxmlformats.org/drawingml/2006/main">
              <a:ext uri="{FF2B5EF4-FFF2-40B4-BE49-F238E27FC236}">
                <a16:creationId xmlns:a16="http://schemas.microsoft.com/office/drawing/2014/main" id="{446D21C7-7165-4F38-9A4D-EA4E198B6F2C}"/>
              </a:ext>
            </a:extLst>
          </p:cNvPr>
          <p:cNvSpPr>
            <a:spLocks xmlns:a="http://schemas.openxmlformats.org/drawingml/2006/main" noGrp="1"/>
          </p:cNvSpPr>
          <p:nvPr/>
        </p:nvSpPr>
        <p:spPr>
          <a:xfrm xmlns:a="http://schemas.openxmlformats.org/drawingml/2006/main" rot="0">
            <a:off x="1562100" y="2209800"/>
            <a:ext cx="240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モデル開発</a:t>
            </a:r>
          </a:p>
        </p:txBody>
      </p:sp>
      <p:sp>
        <p:nvSpPr>
          <p:cNvPr id="7" name="">
            <a:extLst xmlns:a="http://schemas.openxmlformats.org/drawingml/2006/main">
              <a:ext uri="{FF2B5EF4-FFF2-40B4-BE49-F238E27FC236}">
                <a16:creationId xmlns:a16="http://schemas.microsoft.com/office/drawing/2014/main" id="{08AAD7FD-D611-42A4-8453-86A40E0D29E6}"/>
              </a:ext>
            </a:extLst>
          </p:cNvPr>
          <p:cNvSpPr>
            <a:spLocks xmlns:a="http://schemas.openxmlformats.org/drawingml/2006/main" noGrp="1"/>
          </p:cNvSpPr>
          <p:nvPr/>
        </p:nvSpPr>
        <p:spPr>
          <a:xfrm xmlns:a="http://schemas.openxmlformats.org/drawingml/2006/main">
            <a:off x="7524750" y="2095500"/>
            <a:ext cx="2667000" cy="781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8" name="">
            <a:extLst xmlns:a="http://schemas.openxmlformats.org/drawingml/2006/main">
              <a:ext uri="{FF2B5EF4-FFF2-40B4-BE49-F238E27FC236}">
                <a16:creationId xmlns:a16="http://schemas.microsoft.com/office/drawing/2014/main" id="{22E1527D-2310-4C68-9DC3-59F6A7C9A5BA}"/>
              </a:ext>
            </a:extLst>
          </p:cNvPr>
          <p:cNvSpPr>
            <a:spLocks xmlns:a="http://schemas.openxmlformats.org/drawingml/2006/main" noGrp="1"/>
          </p:cNvSpPr>
          <p:nvPr/>
        </p:nvSpPr>
        <p:spPr>
          <a:xfrm xmlns:a="http://schemas.openxmlformats.org/drawingml/2006/main" rot="0">
            <a:off x="7658100" y="2209800"/>
            <a:ext cx="240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ハードウェア開発</a:t>
            </a:r>
          </a:p>
        </p:txBody>
      </p:sp>
      <p:sp>
        <p:nvSpPr>
          <p:cNvPr id="9" name="">
            <a:extLst xmlns:a="http://schemas.openxmlformats.org/drawingml/2006/main">
              <a:ext uri="{FF2B5EF4-FFF2-40B4-BE49-F238E27FC236}">
                <a16:creationId xmlns:a16="http://schemas.microsoft.com/office/drawing/2014/main" id="{FE5650E6-99A8-439C-BD85-EE359F9D2FFD}"/>
              </a:ext>
            </a:extLst>
          </p:cNvPr>
          <p:cNvSpPr>
            <a:spLocks xmlns:a="http://schemas.openxmlformats.org/drawingml/2006/main" noGrp="1"/>
          </p:cNvSpPr>
          <p:nvPr/>
        </p:nvSpPr>
        <p:spPr>
          <a:xfrm xmlns:a="http://schemas.openxmlformats.org/drawingml/2006/main">
            <a:off x="7524750" y="4286250"/>
            <a:ext cx="2667000" cy="8763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0" name="">
            <a:extLst xmlns:a="http://schemas.openxmlformats.org/drawingml/2006/main">
              <a:ext uri="{FF2B5EF4-FFF2-40B4-BE49-F238E27FC236}">
                <a16:creationId xmlns:a16="http://schemas.microsoft.com/office/drawing/2014/main" id="{21D5710C-1FF2-4DA6-B061-8FA35C8BF098}"/>
              </a:ext>
            </a:extLst>
          </p:cNvPr>
          <p:cNvSpPr>
            <a:spLocks xmlns:a="http://schemas.openxmlformats.org/drawingml/2006/main" noGrp="1"/>
          </p:cNvSpPr>
          <p:nvPr/>
        </p:nvSpPr>
        <p:spPr>
          <a:xfrm xmlns:a="http://schemas.openxmlformats.org/drawingml/2006/main" rot="0">
            <a:off x="7658100" y="4400550"/>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現場統合</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ロボットが稼働</a:t>
            </a:r>
          </a:p>
        </p:txBody>
      </p:sp>
      <p:sp>
        <p:nvSpPr>
          <p:cNvPr id="11" name="">
            <a:extLst xmlns:a="http://schemas.openxmlformats.org/drawingml/2006/main">
              <a:ext uri="{FF2B5EF4-FFF2-40B4-BE49-F238E27FC236}">
                <a16:creationId xmlns:a16="http://schemas.microsoft.com/office/drawing/2014/main" id="{55B92FDE-4595-4B07-98A1-E5322AFD7EF1}"/>
              </a:ext>
            </a:extLst>
          </p:cNvPr>
          <p:cNvSpPr>
            <a:spLocks xmlns:a="http://schemas.openxmlformats.org/drawingml/2006/main" noGrp="1"/>
          </p:cNvSpPr>
          <p:nvPr/>
        </p:nvSpPr>
        <p:spPr>
          <a:xfrm xmlns:a="http://schemas.openxmlformats.org/drawingml/2006/main">
            <a:off x="14287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BBA2A55-5EAE-462B-887F-DDECD9A12864}"/>
              </a:ext>
            </a:extLst>
          </p:cNvPr>
          <p:cNvSpPr>
            <a:spLocks xmlns:a="http://schemas.openxmlformats.org/drawingml/2006/main" noGrp="1"/>
          </p:cNvSpPr>
          <p:nvPr/>
        </p:nvSpPr>
        <p:spPr>
          <a:xfrm xmlns:a="http://schemas.openxmlformats.org/drawingml/2006/main">
            <a:off x="14287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4E35D33-9626-4BA9-80BB-884B654F854B}"/>
              </a:ext>
            </a:extLst>
          </p:cNvPr>
          <p:cNvSpPr>
            <a:spLocks xmlns:a="http://schemas.openxmlformats.org/drawingml/2006/main" noGrp="1"/>
          </p:cNvSpPr>
          <p:nvPr/>
        </p:nvSpPr>
        <p:spPr>
          <a:xfrm xmlns:a="http://schemas.openxmlformats.org/drawingml/2006/main">
            <a:off x="15906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5EC198B-458E-48D5-AEF5-BFFF0F704699}"/>
              </a:ext>
            </a:extLst>
          </p:cNvPr>
          <p:cNvSpPr>
            <a:spLocks xmlns:a="http://schemas.openxmlformats.org/drawingml/2006/main" noGrp="1"/>
          </p:cNvSpPr>
          <p:nvPr/>
        </p:nvSpPr>
        <p:spPr>
          <a:xfrm xmlns:a="http://schemas.openxmlformats.org/drawingml/2006/main">
            <a:off x="15906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ACE0271-6E59-47F3-9FD6-6B7EF8925496}"/>
              </a:ext>
            </a:extLst>
          </p:cNvPr>
          <p:cNvSpPr>
            <a:spLocks xmlns:a="http://schemas.openxmlformats.org/drawingml/2006/main" noGrp="1"/>
          </p:cNvSpPr>
          <p:nvPr/>
        </p:nvSpPr>
        <p:spPr>
          <a:xfrm xmlns:a="http://schemas.openxmlformats.org/drawingml/2006/main">
            <a:off x="17526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0D81B7B-6D0D-4D29-9738-326F8D592C86}"/>
              </a:ext>
            </a:extLst>
          </p:cNvPr>
          <p:cNvSpPr>
            <a:spLocks xmlns:a="http://schemas.openxmlformats.org/drawingml/2006/main" noGrp="1"/>
          </p:cNvSpPr>
          <p:nvPr/>
        </p:nvSpPr>
        <p:spPr>
          <a:xfrm xmlns:a="http://schemas.openxmlformats.org/drawingml/2006/main">
            <a:off x="17526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C6364F9-D275-4C2B-BBF6-5CBF7A79519D}"/>
              </a:ext>
            </a:extLst>
          </p:cNvPr>
          <p:cNvSpPr>
            <a:spLocks xmlns:a="http://schemas.openxmlformats.org/drawingml/2006/main" noGrp="1"/>
          </p:cNvSpPr>
          <p:nvPr/>
        </p:nvSpPr>
        <p:spPr>
          <a:xfrm xmlns:a="http://schemas.openxmlformats.org/drawingml/2006/main">
            <a:off x="19145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F0E40B9-C09F-4231-BDAB-6070A39CE28B}"/>
              </a:ext>
            </a:extLst>
          </p:cNvPr>
          <p:cNvSpPr>
            <a:spLocks xmlns:a="http://schemas.openxmlformats.org/drawingml/2006/main" noGrp="1"/>
          </p:cNvSpPr>
          <p:nvPr/>
        </p:nvSpPr>
        <p:spPr>
          <a:xfrm xmlns:a="http://schemas.openxmlformats.org/drawingml/2006/main">
            <a:off x="19145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74CBFEE-DF91-4003-A8ED-43096ACD3C5D}"/>
              </a:ext>
            </a:extLst>
          </p:cNvPr>
          <p:cNvSpPr>
            <a:spLocks xmlns:a="http://schemas.openxmlformats.org/drawingml/2006/main" noGrp="1"/>
          </p:cNvSpPr>
          <p:nvPr/>
        </p:nvSpPr>
        <p:spPr>
          <a:xfrm xmlns:a="http://schemas.openxmlformats.org/drawingml/2006/main">
            <a:off x="20764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7AF33C1-C853-43AC-818D-02CD939DCC44}"/>
              </a:ext>
            </a:extLst>
          </p:cNvPr>
          <p:cNvSpPr>
            <a:spLocks xmlns:a="http://schemas.openxmlformats.org/drawingml/2006/main" noGrp="1"/>
          </p:cNvSpPr>
          <p:nvPr/>
        </p:nvSpPr>
        <p:spPr>
          <a:xfrm xmlns:a="http://schemas.openxmlformats.org/drawingml/2006/main">
            <a:off x="20764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B9E723D-0009-4C1A-87FE-FBEC2638D110}"/>
              </a:ext>
            </a:extLst>
          </p:cNvPr>
          <p:cNvSpPr>
            <a:spLocks xmlns:a="http://schemas.openxmlformats.org/drawingml/2006/main" noGrp="1"/>
          </p:cNvSpPr>
          <p:nvPr/>
        </p:nvSpPr>
        <p:spPr>
          <a:xfrm xmlns:a="http://schemas.openxmlformats.org/drawingml/2006/main">
            <a:off x="22383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62A0015-9694-4F5F-AB53-A2256B500D12}"/>
              </a:ext>
            </a:extLst>
          </p:cNvPr>
          <p:cNvSpPr>
            <a:spLocks xmlns:a="http://schemas.openxmlformats.org/drawingml/2006/main" noGrp="1"/>
          </p:cNvSpPr>
          <p:nvPr/>
        </p:nvSpPr>
        <p:spPr>
          <a:xfrm xmlns:a="http://schemas.openxmlformats.org/drawingml/2006/main">
            <a:off x="22383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EC05A12-9371-4486-B5CC-18EFB6A12483}"/>
              </a:ext>
            </a:extLst>
          </p:cNvPr>
          <p:cNvSpPr>
            <a:spLocks xmlns:a="http://schemas.openxmlformats.org/drawingml/2006/main" noGrp="1"/>
          </p:cNvSpPr>
          <p:nvPr/>
        </p:nvSpPr>
        <p:spPr>
          <a:xfrm xmlns:a="http://schemas.openxmlformats.org/drawingml/2006/main">
            <a:off x="24003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8C06069-D174-4D9D-87B5-75E324F751E0}"/>
              </a:ext>
            </a:extLst>
          </p:cNvPr>
          <p:cNvSpPr>
            <a:spLocks xmlns:a="http://schemas.openxmlformats.org/drawingml/2006/main" noGrp="1"/>
          </p:cNvSpPr>
          <p:nvPr/>
        </p:nvSpPr>
        <p:spPr>
          <a:xfrm xmlns:a="http://schemas.openxmlformats.org/drawingml/2006/main">
            <a:off x="24003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9F16F30A-52F2-4158-81E1-8C153929A5C2}"/>
              </a:ext>
            </a:extLst>
          </p:cNvPr>
          <p:cNvSpPr>
            <a:spLocks xmlns:a="http://schemas.openxmlformats.org/drawingml/2006/main" noGrp="1"/>
          </p:cNvSpPr>
          <p:nvPr/>
        </p:nvSpPr>
        <p:spPr>
          <a:xfrm xmlns:a="http://schemas.openxmlformats.org/drawingml/2006/main">
            <a:off x="25622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E040EA6-F7BD-45DF-AF88-1D98527C8132}"/>
              </a:ext>
            </a:extLst>
          </p:cNvPr>
          <p:cNvSpPr>
            <a:spLocks xmlns:a="http://schemas.openxmlformats.org/drawingml/2006/main" noGrp="1"/>
          </p:cNvSpPr>
          <p:nvPr/>
        </p:nvSpPr>
        <p:spPr>
          <a:xfrm xmlns:a="http://schemas.openxmlformats.org/drawingml/2006/main">
            <a:off x="25622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F925B8CB-AFF5-4EE1-A1FC-56B479E277AD}"/>
              </a:ext>
            </a:extLst>
          </p:cNvPr>
          <p:cNvSpPr>
            <a:spLocks xmlns:a="http://schemas.openxmlformats.org/drawingml/2006/main" noGrp="1"/>
          </p:cNvSpPr>
          <p:nvPr/>
        </p:nvSpPr>
        <p:spPr>
          <a:xfrm xmlns:a="http://schemas.openxmlformats.org/drawingml/2006/main">
            <a:off x="27241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D11C7387-0DCB-4E47-BF4F-37E347C58D50}"/>
              </a:ext>
            </a:extLst>
          </p:cNvPr>
          <p:cNvSpPr>
            <a:spLocks xmlns:a="http://schemas.openxmlformats.org/drawingml/2006/main" noGrp="1"/>
          </p:cNvSpPr>
          <p:nvPr/>
        </p:nvSpPr>
        <p:spPr>
          <a:xfrm xmlns:a="http://schemas.openxmlformats.org/drawingml/2006/main">
            <a:off x="27241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97B18A81-B5DC-44FE-9C6F-89FF215156DB}"/>
              </a:ext>
            </a:extLst>
          </p:cNvPr>
          <p:cNvSpPr>
            <a:spLocks xmlns:a="http://schemas.openxmlformats.org/drawingml/2006/main" noGrp="1"/>
          </p:cNvSpPr>
          <p:nvPr/>
        </p:nvSpPr>
        <p:spPr>
          <a:xfrm xmlns:a="http://schemas.openxmlformats.org/drawingml/2006/main">
            <a:off x="28860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81B3DFA8-249B-4EE0-AC33-08D742D855B3}"/>
              </a:ext>
            </a:extLst>
          </p:cNvPr>
          <p:cNvSpPr>
            <a:spLocks xmlns:a="http://schemas.openxmlformats.org/drawingml/2006/main" noGrp="1"/>
          </p:cNvSpPr>
          <p:nvPr/>
        </p:nvSpPr>
        <p:spPr>
          <a:xfrm xmlns:a="http://schemas.openxmlformats.org/drawingml/2006/main">
            <a:off x="28860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936D87DD-DF97-4916-93EF-E880C4051C74}"/>
              </a:ext>
            </a:extLst>
          </p:cNvPr>
          <p:cNvSpPr>
            <a:spLocks xmlns:a="http://schemas.openxmlformats.org/drawingml/2006/main" noGrp="1"/>
          </p:cNvSpPr>
          <p:nvPr/>
        </p:nvSpPr>
        <p:spPr>
          <a:xfrm xmlns:a="http://schemas.openxmlformats.org/drawingml/2006/main">
            <a:off x="30480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C9DA07D9-90D0-405A-9F49-99D16B09AFCE}"/>
              </a:ext>
            </a:extLst>
          </p:cNvPr>
          <p:cNvSpPr>
            <a:spLocks xmlns:a="http://schemas.openxmlformats.org/drawingml/2006/main" noGrp="1"/>
          </p:cNvSpPr>
          <p:nvPr/>
        </p:nvSpPr>
        <p:spPr>
          <a:xfrm xmlns:a="http://schemas.openxmlformats.org/drawingml/2006/main">
            <a:off x="30480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CAC2E9E0-E945-4A00-9EA7-BC23D785EC83}"/>
              </a:ext>
            </a:extLst>
          </p:cNvPr>
          <p:cNvSpPr>
            <a:spLocks xmlns:a="http://schemas.openxmlformats.org/drawingml/2006/main" noGrp="1"/>
          </p:cNvSpPr>
          <p:nvPr/>
        </p:nvSpPr>
        <p:spPr>
          <a:xfrm xmlns:a="http://schemas.openxmlformats.org/drawingml/2006/main">
            <a:off x="32099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6EB8141A-1598-4B2E-A21D-2F7F1DA01E66}"/>
              </a:ext>
            </a:extLst>
          </p:cNvPr>
          <p:cNvSpPr>
            <a:spLocks xmlns:a="http://schemas.openxmlformats.org/drawingml/2006/main" noGrp="1"/>
          </p:cNvSpPr>
          <p:nvPr/>
        </p:nvSpPr>
        <p:spPr>
          <a:xfrm xmlns:a="http://schemas.openxmlformats.org/drawingml/2006/main">
            <a:off x="32099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85A1F832-A7B2-45C4-A991-668D51847BA9}"/>
              </a:ext>
            </a:extLst>
          </p:cNvPr>
          <p:cNvSpPr>
            <a:spLocks xmlns:a="http://schemas.openxmlformats.org/drawingml/2006/main" noGrp="1"/>
          </p:cNvSpPr>
          <p:nvPr/>
        </p:nvSpPr>
        <p:spPr>
          <a:xfrm xmlns:a="http://schemas.openxmlformats.org/drawingml/2006/main">
            <a:off x="33718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02B1BB0B-4F72-463B-B16D-E705E7893723}"/>
              </a:ext>
            </a:extLst>
          </p:cNvPr>
          <p:cNvSpPr>
            <a:spLocks xmlns:a="http://schemas.openxmlformats.org/drawingml/2006/main" noGrp="1"/>
          </p:cNvSpPr>
          <p:nvPr/>
        </p:nvSpPr>
        <p:spPr>
          <a:xfrm xmlns:a="http://schemas.openxmlformats.org/drawingml/2006/main">
            <a:off x="33718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D3E35176-73A7-491A-8893-0E8B7CBCEDF7}"/>
              </a:ext>
            </a:extLst>
          </p:cNvPr>
          <p:cNvSpPr>
            <a:spLocks xmlns:a="http://schemas.openxmlformats.org/drawingml/2006/main" noGrp="1"/>
          </p:cNvSpPr>
          <p:nvPr/>
        </p:nvSpPr>
        <p:spPr>
          <a:xfrm xmlns:a="http://schemas.openxmlformats.org/drawingml/2006/main">
            <a:off x="35337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559C4744-0B05-4CB3-BC6C-F847AF7F9806}"/>
              </a:ext>
            </a:extLst>
          </p:cNvPr>
          <p:cNvSpPr>
            <a:spLocks xmlns:a="http://schemas.openxmlformats.org/drawingml/2006/main" noGrp="1"/>
          </p:cNvSpPr>
          <p:nvPr/>
        </p:nvSpPr>
        <p:spPr>
          <a:xfrm xmlns:a="http://schemas.openxmlformats.org/drawingml/2006/main">
            <a:off x="35337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7785994B-D5EB-4DA7-ADE4-CBE2F74D3C6E}"/>
              </a:ext>
            </a:extLst>
          </p:cNvPr>
          <p:cNvSpPr>
            <a:spLocks xmlns:a="http://schemas.openxmlformats.org/drawingml/2006/main" noGrp="1"/>
          </p:cNvSpPr>
          <p:nvPr/>
        </p:nvSpPr>
        <p:spPr>
          <a:xfrm xmlns:a="http://schemas.openxmlformats.org/drawingml/2006/main">
            <a:off x="36957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78B9320D-7C88-4A14-9181-94BCB176A242}"/>
              </a:ext>
            </a:extLst>
          </p:cNvPr>
          <p:cNvSpPr>
            <a:spLocks xmlns:a="http://schemas.openxmlformats.org/drawingml/2006/main" noGrp="1"/>
          </p:cNvSpPr>
          <p:nvPr/>
        </p:nvSpPr>
        <p:spPr>
          <a:xfrm xmlns:a="http://schemas.openxmlformats.org/drawingml/2006/main">
            <a:off x="36957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CA763BBA-64CF-4437-87D1-2CB94A48F7E1}"/>
              </a:ext>
            </a:extLst>
          </p:cNvPr>
          <p:cNvSpPr>
            <a:spLocks xmlns:a="http://schemas.openxmlformats.org/drawingml/2006/main" noGrp="1"/>
          </p:cNvSpPr>
          <p:nvPr/>
        </p:nvSpPr>
        <p:spPr>
          <a:xfrm xmlns:a="http://schemas.openxmlformats.org/drawingml/2006/main">
            <a:off x="38576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198E2926-6BC4-4415-91AF-18107C3448BB}"/>
              </a:ext>
            </a:extLst>
          </p:cNvPr>
          <p:cNvSpPr>
            <a:spLocks xmlns:a="http://schemas.openxmlformats.org/drawingml/2006/main" noGrp="1"/>
          </p:cNvSpPr>
          <p:nvPr/>
        </p:nvSpPr>
        <p:spPr>
          <a:xfrm xmlns:a="http://schemas.openxmlformats.org/drawingml/2006/main">
            <a:off x="38576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13E3ED9D-1C75-4591-979A-D02651C7B590}"/>
              </a:ext>
            </a:extLst>
          </p:cNvPr>
          <p:cNvSpPr>
            <a:spLocks xmlns:a="http://schemas.openxmlformats.org/drawingml/2006/main" noGrp="1"/>
          </p:cNvSpPr>
          <p:nvPr/>
        </p:nvSpPr>
        <p:spPr>
          <a:xfrm xmlns:a="http://schemas.openxmlformats.org/drawingml/2006/main">
            <a:off x="4019550" y="4286250"/>
            <a:ext cx="762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2EEEE93D-764B-45C2-81EA-2F287E4AB0BF}"/>
              </a:ext>
            </a:extLst>
          </p:cNvPr>
          <p:cNvSpPr>
            <a:spLocks xmlns:a="http://schemas.openxmlformats.org/drawingml/2006/main" noGrp="1"/>
          </p:cNvSpPr>
          <p:nvPr/>
        </p:nvSpPr>
        <p:spPr>
          <a:xfrm xmlns:a="http://schemas.openxmlformats.org/drawingml/2006/main">
            <a:off x="4019550" y="5143500"/>
            <a:ext cx="762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4C05E98A-05AC-4FB2-8BF0-E905190810C2}"/>
              </a:ext>
            </a:extLst>
          </p:cNvPr>
          <p:cNvSpPr>
            <a:spLocks xmlns:a="http://schemas.openxmlformats.org/drawingml/2006/main" noGrp="1"/>
          </p:cNvSpPr>
          <p:nvPr/>
        </p:nvSpPr>
        <p:spPr>
          <a:xfrm xmlns:a="http://schemas.openxmlformats.org/drawingml/2006/main">
            <a:off x="1428750" y="42862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12251CB7-5A48-413B-8493-8F883BAE1B61}"/>
              </a:ext>
            </a:extLst>
          </p:cNvPr>
          <p:cNvSpPr>
            <a:spLocks xmlns:a="http://schemas.openxmlformats.org/drawingml/2006/main" noGrp="1"/>
          </p:cNvSpPr>
          <p:nvPr/>
        </p:nvSpPr>
        <p:spPr>
          <a:xfrm xmlns:a="http://schemas.openxmlformats.org/drawingml/2006/main">
            <a:off x="4076700" y="42862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2FADD7A4-99F3-4D0C-A8C8-55B6BA245161}"/>
              </a:ext>
            </a:extLst>
          </p:cNvPr>
          <p:cNvSpPr>
            <a:spLocks xmlns:a="http://schemas.openxmlformats.org/drawingml/2006/main" noGrp="1"/>
          </p:cNvSpPr>
          <p:nvPr/>
        </p:nvSpPr>
        <p:spPr>
          <a:xfrm xmlns:a="http://schemas.openxmlformats.org/drawingml/2006/main">
            <a:off x="1428750" y="444817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D0230351-00FE-4F8C-8B31-6464C8C5CAD3}"/>
              </a:ext>
            </a:extLst>
          </p:cNvPr>
          <p:cNvSpPr>
            <a:spLocks xmlns:a="http://schemas.openxmlformats.org/drawingml/2006/main" noGrp="1"/>
          </p:cNvSpPr>
          <p:nvPr/>
        </p:nvSpPr>
        <p:spPr>
          <a:xfrm xmlns:a="http://schemas.openxmlformats.org/drawingml/2006/main">
            <a:off x="4076700" y="444817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64683EF2-7CB6-49A0-832B-999EC5E3C73B}"/>
              </a:ext>
            </a:extLst>
          </p:cNvPr>
          <p:cNvSpPr>
            <a:spLocks xmlns:a="http://schemas.openxmlformats.org/drawingml/2006/main" noGrp="1"/>
          </p:cNvSpPr>
          <p:nvPr/>
        </p:nvSpPr>
        <p:spPr>
          <a:xfrm xmlns:a="http://schemas.openxmlformats.org/drawingml/2006/main">
            <a:off x="1428750" y="461010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5F3F7664-8F5C-4A16-B495-1AC60656D500}"/>
              </a:ext>
            </a:extLst>
          </p:cNvPr>
          <p:cNvSpPr>
            <a:spLocks xmlns:a="http://schemas.openxmlformats.org/drawingml/2006/main" noGrp="1"/>
          </p:cNvSpPr>
          <p:nvPr/>
        </p:nvSpPr>
        <p:spPr>
          <a:xfrm xmlns:a="http://schemas.openxmlformats.org/drawingml/2006/main">
            <a:off x="4076700" y="461010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D4FE66CA-F457-4005-B39D-C75B0F6F8A08}"/>
              </a:ext>
            </a:extLst>
          </p:cNvPr>
          <p:cNvSpPr>
            <a:spLocks xmlns:a="http://schemas.openxmlformats.org/drawingml/2006/main" noGrp="1"/>
          </p:cNvSpPr>
          <p:nvPr/>
        </p:nvSpPr>
        <p:spPr>
          <a:xfrm xmlns:a="http://schemas.openxmlformats.org/drawingml/2006/main">
            <a:off x="1428750" y="477202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03612203-D8BB-4890-9842-BDE191206B77}"/>
              </a:ext>
            </a:extLst>
          </p:cNvPr>
          <p:cNvSpPr>
            <a:spLocks xmlns:a="http://schemas.openxmlformats.org/drawingml/2006/main" noGrp="1"/>
          </p:cNvSpPr>
          <p:nvPr/>
        </p:nvSpPr>
        <p:spPr>
          <a:xfrm xmlns:a="http://schemas.openxmlformats.org/drawingml/2006/main">
            <a:off x="4076700" y="477202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BF31F117-42EB-421C-ABBD-9424CC26E21D}"/>
              </a:ext>
            </a:extLst>
          </p:cNvPr>
          <p:cNvSpPr>
            <a:spLocks xmlns:a="http://schemas.openxmlformats.org/drawingml/2006/main" noGrp="1"/>
          </p:cNvSpPr>
          <p:nvPr/>
        </p:nvSpPr>
        <p:spPr>
          <a:xfrm xmlns:a="http://schemas.openxmlformats.org/drawingml/2006/main">
            <a:off x="1428750" y="49339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41D53321-EF40-4EE1-9BE3-049F5D9D8DDA}"/>
              </a:ext>
            </a:extLst>
          </p:cNvPr>
          <p:cNvSpPr>
            <a:spLocks xmlns:a="http://schemas.openxmlformats.org/drawingml/2006/main" noGrp="1"/>
          </p:cNvSpPr>
          <p:nvPr/>
        </p:nvSpPr>
        <p:spPr>
          <a:xfrm xmlns:a="http://schemas.openxmlformats.org/drawingml/2006/main">
            <a:off x="4076700" y="49339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00C80516-7F6A-497D-A3E6-F589091589EB}"/>
              </a:ext>
            </a:extLst>
          </p:cNvPr>
          <p:cNvSpPr>
            <a:spLocks xmlns:a="http://schemas.openxmlformats.org/drawingml/2006/main" noGrp="1"/>
          </p:cNvSpPr>
          <p:nvPr/>
        </p:nvSpPr>
        <p:spPr>
          <a:xfrm xmlns:a="http://schemas.openxmlformats.org/drawingml/2006/main">
            <a:off x="1428750" y="5095875"/>
            <a:ext cx="19050" cy="666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7A6C4332-ED94-4D2E-A348-68BC965D3457}"/>
              </a:ext>
            </a:extLst>
          </p:cNvPr>
          <p:cNvSpPr>
            <a:spLocks xmlns:a="http://schemas.openxmlformats.org/drawingml/2006/main" noGrp="1"/>
          </p:cNvSpPr>
          <p:nvPr/>
        </p:nvSpPr>
        <p:spPr>
          <a:xfrm xmlns:a="http://schemas.openxmlformats.org/drawingml/2006/main">
            <a:off x="4076700" y="5095875"/>
            <a:ext cx="19050" cy="666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F018D46F-D22F-420F-9183-D442564A7106}"/>
              </a:ext>
            </a:extLst>
          </p:cNvPr>
          <p:cNvSpPr>
            <a:spLocks xmlns:a="http://schemas.openxmlformats.org/drawingml/2006/main" noGrp="1"/>
          </p:cNvSpPr>
          <p:nvPr/>
        </p:nvSpPr>
        <p:spPr>
          <a:xfrm xmlns:a="http://schemas.openxmlformats.org/drawingml/2006/main" rot="0">
            <a:off x="1562100" y="4400550"/>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現場で得たデータ</a:t>
            </a:r>
          </a:p>
        </p:txBody>
      </p:sp>
      <p:sp>
        <p:nvSpPr>
          <p:cNvPr id="58" name="">
            <a:extLst xmlns:a="http://schemas.openxmlformats.org/drawingml/2006/main">
              <a:ext uri="{FF2B5EF4-FFF2-40B4-BE49-F238E27FC236}">
                <a16:creationId xmlns:a16="http://schemas.microsoft.com/office/drawing/2014/main" id="{A1F14032-4832-4AEE-80E1-0C66656DB00C}"/>
              </a:ext>
            </a:extLst>
          </p:cNvPr>
          <p:cNvSpPr>
            <a:spLocks xmlns:a="http://schemas.openxmlformats.org/drawingml/2006/main" noGrp="1"/>
          </p:cNvSpPr>
          <p:nvPr/>
        </p:nvSpPr>
        <p:spPr>
          <a:xfrm xmlns:a="http://schemas.openxmlformats.org/drawingml/2006/main">
            <a:off x="4238625" y="2476500"/>
            <a:ext cx="3000375"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D6130572-3755-4B2D-8D1D-4D9608923745}"/>
              </a:ext>
            </a:extLst>
          </p:cNvPr>
          <p:cNvSpPr>
            <a:spLocks xmlns:a="http://schemas.openxmlformats.org/drawingml/2006/main" noGrp="1"/>
          </p:cNvSpPr>
          <p:nvPr/>
        </p:nvSpPr>
        <p:spPr>
          <a:xfrm xmlns:a="http://schemas.openxmlformats.org/drawingml/2006/main" rot="5400000">
            <a:off x="7210425" y="24098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0" name="">
            <a:extLst xmlns:a="http://schemas.openxmlformats.org/drawingml/2006/main">
              <a:ext uri="{FF2B5EF4-FFF2-40B4-BE49-F238E27FC236}">
                <a16:creationId xmlns:a16="http://schemas.microsoft.com/office/drawing/2014/main" id="{EC7461B9-6A3C-48C7-8015-BE6819CE5046}"/>
              </a:ext>
            </a:extLst>
          </p:cNvPr>
          <p:cNvSpPr>
            <a:spLocks xmlns:a="http://schemas.openxmlformats.org/drawingml/2006/main" noGrp="1"/>
          </p:cNvSpPr>
          <p:nvPr/>
        </p:nvSpPr>
        <p:spPr>
          <a:xfrm xmlns:a="http://schemas.openxmlformats.org/drawingml/2006/main">
            <a:off x="8839200" y="3019425"/>
            <a:ext cx="28575" cy="981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CCE7BE09-DA46-4FF6-BD39-D0DE55D56DCF}"/>
              </a:ext>
            </a:extLst>
          </p:cNvPr>
          <p:cNvSpPr>
            <a:spLocks xmlns:a="http://schemas.openxmlformats.org/drawingml/2006/main" noGrp="1"/>
          </p:cNvSpPr>
          <p:nvPr/>
        </p:nvSpPr>
        <p:spPr>
          <a:xfrm xmlns:a="http://schemas.openxmlformats.org/drawingml/2006/main" rot="10800000">
            <a:off x="8772525" y="3971925"/>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2" name="">
            <a:extLst xmlns:a="http://schemas.openxmlformats.org/drawingml/2006/main">
              <a:ext uri="{FF2B5EF4-FFF2-40B4-BE49-F238E27FC236}">
                <a16:creationId xmlns:a16="http://schemas.microsoft.com/office/drawing/2014/main" id="{E0DAFD11-B49D-4FF7-A019-1B53FAB65544}"/>
              </a:ext>
            </a:extLst>
          </p:cNvPr>
          <p:cNvSpPr>
            <a:spLocks xmlns:a="http://schemas.openxmlformats.org/drawingml/2006/main" noGrp="1"/>
          </p:cNvSpPr>
          <p:nvPr/>
        </p:nvSpPr>
        <p:spPr>
          <a:xfrm xmlns:a="http://schemas.openxmlformats.org/drawingml/2006/main">
            <a:off x="4381500" y="4724400"/>
            <a:ext cx="3000375"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79CB71A0-AA7B-4394-8B9C-ECA148394F7D}"/>
              </a:ext>
            </a:extLst>
          </p:cNvPr>
          <p:cNvSpPr>
            <a:spLocks xmlns:a="http://schemas.openxmlformats.org/drawingml/2006/main" noGrp="1"/>
          </p:cNvSpPr>
          <p:nvPr/>
        </p:nvSpPr>
        <p:spPr>
          <a:xfrm xmlns:a="http://schemas.openxmlformats.org/drawingml/2006/main" rot="16200000">
            <a:off x="4238625" y="46577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4" name="">
            <a:extLst xmlns:a="http://schemas.openxmlformats.org/drawingml/2006/main">
              <a:ext uri="{FF2B5EF4-FFF2-40B4-BE49-F238E27FC236}">
                <a16:creationId xmlns:a16="http://schemas.microsoft.com/office/drawing/2014/main" id="{4E0F1A0C-F85F-43B7-B541-E0645D84C405}"/>
              </a:ext>
            </a:extLst>
          </p:cNvPr>
          <p:cNvSpPr>
            <a:spLocks xmlns:a="http://schemas.openxmlformats.org/drawingml/2006/main" noGrp="1"/>
          </p:cNvSpPr>
          <p:nvPr/>
        </p:nvSpPr>
        <p:spPr>
          <a:xfrm xmlns:a="http://schemas.openxmlformats.org/drawingml/2006/main">
            <a:off x="2743200" y="3162300"/>
            <a:ext cx="28575" cy="981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B8C59F92-A75E-4317-8817-42709205DB92}"/>
              </a:ext>
            </a:extLst>
          </p:cNvPr>
          <p:cNvSpPr>
            <a:spLocks xmlns:a="http://schemas.openxmlformats.org/drawingml/2006/main" noGrp="1"/>
          </p:cNvSpPr>
          <p:nvPr/>
        </p:nvSpPr>
        <p:spPr>
          <a:xfrm xmlns:a="http://schemas.openxmlformats.org/drawingml/2006/main" rot="0">
            <a:off x="2676525" y="3019425"/>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6" name="">
            <a:extLst xmlns:a="http://schemas.openxmlformats.org/drawingml/2006/main">
              <a:ext uri="{FF2B5EF4-FFF2-40B4-BE49-F238E27FC236}">
                <a16:creationId xmlns:a16="http://schemas.microsoft.com/office/drawing/2014/main" id="{021A38BB-CD85-4512-85FC-750080211127}"/>
              </a:ext>
            </a:extLst>
          </p:cNvPr>
          <p:cNvSpPr>
            <a:spLocks xmlns:a="http://schemas.openxmlformats.org/drawingml/2006/main" noGrp="1"/>
          </p:cNvSpPr>
          <p:nvPr/>
        </p:nvSpPr>
        <p:spPr>
          <a:xfrm xmlns:a="http://schemas.openxmlformats.org/drawingml/2006/main" rot="0">
            <a:off x="4905375" y="214312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8646A"/>
                </a:solidFill>
                <a:latin typeface="Hiragino Sans"/>
                <a:ea typeface="Hiragino Sans"/>
                <a:cs typeface="Hiragino Sans"/>
              </a:defRPr>
            </a:pPr>
            <a:r>
              <a:rPr sz="1125" b="0">
                <a:solidFill>
                  <a:srgbClr val="58646A"/>
                </a:solidFill>
                <a:latin typeface="Hiragino Sans"/>
                <a:ea typeface="Hiragino Sans"/>
                <a:cs typeface="Hiragino Sans"/>
              </a:rPr>
              <a:t>モデルを実機へ</a:t>
            </a:r>
          </a:p>
        </p:txBody>
      </p:sp>
      <p:sp>
        <p:nvSpPr>
          <p:cNvPr id="67" name="">
            <a:extLst xmlns:a="http://schemas.openxmlformats.org/drawingml/2006/main">
              <a:ext uri="{FF2B5EF4-FFF2-40B4-BE49-F238E27FC236}">
                <a16:creationId xmlns:a16="http://schemas.microsoft.com/office/drawing/2014/main" id="{260F5CAF-2975-448E-905E-03919F84676F}"/>
              </a:ext>
            </a:extLst>
          </p:cNvPr>
          <p:cNvSpPr>
            <a:spLocks xmlns:a="http://schemas.openxmlformats.org/drawingml/2006/main" noGrp="1"/>
          </p:cNvSpPr>
          <p:nvPr/>
        </p:nvSpPr>
        <p:spPr>
          <a:xfrm xmlns:a="http://schemas.openxmlformats.org/drawingml/2006/main" rot="0">
            <a:off x="4953000" y="3476625"/>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稼働そのものが</a:t>
            </a:r>
          </a:p>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データ収集になる</a:t>
            </a:r>
          </a:p>
        </p:txBody>
      </p:sp>
      <p:sp>
        <p:nvSpPr>
          <p:cNvPr id="68" name="">
            <a:extLst xmlns:a="http://schemas.openxmlformats.org/drawingml/2006/main">
              <a:ext uri="{FF2B5EF4-FFF2-40B4-BE49-F238E27FC236}">
                <a16:creationId xmlns:a16="http://schemas.microsoft.com/office/drawing/2014/main" id="{8FA40188-7B65-4863-B9A2-9E16C8B6BB60}"/>
              </a:ext>
            </a:extLst>
          </p:cNvPr>
          <p:cNvSpPr>
            <a:spLocks xmlns:a="http://schemas.openxmlformats.org/drawingml/2006/main" noGrp="1"/>
          </p:cNvSpPr>
          <p:nvPr/>
        </p:nvSpPr>
        <p:spPr>
          <a:xfrm xmlns:a="http://schemas.openxmlformats.org/drawingml/2006/main" rot="0">
            <a:off x="723900" y="58102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データをモデル改善へ戻す</a:t>
            </a:r>
          </a:p>
        </p:txBody>
      </p:sp>
    </p:spTree>
    <p:extLst>
      <p:ext uri="{BB962C8B-B14F-4D97-AF65-F5344CB8AC3E}">
        <p14:creationId xmlns:p14="http://schemas.microsoft.com/office/powerpoint/2010/main" val="595815021"/>
      </p:ext>
    </p:extLst>
  </p:cSld>
</p:sld>
</file>

<file path=ppt/slides/slide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C3E28ED-2882-46F1-808D-E53C68C7FEB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AC97C24-3444-473E-BDD7-594D6E772E50}"/>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5191B"/>
                </a:solidFill>
                <a:latin typeface="Hiragino Sans"/>
                <a:ea typeface="Hiragino Sans"/>
                <a:cs typeface="Hiragino Sans"/>
              </a:defRPr>
            </a:pPr>
            <a:r>
              <a:rPr sz="2325" b="1">
                <a:solidFill>
                  <a:srgbClr val="15191B"/>
                </a:solidFill>
                <a:latin typeface="Hiragino Sans"/>
                <a:ea typeface="Hiragino Sans"/>
                <a:cs typeface="Hiragino Sans"/>
              </a:rPr>
              <a:t>データ収集を通じて、先に実現場ネットワークを構築することが有利</a:t>
            </a:r>
          </a:p>
        </p:txBody>
      </p:sp>
      <p:sp>
        <p:nvSpPr>
          <p:cNvPr id="3" name="">
            <a:extLst xmlns:a="http://schemas.openxmlformats.org/drawingml/2006/main">
              <a:ext uri="{FF2B5EF4-FFF2-40B4-BE49-F238E27FC236}">
                <a16:creationId xmlns:a16="http://schemas.microsoft.com/office/drawing/2014/main" id="{F92B81F8-09A3-4A93-87BD-4135882E027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6A9D27F-6052-4EE2-AF66-430ACAD92674}"/>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07</a:t>
            </a:r>
          </a:p>
        </p:txBody>
      </p:sp>
      <p:sp>
        <p:nvSpPr>
          <p:cNvPr id="5" name="">
            <a:extLst xmlns:a="http://schemas.openxmlformats.org/drawingml/2006/main">
              <a:ext uri="{FF2B5EF4-FFF2-40B4-BE49-F238E27FC236}">
                <a16:creationId xmlns:a16="http://schemas.microsoft.com/office/drawing/2014/main" id="{6238C277-88E3-4D9B-8964-0A5B3FB094FD}"/>
              </a:ext>
            </a:extLst>
          </p:cNvPr>
          <p:cNvSpPr>
            <a:spLocks xmlns:a="http://schemas.openxmlformats.org/drawingml/2006/main" noGrp="1"/>
          </p:cNvSpPr>
          <p:nvPr/>
        </p:nvSpPr>
        <p:spPr>
          <a:xfrm xmlns:a="http://schemas.openxmlformats.org/drawingml/2006/main" rot="0">
            <a:off x="723900" y="16002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フィジカルAIは実現場のデータなしに成立しないからこそ、最上流のデータ収集層と最下流の現場統合が繋がる、この業界特有の構造がある</a:t>
            </a:r>
          </a:p>
        </p:txBody>
      </p:sp>
      <p:sp>
        <p:nvSpPr>
          <p:cNvPr id="6" name="">
            <a:extLst xmlns:a="http://schemas.openxmlformats.org/drawingml/2006/main">
              <a:ext uri="{FF2B5EF4-FFF2-40B4-BE49-F238E27FC236}">
                <a16:creationId xmlns:a16="http://schemas.microsoft.com/office/drawing/2014/main" id="{8CAD81C9-839F-4F2B-9BA8-6C450C0701D2}"/>
              </a:ext>
            </a:extLst>
          </p:cNvPr>
          <p:cNvSpPr>
            <a:spLocks xmlns:a="http://schemas.openxmlformats.org/drawingml/2006/main" noGrp="1"/>
          </p:cNvSpPr>
          <p:nvPr/>
        </p:nvSpPr>
        <p:spPr>
          <a:xfrm xmlns:a="http://schemas.openxmlformats.org/drawingml/2006/main">
            <a:off x="3667125" y="2143125"/>
            <a:ext cx="409575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7" name="">
            <a:extLst xmlns:a="http://schemas.openxmlformats.org/drawingml/2006/main">
              <a:ext uri="{FF2B5EF4-FFF2-40B4-BE49-F238E27FC236}">
                <a16:creationId xmlns:a16="http://schemas.microsoft.com/office/drawing/2014/main" id="{568CDD39-7751-4145-B275-9360CB6F5B7B}"/>
              </a:ext>
            </a:extLst>
          </p:cNvPr>
          <p:cNvSpPr>
            <a:spLocks xmlns:a="http://schemas.openxmlformats.org/drawingml/2006/main" noGrp="1"/>
          </p:cNvSpPr>
          <p:nvPr/>
        </p:nvSpPr>
        <p:spPr>
          <a:xfrm xmlns:a="http://schemas.openxmlformats.org/drawingml/2006/main" rot="0">
            <a:off x="3800475" y="225742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データ収集・加工</a:t>
            </a:r>
          </a:p>
        </p:txBody>
      </p:sp>
      <p:sp>
        <p:nvSpPr>
          <p:cNvPr id="8" name="">
            <a:extLst xmlns:a="http://schemas.openxmlformats.org/drawingml/2006/main">
              <a:ext uri="{FF2B5EF4-FFF2-40B4-BE49-F238E27FC236}">
                <a16:creationId xmlns:a16="http://schemas.microsoft.com/office/drawing/2014/main" id="{B963D9A4-9330-4E96-871A-1791E7C34829}"/>
              </a:ext>
            </a:extLst>
          </p:cNvPr>
          <p:cNvSpPr>
            <a:spLocks xmlns:a="http://schemas.openxmlformats.org/drawingml/2006/main" noGrp="1"/>
          </p:cNvSpPr>
          <p:nvPr/>
        </p:nvSpPr>
        <p:spPr>
          <a:xfrm xmlns:a="http://schemas.openxmlformats.org/drawingml/2006/main">
            <a:off x="3667125" y="2809875"/>
            <a:ext cx="40957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9" name="">
            <a:extLst xmlns:a="http://schemas.openxmlformats.org/drawingml/2006/main">
              <a:ext uri="{FF2B5EF4-FFF2-40B4-BE49-F238E27FC236}">
                <a16:creationId xmlns:a16="http://schemas.microsoft.com/office/drawing/2014/main" id="{A834C474-0123-4836-9A4D-3BA49672ECC8}"/>
              </a:ext>
            </a:extLst>
          </p:cNvPr>
          <p:cNvSpPr>
            <a:spLocks xmlns:a="http://schemas.openxmlformats.org/drawingml/2006/main" noGrp="1"/>
          </p:cNvSpPr>
          <p:nvPr/>
        </p:nvSpPr>
        <p:spPr>
          <a:xfrm xmlns:a="http://schemas.openxmlformats.org/drawingml/2006/main" rot="0">
            <a:off x="3800475" y="292417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基盤モデル・シミュレーション</a:t>
            </a:r>
          </a:p>
        </p:txBody>
      </p:sp>
      <p:sp>
        <p:nvSpPr>
          <p:cNvPr id="10" name="">
            <a:extLst xmlns:a="http://schemas.openxmlformats.org/drawingml/2006/main">
              <a:ext uri="{FF2B5EF4-FFF2-40B4-BE49-F238E27FC236}">
                <a16:creationId xmlns:a16="http://schemas.microsoft.com/office/drawing/2014/main" id="{DC94B53B-EA86-4088-8135-37514781735A}"/>
              </a:ext>
            </a:extLst>
          </p:cNvPr>
          <p:cNvSpPr>
            <a:spLocks xmlns:a="http://schemas.openxmlformats.org/drawingml/2006/main" noGrp="1"/>
          </p:cNvSpPr>
          <p:nvPr/>
        </p:nvSpPr>
        <p:spPr>
          <a:xfrm xmlns:a="http://schemas.openxmlformats.org/drawingml/2006/main">
            <a:off x="3667125" y="3476625"/>
            <a:ext cx="40957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1" name="">
            <a:extLst xmlns:a="http://schemas.openxmlformats.org/drawingml/2006/main">
              <a:ext uri="{FF2B5EF4-FFF2-40B4-BE49-F238E27FC236}">
                <a16:creationId xmlns:a16="http://schemas.microsoft.com/office/drawing/2014/main" id="{CAF24163-B9E4-4157-8616-5303C3DAD97B}"/>
              </a:ext>
            </a:extLst>
          </p:cNvPr>
          <p:cNvSpPr>
            <a:spLocks xmlns:a="http://schemas.openxmlformats.org/drawingml/2006/main" noGrp="1"/>
          </p:cNvSpPr>
          <p:nvPr/>
        </p:nvSpPr>
        <p:spPr>
          <a:xfrm xmlns:a="http://schemas.openxmlformats.org/drawingml/2006/main" rot="0">
            <a:off x="3800475" y="359092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ハードウェア</a:t>
            </a:r>
          </a:p>
        </p:txBody>
      </p:sp>
      <p:sp>
        <p:nvSpPr>
          <p:cNvPr id="12" name="">
            <a:extLst xmlns:a="http://schemas.openxmlformats.org/drawingml/2006/main">
              <a:ext uri="{FF2B5EF4-FFF2-40B4-BE49-F238E27FC236}">
                <a16:creationId xmlns:a16="http://schemas.microsoft.com/office/drawing/2014/main" id="{DF82032E-6A95-496D-99BE-0B45776518A3}"/>
              </a:ext>
            </a:extLst>
          </p:cNvPr>
          <p:cNvSpPr>
            <a:spLocks xmlns:a="http://schemas.openxmlformats.org/drawingml/2006/main" noGrp="1"/>
          </p:cNvSpPr>
          <p:nvPr/>
        </p:nvSpPr>
        <p:spPr>
          <a:xfrm xmlns:a="http://schemas.openxmlformats.org/drawingml/2006/main">
            <a:off x="3667125" y="4143375"/>
            <a:ext cx="409575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A50DBD42-A42A-498D-A73A-6983A042A53B}"/>
              </a:ext>
            </a:extLst>
          </p:cNvPr>
          <p:cNvSpPr>
            <a:spLocks xmlns:a="http://schemas.openxmlformats.org/drawingml/2006/main" noGrp="1"/>
          </p:cNvSpPr>
          <p:nvPr/>
        </p:nvSpPr>
        <p:spPr>
          <a:xfrm xmlns:a="http://schemas.openxmlformats.org/drawingml/2006/main" rot="0">
            <a:off x="3800475" y="425767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現場統合</a:t>
            </a:r>
          </a:p>
        </p:txBody>
      </p:sp>
      <p:sp>
        <p:nvSpPr>
          <p:cNvPr id="14" name="">
            <a:extLst xmlns:a="http://schemas.openxmlformats.org/drawingml/2006/main">
              <a:ext uri="{FF2B5EF4-FFF2-40B4-BE49-F238E27FC236}">
                <a16:creationId xmlns:a16="http://schemas.microsoft.com/office/drawing/2014/main" id="{A9C9B9AB-1B30-44CB-8E5A-FDE17BB55E3C}"/>
              </a:ext>
            </a:extLst>
          </p:cNvPr>
          <p:cNvSpPr>
            <a:spLocks xmlns:a="http://schemas.openxmlformats.org/drawingml/2006/main" noGrp="1"/>
          </p:cNvSpPr>
          <p:nvPr/>
        </p:nvSpPr>
        <p:spPr>
          <a:xfrm xmlns:a="http://schemas.openxmlformats.org/drawingml/2006/main">
            <a:off x="3667125" y="5238750"/>
            <a:ext cx="4095750" cy="552450"/>
          </a:xfrm>
          <a:prstGeom xmlns:a="http://schemas.openxmlformats.org/drawingml/2006/main" prst="rect">
            <a:avLst/>
          </a:prstGeom>
          <a:solidFill xmlns:a="http://schemas.openxmlformats.org/drawingml/2006/main">
            <a:srgbClr val="25333A"/>
          </a:solidFill>
          <a:ln xmlns:a="http://schemas.openxmlformats.org/drawingml/2006/main" w="19050">
            <a:solidFill>
              <a:srgbClr val="25333A"/>
            </a:solidFill>
          </a:ln>
        </p:spPr>
      </p:sp>
      <p:sp>
        <p:nvSpPr>
          <p:cNvPr id="15" name="">
            <a:extLst xmlns:a="http://schemas.openxmlformats.org/drawingml/2006/main">
              <a:ext uri="{FF2B5EF4-FFF2-40B4-BE49-F238E27FC236}">
                <a16:creationId xmlns:a16="http://schemas.microsoft.com/office/drawing/2014/main" id="{5524DFC7-84B7-4245-987D-0403AE09B17C}"/>
              </a:ext>
            </a:extLst>
          </p:cNvPr>
          <p:cNvSpPr>
            <a:spLocks xmlns:a="http://schemas.openxmlformats.org/drawingml/2006/main" noGrp="1"/>
          </p:cNvSpPr>
          <p:nvPr/>
        </p:nvSpPr>
        <p:spPr>
          <a:xfrm xmlns:a="http://schemas.openxmlformats.org/drawingml/2006/main" rot="0">
            <a:off x="3800475" y="5353050"/>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現場</a:t>
            </a:r>
          </a:p>
        </p:txBody>
      </p:sp>
      <p:sp>
        <p:nvSpPr>
          <p:cNvPr id="16" name="">
            <a:extLst xmlns:a="http://schemas.openxmlformats.org/drawingml/2006/main">
              <a:ext uri="{FF2B5EF4-FFF2-40B4-BE49-F238E27FC236}">
                <a16:creationId xmlns:a16="http://schemas.microsoft.com/office/drawing/2014/main" id="{32A03087-C09C-4250-9549-05930D35D367}"/>
              </a:ext>
            </a:extLst>
          </p:cNvPr>
          <p:cNvSpPr>
            <a:spLocks xmlns:a="http://schemas.openxmlformats.org/drawingml/2006/main" noGrp="1"/>
          </p:cNvSpPr>
          <p:nvPr/>
        </p:nvSpPr>
        <p:spPr>
          <a:xfrm xmlns:a="http://schemas.openxmlformats.org/drawingml/2006/main">
            <a:off x="5715000" y="4791075"/>
            <a:ext cx="28575" cy="2095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04C9C77-9494-4C31-BF0E-7EFB0DDABF38}"/>
              </a:ext>
            </a:extLst>
          </p:cNvPr>
          <p:cNvSpPr>
            <a:spLocks xmlns:a="http://schemas.openxmlformats.org/drawingml/2006/main" noGrp="1"/>
          </p:cNvSpPr>
          <p:nvPr/>
        </p:nvSpPr>
        <p:spPr>
          <a:xfrm xmlns:a="http://schemas.openxmlformats.org/drawingml/2006/main" rot="10800000">
            <a:off x="5648325" y="4972050"/>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8" name="">
            <a:extLst xmlns:a="http://schemas.openxmlformats.org/drawingml/2006/main">
              <a:ext uri="{FF2B5EF4-FFF2-40B4-BE49-F238E27FC236}">
                <a16:creationId xmlns:a16="http://schemas.microsoft.com/office/drawing/2014/main" id="{52B62A80-5CCE-4D41-B56E-CC0E436DC776}"/>
              </a:ext>
            </a:extLst>
          </p:cNvPr>
          <p:cNvSpPr>
            <a:spLocks xmlns:a="http://schemas.openxmlformats.org/drawingml/2006/main" noGrp="1"/>
          </p:cNvSpPr>
          <p:nvPr/>
        </p:nvSpPr>
        <p:spPr>
          <a:xfrm xmlns:a="http://schemas.openxmlformats.org/drawingml/2006/main">
            <a:off x="7762875" y="2419350"/>
            <a:ext cx="16192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02D7C3F-81BE-4A92-BFE9-C582D3268896}"/>
              </a:ext>
            </a:extLst>
          </p:cNvPr>
          <p:cNvSpPr>
            <a:spLocks xmlns:a="http://schemas.openxmlformats.org/drawingml/2006/main" noGrp="1"/>
          </p:cNvSpPr>
          <p:nvPr/>
        </p:nvSpPr>
        <p:spPr>
          <a:xfrm xmlns:a="http://schemas.openxmlformats.org/drawingml/2006/main">
            <a:off x="9353550" y="2419350"/>
            <a:ext cx="28575" cy="309562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7553F2B-DCEF-46F3-90DE-FF1BA0B637BB}"/>
              </a:ext>
            </a:extLst>
          </p:cNvPr>
          <p:cNvSpPr>
            <a:spLocks xmlns:a="http://schemas.openxmlformats.org/drawingml/2006/main" noGrp="1"/>
          </p:cNvSpPr>
          <p:nvPr/>
        </p:nvSpPr>
        <p:spPr>
          <a:xfrm xmlns:a="http://schemas.openxmlformats.org/drawingml/2006/main">
            <a:off x="7762875" y="5486400"/>
            <a:ext cx="16192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9F6A01B-6D39-4066-B65F-EF09D5C5FF3D}"/>
              </a:ext>
            </a:extLst>
          </p:cNvPr>
          <p:cNvSpPr>
            <a:spLocks xmlns:a="http://schemas.openxmlformats.org/drawingml/2006/main" noGrp="1"/>
          </p:cNvSpPr>
          <p:nvPr/>
        </p:nvSpPr>
        <p:spPr>
          <a:xfrm xmlns:a="http://schemas.openxmlformats.org/drawingml/2006/main" rot="16200000">
            <a:off x="7743825" y="54197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22" name="">
            <a:extLst xmlns:a="http://schemas.openxmlformats.org/drawingml/2006/main">
              <a:ext uri="{FF2B5EF4-FFF2-40B4-BE49-F238E27FC236}">
                <a16:creationId xmlns:a16="http://schemas.microsoft.com/office/drawing/2014/main" id="{44467974-1F57-47D5-AF11-E20F375F2AC8}"/>
              </a:ext>
            </a:extLst>
          </p:cNvPr>
          <p:cNvSpPr>
            <a:spLocks xmlns:a="http://schemas.openxmlformats.org/drawingml/2006/main" noGrp="1"/>
          </p:cNvSpPr>
          <p:nvPr/>
        </p:nvSpPr>
        <p:spPr>
          <a:xfrm xmlns:a="http://schemas.openxmlformats.org/drawingml/2006/main" rot="0">
            <a:off x="9572625" y="3333750"/>
            <a:ext cx="161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上流からも</a:t>
            </a:r>
          </a:p>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現場へ直接入る</a:t>
            </a:r>
          </a:p>
        </p:txBody>
      </p:sp>
      <p:sp>
        <p:nvSpPr>
          <p:cNvPr id="23" name="">
            <a:extLst xmlns:a="http://schemas.openxmlformats.org/drawingml/2006/main">
              <a:ext uri="{FF2B5EF4-FFF2-40B4-BE49-F238E27FC236}">
                <a16:creationId xmlns:a16="http://schemas.microsoft.com/office/drawing/2014/main" id="{87CAA2E9-B46A-4AFA-B65E-672C0A800F4F}"/>
              </a:ext>
            </a:extLst>
          </p:cNvPr>
          <p:cNvSpPr>
            <a:spLocks xmlns:a="http://schemas.openxmlformats.org/drawingml/2006/main" noGrp="1"/>
          </p:cNvSpPr>
          <p:nvPr/>
        </p:nvSpPr>
        <p:spPr>
          <a:xfrm xmlns:a="http://schemas.openxmlformats.org/drawingml/2006/main" rot="0">
            <a:off x="723900" y="60007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上流のデータ収集と最下流の現場統合が、同じ現場と直接つながる</a:t>
            </a:r>
          </a:p>
        </p:txBody>
      </p:sp>
    </p:spTree>
    <p:extLst>
      <p:ext uri="{BB962C8B-B14F-4D97-AF65-F5344CB8AC3E}">
        <p14:creationId xmlns:p14="http://schemas.microsoft.com/office/powerpoint/2010/main" val="296905156"/>
      </p:ext>
    </p:extLst>
  </p:cSld>
</p:sld>
</file>

<file path=ppt/slides/slide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0610756-C982-4BEE-8A2B-FE6AC682E0B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1393263-179C-4372-96B6-777E9F8FCBF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5191B"/>
                </a:solidFill>
                <a:latin typeface="Hiragino Sans"/>
                <a:ea typeface="Hiragino Sans"/>
                <a:cs typeface="Hiragino Sans"/>
              </a:defRPr>
            </a:pPr>
            <a:r>
              <a:rPr sz="2325" b="1">
                <a:solidFill>
                  <a:srgbClr val="15191B"/>
                </a:solidFill>
                <a:latin typeface="Hiragino Sans"/>
                <a:ea typeface="Hiragino Sans"/>
                <a:cs typeface="Hiragino Sans"/>
              </a:rPr>
              <a:t>現場統合層は横に広げられないが、データ収集層なら今すぐ広げられる</a:t>
            </a:r>
          </a:p>
        </p:txBody>
      </p:sp>
      <p:sp>
        <p:nvSpPr>
          <p:cNvPr id="3" name="">
            <a:extLst xmlns:a="http://schemas.openxmlformats.org/drawingml/2006/main">
              <a:ext uri="{FF2B5EF4-FFF2-40B4-BE49-F238E27FC236}">
                <a16:creationId xmlns:a16="http://schemas.microsoft.com/office/drawing/2014/main" id="{814F06C4-33CA-4C7C-A25B-30E1544002C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16F78CE-A8C9-4B73-BAD8-39CDD9022280}"/>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08</a:t>
            </a:r>
          </a:p>
        </p:txBody>
      </p:sp>
      <p:sp>
        <p:nvSpPr>
          <p:cNvPr id="5" name="">
            <a:extLst xmlns:a="http://schemas.openxmlformats.org/drawingml/2006/main">
              <a:ext uri="{FF2B5EF4-FFF2-40B4-BE49-F238E27FC236}">
                <a16:creationId xmlns:a16="http://schemas.microsoft.com/office/drawing/2014/main" id="{4563421C-12B1-431D-8911-7550C4CE19A4}"/>
              </a:ext>
            </a:extLst>
          </p:cNvPr>
          <p:cNvSpPr>
            <a:spLocks xmlns:a="http://schemas.openxmlformats.org/drawingml/2006/main" noGrp="1"/>
          </p:cNvSpPr>
          <p:nvPr/>
        </p:nvSpPr>
        <p:spPr>
          <a:xfrm xmlns:a="http://schemas.openxmlformats.org/drawingml/2006/main" rot="0">
            <a:off x="723900" y="16002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業種をまたぐ技術的障壁がないのはデータ収集層だけである</a:t>
            </a:r>
          </a:p>
        </p:txBody>
      </p:sp>
      <p:sp>
        <p:nvSpPr>
          <p:cNvPr id="6" name="">
            <a:extLst xmlns:a="http://schemas.openxmlformats.org/drawingml/2006/main">
              <a:ext uri="{FF2B5EF4-FFF2-40B4-BE49-F238E27FC236}">
                <a16:creationId xmlns:a16="http://schemas.microsoft.com/office/drawing/2014/main" id="{F4977FE1-B87A-4738-8E2B-D358A1F44E61}"/>
              </a:ext>
            </a:extLst>
          </p:cNvPr>
          <p:cNvSpPr>
            <a:spLocks xmlns:a="http://schemas.openxmlformats.org/drawingml/2006/main" noGrp="1"/>
          </p:cNvSpPr>
          <p:nvPr/>
        </p:nvSpPr>
        <p:spPr>
          <a:xfrm xmlns:a="http://schemas.openxmlformats.org/drawingml/2006/main" rot="0">
            <a:off x="723900" y="2143125"/>
            <a:ext cx="1057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現場統合層で横方向、つまり複数の業種・現場を網羅できている企業は、現時点で一社もない。ロボットの自律動作は業種・タスクごとに個別の技術開発が必要であり、横に広げることが極めて難しいからである。</a:t>
            </a:r>
          </a:p>
        </p:txBody>
      </p:sp>
      <p:sp>
        <p:nvSpPr>
          <p:cNvPr id="7" name="">
            <a:extLst xmlns:a="http://schemas.openxmlformats.org/drawingml/2006/main">
              <a:ext uri="{FF2B5EF4-FFF2-40B4-BE49-F238E27FC236}">
                <a16:creationId xmlns:a16="http://schemas.microsoft.com/office/drawing/2014/main" id="{77D383EC-CB28-48C1-8CE7-83AD2E80F0A2}"/>
              </a:ext>
            </a:extLst>
          </p:cNvPr>
          <p:cNvSpPr>
            <a:spLocks xmlns:a="http://schemas.openxmlformats.org/drawingml/2006/main" noGrp="1"/>
          </p:cNvSpPr>
          <p:nvPr/>
        </p:nvSpPr>
        <p:spPr>
          <a:xfrm xmlns:a="http://schemas.openxmlformats.org/drawingml/2006/main">
            <a:off x="723900" y="3667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56820C5-BBCE-4A9A-AFE4-4E300DAF3714}"/>
              </a:ext>
            </a:extLst>
          </p:cNvPr>
          <p:cNvSpPr>
            <a:spLocks xmlns:a="http://schemas.openxmlformats.org/drawingml/2006/main" noGrp="1"/>
          </p:cNvSpPr>
          <p:nvPr/>
        </p:nvSpPr>
        <p:spPr>
          <a:xfrm xmlns:a="http://schemas.openxmlformats.org/drawingml/2006/main" rot="0">
            <a:off x="723900" y="3952875"/>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しかし、現場データ収集層であれば話は別である。カメラを装着した人間の作業を撮影するだけであり、業種をまたぐ技術的障壁がほとんどない。今の時点で横方向を網羅できる唯一のレイヤーが、データ収集層である。</a:t>
            </a:r>
          </a:p>
        </p:txBody>
      </p:sp>
    </p:spTree>
    <p:extLst>
      <p:ext uri="{BB962C8B-B14F-4D97-AF65-F5344CB8AC3E}">
        <p14:creationId xmlns:p14="http://schemas.microsoft.com/office/powerpoint/2010/main" val="135058548"/>
      </p:ext>
    </p:extLst>
  </p:cSld>
</p:sld>
</file>

<file path=ppt/slides/slide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86AC93F4-18B9-4F1B-BA29-2CBC3740BA5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C27F8DF-7735-4B50-8C95-187177FB8BAF}"/>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現場は有限の資産であり、先行者優位が極めて強い</a:t>
            </a:r>
          </a:p>
        </p:txBody>
      </p:sp>
      <p:sp>
        <p:nvSpPr>
          <p:cNvPr id="3" name="">
            <a:extLst xmlns:a="http://schemas.openxmlformats.org/drawingml/2006/main">
              <a:ext uri="{FF2B5EF4-FFF2-40B4-BE49-F238E27FC236}">
                <a16:creationId xmlns:a16="http://schemas.microsoft.com/office/drawing/2014/main" id="{3EFCEDE8-CA15-4B58-B059-C5DB3136A00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59D0558-EF4C-4A64-B495-9AF7A6110CD7}"/>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09</a:t>
            </a:r>
          </a:p>
        </p:txBody>
      </p:sp>
      <p:sp>
        <p:nvSpPr>
          <p:cNvPr id="5" name="">
            <a:extLst xmlns:a="http://schemas.openxmlformats.org/drawingml/2006/main">
              <a:ext uri="{FF2B5EF4-FFF2-40B4-BE49-F238E27FC236}">
                <a16:creationId xmlns:a16="http://schemas.microsoft.com/office/drawing/2014/main" id="{61A5BB2C-5A1B-42FF-812D-B5BD586C24D6}"/>
              </a:ext>
            </a:extLst>
          </p:cNvPr>
          <p:cNvSpPr>
            <a:spLocks xmlns:a="http://schemas.openxmlformats.org/drawingml/2006/main" noGrp="1"/>
          </p:cNvSpPr>
          <p:nvPr/>
        </p:nvSpPr>
        <p:spPr>
          <a:xfrm xmlns:a="http://schemas.openxmlformats.org/drawingml/2006/main" rot="0">
            <a:off x="10363200" y="16383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0">
                <a:solidFill>
                  <a:srgbClr val="58646A"/>
                </a:solidFill>
                <a:latin typeface="Hiragino Sans"/>
                <a:ea typeface="Hiragino Sans"/>
                <a:cs typeface="Hiragino Sans"/>
              </a:defRPr>
            </a:pPr>
            <a:r>
              <a:rPr sz="975" b="0">
                <a:solidFill>
                  <a:srgbClr val="58646A"/>
                </a:solidFill>
                <a:latin typeface="Hiragino Sans"/>
                <a:ea typeface="Hiragino Sans"/>
                <a:cs typeface="Hiragino Sans"/>
              </a:rPr>
              <a:t>概念図</a:t>
            </a:r>
          </a:p>
        </p:txBody>
      </p:sp>
      <p:sp>
        <p:nvSpPr>
          <p:cNvPr id="6" name="">
            <a:extLst xmlns:a="http://schemas.openxmlformats.org/drawingml/2006/main">
              <a:ext uri="{FF2B5EF4-FFF2-40B4-BE49-F238E27FC236}">
                <a16:creationId xmlns:a16="http://schemas.microsoft.com/office/drawing/2014/main" id="{CE73CB34-F687-4C74-9B0B-F23B210331FA}"/>
              </a:ext>
            </a:extLst>
          </p:cNvPr>
          <p:cNvSpPr>
            <a:spLocks xmlns:a="http://schemas.openxmlformats.org/drawingml/2006/main" noGrp="1"/>
          </p:cNvSpPr>
          <p:nvPr/>
        </p:nvSpPr>
        <p:spPr>
          <a:xfrm xmlns:a="http://schemas.openxmlformats.org/drawingml/2006/main" rot="0">
            <a:off x="895350" y="24765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海外</a:t>
            </a:r>
          </a:p>
        </p:txBody>
      </p:sp>
      <p:sp>
        <p:nvSpPr>
          <p:cNvPr id="7" name="">
            <a:extLst xmlns:a="http://schemas.openxmlformats.org/drawingml/2006/main">
              <a:ext uri="{FF2B5EF4-FFF2-40B4-BE49-F238E27FC236}">
                <a16:creationId xmlns:a16="http://schemas.microsoft.com/office/drawing/2014/main" id="{F81CD60C-28C1-42BE-9006-CE49B782A4DF}"/>
              </a:ext>
            </a:extLst>
          </p:cNvPr>
          <p:cNvSpPr>
            <a:spLocks xmlns:a="http://schemas.openxmlformats.org/drawingml/2006/main" noGrp="1"/>
          </p:cNvSpPr>
          <p:nvPr/>
        </p:nvSpPr>
        <p:spPr>
          <a:xfrm xmlns:a="http://schemas.openxmlformats.org/drawingml/2006/main" rot="0">
            <a:off x="895350" y="28575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接続が進む</a:t>
            </a:r>
          </a:p>
        </p:txBody>
      </p:sp>
      <p:sp>
        <p:nvSpPr>
          <p:cNvPr id="8" name="">
            <a:extLst xmlns:a="http://schemas.openxmlformats.org/drawingml/2006/main">
              <a:ext uri="{FF2B5EF4-FFF2-40B4-BE49-F238E27FC236}">
                <a16:creationId xmlns:a16="http://schemas.microsoft.com/office/drawing/2014/main" id="{96C0EFF9-B1CB-4379-B04D-8DDAFEC6A811}"/>
              </a:ext>
            </a:extLst>
          </p:cNvPr>
          <p:cNvSpPr>
            <a:spLocks xmlns:a="http://schemas.openxmlformats.org/drawingml/2006/main" noGrp="1"/>
          </p:cNvSpPr>
          <p:nvPr/>
        </p:nvSpPr>
        <p:spPr>
          <a:xfrm xmlns:a="http://schemas.openxmlformats.org/drawingml/2006/main">
            <a:off x="371475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9" name="">
            <a:extLst xmlns:a="http://schemas.openxmlformats.org/drawingml/2006/main">
              <a:ext uri="{FF2B5EF4-FFF2-40B4-BE49-F238E27FC236}">
                <a16:creationId xmlns:a16="http://schemas.microsoft.com/office/drawing/2014/main" id="{E806109D-E108-4189-ACFC-02D70360DF2C}"/>
              </a:ext>
            </a:extLst>
          </p:cNvPr>
          <p:cNvSpPr>
            <a:spLocks xmlns:a="http://schemas.openxmlformats.org/drawingml/2006/main" noGrp="1"/>
          </p:cNvSpPr>
          <p:nvPr/>
        </p:nvSpPr>
        <p:spPr>
          <a:xfrm xmlns:a="http://schemas.openxmlformats.org/drawingml/2006/main" rot="0">
            <a:off x="371475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5C0210B3-31EE-4D8F-AF90-E25476443265}"/>
              </a:ext>
            </a:extLst>
          </p:cNvPr>
          <p:cNvSpPr>
            <a:spLocks xmlns:a="http://schemas.openxmlformats.org/drawingml/2006/main" noGrp="1"/>
          </p:cNvSpPr>
          <p:nvPr/>
        </p:nvSpPr>
        <p:spPr>
          <a:xfrm xmlns:a="http://schemas.openxmlformats.org/drawingml/2006/main">
            <a:off x="476250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1" name="">
            <a:extLst xmlns:a="http://schemas.openxmlformats.org/drawingml/2006/main">
              <a:ext uri="{FF2B5EF4-FFF2-40B4-BE49-F238E27FC236}">
                <a16:creationId xmlns:a16="http://schemas.microsoft.com/office/drawing/2014/main" id="{FB779586-26C3-4198-AAF0-A06778D4B66C}"/>
              </a:ext>
            </a:extLst>
          </p:cNvPr>
          <p:cNvSpPr>
            <a:spLocks xmlns:a="http://schemas.openxmlformats.org/drawingml/2006/main" noGrp="1"/>
          </p:cNvSpPr>
          <p:nvPr/>
        </p:nvSpPr>
        <p:spPr>
          <a:xfrm xmlns:a="http://schemas.openxmlformats.org/drawingml/2006/main" rot="0">
            <a:off x="476250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2" name="">
            <a:extLst xmlns:a="http://schemas.openxmlformats.org/drawingml/2006/main">
              <a:ext uri="{FF2B5EF4-FFF2-40B4-BE49-F238E27FC236}">
                <a16:creationId xmlns:a16="http://schemas.microsoft.com/office/drawing/2014/main" id="{30E60CAA-D5D1-4208-800C-081320B13DA7}"/>
              </a:ext>
            </a:extLst>
          </p:cNvPr>
          <p:cNvSpPr>
            <a:spLocks xmlns:a="http://schemas.openxmlformats.org/drawingml/2006/main" noGrp="1"/>
          </p:cNvSpPr>
          <p:nvPr/>
        </p:nvSpPr>
        <p:spPr>
          <a:xfrm xmlns:a="http://schemas.openxmlformats.org/drawingml/2006/main">
            <a:off x="581025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FCACE70A-E948-47EC-BE3A-76CBD008A0CA}"/>
              </a:ext>
            </a:extLst>
          </p:cNvPr>
          <p:cNvSpPr>
            <a:spLocks xmlns:a="http://schemas.openxmlformats.org/drawingml/2006/main" noGrp="1"/>
          </p:cNvSpPr>
          <p:nvPr/>
        </p:nvSpPr>
        <p:spPr>
          <a:xfrm xmlns:a="http://schemas.openxmlformats.org/drawingml/2006/main" rot="0">
            <a:off x="581025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4" name="">
            <a:extLst xmlns:a="http://schemas.openxmlformats.org/drawingml/2006/main">
              <a:ext uri="{FF2B5EF4-FFF2-40B4-BE49-F238E27FC236}">
                <a16:creationId xmlns:a16="http://schemas.microsoft.com/office/drawing/2014/main" id="{2F976575-CD2B-4C87-997A-3A7C53311505}"/>
              </a:ext>
            </a:extLst>
          </p:cNvPr>
          <p:cNvSpPr>
            <a:spLocks xmlns:a="http://schemas.openxmlformats.org/drawingml/2006/main" noGrp="1"/>
          </p:cNvSpPr>
          <p:nvPr/>
        </p:nvSpPr>
        <p:spPr>
          <a:xfrm xmlns:a="http://schemas.openxmlformats.org/drawingml/2006/main">
            <a:off x="685800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5" name="">
            <a:extLst xmlns:a="http://schemas.openxmlformats.org/drawingml/2006/main">
              <a:ext uri="{FF2B5EF4-FFF2-40B4-BE49-F238E27FC236}">
                <a16:creationId xmlns:a16="http://schemas.microsoft.com/office/drawing/2014/main" id="{79B1F8BA-AB7D-4569-9889-C824C5FF98BE}"/>
              </a:ext>
            </a:extLst>
          </p:cNvPr>
          <p:cNvSpPr>
            <a:spLocks xmlns:a="http://schemas.openxmlformats.org/drawingml/2006/main" noGrp="1"/>
          </p:cNvSpPr>
          <p:nvPr/>
        </p:nvSpPr>
        <p:spPr>
          <a:xfrm xmlns:a="http://schemas.openxmlformats.org/drawingml/2006/main" rot="0">
            <a:off x="685800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6" name="">
            <a:extLst xmlns:a="http://schemas.openxmlformats.org/drawingml/2006/main">
              <a:ext uri="{FF2B5EF4-FFF2-40B4-BE49-F238E27FC236}">
                <a16:creationId xmlns:a16="http://schemas.microsoft.com/office/drawing/2014/main" id="{463670C0-25DE-4F3A-AA88-B11A49A3A78F}"/>
              </a:ext>
            </a:extLst>
          </p:cNvPr>
          <p:cNvSpPr>
            <a:spLocks xmlns:a="http://schemas.openxmlformats.org/drawingml/2006/main" noGrp="1"/>
          </p:cNvSpPr>
          <p:nvPr/>
        </p:nvSpPr>
        <p:spPr>
          <a:xfrm xmlns:a="http://schemas.openxmlformats.org/drawingml/2006/main">
            <a:off x="790575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7" name="">
            <a:extLst xmlns:a="http://schemas.openxmlformats.org/drawingml/2006/main">
              <a:ext uri="{FF2B5EF4-FFF2-40B4-BE49-F238E27FC236}">
                <a16:creationId xmlns:a16="http://schemas.microsoft.com/office/drawing/2014/main" id="{8051EF77-A343-4BA0-A8B7-FD46FE10E1CF}"/>
              </a:ext>
            </a:extLst>
          </p:cNvPr>
          <p:cNvSpPr>
            <a:spLocks xmlns:a="http://schemas.openxmlformats.org/drawingml/2006/main" noGrp="1"/>
          </p:cNvSpPr>
          <p:nvPr/>
        </p:nvSpPr>
        <p:spPr>
          <a:xfrm xmlns:a="http://schemas.openxmlformats.org/drawingml/2006/main" rot="0">
            <a:off x="790575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8" name="">
            <a:extLst xmlns:a="http://schemas.openxmlformats.org/drawingml/2006/main">
              <a:ext uri="{FF2B5EF4-FFF2-40B4-BE49-F238E27FC236}">
                <a16:creationId xmlns:a16="http://schemas.microsoft.com/office/drawing/2014/main" id="{B2A4B95C-3843-4F47-BDAE-A7CCE671563A}"/>
              </a:ext>
            </a:extLst>
          </p:cNvPr>
          <p:cNvSpPr>
            <a:spLocks xmlns:a="http://schemas.openxmlformats.org/drawingml/2006/main" noGrp="1"/>
          </p:cNvSpPr>
          <p:nvPr/>
        </p:nvSpPr>
        <p:spPr>
          <a:xfrm xmlns:a="http://schemas.openxmlformats.org/drawingml/2006/main">
            <a:off x="8953500" y="23812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9" name="">
            <a:extLst xmlns:a="http://schemas.openxmlformats.org/drawingml/2006/main">
              <a:ext uri="{FF2B5EF4-FFF2-40B4-BE49-F238E27FC236}">
                <a16:creationId xmlns:a16="http://schemas.microsoft.com/office/drawing/2014/main" id="{83D1BBD7-09B4-4B00-9D32-5992C14DEC85}"/>
              </a:ext>
            </a:extLst>
          </p:cNvPr>
          <p:cNvSpPr>
            <a:spLocks xmlns:a="http://schemas.openxmlformats.org/drawingml/2006/main" noGrp="1"/>
          </p:cNvSpPr>
          <p:nvPr/>
        </p:nvSpPr>
        <p:spPr>
          <a:xfrm xmlns:a="http://schemas.openxmlformats.org/drawingml/2006/main" rot="0">
            <a:off x="895350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20" name="">
            <a:extLst xmlns:a="http://schemas.openxmlformats.org/drawingml/2006/main">
              <a:ext uri="{FF2B5EF4-FFF2-40B4-BE49-F238E27FC236}">
                <a16:creationId xmlns:a16="http://schemas.microsoft.com/office/drawing/2014/main" id="{F72139F6-9785-4EC0-8852-6A69BFADDEF1}"/>
              </a:ext>
            </a:extLst>
          </p:cNvPr>
          <p:cNvSpPr>
            <a:spLocks xmlns:a="http://schemas.openxmlformats.org/drawingml/2006/main" noGrp="1"/>
          </p:cNvSpPr>
          <p:nvPr/>
        </p:nvSpPr>
        <p:spPr>
          <a:xfrm xmlns:a="http://schemas.openxmlformats.org/drawingml/2006/main" rot="0">
            <a:off x="895350" y="404812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日本</a:t>
            </a:r>
          </a:p>
        </p:txBody>
      </p:sp>
      <p:sp>
        <p:nvSpPr>
          <p:cNvPr id="21" name="">
            <a:extLst xmlns:a="http://schemas.openxmlformats.org/drawingml/2006/main">
              <a:ext uri="{FF2B5EF4-FFF2-40B4-BE49-F238E27FC236}">
                <a16:creationId xmlns:a16="http://schemas.microsoft.com/office/drawing/2014/main" id="{D8B23B7D-0DFD-4D07-B789-E12F96CC2277}"/>
              </a:ext>
            </a:extLst>
          </p:cNvPr>
          <p:cNvSpPr>
            <a:spLocks xmlns:a="http://schemas.openxmlformats.org/drawingml/2006/main" noGrp="1"/>
          </p:cNvSpPr>
          <p:nvPr/>
        </p:nvSpPr>
        <p:spPr>
          <a:xfrm xmlns:a="http://schemas.openxmlformats.org/drawingml/2006/main" rot="0">
            <a:off x="895350" y="4429125"/>
            <a:ext cx="180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まだほとんど</a:t>
            </a:r>
          </a:p>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浸透していない</a:t>
            </a:r>
          </a:p>
        </p:txBody>
      </p:sp>
      <p:sp>
        <p:nvSpPr>
          <p:cNvPr id="22" name="">
            <a:extLst xmlns:a="http://schemas.openxmlformats.org/drawingml/2006/main">
              <a:ext uri="{FF2B5EF4-FFF2-40B4-BE49-F238E27FC236}">
                <a16:creationId xmlns:a16="http://schemas.microsoft.com/office/drawing/2014/main" id="{9803C1FE-304B-4C6F-8275-1F78F5134273}"/>
              </a:ext>
            </a:extLst>
          </p:cNvPr>
          <p:cNvSpPr>
            <a:spLocks xmlns:a="http://schemas.openxmlformats.org/drawingml/2006/main" noGrp="1"/>
          </p:cNvSpPr>
          <p:nvPr/>
        </p:nvSpPr>
        <p:spPr>
          <a:xfrm xmlns:a="http://schemas.openxmlformats.org/drawingml/2006/main">
            <a:off x="3714750" y="40957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23" name="">
            <a:extLst xmlns:a="http://schemas.openxmlformats.org/drawingml/2006/main">
              <a:ext uri="{FF2B5EF4-FFF2-40B4-BE49-F238E27FC236}">
                <a16:creationId xmlns:a16="http://schemas.microsoft.com/office/drawing/2014/main" id="{5577BC32-38ED-4DA8-85F6-2AE21635C18E}"/>
              </a:ext>
            </a:extLst>
          </p:cNvPr>
          <p:cNvSpPr>
            <a:spLocks xmlns:a="http://schemas.openxmlformats.org/drawingml/2006/main" noGrp="1"/>
          </p:cNvSpPr>
          <p:nvPr/>
        </p:nvSpPr>
        <p:spPr>
          <a:xfrm xmlns:a="http://schemas.openxmlformats.org/drawingml/2006/main" rot="0">
            <a:off x="371475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24" name="">
            <a:extLst xmlns:a="http://schemas.openxmlformats.org/drawingml/2006/main">
              <a:ext uri="{FF2B5EF4-FFF2-40B4-BE49-F238E27FC236}">
                <a16:creationId xmlns:a16="http://schemas.microsoft.com/office/drawing/2014/main" id="{880A27F9-FD1C-426F-8F51-91B2C71A066F}"/>
              </a:ext>
            </a:extLst>
          </p:cNvPr>
          <p:cNvSpPr>
            <a:spLocks xmlns:a="http://schemas.openxmlformats.org/drawingml/2006/main" noGrp="1"/>
          </p:cNvSpPr>
          <p:nvPr/>
        </p:nvSpPr>
        <p:spPr>
          <a:xfrm xmlns:a="http://schemas.openxmlformats.org/drawingml/2006/main">
            <a:off x="476250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5" name="">
            <a:extLst xmlns:a="http://schemas.openxmlformats.org/drawingml/2006/main">
              <a:ext uri="{FF2B5EF4-FFF2-40B4-BE49-F238E27FC236}">
                <a16:creationId xmlns:a16="http://schemas.microsoft.com/office/drawing/2014/main" id="{9552433C-D123-4ED7-B8F1-18214AA90412}"/>
              </a:ext>
            </a:extLst>
          </p:cNvPr>
          <p:cNvSpPr>
            <a:spLocks xmlns:a="http://schemas.openxmlformats.org/drawingml/2006/main" noGrp="1"/>
          </p:cNvSpPr>
          <p:nvPr/>
        </p:nvSpPr>
        <p:spPr>
          <a:xfrm xmlns:a="http://schemas.openxmlformats.org/drawingml/2006/main" rot="0">
            <a:off x="476250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26" name="">
            <a:extLst xmlns:a="http://schemas.openxmlformats.org/drawingml/2006/main">
              <a:ext uri="{FF2B5EF4-FFF2-40B4-BE49-F238E27FC236}">
                <a16:creationId xmlns:a16="http://schemas.microsoft.com/office/drawing/2014/main" id="{CBA33B3B-788D-4C63-97CA-EAADA0F6C077}"/>
              </a:ext>
            </a:extLst>
          </p:cNvPr>
          <p:cNvSpPr>
            <a:spLocks xmlns:a="http://schemas.openxmlformats.org/drawingml/2006/main" noGrp="1"/>
          </p:cNvSpPr>
          <p:nvPr/>
        </p:nvSpPr>
        <p:spPr>
          <a:xfrm xmlns:a="http://schemas.openxmlformats.org/drawingml/2006/main">
            <a:off x="581025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7" name="">
            <a:extLst xmlns:a="http://schemas.openxmlformats.org/drawingml/2006/main">
              <a:ext uri="{FF2B5EF4-FFF2-40B4-BE49-F238E27FC236}">
                <a16:creationId xmlns:a16="http://schemas.microsoft.com/office/drawing/2014/main" id="{09201726-94B4-4F8B-9BD4-729F36FE8774}"/>
              </a:ext>
            </a:extLst>
          </p:cNvPr>
          <p:cNvSpPr>
            <a:spLocks xmlns:a="http://schemas.openxmlformats.org/drawingml/2006/main" noGrp="1"/>
          </p:cNvSpPr>
          <p:nvPr/>
        </p:nvSpPr>
        <p:spPr>
          <a:xfrm xmlns:a="http://schemas.openxmlformats.org/drawingml/2006/main" rot="0">
            <a:off x="581025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28" name="">
            <a:extLst xmlns:a="http://schemas.openxmlformats.org/drawingml/2006/main">
              <a:ext uri="{FF2B5EF4-FFF2-40B4-BE49-F238E27FC236}">
                <a16:creationId xmlns:a16="http://schemas.microsoft.com/office/drawing/2014/main" id="{C4FB2536-DC83-4347-BA9A-76DE492CD9DB}"/>
              </a:ext>
            </a:extLst>
          </p:cNvPr>
          <p:cNvSpPr>
            <a:spLocks xmlns:a="http://schemas.openxmlformats.org/drawingml/2006/main" noGrp="1"/>
          </p:cNvSpPr>
          <p:nvPr/>
        </p:nvSpPr>
        <p:spPr>
          <a:xfrm xmlns:a="http://schemas.openxmlformats.org/drawingml/2006/main">
            <a:off x="685800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9" name="">
            <a:extLst xmlns:a="http://schemas.openxmlformats.org/drawingml/2006/main">
              <a:ext uri="{FF2B5EF4-FFF2-40B4-BE49-F238E27FC236}">
                <a16:creationId xmlns:a16="http://schemas.microsoft.com/office/drawing/2014/main" id="{26931841-688C-4A53-939B-6ABE45ADBEF1}"/>
              </a:ext>
            </a:extLst>
          </p:cNvPr>
          <p:cNvSpPr>
            <a:spLocks xmlns:a="http://schemas.openxmlformats.org/drawingml/2006/main" noGrp="1"/>
          </p:cNvSpPr>
          <p:nvPr/>
        </p:nvSpPr>
        <p:spPr>
          <a:xfrm xmlns:a="http://schemas.openxmlformats.org/drawingml/2006/main" rot="0">
            <a:off x="685800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30" name="">
            <a:extLst xmlns:a="http://schemas.openxmlformats.org/drawingml/2006/main">
              <a:ext uri="{FF2B5EF4-FFF2-40B4-BE49-F238E27FC236}">
                <a16:creationId xmlns:a16="http://schemas.microsoft.com/office/drawing/2014/main" id="{8B9AFDD3-154B-4E59-A00F-DD1C76FE8504}"/>
              </a:ext>
            </a:extLst>
          </p:cNvPr>
          <p:cNvSpPr>
            <a:spLocks xmlns:a="http://schemas.openxmlformats.org/drawingml/2006/main" noGrp="1"/>
          </p:cNvSpPr>
          <p:nvPr/>
        </p:nvSpPr>
        <p:spPr>
          <a:xfrm xmlns:a="http://schemas.openxmlformats.org/drawingml/2006/main">
            <a:off x="790575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31" name="">
            <a:extLst xmlns:a="http://schemas.openxmlformats.org/drawingml/2006/main">
              <a:ext uri="{FF2B5EF4-FFF2-40B4-BE49-F238E27FC236}">
                <a16:creationId xmlns:a16="http://schemas.microsoft.com/office/drawing/2014/main" id="{36399D50-B749-4AD8-B5DF-0FFC50C6F312}"/>
              </a:ext>
            </a:extLst>
          </p:cNvPr>
          <p:cNvSpPr>
            <a:spLocks xmlns:a="http://schemas.openxmlformats.org/drawingml/2006/main" noGrp="1"/>
          </p:cNvSpPr>
          <p:nvPr/>
        </p:nvSpPr>
        <p:spPr>
          <a:xfrm xmlns:a="http://schemas.openxmlformats.org/drawingml/2006/main" rot="0">
            <a:off x="790575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32" name="">
            <a:extLst xmlns:a="http://schemas.openxmlformats.org/drawingml/2006/main">
              <a:ext uri="{FF2B5EF4-FFF2-40B4-BE49-F238E27FC236}">
                <a16:creationId xmlns:a16="http://schemas.microsoft.com/office/drawing/2014/main" id="{B2F38CD5-9179-4390-B5E2-BDF466DE3C36}"/>
              </a:ext>
            </a:extLst>
          </p:cNvPr>
          <p:cNvSpPr>
            <a:spLocks xmlns:a="http://schemas.openxmlformats.org/drawingml/2006/main" noGrp="1"/>
          </p:cNvSpPr>
          <p:nvPr/>
        </p:nvSpPr>
        <p:spPr>
          <a:xfrm xmlns:a="http://schemas.openxmlformats.org/drawingml/2006/main">
            <a:off x="895350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33" name="">
            <a:extLst xmlns:a="http://schemas.openxmlformats.org/drawingml/2006/main">
              <a:ext uri="{FF2B5EF4-FFF2-40B4-BE49-F238E27FC236}">
                <a16:creationId xmlns:a16="http://schemas.microsoft.com/office/drawing/2014/main" id="{3BEEB1D6-D478-4523-8C2E-EFDE2D789ACE}"/>
              </a:ext>
            </a:extLst>
          </p:cNvPr>
          <p:cNvSpPr>
            <a:spLocks xmlns:a="http://schemas.openxmlformats.org/drawingml/2006/main" noGrp="1"/>
          </p:cNvSpPr>
          <p:nvPr/>
        </p:nvSpPr>
        <p:spPr>
          <a:xfrm xmlns:a="http://schemas.openxmlformats.org/drawingml/2006/main" rot="0">
            <a:off x="895350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34" name="">
            <a:extLst xmlns:a="http://schemas.openxmlformats.org/drawingml/2006/main">
              <a:ext uri="{FF2B5EF4-FFF2-40B4-BE49-F238E27FC236}">
                <a16:creationId xmlns:a16="http://schemas.microsoft.com/office/drawing/2014/main" id="{A513224B-85A2-4229-916E-CC3F73568EDF}"/>
              </a:ext>
            </a:extLst>
          </p:cNvPr>
          <p:cNvSpPr>
            <a:spLocks xmlns:a="http://schemas.openxmlformats.org/drawingml/2006/main" noGrp="1"/>
          </p:cNvSpPr>
          <p:nvPr/>
        </p:nvSpPr>
        <p:spPr>
          <a:xfrm xmlns:a="http://schemas.openxmlformats.org/drawingml/2006/main">
            <a:off x="3143250" y="3381375"/>
            <a:ext cx="72390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24166A37-221B-40EF-B6E8-952891D5246D}"/>
              </a:ext>
            </a:extLst>
          </p:cNvPr>
          <p:cNvSpPr>
            <a:spLocks xmlns:a="http://schemas.openxmlformats.org/drawingml/2006/main" noGrp="1"/>
          </p:cNvSpPr>
          <p:nvPr/>
        </p:nvSpPr>
        <p:spPr>
          <a:xfrm xmlns:a="http://schemas.openxmlformats.org/drawingml/2006/main" rot="0">
            <a:off x="3143250" y="514350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一つの現場が複数社と契約する負担は大きい</a:t>
            </a:r>
          </a:p>
        </p:txBody>
      </p:sp>
      <p:sp>
        <p:nvSpPr>
          <p:cNvPr id="36" name="">
            <a:extLst xmlns:a="http://schemas.openxmlformats.org/drawingml/2006/main">
              <a:ext uri="{FF2B5EF4-FFF2-40B4-BE49-F238E27FC236}">
                <a16:creationId xmlns:a16="http://schemas.microsoft.com/office/drawing/2014/main" id="{FEB9C7C0-1603-4F11-95A7-3826CD6EF3E1}"/>
              </a:ext>
            </a:extLst>
          </p:cNvPr>
          <p:cNvSpPr>
            <a:spLocks xmlns:a="http://schemas.openxmlformats.org/drawingml/2006/main" noGrp="1"/>
          </p:cNvSpPr>
          <p:nvPr/>
        </p:nvSpPr>
        <p:spPr>
          <a:xfrm xmlns:a="http://schemas.openxmlformats.org/drawingml/2006/main" rot="0">
            <a:off x="3143250" y="5572125"/>
            <a:ext cx="723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撮影機材の管理　　スタッフへの説明　　プライバシーに関する合意</a:t>
            </a:r>
          </a:p>
        </p:txBody>
      </p:sp>
      <p:sp>
        <p:nvSpPr>
          <p:cNvPr id="37" name="">
            <a:extLst xmlns:a="http://schemas.openxmlformats.org/drawingml/2006/main">
              <a:ext uri="{FF2B5EF4-FFF2-40B4-BE49-F238E27FC236}">
                <a16:creationId xmlns:a16="http://schemas.microsoft.com/office/drawing/2014/main" id="{BD8C6E5E-8E7F-4B7F-B491-63CDBC261ACF}"/>
              </a:ext>
            </a:extLst>
          </p:cNvPr>
          <p:cNvSpPr>
            <a:spLocks xmlns:a="http://schemas.openxmlformats.org/drawingml/2006/main" noGrp="1"/>
          </p:cNvSpPr>
          <p:nvPr/>
        </p:nvSpPr>
        <p:spPr>
          <a:xfrm xmlns:a="http://schemas.openxmlformats.org/drawingml/2006/main" rot="0">
            <a:off x="723900" y="60960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先に多くの現場とつながることが重要になる</a:t>
            </a:r>
          </a:p>
        </p:txBody>
      </p:sp>
    </p:spTree>
    <p:extLst>
      <p:ext uri="{BB962C8B-B14F-4D97-AF65-F5344CB8AC3E}">
        <p14:creationId xmlns:p14="http://schemas.microsoft.com/office/powerpoint/2010/main" val="1686859257"/>
      </p:ext>
    </p:extLst>
  </p:cSld>
</p:sld>
</file>

<file path=ppt/slides/slide1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45996CD-6D6C-4BFB-AF09-A0AF1D62BFF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C8F78A8-5B8F-436A-BC9C-88BBB72AE2B5}"/>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現場ネットワークは、時間とともに参入障壁になる</a:t>
            </a:r>
          </a:p>
        </p:txBody>
      </p:sp>
      <p:sp>
        <p:nvSpPr>
          <p:cNvPr id="3" name="">
            <a:extLst xmlns:a="http://schemas.openxmlformats.org/drawingml/2006/main">
              <a:ext uri="{FF2B5EF4-FFF2-40B4-BE49-F238E27FC236}">
                <a16:creationId xmlns:a16="http://schemas.microsoft.com/office/drawing/2014/main" id="{F3D9C7F9-37D3-49C1-9D91-8037B3572EF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A74E081-84F1-469C-BAA2-B1DA64ACBC30}"/>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10</a:t>
            </a:r>
          </a:p>
        </p:txBody>
      </p:sp>
      <p:sp>
        <p:nvSpPr>
          <p:cNvPr id="5" name="">
            <a:extLst xmlns:a="http://schemas.openxmlformats.org/drawingml/2006/main">
              <a:ext uri="{FF2B5EF4-FFF2-40B4-BE49-F238E27FC236}">
                <a16:creationId xmlns:a16="http://schemas.microsoft.com/office/drawing/2014/main" id="{98E05C58-2FD2-4960-8E85-FE6D020CCE56}"/>
              </a:ext>
            </a:extLst>
          </p:cNvPr>
          <p:cNvSpPr>
            <a:spLocks xmlns:a="http://schemas.openxmlformats.org/drawingml/2006/main" noGrp="1"/>
          </p:cNvSpPr>
          <p:nvPr/>
        </p:nvSpPr>
        <p:spPr>
          <a:xfrm xmlns:a="http://schemas.openxmlformats.org/drawingml/2006/main" rot="0">
            <a:off x="762000" y="56769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時間と現場数</a:t>
            </a:r>
          </a:p>
        </p:txBody>
      </p:sp>
      <p:sp>
        <p:nvSpPr>
          <p:cNvPr id="6" name="">
            <a:extLst xmlns:a="http://schemas.openxmlformats.org/drawingml/2006/main">
              <a:ext uri="{FF2B5EF4-FFF2-40B4-BE49-F238E27FC236}">
                <a16:creationId xmlns:a16="http://schemas.microsoft.com/office/drawing/2014/main" id="{E978FDBB-90D5-48C8-B697-3002A14772D9}"/>
              </a:ext>
            </a:extLst>
          </p:cNvPr>
          <p:cNvSpPr>
            <a:spLocks xmlns:a="http://schemas.openxmlformats.org/drawingml/2006/main" noGrp="1"/>
          </p:cNvSpPr>
          <p:nvPr/>
        </p:nvSpPr>
        <p:spPr>
          <a:xfrm xmlns:a="http://schemas.openxmlformats.org/drawingml/2006/main">
            <a:off x="2095500" y="5791200"/>
            <a:ext cx="7572375"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4CBD6FA-880F-4721-B6F7-2BB87ECFA999}"/>
              </a:ext>
            </a:extLst>
          </p:cNvPr>
          <p:cNvSpPr>
            <a:spLocks xmlns:a="http://schemas.openxmlformats.org/drawingml/2006/main" noGrp="1"/>
          </p:cNvSpPr>
          <p:nvPr/>
        </p:nvSpPr>
        <p:spPr>
          <a:xfrm xmlns:a="http://schemas.openxmlformats.org/drawingml/2006/main" rot="5400000">
            <a:off x="9639300" y="5724525"/>
            <a:ext cx="171450" cy="161925"/>
          </a:xfrm>
          <a:prstGeom xmlns:a="http://schemas.openxmlformats.org/drawingml/2006/main" prst="triangle">
            <a:avLst/>
          </a:prstGeom>
          <a:solidFill xmlns:a="http://schemas.openxmlformats.org/drawingml/2006/main">
            <a:srgbClr val="AAB6BC"/>
          </a:solidFill>
          <a:ln xmlns:a="http://schemas.openxmlformats.org/drawingml/2006/main" w="0">
            <a:solidFill>
              <a:srgbClr val="AAB6BC"/>
            </a:solidFill>
          </a:ln>
        </p:spPr>
      </p:sp>
      <p:sp>
        <p:nvSpPr>
          <p:cNvPr id="8" name="">
            <a:extLst xmlns:a="http://schemas.openxmlformats.org/drawingml/2006/main">
              <a:ext uri="{FF2B5EF4-FFF2-40B4-BE49-F238E27FC236}">
                <a16:creationId xmlns:a16="http://schemas.microsoft.com/office/drawing/2014/main" id="{97A32660-6EF5-4CDD-83E1-BD8EAF6E5928}"/>
              </a:ext>
            </a:extLst>
          </p:cNvPr>
          <p:cNvSpPr>
            <a:spLocks xmlns:a="http://schemas.openxmlformats.org/drawingml/2006/main" noGrp="1"/>
          </p:cNvSpPr>
          <p:nvPr/>
        </p:nvSpPr>
        <p:spPr>
          <a:xfrm xmlns:a="http://schemas.openxmlformats.org/drawingml/2006/main">
            <a:off x="2381250" y="4905375"/>
            <a:ext cx="6667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9" name="">
            <a:extLst xmlns:a="http://schemas.openxmlformats.org/drawingml/2006/main">
              <a:ext uri="{FF2B5EF4-FFF2-40B4-BE49-F238E27FC236}">
                <a16:creationId xmlns:a16="http://schemas.microsoft.com/office/drawing/2014/main" id="{9C1FD3C3-D106-406D-9334-377765AA03CE}"/>
              </a:ext>
            </a:extLst>
          </p:cNvPr>
          <p:cNvSpPr>
            <a:spLocks xmlns:a="http://schemas.openxmlformats.org/drawingml/2006/main" noGrp="1"/>
          </p:cNvSpPr>
          <p:nvPr/>
        </p:nvSpPr>
        <p:spPr>
          <a:xfrm xmlns:a="http://schemas.openxmlformats.org/drawingml/2006/main" rot="0">
            <a:off x="2533650" y="5067300"/>
            <a:ext cx="6362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現場との関係</a:t>
            </a:r>
          </a:p>
        </p:txBody>
      </p:sp>
      <p:sp>
        <p:nvSpPr>
          <p:cNvPr id="10" name="">
            <a:extLst xmlns:a="http://schemas.openxmlformats.org/drawingml/2006/main">
              <a:ext uri="{FF2B5EF4-FFF2-40B4-BE49-F238E27FC236}">
                <a16:creationId xmlns:a16="http://schemas.microsoft.com/office/drawing/2014/main" id="{84101842-2371-457F-9578-F53137314ED2}"/>
              </a:ext>
            </a:extLst>
          </p:cNvPr>
          <p:cNvSpPr>
            <a:spLocks xmlns:a="http://schemas.openxmlformats.org/drawingml/2006/main" noGrp="1"/>
          </p:cNvSpPr>
          <p:nvPr/>
        </p:nvSpPr>
        <p:spPr>
          <a:xfrm xmlns:a="http://schemas.openxmlformats.org/drawingml/2006/main">
            <a:off x="3143250" y="4238625"/>
            <a:ext cx="5905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1" name="">
            <a:extLst xmlns:a="http://schemas.openxmlformats.org/drawingml/2006/main">
              <a:ext uri="{FF2B5EF4-FFF2-40B4-BE49-F238E27FC236}">
                <a16:creationId xmlns:a16="http://schemas.microsoft.com/office/drawing/2014/main" id="{05A1987D-306E-4124-B988-AEB548903398}"/>
              </a:ext>
            </a:extLst>
          </p:cNvPr>
          <p:cNvSpPr>
            <a:spLocks xmlns:a="http://schemas.openxmlformats.org/drawingml/2006/main" noGrp="1"/>
          </p:cNvSpPr>
          <p:nvPr/>
        </p:nvSpPr>
        <p:spPr>
          <a:xfrm xmlns:a="http://schemas.openxmlformats.org/drawingml/2006/main" rot="0">
            <a:off x="3295650" y="4400550"/>
            <a:ext cx="560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撮影を続ける運用</a:t>
            </a:r>
          </a:p>
        </p:txBody>
      </p:sp>
      <p:sp>
        <p:nvSpPr>
          <p:cNvPr id="12" name="">
            <a:extLst xmlns:a="http://schemas.openxmlformats.org/drawingml/2006/main">
              <a:ext uri="{FF2B5EF4-FFF2-40B4-BE49-F238E27FC236}">
                <a16:creationId xmlns:a16="http://schemas.microsoft.com/office/drawing/2014/main" id="{5E49FA8F-E8AB-4B72-898F-08EA83EF4122}"/>
              </a:ext>
            </a:extLst>
          </p:cNvPr>
          <p:cNvSpPr>
            <a:spLocks xmlns:a="http://schemas.openxmlformats.org/drawingml/2006/main" noGrp="1"/>
          </p:cNvSpPr>
          <p:nvPr/>
        </p:nvSpPr>
        <p:spPr>
          <a:xfrm xmlns:a="http://schemas.openxmlformats.org/drawingml/2006/main">
            <a:off x="3905250" y="3571875"/>
            <a:ext cx="5143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3A57AF2E-2130-418F-AA3A-8B1E21A2B034}"/>
              </a:ext>
            </a:extLst>
          </p:cNvPr>
          <p:cNvSpPr>
            <a:spLocks xmlns:a="http://schemas.openxmlformats.org/drawingml/2006/main" noGrp="1"/>
          </p:cNvSpPr>
          <p:nvPr/>
        </p:nvSpPr>
        <p:spPr>
          <a:xfrm xmlns:a="http://schemas.openxmlformats.org/drawingml/2006/main" rot="0">
            <a:off x="4057650" y="3733800"/>
            <a:ext cx="4838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スタッフへの説明・合意</a:t>
            </a:r>
          </a:p>
        </p:txBody>
      </p:sp>
      <p:sp>
        <p:nvSpPr>
          <p:cNvPr id="14" name="">
            <a:extLst xmlns:a="http://schemas.openxmlformats.org/drawingml/2006/main">
              <a:ext uri="{FF2B5EF4-FFF2-40B4-BE49-F238E27FC236}">
                <a16:creationId xmlns:a16="http://schemas.microsoft.com/office/drawing/2014/main" id="{A3BA35B7-30E4-4743-A2DB-8F46C8A9658B}"/>
              </a:ext>
            </a:extLst>
          </p:cNvPr>
          <p:cNvSpPr>
            <a:spLocks xmlns:a="http://schemas.openxmlformats.org/drawingml/2006/main" noGrp="1"/>
          </p:cNvSpPr>
          <p:nvPr/>
        </p:nvSpPr>
        <p:spPr>
          <a:xfrm xmlns:a="http://schemas.openxmlformats.org/drawingml/2006/main">
            <a:off x="4667250" y="2905125"/>
            <a:ext cx="438150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5" name="">
            <a:extLst xmlns:a="http://schemas.openxmlformats.org/drawingml/2006/main">
              <a:ext uri="{FF2B5EF4-FFF2-40B4-BE49-F238E27FC236}">
                <a16:creationId xmlns:a16="http://schemas.microsoft.com/office/drawing/2014/main" id="{95F7CA22-4534-4E6D-BA7A-B1D72C6E7D5C}"/>
              </a:ext>
            </a:extLst>
          </p:cNvPr>
          <p:cNvSpPr>
            <a:spLocks xmlns:a="http://schemas.openxmlformats.org/drawingml/2006/main" noGrp="1"/>
          </p:cNvSpPr>
          <p:nvPr/>
        </p:nvSpPr>
        <p:spPr>
          <a:xfrm xmlns:a="http://schemas.openxmlformats.org/drawingml/2006/main" rot="0">
            <a:off x="4819650" y="3067050"/>
            <a:ext cx="407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業種ごとのコンプライアンス対応</a:t>
            </a:r>
          </a:p>
        </p:txBody>
      </p:sp>
      <p:sp>
        <p:nvSpPr>
          <p:cNvPr id="16" name="">
            <a:extLst xmlns:a="http://schemas.openxmlformats.org/drawingml/2006/main">
              <a:ext uri="{FF2B5EF4-FFF2-40B4-BE49-F238E27FC236}">
                <a16:creationId xmlns:a16="http://schemas.microsoft.com/office/drawing/2014/main" id="{EB551641-9219-4867-8DCB-B7E65939DB52}"/>
              </a:ext>
            </a:extLst>
          </p:cNvPr>
          <p:cNvSpPr>
            <a:spLocks xmlns:a="http://schemas.openxmlformats.org/drawingml/2006/main" noGrp="1"/>
          </p:cNvSpPr>
          <p:nvPr/>
        </p:nvSpPr>
        <p:spPr>
          <a:xfrm xmlns:a="http://schemas.openxmlformats.org/drawingml/2006/main">
            <a:off x="11334750" y="3095625"/>
            <a:ext cx="28575" cy="22383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E8097C4-042E-467E-9AD1-9E2D5C2E6205}"/>
              </a:ext>
            </a:extLst>
          </p:cNvPr>
          <p:cNvSpPr>
            <a:spLocks xmlns:a="http://schemas.openxmlformats.org/drawingml/2006/main" noGrp="1"/>
          </p:cNvSpPr>
          <p:nvPr/>
        </p:nvSpPr>
        <p:spPr>
          <a:xfrm xmlns:a="http://schemas.openxmlformats.org/drawingml/2006/main" rot="0">
            <a:off x="11268075" y="2952750"/>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8" name="">
            <a:extLst xmlns:a="http://schemas.openxmlformats.org/drawingml/2006/main">
              <a:ext uri="{FF2B5EF4-FFF2-40B4-BE49-F238E27FC236}">
                <a16:creationId xmlns:a16="http://schemas.microsoft.com/office/drawing/2014/main" id="{3031877E-2D06-4690-813E-191E4DC437C8}"/>
              </a:ext>
            </a:extLst>
          </p:cNvPr>
          <p:cNvSpPr>
            <a:spLocks xmlns:a="http://schemas.openxmlformats.org/drawingml/2006/main" noGrp="1"/>
          </p:cNvSpPr>
          <p:nvPr/>
        </p:nvSpPr>
        <p:spPr>
          <a:xfrm xmlns:a="http://schemas.openxmlformats.org/drawingml/2006/main" rot="0">
            <a:off x="9239250" y="4000500"/>
            <a:ext cx="1857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後発は、この関係と運用を</a:t>
            </a:r>
          </a:p>
          <a:p xmlns:a="http://schemas.openxmlformats.org/drawingml/2006/main">
            <a:pPr algn="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一から積み直す必要がある</a:t>
            </a:r>
          </a:p>
        </p:txBody>
      </p:sp>
      <p:sp>
        <p:nvSpPr>
          <p:cNvPr id="19" name="">
            <a:extLst xmlns:a="http://schemas.openxmlformats.org/drawingml/2006/main">
              <a:ext uri="{FF2B5EF4-FFF2-40B4-BE49-F238E27FC236}">
                <a16:creationId xmlns:a16="http://schemas.microsoft.com/office/drawing/2014/main" id="{1CD10AFC-157F-4672-A401-BBD5A2268AEA}"/>
              </a:ext>
            </a:extLst>
          </p:cNvPr>
          <p:cNvSpPr>
            <a:spLocks xmlns:a="http://schemas.openxmlformats.org/drawingml/2006/main" noGrp="1"/>
          </p:cNvSpPr>
          <p:nvPr/>
        </p:nvSpPr>
        <p:spPr>
          <a:xfrm xmlns:a="http://schemas.openxmlformats.org/drawingml/2006/main" rot="0">
            <a:off x="723900" y="61436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データだけでなく、現場へ入り続けるための関係と運用が蓄積される</a:t>
            </a:r>
          </a:p>
        </p:txBody>
      </p:sp>
    </p:spTree>
    <p:extLst>
      <p:ext uri="{BB962C8B-B14F-4D97-AF65-F5344CB8AC3E}">
        <p14:creationId xmlns:p14="http://schemas.microsoft.com/office/powerpoint/2010/main" val="1825506559"/>
      </p:ext>
    </p:extLst>
  </p:cSld>
</p:sld>
</file>

<file path=ppt/slides/slide1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0C543FB-0222-44EC-B510-74829356E39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6AC26E0-B587-4B03-9F5D-F28B0E179C45}"/>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75" b="1">
                <a:solidFill>
                  <a:srgbClr val="15191B"/>
                </a:solidFill>
                <a:latin typeface="Hiragino Sans"/>
                <a:ea typeface="Hiragino Sans"/>
                <a:cs typeface="Hiragino Sans"/>
              </a:defRPr>
            </a:pPr>
            <a:r>
              <a:rPr sz="2475" b="1">
                <a:solidFill>
                  <a:srgbClr val="15191B"/>
                </a:solidFill>
                <a:latin typeface="Hiragino Sans"/>
                <a:ea typeface="Hiragino Sans"/>
                <a:cs typeface="Hiragino Sans"/>
              </a:rPr>
              <a:t>現場データを先に持つことで、ロボット導入まで進みやすくなる</a:t>
            </a:r>
          </a:p>
        </p:txBody>
      </p:sp>
      <p:sp>
        <p:nvSpPr>
          <p:cNvPr id="3" name="">
            <a:extLst xmlns:a="http://schemas.openxmlformats.org/drawingml/2006/main">
              <a:ext uri="{FF2B5EF4-FFF2-40B4-BE49-F238E27FC236}">
                <a16:creationId xmlns:a16="http://schemas.microsoft.com/office/drawing/2014/main" id="{311C6336-133B-4C8E-837D-36E0B373F97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D144026-77C9-43F8-B43B-92CF98305C8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11</a:t>
            </a:r>
          </a:p>
        </p:txBody>
      </p:sp>
      <p:sp>
        <p:nvSpPr>
          <p:cNvPr id="5" name="">
            <a:extLst xmlns:a="http://schemas.openxmlformats.org/drawingml/2006/main">
              <a:ext uri="{FF2B5EF4-FFF2-40B4-BE49-F238E27FC236}">
                <a16:creationId xmlns:a16="http://schemas.microsoft.com/office/drawing/2014/main" id="{E71F22F5-2BA4-48B4-A0A8-6250FCC0AC0E}"/>
              </a:ext>
            </a:extLst>
          </p:cNvPr>
          <p:cNvSpPr>
            <a:spLocks xmlns:a="http://schemas.openxmlformats.org/drawingml/2006/main" noGrp="1"/>
          </p:cNvSpPr>
          <p:nvPr/>
        </p:nvSpPr>
        <p:spPr>
          <a:xfrm xmlns:a="http://schemas.openxmlformats.org/drawingml/2006/main" rot="0">
            <a:off x="857250" y="19526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1CF29B60-CB31-4F69-B449-B2993865AF5F}"/>
              </a:ext>
            </a:extLst>
          </p:cNvPr>
          <p:cNvSpPr>
            <a:spLocks xmlns:a="http://schemas.openxmlformats.org/drawingml/2006/main" noGrp="1"/>
          </p:cNvSpPr>
          <p:nvPr/>
        </p:nvSpPr>
        <p:spPr>
          <a:xfrm xmlns:a="http://schemas.openxmlformats.org/drawingml/2006/main">
            <a:off x="857250" y="2381250"/>
            <a:ext cx="2476500" cy="11430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7" name="">
            <a:extLst xmlns:a="http://schemas.openxmlformats.org/drawingml/2006/main">
              <a:ext uri="{FF2B5EF4-FFF2-40B4-BE49-F238E27FC236}">
                <a16:creationId xmlns:a16="http://schemas.microsoft.com/office/drawing/2014/main" id="{1E4F91BA-4162-431C-8588-59360FC7E6BA}"/>
              </a:ext>
            </a:extLst>
          </p:cNvPr>
          <p:cNvSpPr>
            <a:spLocks xmlns:a="http://schemas.openxmlformats.org/drawingml/2006/main" noGrp="1"/>
          </p:cNvSpPr>
          <p:nvPr/>
        </p:nvSpPr>
        <p:spPr>
          <a:xfrm xmlns:a="http://schemas.openxmlformats.org/drawingml/2006/main" rot="0">
            <a:off x="990600" y="2495550"/>
            <a:ext cx="2209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現場データ収集</a:t>
            </a:r>
          </a:p>
        </p:txBody>
      </p:sp>
      <p:sp>
        <p:nvSpPr>
          <p:cNvPr id="8" name="">
            <a:extLst xmlns:a="http://schemas.openxmlformats.org/drawingml/2006/main">
              <a:ext uri="{FF2B5EF4-FFF2-40B4-BE49-F238E27FC236}">
                <a16:creationId xmlns:a16="http://schemas.microsoft.com/office/drawing/2014/main" id="{D5E136A7-4089-4CF4-B53F-7EFF54C0FB19}"/>
              </a:ext>
            </a:extLst>
          </p:cNvPr>
          <p:cNvSpPr>
            <a:spLocks xmlns:a="http://schemas.openxmlformats.org/drawingml/2006/main" noGrp="1"/>
          </p:cNvSpPr>
          <p:nvPr/>
        </p:nvSpPr>
        <p:spPr>
          <a:xfrm xmlns:a="http://schemas.openxmlformats.org/drawingml/2006/main" rot="0">
            <a:off x="857250" y="3762375"/>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人間のワークフローを</a:t>
            </a:r>
          </a:p>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先に把握する</a:t>
            </a:r>
          </a:p>
        </p:txBody>
      </p:sp>
      <p:sp>
        <p:nvSpPr>
          <p:cNvPr id="9" name="">
            <a:extLst xmlns:a="http://schemas.openxmlformats.org/drawingml/2006/main">
              <a:ext uri="{FF2B5EF4-FFF2-40B4-BE49-F238E27FC236}">
                <a16:creationId xmlns:a16="http://schemas.microsoft.com/office/drawing/2014/main" id="{73B1DEFA-2F82-43EE-BEFF-22538D3037E3}"/>
              </a:ext>
            </a:extLst>
          </p:cNvPr>
          <p:cNvSpPr>
            <a:spLocks xmlns:a="http://schemas.openxmlformats.org/drawingml/2006/main" noGrp="1"/>
          </p:cNvSpPr>
          <p:nvPr/>
        </p:nvSpPr>
        <p:spPr>
          <a:xfrm xmlns:a="http://schemas.openxmlformats.org/drawingml/2006/main">
            <a:off x="3524250" y="2924175"/>
            <a:ext cx="14287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75EED66-43CC-49DC-922D-E28D909F0125}"/>
              </a:ext>
            </a:extLst>
          </p:cNvPr>
          <p:cNvSpPr>
            <a:spLocks xmlns:a="http://schemas.openxmlformats.org/drawingml/2006/main" noGrp="1"/>
          </p:cNvSpPr>
          <p:nvPr/>
        </p:nvSpPr>
        <p:spPr>
          <a:xfrm xmlns:a="http://schemas.openxmlformats.org/drawingml/2006/main" rot="5400000">
            <a:off x="4924425" y="2857500"/>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1" name="">
            <a:extLst xmlns:a="http://schemas.openxmlformats.org/drawingml/2006/main">
              <a:ext uri="{FF2B5EF4-FFF2-40B4-BE49-F238E27FC236}">
                <a16:creationId xmlns:a16="http://schemas.microsoft.com/office/drawing/2014/main" id="{C6E1C0F7-4EB2-48B2-A0B6-D1235E1EFCB4}"/>
              </a:ext>
            </a:extLst>
          </p:cNvPr>
          <p:cNvSpPr>
            <a:spLocks xmlns:a="http://schemas.openxmlformats.org/drawingml/2006/main" noGrp="1"/>
          </p:cNvSpPr>
          <p:nvPr/>
        </p:nvSpPr>
        <p:spPr>
          <a:xfrm xmlns:a="http://schemas.openxmlformats.org/drawingml/2006/main" rot="0">
            <a:off x="3952875" y="2524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蓄積</a:t>
            </a:r>
          </a:p>
        </p:txBody>
      </p:sp>
      <p:sp>
        <p:nvSpPr>
          <p:cNvPr id="12" name="">
            <a:extLst xmlns:a="http://schemas.openxmlformats.org/drawingml/2006/main">
              <a:ext uri="{FF2B5EF4-FFF2-40B4-BE49-F238E27FC236}">
                <a16:creationId xmlns:a16="http://schemas.microsoft.com/office/drawing/2014/main" id="{53DD3349-1746-426B-9AAB-EA6A84815096}"/>
              </a:ext>
            </a:extLst>
          </p:cNvPr>
          <p:cNvSpPr>
            <a:spLocks xmlns:a="http://schemas.openxmlformats.org/drawingml/2006/main" noGrp="1"/>
          </p:cNvSpPr>
          <p:nvPr/>
        </p:nvSpPr>
        <p:spPr>
          <a:xfrm xmlns:a="http://schemas.openxmlformats.org/drawingml/2006/main">
            <a:off x="5238750" y="2190750"/>
            <a:ext cx="2381250" cy="15240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3" name="">
            <a:extLst xmlns:a="http://schemas.openxmlformats.org/drawingml/2006/main">
              <a:ext uri="{FF2B5EF4-FFF2-40B4-BE49-F238E27FC236}">
                <a16:creationId xmlns:a16="http://schemas.microsoft.com/office/drawing/2014/main" id="{243D307B-D479-413C-B625-FD6463F48A0A}"/>
              </a:ext>
            </a:extLst>
          </p:cNvPr>
          <p:cNvSpPr>
            <a:spLocks xmlns:a="http://schemas.openxmlformats.org/drawingml/2006/main" noGrp="1"/>
          </p:cNvSpPr>
          <p:nvPr/>
        </p:nvSpPr>
        <p:spPr>
          <a:xfrm xmlns:a="http://schemas.openxmlformats.org/drawingml/2006/main" rot="0">
            <a:off x="5372100" y="2305050"/>
            <a:ext cx="21145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現場データ</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現場ネットワーク</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現場の知見</a:t>
            </a:r>
          </a:p>
        </p:txBody>
      </p:sp>
      <p:sp>
        <p:nvSpPr>
          <p:cNvPr id="14" name="">
            <a:extLst xmlns:a="http://schemas.openxmlformats.org/drawingml/2006/main">
              <a:ext uri="{FF2B5EF4-FFF2-40B4-BE49-F238E27FC236}">
                <a16:creationId xmlns:a16="http://schemas.microsoft.com/office/drawing/2014/main" id="{4E3B4C62-040B-432F-84D2-B024A24C1591}"/>
              </a:ext>
            </a:extLst>
          </p:cNvPr>
          <p:cNvSpPr>
            <a:spLocks xmlns:a="http://schemas.openxmlformats.org/drawingml/2006/main" noGrp="1"/>
          </p:cNvSpPr>
          <p:nvPr/>
        </p:nvSpPr>
        <p:spPr>
          <a:xfrm xmlns:a="http://schemas.openxmlformats.org/drawingml/2006/main">
            <a:off x="7810500" y="2924175"/>
            <a:ext cx="14287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DE7E667-AF26-465A-ACAD-6978D428D0E5}"/>
              </a:ext>
            </a:extLst>
          </p:cNvPr>
          <p:cNvSpPr>
            <a:spLocks xmlns:a="http://schemas.openxmlformats.org/drawingml/2006/main" noGrp="1"/>
          </p:cNvSpPr>
          <p:nvPr/>
        </p:nvSpPr>
        <p:spPr>
          <a:xfrm xmlns:a="http://schemas.openxmlformats.org/drawingml/2006/main" rot="5400000">
            <a:off x="9210675" y="2857500"/>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6" name="">
            <a:extLst xmlns:a="http://schemas.openxmlformats.org/drawingml/2006/main">
              <a:ext uri="{FF2B5EF4-FFF2-40B4-BE49-F238E27FC236}">
                <a16:creationId xmlns:a16="http://schemas.microsoft.com/office/drawing/2014/main" id="{BFD1CAE2-F00F-4627-8E60-109A1BA7A69B}"/>
              </a:ext>
            </a:extLst>
          </p:cNvPr>
          <p:cNvSpPr>
            <a:spLocks xmlns:a="http://schemas.openxmlformats.org/drawingml/2006/main" noGrp="1"/>
          </p:cNvSpPr>
          <p:nvPr/>
        </p:nvSpPr>
        <p:spPr>
          <a:xfrm xmlns:a="http://schemas.openxmlformats.org/drawingml/2006/main" rot="0">
            <a:off x="8239125" y="2524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活用</a:t>
            </a:r>
          </a:p>
        </p:txBody>
      </p:sp>
      <p:sp>
        <p:nvSpPr>
          <p:cNvPr id="17" name="">
            <a:extLst xmlns:a="http://schemas.openxmlformats.org/drawingml/2006/main">
              <a:ext uri="{FF2B5EF4-FFF2-40B4-BE49-F238E27FC236}">
                <a16:creationId xmlns:a16="http://schemas.microsoft.com/office/drawing/2014/main" id="{E07207BA-A2D7-4B4C-AFFA-E5236A899FBD}"/>
              </a:ext>
            </a:extLst>
          </p:cNvPr>
          <p:cNvSpPr>
            <a:spLocks xmlns:a="http://schemas.openxmlformats.org/drawingml/2006/main" noGrp="1"/>
          </p:cNvSpPr>
          <p:nvPr/>
        </p:nvSpPr>
        <p:spPr>
          <a:xfrm xmlns:a="http://schemas.openxmlformats.org/drawingml/2006/main" rot="0">
            <a:off x="8953500" y="19526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第2段階</a:t>
            </a:r>
          </a:p>
        </p:txBody>
      </p:sp>
      <p:sp>
        <p:nvSpPr>
          <p:cNvPr id="18" name="">
            <a:extLst xmlns:a="http://schemas.openxmlformats.org/drawingml/2006/main">
              <a:ext uri="{FF2B5EF4-FFF2-40B4-BE49-F238E27FC236}">
                <a16:creationId xmlns:a16="http://schemas.microsoft.com/office/drawing/2014/main" id="{5B282791-8052-4661-A5EB-AA6715FAA291}"/>
              </a:ext>
            </a:extLst>
          </p:cNvPr>
          <p:cNvSpPr>
            <a:spLocks xmlns:a="http://schemas.openxmlformats.org/drawingml/2006/main" noGrp="1"/>
          </p:cNvSpPr>
          <p:nvPr/>
        </p:nvSpPr>
        <p:spPr>
          <a:xfrm xmlns:a="http://schemas.openxmlformats.org/drawingml/2006/main">
            <a:off x="8953500" y="2381250"/>
            <a:ext cx="2476500" cy="1143000"/>
          </a:xfrm>
          <a:prstGeom xmlns:a="http://schemas.openxmlformats.org/drawingml/2006/main" prst="rect">
            <a:avLst/>
          </a:prstGeom>
          <a:solidFill xmlns:a="http://schemas.openxmlformats.org/drawingml/2006/main">
            <a:srgbClr val="25333A"/>
          </a:solidFill>
          <a:ln xmlns:a="http://schemas.openxmlformats.org/drawingml/2006/main" w="19050">
            <a:solidFill>
              <a:srgbClr val="25333A"/>
            </a:solidFill>
          </a:ln>
        </p:spPr>
      </p:sp>
      <p:sp>
        <p:nvSpPr>
          <p:cNvPr id="19" name="">
            <a:extLst xmlns:a="http://schemas.openxmlformats.org/drawingml/2006/main">
              <a:ext uri="{FF2B5EF4-FFF2-40B4-BE49-F238E27FC236}">
                <a16:creationId xmlns:a16="http://schemas.microsoft.com/office/drawing/2014/main" id="{5AF7E665-8007-4CC1-BCC7-10F21020547C}"/>
              </a:ext>
            </a:extLst>
          </p:cNvPr>
          <p:cNvSpPr>
            <a:spLocks xmlns:a="http://schemas.openxmlformats.org/drawingml/2006/main" noGrp="1"/>
          </p:cNvSpPr>
          <p:nvPr/>
        </p:nvSpPr>
        <p:spPr>
          <a:xfrm xmlns:a="http://schemas.openxmlformats.org/drawingml/2006/main" rot="0">
            <a:off x="9086850" y="2495550"/>
            <a:ext cx="2209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ロボットを</a:t>
            </a:r>
          </a:p>
          <a:p xmlns:a="http://schemas.openxmlformats.org/drawingml/2006/main">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現場へ導入</a:t>
            </a:r>
          </a:p>
        </p:txBody>
      </p:sp>
      <p:sp>
        <p:nvSpPr>
          <p:cNvPr id="20" name="">
            <a:extLst xmlns:a="http://schemas.openxmlformats.org/drawingml/2006/main">
              <a:ext uri="{FF2B5EF4-FFF2-40B4-BE49-F238E27FC236}">
                <a16:creationId xmlns:a16="http://schemas.microsoft.com/office/drawing/2014/main" id="{2D0F4C25-B3E8-43C7-A531-4505AD0E3B55}"/>
              </a:ext>
            </a:extLst>
          </p:cNvPr>
          <p:cNvSpPr>
            <a:spLocks xmlns:a="http://schemas.openxmlformats.org/drawingml/2006/main" noGrp="1"/>
          </p:cNvSpPr>
          <p:nvPr/>
        </p:nvSpPr>
        <p:spPr>
          <a:xfrm xmlns:a="http://schemas.openxmlformats.org/drawingml/2006/main" rot="0">
            <a:off x="8953500" y="3762375"/>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作業に合わせて導入・運用を調整</a:t>
            </a:r>
          </a:p>
        </p:txBody>
      </p:sp>
      <p:sp>
        <p:nvSpPr>
          <p:cNvPr id="21" name="">
            <a:extLst xmlns:a="http://schemas.openxmlformats.org/drawingml/2006/main">
              <a:ext uri="{FF2B5EF4-FFF2-40B4-BE49-F238E27FC236}">
                <a16:creationId xmlns:a16="http://schemas.microsoft.com/office/drawing/2014/main" id="{3841415F-0D50-402B-96B6-920EEFE8F7E1}"/>
              </a:ext>
            </a:extLst>
          </p:cNvPr>
          <p:cNvSpPr>
            <a:spLocks xmlns:a="http://schemas.openxmlformats.org/drawingml/2006/main" noGrp="1"/>
          </p:cNvSpPr>
          <p:nvPr/>
        </p:nvSpPr>
        <p:spPr>
          <a:xfrm xmlns:a="http://schemas.openxmlformats.org/drawingml/2006/main">
            <a:off x="857250" y="4762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4939F06-C07E-4487-B29F-77B11F348298}"/>
              </a:ext>
            </a:extLst>
          </p:cNvPr>
          <p:cNvSpPr>
            <a:spLocks xmlns:a="http://schemas.openxmlformats.org/drawingml/2006/main" noGrp="1"/>
          </p:cNvSpPr>
          <p:nvPr/>
        </p:nvSpPr>
        <p:spPr>
          <a:xfrm xmlns:a="http://schemas.openxmlformats.org/drawingml/2006/main" rot="0">
            <a:off x="723900" y="52863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ロボット企業と協業し、自ら導入と運用調整を担うこともできる</a:t>
            </a:r>
          </a:p>
        </p:txBody>
      </p:sp>
    </p:spTree>
    <p:extLst>
      <p:ext uri="{BB962C8B-B14F-4D97-AF65-F5344CB8AC3E}">
        <p14:creationId xmlns:p14="http://schemas.microsoft.com/office/powerpoint/2010/main" val="1732569821"/>
      </p:ext>
    </p:extLst>
  </p:cSld>
</p:sld>
</file>

<file path=ppt/slides/slide1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23B54F9-A41D-43E3-AAAF-1F398B076B2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181D8BC-16FA-47E4-83C9-FB3C83840D64}"/>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RootLensの方向性</a:t>
            </a:r>
          </a:p>
        </p:txBody>
      </p:sp>
      <p:sp>
        <p:nvSpPr>
          <p:cNvPr id="3" name="">
            <a:extLst xmlns:a="http://schemas.openxmlformats.org/drawingml/2006/main">
              <a:ext uri="{FF2B5EF4-FFF2-40B4-BE49-F238E27FC236}">
                <a16:creationId xmlns:a16="http://schemas.microsoft.com/office/drawing/2014/main" id="{A505F8E3-7E9C-45DA-B009-F361C9182AF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23B78F7-85B3-4C32-B39F-B597CFE10F42}"/>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12</a:t>
            </a:r>
          </a:p>
        </p:txBody>
      </p:sp>
      <p:sp>
        <p:nvSpPr>
          <p:cNvPr id="5" name="">
            <a:extLst xmlns:a="http://schemas.openxmlformats.org/drawingml/2006/main">
              <a:ext uri="{FF2B5EF4-FFF2-40B4-BE49-F238E27FC236}">
                <a16:creationId xmlns:a16="http://schemas.microsoft.com/office/drawing/2014/main" id="{F4830F12-8F1C-4AE7-B9F2-96AEB8677FBB}"/>
              </a:ext>
            </a:extLst>
          </p:cNvPr>
          <p:cNvSpPr>
            <a:spLocks xmlns:a="http://schemas.openxmlformats.org/drawingml/2006/main" noGrp="1"/>
          </p:cNvSpPr>
          <p:nvPr/>
        </p:nvSpPr>
        <p:spPr>
          <a:xfrm xmlns:a="http://schemas.openxmlformats.org/drawingml/2006/main" rot="0">
            <a:off x="7239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B128B9F8-ACAD-4552-8177-81F4E714ED88}"/>
              </a:ext>
            </a:extLst>
          </p:cNvPr>
          <p:cNvSpPr>
            <a:spLocks xmlns:a="http://schemas.openxmlformats.org/drawingml/2006/main" noGrp="1"/>
          </p:cNvSpPr>
          <p:nvPr/>
        </p:nvSpPr>
        <p:spPr>
          <a:xfrm xmlns:a="http://schemas.openxmlformats.org/drawingml/2006/main" rot="0">
            <a:off x="723900" y="242887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現場データネットワークを広げる</a:t>
            </a:r>
          </a:p>
        </p:txBody>
      </p:sp>
      <p:sp>
        <p:nvSpPr>
          <p:cNvPr id="7" name="">
            <a:extLst xmlns:a="http://schemas.openxmlformats.org/drawingml/2006/main">
              <a:ext uri="{FF2B5EF4-FFF2-40B4-BE49-F238E27FC236}">
                <a16:creationId xmlns:a16="http://schemas.microsoft.com/office/drawing/2014/main" id="{02EEE2D9-00BB-4AAC-926E-75A6BFCB9317}"/>
              </a:ext>
            </a:extLst>
          </p:cNvPr>
          <p:cNvSpPr>
            <a:spLocks xmlns:a="http://schemas.openxmlformats.org/drawingml/2006/main" noGrp="1"/>
          </p:cNvSpPr>
          <p:nvPr/>
        </p:nvSpPr>
        <p:spPr>
          <a:xfrm xmlns:a="http://schemas.openxmlformats.org/drawingml/2006/main" rot="0">
            <a:off x="723900" y="309562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データ収集・販売による収益を確保する。現場との関係構築と、多業種へのコンプライアンス対応を通じて、後発が真似できない参入障壁を積み上げる。</a:t>
            </a:r>
          </a:p>
        </p:txBody>
      </p:sp>
      <p:sp>
        <p:nvSpPr>
          <p:cNvPr id="8" name="">
            <a:extLst xmlns:a="http://schemas.openxmlformats.org/drawingml/2006/main">
              <a:ext uri="{FF2B5EF4-FFF2-40B4-BE49-F238E27FC236}">
                <a16:creationId xmlns:a16="http://schemas.microsoft.com/office/drawing/2014/main" id="{2C353225-F559-4876-8AC5-7E370CE3C6AD}"/>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82D2767-E1BA-4B80-A42A-BDF8931C4DA2}"/>
              </a:ext>
            </a:extLst>
          </p:cNvPr>
          <p:cNvSpPr>
            <a:spLocks xmlns:a="http://schemas.openxmlformats.org/drawingml/2006/main" noGrp="1"/>
          </p:cNvSpPr>
          <p:nvPr/>
        </p:nvSpPr>
        <p:spPr>
          <a:xfrm xmlns:a="http://schemas.openxmlformats.org/drawingml/2006/main" rot="0">
            <a:off x="64770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第2段階</a:t>
            </a:r>
          </a:p>
        </p:txBody>
      </p:sp>
      <p:sp>
        <p:nvSpPr>
          <p:cNvPr id="10" name="">
            <a:extLst xmlns:a="http://schemas.openxmlformats.org/drawingml/2006/main">
              <a:ext uri="{FF2B5EF4-FFF2-40B4-BE49-F238E27FC236}">
                <a16:creationId xmlns:a16="http://schemas.microsoft.com/office/drawing/2014/main" id="{B3AABCC8-381B-4251-A8F2-E4708BB599E3}"/>
              </a:ext>
            </a:extLst>
          </p:cNvPr>
          <p:cNvSpPr>
            <a:spLocks xmlns:a="http://schemas.openxmlformats.org/drawingml/2006/main" noGrp="1"/>
          </p:cNvSpPr>
          <p:nvPr/>
        </p:nvSpPr>
        <p:spPr>
          <a:xfrm xmlns:a="http://schemas.openxmlformats.org/drawingml/2006/main" rot="0">
            <a:off x="6477000" y="24288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自らロボットの現場導入を担う</a:t>
            </a:r>
          </a:p>
        </p:txBody>
      </p:sp>
      <p:sp>
        <p:nvSpPr>
          <p:cNvPr id="11" name="">
            <a:extLst xmlns:a="http://schemas.openxmlformats.org/drawingml/2006/main">
              <a:ext uri="{FF2B5EF4-FFF2-40B4-BE49-F238E27FC236}">
                <a16:creationId xmlns:a16="http://schemas.microsoft.com/office/drawing/2014/main" id="{E65362A5-03B7-4F23-A4E1-E7BB00A91919}"/>
              </a:ext>
            </a:extLst>
          </p:cNvPr>
          <p:cNvSpPr>
            <a:spLocks xmlns:a="http://schemas.openxmlformats.org/drawingml/2006/main" noGrp="1"/>
          </p:cNvSpPr>
          <p:nvPr/>
        </p:nvSpPr>
        <p:spPr>
          <a:xfrm xmlns:a="http://schemas.openxmlformats.org/drawingml/2006/main" rot="0">
            <a:off x="6477000" y="3286125"/>
            <a:ext cx="4667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まず既存ロボットを現場へ導入し、作業に合わせて運用を調整する。その後、現場データを使った動作モデルと実機の改良まで自社で担う。</a:t>
            </a:r>
          </a:p>
        </p:txBody>
      </p:sp>
      <p:sp>
        <p:nvSpPr>
          <p:cNvPr id="12" name="">
            <a:extLst xmlns:a="http://schemas.openxmlformats.org/drawingml/2006/main">
              <a:ext uri="{FF2B5EF4-FFF2-40B4-BE49-F238E27FC236}">
                <a16:creationId xmlns:a16="http://schemas.microsoft.com/office/drawing/2014/main" id="{F2EDAB78-39A1-4432-990D-31581C73AA06}"/>
              </a:ext>
            </a:extLst>
          </p:cNvPr>
          <p:cNvSpPr>
            <a:spLocks xmlns:a="http://schemas.openxmlformats.org/drawingml/2006/main" noGrp="1"/>
          </p:cNvSpPr>
          <p:nvPr/>
        </p:nvSpPr>
        <p:spPr>
          <a:xfrm xmlns:a="http://schemas.openxmlformats.org/drawingml/2006/main" rot="0">
            <a:off x="723900" y="557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この方向性を一言で表したのが、「現場データ収集から始めるフィジカルAIプレーヤー」である。</a:t>
            </a:r>
          </a:p>
        </p:txBody>
      </p:sp>
    </p:spTree>
    <p:extLst>
      <p:ext uri="{BB962C8B-B14F-4D97-AF65-F5344CB8AC3E}">
        <p14:creationId xmlns:p14="http://schemas.microsoft.com/office/powerpoint/2010/main" val="360233789"/>
      </p:ext>
    </p:extLst>
  </p:cSld>
</p:sld>
</file>

<file path=ppt/slides/slide1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C6D8D50-2361-4900-ABD4-8DCEC76B9C1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2386EF3-FCA5-46E8-B44E-88062420EC14}"/>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事業構造と両面市場</a:t>
            </a:r>
          </a:p>
        </p:txBody>
      </p:sp>
      <p:sp>
        <p:nvSpPr>
          <p:cNvPr id="3" name="">
            <a:extLst xmlns:a="http://schemas.openxmlformats.org/drawingml/2006/main">
              <a:ext uri="{FF2B5EF4-FFF2-40B4-BE49-F238E27FC236}">
                <a16:creationId xmlns:a16="http://schemas.microsoft.com/office/drawing/2014/main" id="{5783A450-37F3-41F0-8F92-2E38BB9F35C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8A92D5C-41D6-4487-B0E1-CB82889FBDF4}"/>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13</a:t>
            </a:r>
          </a:p>
        </p:txBody>
      </p:sp>
      <p:sp>
        <p:nvSpPr>
          <p:cNvPr id="5" name="">
            <a:extLst xmlns:a="http://schemas.openxmlformats.org/drawingml/2006/main">
              <a:ext uri="{FF2B5EF4-FFF2-40B4-BE49-F238E27FC236}">
                <a16:creationId xmlns:a16="http://schemas.microsoft.com/office/drawing/2014/main" id="{CB3EC07D-65AB-43D1-968B-6AF43E66911A}"/>
              </a:ext>
            </a:extLst>
          </p:cNvPr>
          <p:cNvSpPr>
            <a:spLocks xmlns:a="http://schemas.openxmlformats.org/drawingml/2006/main" noGrp="1"/>
          </p:cNvSpPr>
          <p:nvPr/>
        </p:nvSpPr>
        <p:spPr>
          <a:xfrm xmlns:a="http://schemas.openxmlformats.org/drawingml/2006/main" rot="0">
            <a:off x="866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撮影先</a:t>
            </a:r>
          </a:p>
        </p:txBody>
      </p:sp>
      <p:sp>
        <p:nvSpPr>
          <p:cNvPr id="6" name="">
            <a:extLst xmlns:a="http://schemas.openxmlformats.org/drawingml/2006/main">
              <a:ext uri="{FF2B5EF4-FFF2-40B4-BE49-F238E27FC236}">
                <a16:creationId xmlns:a16="http://schemas.microsoft.com/office/drawing/2014/main" id="{6219F9E9-2E80-45BA-B5FA-3A4174B5C373}"/>
              </a:ext>
            </a:extLst>
          </p:cNvPr>
          <p:cNvSpPr>
            <a:spLocks xmlns:a="http://schemas.openxmlformats.org/drawingml/2006/main" noGrp="1"/>
          </p:cNvSpPr>
          <p:nvPr/>
        </p:nvSpPr>
        <p:spPr>
          <a:xfrm xmlns:a="http://schemas.openxmlformats.org/drawingml/2006/main" rot="0">
            <a:off x="5057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RootLens</a:t>
            </a:r>
          </a:p>
        </p:txBody>
      </p:sp>
      <p:sp>
        <p:nvSpPr>
          <p:cNvPr id="7" name="">
            <a:extLst xmlns:a="http://schemas.openxmlformats.org/drawingml/2006/main">
              <a:ext uri="{FF2B5EF4-FFF2-40B4-BE49-F238E27FC236}">
                <a16:creationId xmlns:a16="http://schemas.microsoft.com/office/drawing/2014/main" id="{DB7FD10E-56C2-434E-AAC8-63537D0F3400}"/>
              </a:ext>
            </a:extLst>
          </p:cNvPr>
          <p:cNvSpPr>
            <a:spLocks xmlns:a="http://schemas.openxmlformats.org/drawingml/2006/main" noGrp="1"/>
          </p:cNvSpPr>
          <p:nvPr/>
        </p:nvSpPr>
        <p:spPr>
          <a:xfrm xmlns:a="http://schemas.openxmlformats.org/drawingml/2006/main" rot="0">
            <a:off x="90963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a:t>
            </a:r>
          </a:p>
        </p:txBody>
      </p:sp>
      <p:sp>
        <p:nvSpPr>
          <p:cNvPr id="8" name="">
            <a:extLst xmlns:a="http://schemas.openxmlformats.org/drawingml/2006/main">
              <a:ext uri="{FF2B5EF4-FFF2-40B4-BE49-F238E27FC236}">
                <a16:creationId xmlns:a16="http://schemas.microsoft.com/office/drawing/2014/main" id="{7B3E515C-8CA9-4765-95BA-6342DC59E209}"/>
              </a:ext>
            </a:extLst>
          </p:cNvPr>
          <p:cNvSpPr>
            <a:spLocks xmlns:a="http://schemas.openxmlformats.org/drawingml/2006/main" noGrp="1"/>
          </p:cNvSpPr>
          <p:nvPr/>
        </p:nvSpPr>
        <p:spPr>
          <a:xfrm xmlns:a="http://schemas.openxmlformats.org/drawingml/2006/main">
            <a:off x="72390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9C4BA33C-46A6-4B5A-8A93-21B21ACB3518}"/>
              </a:ext>
            </a:extLst>
          </p:cNvPr>
          <p:cNvSpPr>
            <a:spLocks xmlns:a="http://schemas.openxmlformats.org/drawingml/2006/main" noGrp="1"/>
          </p:cNvSpPr>
          <p:nvPr/>
        </p:nvSpPr>
        <p:spPr>
          <a:xfrm xmlns:a="http://schemas.openxmlformats.org/drawingml/2006/main" rot="0">
            <a:off x="100965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67CDDA4D-03FD-4EBA-AD0B-9F8926C70CFF}"/>
              </a:ext>
            </a:extLst>
          </p:cNvPr>
          <p:cNvSpPr>
            <a:spLocks xmlns:a="http://schemas.openxmlformats.org/drawingml/2006/main" noGrp="1"/>
          </p:cNvSpPr>
          <p:nvPr/>
        </p:nvSpPr>
        <p:spPr>
          <a:xfrm xmlns:a="http://schemas.openxmlformats.org/drawingml/2006/main" rot="0">
            <a:off x="1009650" y="3305175"/>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作業データを撮影</a:t>
            </a:r>
          </a:p>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スタッフ・店舗の合意</a:t>
            </a:r>
          </a:p>
        </p:txBody>
      </p:sp>
      <p:sp>
        <p:nvSpPr>
          <p:cNvPr id="11" name="">
            <a:extLst xmlns:a="http://schemas.openxmlformats.org/drawingml/2006/main">
              <a:ext uri="{FF2B5EF4-FFF2-40B4-BE49-F238E27FC236}">
                <a16:creationId xmlns:a16="http://schemas.microsoft.com/office/drawing/2014/main" id="{D6363ACE-C995-45BB-AA9C-579F021E49A3}"/>
              </a:ext>
            </a:extLst>
          </p:cNvPr>
          <p:cNvSpPr>
            <a:spLocks xmlns:a="http://schemas.openxmlformats.org/drawingml/2006/main" noGrp="1"/>
          </p:cNvSpPr>
          <p:nvPr/>
        </p:nvSpPr>
        <p:spPr>
          <a:xfrm xmlns:a="http://schemas.openxmlformats.org/drawingml/2006/main">
            <a:off x="4810125" y="2400300"/>
            <a:ext cx="2571750" cy="18859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C69BEBC-F7CB-4501-A1FD-151A2C7A3C84}"/>
              </a:ext>
            </a:extLst>
          </p:cNvPr>
          <p:cNvSpPr>
            <a:spLocks xmlns:a="http://schemas.openxmlformats.org/drawingml/2006/main" noGrp="1"/>
          </p:cNvSpPr>
          <p:nvPr/>
        </p:nvSpPr>
        <p:spPr>
          <a:xfrm xmlns:a="http://schemas.openxmlformats.org/drawingml/2006/main" rot="0">
            <a:off x="5095875"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収集・管理</a:t>
            </a:r>
          </a:p>
        </p:txBody>
      </p:sp>
      <p:sp>
        <p:nvSpPr>
          <p:cNvPr id="13" name="">
            <a:extLst xmlns:a="http://schemas.openxmlformats.org/drawingml/2006/main">
              <a:ext uri="{FF2B5EF4-FFF2-40B4-BE49-F238E27FC236}">
                <a16:creationId xmlns:a16="http://schemas.microsoft.com/office/drawing/2014/main" id="{DBD48AAE-CDAB-4D9C-9A20-BD4DC6CFC79A}"/>
              </a:ext>
            </a:extLst>
          </p:cNvPr>
          <p:cNvSpPr>
            <a:spLocks xmlns:a="http://schemas.openxmlformats.org/drawingml/2006/main" noGrp="1"/>
          </p:cNvSpPr>
          <p:nvPr/>
        </p:nvSpPr>
        <p:spPr>
          <a:xfrm xmlns:a="http://schemas.openxmlformats.org/drawingml/2006/main" rot="0">
            <a:off x="5095875"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現場運用</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データ品質</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販売フロー</a:t>
            </a:r>
          </a:p>
        </p:txBody>
      </p:sp>
      <p:sp>
        <p:nvSpPr>
          <p:cNvPr id="14" name="">
            <a:extLst xmlns:a="http://schemas.openxmlformats.org/drawingml/2006/main">
              <a:ext uri="{FF2B5EF4-FFF2-40B4-BE49-F238E27FC236}">
                <a16:creationId xmlns:a16="http://schemas.microsoft.com/office/drawing/2014/main" id="{46FBF287-8F2C-47D0-BC1C-431164E422FB}"/>
              </a:ext>
            </a:extLst>
          </p:cNvPr>
          <p:cNvSpPr>
            <a:spLocks xmlns:a="http://schemas.openxmlformats.org/drawingml/2006/main" noGrp="1"/>
          </p:cNvSpPr>
          <p:nvPr/>
        </p:nvSpPr>
        <p:spPr>
          <a:xfrm xmlns:a="http://schemas.openxmlformats.org/drawingml/2006/main">
            <a:off x="889635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5" name="">
            <a:extLst xmlns:a="http://schemas.openxmlformats.org/drawingml/2006/main">
              <a:ext uri="{FF2B5EF4-FFF2-40B4-BE49-F238E27FC236}">
                <a16:creationId xmlns:a16="http://schemas.microsoft.com/office/drawing/2014/main" id="{CC8B42BA-2AAC-45F1-8A76-2FE8D7473A1D}"/>
              </a:ext>
            </a:extLst>
          </p:cNvPr>
          <p:cNvSpPr>
            <a:spLocks xmlns:a="http://schemas.openxmlformats.org/drawingml/2006/main" noGrp="1"/>
          </p:cNvSpPr>
          <p:nvPr/>
        </p:nvSpPr>
        <p:spPr>
          <a:xfrm xmlns:a="http://schemas.openxmlformats.org/drawingml/2006/main" rot="0">
            <a:off x="918210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データバイヤー</a:t>
            </a:r>
          </a:p>
        </p:txBody>
      </p:sp>
      <p:sp>
        <p:nvSpPr>
          <p:cNvPr id="16" name="">
            <a:extLst xmlns:a="http://schemas.openxmlformats.org/drawingml/2006/main">
              <a:ext uri="{FF2B5EF4-FFF2-40B4-BE49-F238E27FC236}">
                <a16:creationId xmlns:a16="http://schemas.microsoft.com/office/drawing/2014/main" id="{15E5AE24-E6C0-457F-AB72-7F5F6952B2F7}"/>
              </a:ext>
            </a:extLst>
          </p:cNvPr>
          <p:cNvSpPr>
            <a:spLocks xmlns:a="http://schemas.openxmlformats.org/drawingml/2006/main" noGrp="1"/>
          </p:cNvSpPr>
          <p:nvPr/>
        </p:nvSpPr>
        <p:spPr>
          <a:xfrm xmlns:a="http://schemas.openxmlformats.org/drawingml/2006/main" rot="0">
            <a:off x="9182100"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モデル開発企業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データ加工企業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ロボット企業</a:t>
            </a:r>
          </a:p>
        </p:txBody>
      </p:sp>
      <p:sp>
        <p:nvSpPr>
          <p:cNvPr id="17" name="">
            <a:extLst xmlns:a="http://schemas.openxmlformats.org/drawingml/2006/main">
              <a:ext uri="{FF2B5EF4-FFF2-40B4-BE49-F238E27FC236}">
                <a16:creationId xmlns:a16="http://schemas.microsoft.com/office/drawing/2014/main" id="{883AC1B5-34C1-46E0-A13D-E2243FFE9C55}"/>
              </a:ext>
            </a:extLst>
          </p:cNvPr>
          <p:cNvSpPr>
            <a:spLocks xmlns:a="http://schemas.openxmlformats.org/drawingml/2006/main" noGrp="1"/>
          </p:cNvSpPr>
          <p:nvPr/>
        </p:nvSpPr>
        <p:spPr>
          <a:xfrm xmlns:a="http://schemas.openxmlformats.org/drawingml/2006/main">
            <a:off x="3295650"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7699028-7B86-4F12-87D1-603BBA4AE0D9}"/>
              </a:ext>
            </a:extLst>
          </p:cNvPr>
          <p:cNvSpPr>
            <a:spLocks xmlns:a="http://schemas.openxmlformats.org/drawingml/2006/main" noGrp="1"/>
          </p:cNvSpPr>
          <p:nvPr/>
        </p:nvSpPr>
        <p:spPr>
          <a:xfrm xmlns:a="http://schemas.openxmlformats.org/drawingml/2006/main">
            <a:off x="7381875"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7A76B3F-D7E1-40D9-A45B-77A0B2049271}"/>
              </a:ext>
            </a:extLst>
          </p:cNvPr>
          <p:cNvSpPr>
            <a:spLocks xmlns:a="http://schemas.openxmlformats.org/drawingml/2006/main" noGrp="1"/>
          </p:cNvSpPr>
          <p:nvPr/>
        </p:nvSpPr>
        <p:spPr>
          <a:xfrm xmlns:a="http://schemas.openxmlformats.org/drawingml/2006/main" rot="0">
            <a:off x="3209925" y="3533775"/>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売上の50%を還元</a:t>
            </a:r>
          </a:p>
        </p:txBody>
      </p:sp>
      <p:sp>
        <p:nvSpPr>
          <p:cNvPr id="20" name="">
            <a:extLst xmlns:a="http://schemas.openxmlformats.org/drawingml/2006/main">
              <a:ext uri="{FF2B5EF4-FFF2-40B4-BE49-F238E27FC236}">
                <a16:creationId xmlns:a16="http://schemas.microsoft.com/office/drawing/2014/main" id="{EBC55529-1313-4687-9C1A-DC689DC2F667}"/>
              </a:ext>
            </a:extLst>
          </p:cNvPr>
          <p:cNvSpPr>
            <a:spLocks xmlns:a="http://schemas.openxmlformats.org/drawingml/2006/main" noGrp="1"/>
          </p:cNvSpPr>
          <p:nvPr/>
        </p:nvSpPr>
        <p:spPr>
          <a:xfrm xmlns:a="http://schemas.openxmlformats.org/drawingml/2006/main" rot="0">
            <a:off x="7458075" y="3533775"/>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データを販売</a:t>
            </a:r>
          </a:p>
        </p:txBody>
      </p:sp>
      <p:sp>
        <p:nvSpPr>
          <p:cNvPr id="21" name="">
            <a:extLst xmlns:a="http://schemas.openxmlformats.org/drawingml/2006/main">
              <a:ext uri="{FF2B5EF4-FFF2-40B4-BE49-F238E27FC236}">
                <a16:creationId xmlns:a16="http://schemas.microsoft.com/office/drawing/2014/main" id="{4741B71B-0BDC-4527-A516-6AD51F977ABF}"/>
              </a:ext>
            </a:extLst>
          </p:cNvPr>
          <p:cNvSpPr>
            <a:spLocks xmlns:a="http://schemas.openxmlformats.org/drawingml/2006/main" noGrp="1"/>
          </p:cNvSpPr>
          <p:nvPr/>
        </p:nvSpPr>
        <p:spPr>
          <a:xfrm xmlns:a="http://schemas.openxmlformats.org/drawingml/2006/main">
            <a:off x="723900" y="4800600"/>
            <a:ext cx="107442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9D27A5A-6D97-47C0-87E8-1AC803DE1BF8}"/>
              </a:ext>
            </a:extLst>
          </p:cNvPr>
          <p:cNvSpPr>
            <a:spLocks xmlns:a="http://schemas.openxmlformats.org/drawingml/2006/main" noGrp="1"/>
          </p:cNvSpPr>
          <p:nvPr/>
        </p:nvSpPr>
        <p:spPr>
          <a:xfrm xmlns:a="http://schemas.openxmlformats.org/drawingml/2006/main" rot="0">
            <a:off x="723900" y="5191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撮影先と販売先という2種類の市場を開拓する必要があり、両面を同時に開拓することは簡単ではない。現段階では、若干現場開拓が先行している。</a:t>
            </a:r>
          </a:p>
        </p:txBody>
      </p:sp>
    </p:spTree>
    <p:extLst>
      <p:ext uri="{BB962C8B-B14F-4D97-AF65-F5344CB8AC3E}">
        <p14:creationId xmlns:p14="http://schemas.microsoft.com/office/powerpoint/2010/main" val="1028470430"/>
      </p:ext>
    </p:extLst>
  </p:cSld>
</p:sld>
</file>

<file path=ppt/slides/slide1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1D3EE8D-2712-4C20-B2AC-64259908200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6700055-C37E-49F0-8C35-0DC757782256}"/>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これまでの活動実績｜現場開拓</a:t>
            </a:r>
          </a:p>
        </p:txBody>
      </p:sp>
      <p:sp>
        <p:nvSpPr>
          <p:cNvPr id="3" name="">
            <a:extLst xmlns:a="http://schemas.openxmlformats.org/drawingml/2006/main">
              <a:ext uri="{FF2B5EF4-FFF2-40B4-BE49-F238E27FC236}">
                <a16:creationId xmlns:a16="http://schemas.microsoft.com/office/drawing/2014/main" id="{54DBD770-D7D5-4EF1-AE97-AFABBF6F9DB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88415C5-4281-4AE7-B85A-E1427E8EA48A}"/>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14</a:t>
            </a:r>
          </a:p>
        </p:txBody>
      </p:sp>
      <p:sp>
        <p:nvSpPr>
          <p:cNvPr id="5" name="">
            <a:extLst xmlns:a="http://schemas.openxmlformats.org/drawingml/2006/main">
              <a:ext uri="{FF2B5EF4-FFF2-40B4-BE49-F238E27FC236}">
                <a16:creationId xmlns:a16="http://schemas.microsoft.com/office/drawing/2014/main" id="{237754A3-3DD6-4AC1-8468-9A2B3526FAFC}"/>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現場への訪問</a:t>
            </a:r>
          </a:p>
        </p:txBody>
      </p:sp>
      <p:sp>
        <p:nvSpPr>
          <p:cNvPr id="6" name="">
            <a:extLst xmlns:a="http://schemas.openxmlformats.org/drawingml/2006/main">
              <a:ext uri="{FF2B5EF4-FFF2-40B4-BE49-F238E27FC236}">
                <a16:creationId xmlns:a16="http://schemas.microsoft.com/office/drawing/2014/main" id="{C7C3E2C2-9179-4656-9E54-8D2BEBA07DB8}"/>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30件ほどの現場へ訪問。そこで出会ったベーカリー経営者の許可のもと、店舗で実際にデータ収集をテストした。</a:t>
            </a:r>
          </a:p>
        </p:txBody>
      </p:sp>
      <p:sp>
        <p:nvSpPr>
          <p:cNvPr id="7" name="">
            <a:extLst xmlns:a="http://schemas.openxmlformats.org/drawingml/2006/main">
              <a:ext uri="{FF2B5EF4-FFF2-40B4-BE49-F238E27FC236}">
                <a16:creationId xmlns:a16="http://schemas.microsoft.com/office/drawing/2014/main" id="{8E8F0A11-D84F-4347-822B-CB272795E9FA}"/>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15C97DF-9BDF-47EF-934F-FB89513CB2EB}"/>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ベーカリーでの収集</a:t>
            </a:r>
          </a:p>
        </p:txBody>
      </p:sp>
      <p:sp>
        <p:nvSpPr>
          <p:cNvPr id="9" name="">
            <a:extLst xmlns:a="http://schemas.openxmlformats.org/drawingml/2006/main">
              <a:ext uri="{FF2B5EF4-FFF2-40B4-BE49-F238E27FC236}">
                <a16:creationId xmlns:a16="http://schemas.microsoft.com/office/drawing/2014/main" id="{DE351CD1-36C1-4504-8176-0AF9E4ECE8CE}"/>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スタッフから逐一フィードバックを受け、撮影機材を改善。合計50時間ほどのデータを収集した。</a:t>
            </a:r>
          </a:p>
        </p:txBody>
      </p:sp>
      <p:sp>
        <p:nvSpPr>
          <p:cNvPr id="10" name="">
            <a:extLst xmlns:a="http://schemas.openxmlformats.org/drawingml/2006/main">
              <a:ext uri="{FF2B5EF4-FFF2-40B4-BE49-F238E27FC236}">
                <a16:creationId xmlns:a16="http://schemas.microsoft.com/office/drawing/2014/main" id="{69D58D0C-B420-4297-9BC1-E614A9C11DBE}"/>
              </a:ext>
            </a:extLst>
          </p:cNvPr>
          <p:cNvSpPr>
            <a:spLocks xmlns:a="http://schemas.openxmlformats.org/drawingml/2006/main" noGrp="1"/>
          </p:cNvSpPr>
          <p:nvPr/>
        </p:nvSpPr>
        <p:spPr>
          <a:xfrm xmlns:a="http://schemas.openxmlformats.org/drawingml/2006/main">
            <a:off x="723900" y="35242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490C2F2-7462-43DF-8C08-2993E9F1AE78}"/>
              </a:ext>
            </a:extLst>
          </p:cNvPr>
          <p:cNvSpPr>
            <a:spLocks xmlns:a="http://schemas.openxmlformats.org/drawingml/2006/main" noGrp="1"/>
          </p:cNvSpPr>
          <p:nvPr/>
        </p:nvSpPr>
        <p:spPr>
          <a:xfrm xmlns:a="http://schemas.openxmlformats.org/drawingml/2006/main" rot="0">
            <a:off x="723900" y="3619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飲食店への打診</a:t>
            </a:r>
          </a:p>
        </p:txBody>
      </p:sp>
      <p:sp>
        <p:nvSpPr>
          <p:cNvPr id="12" name="">
            <a:extLst xmlns:a="http://schemas.openxmlformats.org/drawingml/2006/main">
              <a:ext uri="{FF2B5EF4-FFF2-40B4-BE49-F238E27FC236}">
                <a16:creationId xmlns:a16="http://schemas.microsoft.com/office/drawing/2014/main" id="{1DB57860-6890-4A72-B13A-21AFEC1007F5}"/>
              </a:ext>
            </a:extLst>
          </p:cNvPr>
          <p:cNvSpPr>
            <a:spLocks xmlns:a="http://schemas.openxmlformats.org/drawingml/2006/main" noGrp="1"/>
          </p:cNvSpPr>
          <p:nvPr/>
        </p:nvSpPr>
        <p:spPr>
          <a:xfrm xmlns:a="http://schemas.openxmlformats.org/drawingml/2006/main" rot="0">
            <a:off x="3714750" y="3600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SNSのDMを通じて複数の飲食店に連絡し、神戸の一社と合意の手続きを進めている。</a:t>
            </a:r>
          </a:p>
        </p:txBody>
      </p:sp>
      <p:sp>
        <p:nvSpPr>
          <p:cNvPr id="13" name="">
            <a:extLst xmlns:a="http://schemas.openxmlformats.org/drawingml/2006/main">
              <a:ext uri="{FF2B5EF4-FFF2-40B4-BE49-F238E27FC236}">
                <a16:creationId xmlns:a16="http://schemas.microsoft.com/office/drawing/2014/main" id="{37A92194-11D5-47A3-9E32-3A5E8E9AA8C5}"/>
              </a:ext>
            </a:extLst>
          </p:cNvPr>
          <p:cNvSpPr>
            <a:spLocks xmlns:a="http://schemas.openxmlformats.org/drawingml/2006/main" noGrp="1"/>
          </p:cNvSpPr>
          <p:nvPr/>
        </p:nvSpPr>
        <p:spPr>
          <a:xfrm xmlns:a="http://schemas.openxmlformats.org/drawingml/2006/main">
            <a:off x="723900" y="4429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B1A08B9-765F-4D45-B289-63C1BC32FB75}"/>
              </a:ext>
            </a:extLst>
          </p:cNvPr>
          <p:cNvSpPr>
            <a:spLocks xmlns:a="http://schemas.openxmlformats.org/drawingml/2006/main" noGrp="1"/>
          </p:cNvSpPr>
          <p:nvPr/>
        </p:nvSpPr>
        <p:spPr>
          <a:xfrm xmlns:a="http://schemas.openxmlformats.org/drawingml/2006/main" rot="0">
            <a:off x="723900" y="4524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小売店への打診</a:t>
            </a:r>
          </a:p>
        </p:txBody>
      </p:sp>
      <p:sp>
        <p:nvSpPr>
          <p:cNvPr id="15" name="">
            <a:extLst xmlns:a="http://schemas.openxmlformats.org/drawingml/2006/main">
              <a:ext uri="{FF2B5EF4-FFF2-40B4-BE49-F238E27FC236}">
                <a16:creationId xmlns:a16="http://schemas.microsoft.com/office/drawing/2014/main" id="{D903152E-B6ED-420E-9914-BE858F9FDFAA}"/>
              </a:ext>
            </a:extLst>
          </p:cNvPr>
          <p:cNvSpPr>
            <a:spLocks xmlns:a="http://schemas.openxmlformats.org/drawingml/2006/main" noGrp="1"/>
          </p:cNvSpPr>
          <p:nvPr/>
        </p:nvSpPr>
        <p:spPr>
          <a:xfrm xmlns:a="http://schemas.openxmlformats.org/drawingml/2006/main" rot="0">
            <a:off x="3714750" y="4505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大崎の紹介で関西のとみづやと接触し、撮影協力について9月17日に直接説明する予定。</a:t>
            </a:r>
          </a:p>
        </p:txBody>
      </p:sp>
      <p:sp>
        <p:nvSpPr>
          <p:cNvPr id="16" name="">
            <a:extLst xmlns:a="http://schemas.openxmlformats.org/drawingml/2006/main">
              <a:ext uri="{FF2B5EF4-FFF2-40B4-BE49-F238E27FC236}">
                <a16:creationId xmlns:a16="http://schemas.microsoft.com/office/drawing/2014/main" id="{1EB09E0D-D773-4CA3-8A30-5A66F0E915C1}"/>
              </a:ext>
            </a:extLst>
          </p:cNvPr>
          <p:cNvSpPr>
            <a:spLocks xmlns:a="http://schemas.openxmlformats.org/drawingml/2006/main" noGrp="1"/>
          </p:cNvSpPr>
          <p:nvPr/>
        </p:nvSpPr>
        <p:spPr>
          <a:xfrm xmlns:a="http://schemas.openxmlformats.org/drawingml/2006/main">
            <a:off x="723900" y="5334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F536668-C159-436C-B299-5FD0BB1401A3}"/>
              </a:ext>
            </a:extLst>
          </p:cNvPr>
          <p:cNvSpPr>
            <a:spLocks xmlns:a="http://schemas.openxmlformats.org/drawingml/2006/main" noGrp="1"/>
          </p:cNvSpPr>
          <p:nvPr/>
        </p:nvSpPr>
        <p:spPr>
          <a:xfrm xmlns:a="http://schemas.openxmlformats.org/drawingml/2006/main" rot="0">
            <a:off x="723900" y="55721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ロボット企業への訪問</a:t>
            </a:r>
          </a:p>
        </p:txBody>
      </p:sp>
      <p:sp>
        <p:nvSpPr>
          <p:cNvPr id="18" name="">
            <a:extLst xmlns:a="http://schemas.openxmlformats.org/drawingml/2006/main">
              <a:ext uri="{FF2B5EF4-FFF2-40B4-BE49-F238E27FC236}">
                <a16:creationId xmlns:a16="http://schemas.microsoft.com/office/drawing/2014/main" id="{7DBF5ABC-2478-45A3-AA9E-2229272A5D42}"/>
              </a:ext>
            </a:extLst>
          </p:cNvPr>
          <p:cNvSpPr>
            <a:spLocks xmlns:a="http://schemas.openxmlformats.org/drawingml/2006/main" noGrp="1"/>
          </p:cNvSpPr>
          <p:nvPr/>
        </p:nvSpPr>
        <p:spPr>
          <a:xfrm xmlns:a="http://schemas.openxmlformats.org/drawingml/2006/main" rot="0">
            <a:off x="3714750" y="5553075"/>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DENSO WAVEを直接訪問し、産業ロボット領域での協働の可能性を探る。</a:t>
            </a:r>
          </a:p>
        </p:txBody>
      </p:sp>
    </p:spTree>
    <p:extLst>
      <p:ext uri="{BB962C8B-B14F-4D97-AF65-F5344CB8AC3E}">
        <p14:creationId xmlns:p14="http://schemas.microsoft.com/office/powerpoint/2010/main" val="1702469017"/>
      </p:ext>
    </p:extLst>
  </p:cSld>
</p:sld>
</file>

<file path=ppt/slides/slide1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624E7D9-B5C4-4BD2-9DEC-EC7644CB362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60413AC-BE51-446D-B1F6-C44B5634E38E}"/>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これまでの活動実績｜販売先開拓</a:t>
            </a:r>
          </a:p>
        </p:txBody>
      </p:sp>
      <p:sp>
        <p:nvSpPr>
          <p:cNvPr id="3" name="">
            <a:extLst xmlns:a="http://schemas.openxmlformats.org/drawingml/2006/main">
              <a:ext uri="{FF2B5EF4-FFF2-40B4-BE49-F238E27FC236}">
                <a16:creationId xmlns:a16="http://schemas.microsoft.com/office/drawing/2014/main" id="{887854B8-570B-419D-826D-9689B418A24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C2CB84C-997C-47F7-A815-44732FCC828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15</a:t>
            </a:r>
          </a:p>
        </p:txBody>
      </p:sp>
      <p:sp>
        <p:nvSpPr>
          <p:cNvPr id="5" name="">
            <a:extLst xmlns:a="http://schemas.openxmlformats.org/drawingml/2006/main">
              <a:ext uri="{FF2B5EF4-FFF2-40B4-BE49-F238E27FC236}">
                <a16:creationId xmlns:a16="http://schemas.microsoft.com/office/drawing/2014/main" id="{33429AE4-F22F-447A-A610-2F0A5C3F78B5}"/>
              </a:ext>
            </a:extLst>
          </p:cNvPr>
          <p:cNvSpPr>
            <a:spLocks xmlns:a="http://schemas.openxmlformats.org/drawingml/2006/main" noGrp="1"/>
          </p:cNvSpPr>
          <p:nvPr/>
        </p:nvSpPr>
        <p:spPr>
          <a:xfrm xmlns:a="http://schemas.openxmlformats.org/drawingml/2006/main" rot="0">
            <a:off x="723900" y="18573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海外</a:t>
            </a:r>
          </a:p>
        </p:txBody>
      </p:sp>
      <p:sp>
        <p:nvSpPr>
          <p:cNvPr id="6" name="">
            <a:extLst xmlns:a="http://schemas.openxmlformats.org/drawingml/2006/main">
              <a:ext uri="{FF2B5EF4-FFF2-40B4-BE49-F238E27FC236}">
                <a16:creationId xmlns:a16="http://schemas.microsoft.com/office/drawing/2014/main" id="{812E75C0-1685-46B6-884F-B5B809F17D6A}"/>
              </a:ext>
            </a:extLst>
          </p:cNvPr>
          <p:cNvSpPr>
            <a:spLocks xmlns:a="http://schemas.openxmlformats.org/drawingml/2006/main" noGrp="1"/>
          </p:cNvSpPr>
          <p:nvPr/>
        </p:nvSpPr>
        <p:spPr>
          <a:xfrm xmlns:a="http://schemas.openxmlformats.org/drawingml/2006/main" rot="0">
            <a:off x="723900" y="2286000"/>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FPVlabs、Claru、CortexAI、ScaleAI、ShaipAI、Hyphenbox、PeekAI等、海外8社とやり取りし、ベーカリーのサンプルデータを送付した。合意には至っていない。収集スケールが世界的に見てまだ小さく、低い優先度として扱われているためである。</a:t>
            </a:r>
          </a:p>
        </p:txBody>
      </p:sp>
      <p:sp>
        <p:nvSpPr>
          <p:cNvPr id="7" name="">
            <a:extLst xmlns:a="http://schemas.openxmlformats.org/drawingml/2006/main">
              <a:ext uri="{FF2B5EF4-FFF2-40B4-BE49-F238E27FC236}">
                <a16:creationId xmlns:a16="http://schemas.microsoft.com/office/drawing/2014/main" id="{3052D69C-FCBE-441D-918F-CEEB9CEA08E0}"/>
              </a:ext>
            </a:extLst>
          </p:cNvPr>
          <p:cNvSpPr>
            <a:spLocks xmlns:a="http://schemas.openxmlformats.org/drawingml/2006/main" noGrp="1"/>
          </p:cNvSpPr>
          <p:nvPr/>
        </p:nvSpPr>
        <p:spPr>
          <a:xfrm xmlns:a="http://schemas.openxmlformats.org/drawingml/2006/main">
            <a:off x="723900" y="3857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22087AE-75D2-46DA-91D5-D935F81180B3}"/>
              </a:ext>
            </a:extLst>
          </p:cNvPr>
          <p:cNvSpPr>
            <a:spLocks xmlns:a="http://schemas.openxmlformats.org/drawingml/2006/main" noGrp="1"/>
          </p:cNvSpPr>
          <p:nvPr/>
        </p:nvSpPr>
        <p:spPr>
          <a:xfrm xmlns:a="http://schemas.openxmlformats.org/drawingml/2006/main" rot="0">
            <a:off x="723900" y="4171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国内｜Nextremer</a:t>
            </a:r>
          </a:p>
        </p:txBody>
      </p:sp>
      <p:sp>
        <p:nvSpPr>
          <p:cNvPr id="9" name="">
            <a:extLst xmlns:a="http://schemas.openxmlformats.org/drawingml/2006/main">
              <a:ext uri="{FF2B5EF4-FFF2-40B4-BE49-F238E27FC236}">
                <a16:creationId xmlns:a16="http://schemas.microsoft.com/office/drawing/2014/main" id="{1FC482C2-B7E7-435F-9939-0C9611F407D5}"/>
              </a:ext>
            </a:extLst>
          </p:cNvPr>
          <p:cNvSpPr>
            <a:spLocks xmlns:a="http://schemas.openxmlformats.org/drawingml/2006/main" noGrp="1"/>
          </p:cNvSpPr>
          <p:nvPr/>
        </p:nvSpPr>
        <p:spPr>
          <a:xfrm xmlns:a="http://schemas.openxmlformats.org/drawingml/2006/main" rot="0">
            <a:off x="723900" y="4572000"/>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フィジカルAI向けデータの加工・販売サービスへの掲載を調整中。現場合意書のシステム構築と、現場合意の取り方を擦り合わせている。</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Nextremerを通すことで、高度なアノテーション付きデータを求める販売先や、ロボット実装に近い下流の顧客へ接続でき、当社単独より高い単価を狙える。</a:t>
            </a:r>
          </a:p>
        </p:txBody>
      </p:sp>
      <p:sp>
        <p:nvSpPr>
          <p:cNvPr id="10" name="">
            <a:extLst xmlns:a="http://schemas.openxmlformats.org/drawingml/2006/main">
              <a:ext uri="{FF2B5EF4-FFF2-40B4-BE49-F238E27FC236}">
                <a16:creationId xmlns:a16="http://schemas.microsoft.com/office/drawing/2014/main" id="{523138F3-D2DB-4F36-B7BF-A3B35D0CE733}"/>
              </a:ext>
            </a:extLst>
          </p:cNvPr>
          <p:cNvSpPr>
            <a:spLocks xmlns:a="http://schemas.openxmlformats.org/drawingml/2006/main" noGrp="1"/>
          </p:cNvSpPr>
          <p:nvPr/>
        </p:nvSpPr>
        <p:spPr>
          <a:xfrm xmlns:a="http://schemas.openxmlformats.org/drawingml/2006/main" rot="0">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手数料なしのレベニューシェアで、当社は現場開拓とデータ収集に注力できる。</a:t>
            </a:r>
          </a:p>
        </p:txBody>
      </p:sp>
    </p:spTree>
    <p:extLst>
      <p:ext uri="{BB962C8B-B14F-4D97-AF65-F5344CB8AC3E}">
        <p14:creationId xmlns:p14="http://schemas.microsoft.com/office/powerpoint/2010/main" val="1274203942"/>
      </p:ext>
    </p:extLst>
  </p:cSld>
</p:sld>
</file>

<file path=ppt/slides/slide1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1ADDE19-CC88-406C-AAAE-C38884E668F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40B60EF-6B52-4324-A1B1-5BABFBCC10BB}"/>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チーム体制</a:t>
            </a:r>
          </a:p>
        </p:txBody>
      </p:sp>
      <p:sp>
        <p:nvSpPr>
          <p:cNvPr id="3" name="">
            <a:extLst xmlns:a="http://schemas.openxmlformats.org/drawingml/2006/main">
              <a:ext uri="{FF2B5EF4-FFF2-40B4-BE49-F238E27FC236}">
                <a16:creationId xmlns:a16="http://schemas.microsoft.com/office/drawing/2014/main" id="{43B903AC-711C-4044-B10C-C919C75BFF4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A12179F-9A10-490D-ADD7-2108F215738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16</a:t>
            </a:r>
          </a:p>
        </p:txBody>
      </p:sp>
      <p:sp>
        <p:nvSpPr>
          <p:cNvPr id="5" name="">
            <a:extLst xmlns:a="http://schemas.openxmlformats.org/drawingml/2006/main">
              <a:ext uri="{FF2B5EF4-FFF2-40B4-BE49-F238E27FC236}">
                <a16:creationId xmlns:a16="http://schemas.microsoft.com/office/drawing/2014/main" id="{6BA07BB6-B99F-4830-87C0-6FB03A40D15C}"/>
              </a:ext>
            </a:extLst>
          </p:cNvPr>
          <p:cNvSpPr>
            <a:spLocks xmlns:a="http://schemas.openxmlformats.org/drawingml/2006/main" noGrp="1"/>
          </p:cNvSpPr>
          <p:nvPr/>
        </p:nvSpPr>
        <p:spPr>
          <a:xfrm xmlns:a="http://schemas.openxmlformats.org/drawingml/2006/main" rot="0">
            <a:off x="723900" y="17621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森雄大</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共同創業者</a:t>
            </a:r>
          </a:p>
        </p:txBody>
      </p:sp>
      <p:sp>
        <p:nvSpPr>
          <p:cNvPr id="6" name="">
            <a:extLst xmlns:a="http://schemas.openxmlformats.org/drawingml/2006/main">
              <a:ext uri="{FF2B5EF4-FFF2-40B4-BE49-F238E27FC236}">
                <a16:creationId xmlns:a16="http://schemas.microsoft.com/office/drawing/2014/main" id="{1129822A-A0BB-4C20-98D7-304C8E325334}"/>
              </a:ext>
            </a:extLst>
          </p:cNvPr>
          <p:cNvSpPr>
            <a:spLocks xmlns:a="http://schemas.openxmlformats.org/drawingml/2006/main" noGrp="1"/>
          </p:cNvSpPr>
          <p:nvPr/>
        </p:nvSpPr>
        <p:spPr>
          <a:xfrm xmlns:a="http://schemas.openxmlformats.org/drawingml/2006/main" rot="0">
            <a:off x="3524250" y="17430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大阪大学基礎工学部卒業後、本事業を立ち上げ。現場開拓、販売先開拓、撮影デバイスの設計・開発、事業全体の推進を担う。</a:t>
            </a:r>
          </a:p>
        </p:txBody>
      </p:sp>
      <p:sp>
        <p:nvSpPr>
          <p:cNvPr id="7" name="">
            <a:extLst xmlns:a="http://schemas.openxmlformats.org/drawingml/2006/main">
              <a:ext uri="{FF2B5EF4-FFF2-40B4-BE49-F238E27FC236}">
                <a16:creationId xmlns:a16="http://schemas.microsoft.com/office/drawing/2014/main" id="{F0748191-9CF4-418E-AF48-7612D4CC9ABE}"/>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0D2B63F-97BD-4CFC-9D46-E22CF41156F0}"/>
              </a:ext>
            </a:extLst>
          </p:cNvPr>
          <p:cNvSpPr>
            <a:spLocks xmlns:a="http://schemas.openxmlformats.org/drawingml/2006/main" noGrp="1"/>
          </p:cNvSpPr>
          <p:nvPr/>
        </p:nvSpPr>
        <p:spPr>
          <a:xfrm xmlns:a="http://schemas.openxmlformats.org/drawingml/2006/main" rot="0">
            <a:off x="723900" y="27146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河野瞭人</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共同創業者</a:t>
            </a:r>
          </a:p>
        </p:txBody>
      </p:sp>
      <p:sp>
        <p:nvSpPr>
          <p:cNvPr id="9" name="">
            <a:extLst xmlns:a="http://schemas.openxmlformats.org/drawingml/2006/main">
              <a:ext uri="{FF2B5EF4-FFF2-40B4-BE49-F238E27FC236}">
                <a16:creationId xmlns:a16="http://schemas.microsoft.com/office/drawing/2014/main" id="{E414A8B6-5EEF-4C8A-8EF5-2304F9923254}"/>
              </a:ext>
            </a:extLst>
          </p:cNvPr>
          <p:cNvSpPr>
            <a:spLocks xmlns:a="http://schemas.openxmlformats.org/drawingml/2006/main" noGrp="1"/>
          </p:cNvSpPr>
          <p:nvPr/>
        </p:nvSpPr>
        <p:spPr>
          <a:xfrm xmlns:a="http://schemas.openxmlformats.org/drawingml/2006/main" rot="0">
            <a:off x="3524250" y="26955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神戸大学大学院システム情報学研究科で、二足歩行ロボットのlocomotionにおけるSim-to-Realを研究。事業ではシミュレーション領域を担う。</a:t>
            </a:r>
          </a:p>
        </p:txBody>
      </p:sp>
      <p:sp>
        <p:nvSpPr>
          <p:cNvPr id="10" name="">
            <a:extLst xmlns:a="http://schemas.openxmlformats.org/drawingml/2006/main">
              <a:ext uri="{FF2B5EF4-FFF2-40B4-BE49-F238E27FC236}">
                <a16:creationId xmlns:a16="http://schemas.microsoft.com/office/drawing/2014/main" id="{011904AC-50F5-477A-8CC2-53875082C4EE}"/>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661C836-F9D6-4396-8D92-190133E003B7}"/>
              </a:ext>
            </a:extLst>
          </p:cNvPr>
          <p:cNvSpPr>
            <a:spLocks xmlns:a="http://schemas.openxmlformats.org/drawingml/2006/main" noGrp="1"/>
          </p:cNvSpPr>
          <p:nvPr/>
        </p:nvSpPr>
        <p:spPr>
          <a:xfrm xmlns:a="http://schemas.openxmlformats.org/drawingml/2006/main" rot="0">
            <a:off x="723900" y="36671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川島健二</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現場パートナー</a:t>
            </a:r>
          </a:p>
        </p:txBody>
      </p:sp>
      <p:sp>
        <p:nvSpPr>
          <p:cNvPr id="12" name="">
            <a:extLst xmlns:a="http://schemas.openxmlformats.org/drawingml/2006/main">
              <a:ext uri="{FF2B5EF4-FFF2-40B4-BE49-F238E27FC236}">
                <a16:creationId xmlns:a16="http://schemas.microsoft.com/office/drawing/2014/main" id="{7CB0CD2D-6B0B-4D2E-92E3-BE15079E4407}"/>
              </a:ext>
            </a:extLst>
          </p:cNvPr>
          <p:cNvSpPr>
            <a:spLocks xmlns:a="http://schemas.openxmlformats.org/drawingml/2006/main" noGrp="1"/>
          </p:cNvSpPr>
          <p:nvPr/>
        </p:nvSpPr>
        <p:spPr>
          <a:xfrm xmlns:a="http://schemas.openxmlformats.org/drawingml/2006/main" rot="0">
            <a:off x="3524250" y="36480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箕面デニッシュ合同会社。ベーカリー店舗での撮影に協力し、スタッフからのフィードバックと継続収集を通じて、撮影機材と現場運用の改善を支える。</a:t>
            </a:r>
          </a:p>
        </p:txBody>
      </p:sp>
      <p:sp>
        <p:nvSpPr>
          <p:cNvPr id="13" name="">
            <a:extLst xmlns:a="http://schemas.openxmlformats.org/drawingml/2006/main">
              <a:ext uri="{FF2B5EF4-FFF2-40B4-BE49-F238E27FC236}">
                <a16:creationId xmlns:a16="http://schemas.microsoft.com/office/drawing/2014/main" id="{C701702D-1272-4619-8E63-25DC7208EB08}"/>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878F83A-BA3F-466E-832A-AF7564CC106E}"/>
              </a:ext>
            </a:extLst>
          </p:cNvPr>
          <p:cNvSpPr>
            <a:spLocks xmlns:a="http://schemas.openxmlformats.org/drawingml/2006/main" noGrp="1"/>
          </p:cNvSpPr>
          <p:nvPr/>
        </p:nvSpPr>
        <p:spPr>
          <a:xfrm xmlns:a="http://schemas.openxmlformats.org/drawingml/2006/main" rot="0">
            <a:off x="723900" y="46196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大崎操</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事業支援</a:t>
            </a:r>
          </a:p>
        </p:txBody>
      </p:sp>
      <p:sp>
        <p:nvSpPr>
          <p:cNvPr id="15" name="">
            <a:extLst xmlns:a="http://schemas.openxmlformats.org/drawingml/2006/main">
              <a:ext uri="{FF2B5EF4-FFF2-40B4-BE49-F238E27FC236}">
                <a16:creationId xmlns:a16="http://schemas.microsoft.com/office/drawing/2014/main" id="{80384F14-075D-430D-9245-3C4BEC8D7EA7}"/>
              </a:ext>
            </a:extLst>
          </p:cNvPr>
          <p:cNvSpPr>
            <a:spLocks xmlns:a="http://schemas.openxmlformats.org/drawingml/2006/main" noGrp="1"/>
          </p:cNvSpPr>
          <p:nvPr/>
        </p:nvSpPr>
        <p:spPr>
          <a:xfrm xmlns:a="http://schemas.openxmlformats.org/drawingml/2006/main" rot="0">
            <a:off x="3524250" y="46005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三菱UFJ銀行を経て、関西スーパーマーケットで常務取締役・管理本部長を務めた。会社立ち上げ、契約・合意書、小売・製造のネットワークを使った現場開拓を支援。</a:t>
            </a:r>
          </a:p>
        </p:txBody>
      </p:sp>
    </p:spTree>
    <p:extLst>
      <p:ext uri="{BB962C8B-B14F-4D97-AF65-F5344CB8AC3E}">
        <p14:creationId xmlns:p14="http://schemas.microsoft.com/office/powerpoint/2010/main" val="866787257"/>
      </p:ext>
    </p:extLst>
  </p:cSld>
</p:sld>
</file>

<file path=ppt/slides/slide1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6331A87-047F-47EA-88E7-AAD2A83EE5D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956CEE6-6B0B-4610-8115-F93FA5D12E00}"/>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撮影デバイスの進化</a:t>
            </a:r>
          </a:p>
        </p:txBody>
      </p:sp>
      <p:sp>
        <p:nvSpPr>
          <p:cNvPr id="3" name="">
            <a:extLst xmlns:a="http://schemas.openxmlformats.org/drawingml/2006/main">
              <a:ext uri="{FF2B5EF4-FFF2-40B4-BE49-F238E27FC236}">
                <a16:creationId xmlns:a16="http://schemas.microsoft.com/office/drawing/2014/main" id="{352CA634-C285-45AE-B547-4DA36FFB348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E0D700D-BC6A-4A5E-808A-DC5ED9239626}"/>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17</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60f02a3abd684ab9"/>
          <a:srcRect xmlns:a="http://schemas.openxmlformats.org/drawingml/2006/main" l="0" t="24081" r="0" b="24081"/>
          <a:stretch xmlns:a="http://schemas.openxmlformats.org/drawingml/2006/main">
            <a:fillRect l="0" t="0" r="0" b="0"/>
          </a:stretch>
        </p:blipFill>
        <p:spPr>
          <a:xfrm xmlns:a="http://schemas.openxmlformats.org/drawingml/2006/main">
            <a:off x="723900" y="1857375"/>
            <a:ext cx="3238500" cy="2238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8FAD30D-8AA3-4534-B900-A501E461C4F9}"/>
              </a:ext>
            </a:extLst>
          </p:cNvPr>
          <p:cNvSpPr>
            <a:spLocks xmlns:a="http://schemas.openxmlformats.org/drawingml/2006/main" noGrp="1"/>
          </p:cNvSpPr>
          <p:nvPr/>
        </p:nvSpPr>
        <p:spPr>
          <a:xfrm xmlns:a="http://schemas.openxmlformats.org/drawingml/2006/main" rot="0">
            <a:off x="72390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初回</a:t>
            </a:r>
          </a:p>
        </p:txBody>
      </p:sp>
      <p:sp>
        <p:nvSpPr>
          <p:cNvPr id="7" name="">
            <a:extLst xmlns:a="http://schemas.openxmlformats.org/drawingml/2006/main">
              <a:ext uri="{FF2B5EF4-FFF2-40B4-BE49-F238E27FC236}">
                <a16:creationId xmlns:a16="http://schemas.microsoft.com/office/drawing/2014/main" id="{BF1F159A-099F-4564-BFD2-F7F38E948354}"/>
              </a:ext>
            </a:extLst>
          </p:cNvPr>
          <p:cNvSpPr>
            <a:spLocks xmlns:a="http://schemas.openxmlformats.org/drawingml/2006/main" noGrp="1"/>
          </p:cNvSpPr>
          <p:nvPr/>
        </p:nvSpPr>
        <p:spPr>
          <a:xfrm xmlns:a="http://schemas.openxmlformats.org/drawingml/2006/main" rot="0">
            <a:off x="137160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ヘルメット</a:t>
            </a:r>
          </a:p>
        </p:txBody>
      </p:sp>
      <p:sp>
        <p:nvSpPr>
          <p:cNvPr id="8" name="">
            <a:extLst xmlns:a="http://schemas.openxmlformats.org/drawingml/2006/main">
              <a:ext uri="{FF2B5EF4-FFF2-40B4-BE49-F238E27FC236}">
                <a16:creationId xmlns:a16="http://schemas.microsoft.com/office/drawing/2014/main" id="{BBA01C37-96A0-4DC8-B634-DBBE7FDBDCDC}"/>
              </a:ext>
            </a:extLst>
          </p:cNvPr>
          <p:cNvSpPr>
            <a:spLocks xmlns:a="http://schemas.openxmlformats.org/drawingml/2006/main" noGrp="1"/>
          </p:cNvSpPr>
          <p:nvPr/>
        </p:nvSpPr>
        <p:spPr>
          <a:xfrm xmlns:a="http://schemas.openxmlformats.org/drawingml/2006/main" rot="0">
            <a:off x="137160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スマートフォンを頭部へ固定</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d76a967c0e7a4d67"/>
          <a:srcRect xmlns:a="http://schemas.openxmlformats.org/drawingml/2006/main" l="5872" t="0" r="5872" b="0"/>
          <a:stretch xmlns:a="http://schemas.openxmlformats.org/drawingml/2006/main">
            <a:fillRect l="0" t="0" r="0" b="0"/>
          </a:stretch>
        </p:blipFill>
        <p:spPr>
          <a:xfrm xmlns:a="http://schemas.openxmlformats.org/drawingml/2006/main">
            <a:off x="4314825" y="1857375"/>
            <a:ext cx="3238500" cy="2238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3B25E5AF-B447-4CAB-9BAA-97AEB9CBAC71}"/>
              </a:ext>
            </a:extLst>
          </p:cNvPr>
          <p:cNvSpPr>
            <a:spLocks xmlns:a="http://schemas.openxmlformats.org/drawingml/2006/main" noGrp="1"/>
          </p:cNvSpPr>
          <p:nvPr/>
        </p:nvSpPr>
        <p:spPr>
          <a:xfrm xmlns:a="http://schemas.openxmlformats.org/drawingml/2006/main" rot="0">
            <a:off x="4314825"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次に</a:t>
            </a:r>
          </a:p>
        </p:txBody>
      </p:sp>
      <p:sp>
        <p:nvSpPr>
          <p:cNvPr id="11" name="">
            <a:extLst xmlns:a="http://schemas.openxmlformats.org/drawingml/2006/main">
              <a:ext uri="{FF2B5EF4-FFF2-40B4-BE49-F238E27FC236}">
                <a16:creationId xmlns:a16="http://schemas.microsoft.com/office/drawing/2014/main" id="{BB38FBA7-8182-4AAA-9EBF-93BDFF858D37}"/>
              </a:ext>
            </a:extLst>
          </p:cNvPr>
          <p:cNvSpPr>
            <a:spLocks xmlns:a="http://schemas.openxmlformats.org/drawingml/2006/main" noGrp="1"/>
          </p:cNvSpPr>
          <p:nvPr/>
        </p:nvSpPr>
        <p:spPr>
          <a:xfrm xmlns:a="http://schemas.openxmlformats.org/drawingml/2006/main" rot="0">
            <a:off x="4962525"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RootCap</a:t>
            </a:r>
          </a:p>
        </p:txBody>
      </p:sp>
      <p:sp>
        <p:nvSpPr>
          <p:cNvPr id="12" name="">
            <a:extLst xmlns:a="http://schemas.openxmlformats.org/drawingml/2006/main">
              <a:ext uri="{FF2B5EF4-FFF2-40B4-BE49-F238E27FC236}">
                <a16:creationId xmlns:a16="http://schemas.microsoft.com/office/drawing/2014/main" id="{72D87929-8AAD-4B9A-B76E-0407E60F02E7}"/>
              </a:ext>
            </a:extLst>
          </p:cNvPr>
          <p:cNvSpPr>
            <a:spLocks xmlns:a="http://schemas.openxmlformats.org/drawingml/2006/main" noGrp="1"/>
          </p:cNvSpPr>
          <p:nvPr/>
        </p:nvSpPr>
        <p:spPr>
          <a:xfrm xmlns:a="http://schemas.openxmlformats.org/drawingml/2006/main" rot="0">
            <a:off x="4962525"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3Dモデルからマウントを設計</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e73949936fc64516"/>
          <a:srcRect xmlns:a="http://schemas.openxmlformats.org/drawingml/2006/main" l="0" t="6438" r="0" b="6438"/>
          <a:stretch xmlns:a="http://schemas.openxmlformats.org/drawingml/2006/main">
            <a:fillRect l="0" t="0" r="0" b="0"/>
          </a:stretch>
        </p:blipFill>
        <p:spPr>
          <a:xfrm xmlns:a="http://schemas.openxmlformats.org/drawingml/2006/main">
            <a:off x="7905750" y="1857375"/>
            <a:ext cx="3238500" cy="2238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3ABCA70C-D290-45BC-8F73-FF555CE5C919}"/>
              </a:ext>
            </a:extLst>
          </p:cNvPr>
          <p:cNvSpPr>
            <a:spLocks xmlns:a="http://schemas.openxmlformats.org/drawingml/2006/main" noGrp="1"/>
          </p:cNvSpPr>
          <p:nvPr/>
        </p:nvSpPr>
        <p:spPr>
          <a:xfrm xmlns:a="http://schemas.openxmlformats.org/drawingml/2006/main" rot="0">
            <a:off x="790575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15" name="">
            <a:extLst xmlns:a="http://schemas.openxmlformats.org/drawingml/2006/main">
              <a:ext uri="{FF2B5EF4-FFF2-40B4-BE49-F238E27FC236}">
                <a16:creationId xmlns:a16="http://schemas.microsoft.com/office/drawing/2014/main" id="{ECC6B88B-F1E5-47F2-A538-796527A36883}"/>
              </a:ext>
            </a:extLst>
          </p:cNvPr>
          <p:cNvSpPr>
            <a:spLocks xmlns:a="http://schemas.openxmlformats.org/drawingml/2006/main" noGrp="1"/>
          </p:cNvSpPr>
          <p:nvPr/>
        </p:nvSpPr>
        <p:spPr>
          <a:xfrm xmlns:a="http://schemas.openxmlformats.org/drawingml/2006/main" rot="0">
            <a:off x="855345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RootGlasss</a:t>
            </a:r>
          </a:p>
        </p:txBody>
      </p:sp>
      <p:sp>
        <p:nvSpPr>
          <p:cNvPr id="16" name="">
            <a:extLst xmlns:a="http://schemas.openxmlformats.org/drawingml/2006/main">
              <a:ext uri="{FF2B5EF4-FFF2-40B4-BE49-F238E27FC236}">
                <a16:creationId xmlns:a16="http://schemas.microsoft.com/office/drawing/2014/main" id="{5F4E700B-7891-452F-B907-73B5FCE4E0F5}"/>
              </a:ext>
            </a:extLst>
          </p:cNvPr>
          <p:cNvSpPr>
            <a:spLocks xmlns:a="http://schemas.openxmlformats.org/drawingml/2006/main" noGrp="1"/>
          </p:cNvSpPr>
          <p:nvPr/>
        </p:nvSpPr>
        <p:spPr>
          <a:xfrm xmlns:a="http://schemas.openxmlformats.org/drawingml/2006/main" rot="0">
            <a:off x="855345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見た目と長時間装着の負担を低減</a:t>
            </a:r>
          </a:p>
        </p:txBody>
      </p:sp>
      <p:sp>
        <p:nvSpPr>
          <p:cNvPr id="17" name="">
            <a:extLst xmlns:a="http://schemas.openxmlformats.org/drawingml/2006/main">
              <a:ext uri="{FF2B5EF4-FFF2-40B4-BE49-F238E27FC236}">
                <a16:creationId xmlns:a16="http://schemas.microsoft.com/office/drawing/2014/main" id="{3EB5B5EC-AE5B-4205-AB58-AE23C749A9DA}"/>
              </a:ext>
            </a:extLst>
          </p:cNvPr>
          <p:cNvSpPr>
            <a:spLocks xmlns:a="http://schemas.openxmlformats.org/drawingml/2006/main" noGrp="1"/>
          </p:cNvSpPr>
          <p:nvPr/>
        </p:nvSpPr>
        <p:spPr>
          <a:xfrm xmlns:a="http://schemas.openxmlformats.org/drawingml/2006/main">
            <a:off x="723900" y="5334000"/>
            <a:ext cx="104203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553F946-3A4A-473C-80C1-6330E3F6FCBC}"/>
              </a:ext>
            </a:extLst>
          </p:cNvPr>
          <p:cNvSpPr>
            <a:spLocks xmlns:a="http://schemas.openxmlformats.org/drawingml/2006/main" noGrp="1"/>
          </p:cNvSpPr>
          <p:nvPr/>
        </p:nvSpPr>
        <p:spPr>
          <a:xfrm xmlns:a="http://schemas.openxmlformats.org/drawingml/2006/main" rot="0">
            <a:off x="723900" y="5572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ベーカリーでスマートグラスを試すと、「これならつけてもいい」と言うスタッフが増えた。軽く見た目に違和感が少ないこと、熱・バッテリーを含め長時間装着できることは、想定以上に現場の許可を左右する。</a:t>
            </a:r>
          </a:p>
        </p:txBody>
      </p:sp>
    </p:spTree>
    <p:extLst>
      <p:ext uri="{BB962C8B-B14F-4D97-AF65-F5344CB8AC3E}">
        <p14:creationId xmlns:p14="http://schemas.microsoft.com/office/powerpoint/2010/main" val="926970963"/>
      </p:ext>
    </p:extLst>
  </p:cSld>
</p:sld>
</file>

<file path=ppt/slides/slide1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0EF8E08-3B98-4329-8C48-CA0EF471A9E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EA050D9-C28D-4E5D-89CE-640A59C87F2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ユニットエコノミクス｜前提</a:t>
            </a:r>
          </a:p>
        </p:txBody>
      </p:sp>
      <p:sp>
        <p:nvSpPr>
          <p:cNvPr id="3" name="">
            <a:extLst xmlns:a="http://schemas.openxmlformats.org/drawingml/2006/main">
              <a:ext uri="{FF2B5EF4-FFF2-40B4-BE49-F238E27FC236}">
                <a16:creationId xmlns:a16="http://schemas.microsoft.com/office/drawing/2014/main" id="{5F1C0D5A-C310-4C08-A9B2-2AD2F782FFD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DA37E44-6335-4945-8CE0-6AB7CA93938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18</a:t>
            </a:r>
          </a:p>
        </p:txBody>
      </p:sp>
      <p:graphicFrame>
        <p:nvGraphicFramePr>
          <p:cNvPr id="11" name=""/>
          <p:cNvGraphicFramePr/>
          <p:nvPr/>
        </p:nvGraphicFramePr>
        <p:xfrm>
          <a:off xmlns:a="http://schemas.openxmlformats.org/drawingml/2006/main" x="723900" y="1809750"/>
          <a:ext xmlns:a="http://schemas.openxmlformats.org/drawingml/2006/main" cx="10572750" cy="3667125"/>
        </p:xfrm>
        <a:graphic xmlns:a="http://schemas.openxmlformats.org/drawingml/2006/main">
          <a:graphicData uri="http://schemas.openxmlformats.org/drawingml/2006/table">
            <a:tbl>
              <a:tblPr/>
              <a:tblGrid>
                <a:gridCol w="3143250"/>
                <a:gridCol w="4286250"/>
                <a:gridCol w="3143250"/>
              </a:tblGrid>
              <a:tr h="523875">
                <a:tc>
                  <a:txBody>
                    <a:bodyPr/>
                    <a:lstStyle/>
                    <a:p>
                      <a:r>
                        <a:rPr sz="1200" b="1">
                          <a:solidFill>
                            <a:srgbClr val="FFFFFF"/>
                          </a:solidFill>
                          <a:latin typeface="Hiragino Sans"/>
                          <a:ea typeface="Hiragino Sans"/>
                          <a:cs typeface="Hiragino Sans"/>
                        </a:rPr>
                        <a:t>項目</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前提</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数値</a:t>
                      </a:r>
                    </a:p>
                  </a:txBody>
                  <a:tcPr marL="91440" marR="91440" marT="45720" marB="45720">
                    <a:solidFill>
                      <a:srgbClr val="25333A"/>
                    </a:solidFill>
                  </a:tcPr>
                </a:tc>
              </a:tr>
              <a:tr h="523875">
                <a:tc>
                  <a:txBody>
                    <a:bodyPr/>
                    <a:lstStyle/>
                    <a:p>
                      <a:r>
                        <a:rPr sz="1275" b="0">
                          <a:solidFill>
                            <a:srgbClr val="15191B"/>
                          </a:solidFill>
                          <a:latin typeface="Hiragino Sans"/>
                          <a:ea typeface="Hiragino Sans"/>
                          <a:cs typeface="Hiragino Sans"/>
                        </a:rPr>
                        <a:t>販売単価</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1,600円/h（下限）</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同一データを1回だけ販売</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平均1回（悲観シナリオ）</a:t>
                      </a:r>
                    </a:p>
                  </a:txBody>
                  <a:tcPr marL="91440" marR="91440" marT="45720" marB="45720">
                    <a:solidFill>
                      <a:srgbClr val="DCE8EF"/>
                    </a:solidFill>
                  </a:tcPr>
                </a:tc>
              </a:tr>
              <a:tr h="523875">
                <a:tc>
                  <a:txBody>
                    <a:bodyPr/>
                    <a:lstStyle/>
                    <a:p>
                      <a:r>
                        <a:rPr sz="1275" b="0">
                          <a:solidFill>
                            <a:srgbClr val="15191B"/>
                          </a:solidFill>
                          <a:latin typeface="Hiragino Sans"/>
                          <a:ea typeface="Hiragino Sans"/>
                          <a:cs typeface="Hiragino Sans"/>
                        </a:rPr>
                        <a:t>現場還元</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売上の50%</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会社の取り分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 − 800円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8万円/台、10か月償却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約73円</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デバイス償却後</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800円 − 約73円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約727円</a:t>
                      </a:r>
                    </a:p>
                  </a:txBody>
                  <a:tcPr marL="91440" marR="91440" marT="45720" marB="45720">
                    <a:solidFill>
                      <a:srgbClr val="DCE8EF"/>
                    </a:solidFill>
                  </a:tcPr>
                </a:tc>
              </a:tr>
            </a:tbl>
          </a:graphicData>
        </a:graphic>
      </p:graphicFrame>
      <p:sp>
        <p:nvSpPr>
          <p:cNvPr id="6" name="">
            <a:extLst xmlns:a="http://schemas.openxmlformats.org/drawingml/2006/main">
              <a:ext uri="{FF2B5EF4-FFF2-40B4-BE49-F238E27FC236}">
                <a16:creationId xmlns:a16="http://schemas.microsoft.com/office/drawing/2014/main" id="{796D32F8-7028-465D-B398-EB4B6A2E65E5}"/>
              </a:ext>
            </a:extLst>
          </p:cNvPr>
          <p:cNvSpPr>
            <a:spLocks xmlns:a="http://schemas.openxmlformats.org/drawingml/2006/main" noGrp="1"/>
          </p:cNvSpPr>
          <p:nvPr/>
        </p:nvSpPr>
        <p:spPr>
          <a:xfrm xmlns:a="http://schemas.openxmlformats.org/drawingml/2006/main" rot="0">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1台あたり月間稼働：1日5時間 × 22営業日 ＝ 110時間/月（中間シナリオ）</a:t>
            </a:r>
          </a:p>
        </p:txBody>
      </p:sp>
    </p:spTree>
    <p:extLst>
      <p:ext uri="{BB962C8B-B14F-4D97-AF65-F5344CB8AC3E}">
        <p14:creationId xmlns:p14="http://schemas.microsoft.com/office/powerpoint/2010/main" val="511870772"/>
      </p:ext>
    </p:extLst>
  </p:cSld>
</p:sld>
</file>

<file path=ppt/slides/slide1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0E5C24A-2FEE-42C8-825C-A4AFF7C1CE1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33C16E1-6307-4213-A4F7-82E9EEC2D25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スケール別PL</a:t>
            </a:r>
          </a:p>
        </p:txBody>
      </p:sp>
      <p:sp>
        <p:nvSpPr>
          <p:cNvPr id="3" name="">
            <a:extLst xmlns:a="http://schemas.openxmlformats.org/drawingml/2006/main">
              <a:ext uri="{FF2B5EF4-FFF2-40B4-BE49-F238E27FC236}">
                <a16:creationId xmlns:a16="http://schemas.microsoft.com/office/drawing/2014/main" id="{E3CC7517-4F18-43B2-B8EC-3BDDFAC1701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8E562DB-B8F5-4F7E-91EA-874571D3E1D8}"/>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19</a:t>
            </a:r>
          </a:p>
        </p:txBody>
      </p:sp>
      <p:graphicFrame>
        <p:nvGraphicFramePr>
          <p:cNvPr id="12" name=""/>
          <p:cNvGraphicFramePr/>
          <p:nvPr/>
        </p:nvGraphicFramePr>
        <p:xfrm>
          <a:off xmlns:a="http://schemas.openxmlformats.org/drawingml/2006/main" x="723900" y="1714500"/>
          <a:ext xmlns:a="http://schemas.openxmlformats.org/drawingml/2006/main" cx="10572750" cy="3714750"/>
        </p:xfrm>
        <a:graphic xmlns:a="http://schemas.openxmlformats.org/drawingml/2006/main">
          <a:graphicData uri="http://schemas.openxmlformats.org/drawingml/2006/table">
            <a:tbl>
              <a:tblPr/>
              <a:tblGrid>
                <a:gridCol w="3238500"/>
                <a:gridCol w="2286000"/>
                <a:gridCol w="2286000"/>
                <a:gridCol w="2762250"/>
              </a:tblGrid>
              <a:tr h="464344">
                <a:tc>
                  <a:txBody>
                    <a:bodyPr/>
                    <a:lstStyle/>
                    <a:p>
                      <a:r>
                        <a:rPr sz="1125" b="1">
                          <a:solidFill>
                            <a:srgbClr val="FFFFFF"/>
                          </a:solidFill>
                          <a:latin typeface="Hiragino Sans"/>
                          <a:ea typeface="Hiragino Sans"/>
                          <a:cs typeface="Hiragino Sans"/>
                        </a:rPr>
                        <a:t>月間収集時間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500時間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10,000時間</a:t>
                      </a:r>
                    </a:p>
                  </a:txBody>
                  <a:tcPr marL="91440" marR="91440" marT="45720" marB="45720">
                    <a:solidFill>
                      <a:srgbClr val="25333A"/>
                    </a:solidFill>
                  </a:tcPr>
                </a:tc>
              </a:tr>
              <a:tr h="464344">
                <a:tc>
                  <a:txBody>
                    <a:bodyPr/>
                    <a:lstStyle/>
                    <a:p>
                      <a:r>
                        <a:rPr sz="1200"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必要デバイス</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5台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10台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91台</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流通総額</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会社取り分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償却後</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36万円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727.2万円</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初期デバイス投資</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DD013676-89AD-460C-8C97-38208AD41E20}"/>
              </a:ext>
            </a:extLst>
          </p:cNvPr>
          <p:cNvSpPr>
            <a:spLocks xmlns:a="http://schemas.openxmlformats.org/drawingml/2006/main" noGrp="1"/>
          </p:cNvSpPr>
          <p:nvPr/>
        </p:nvSpPr>
        <p:spPr>
          <a:xfrm xmlns:a="http://schemas.openxmlformats.org/drawingml/2006/main" rot="0">
            <a:off x="723900" y="56007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月10,000時間を12か月継続：会社取り分9,600万円、デバイス償却後約8,726万円。</a:t>
            </a:r>
          </a:p>
        </p:txBody>
      </p:sp>
      <p:sp>
        <p:nvSpPr>
          <p:cNvPr id="7" name="">
            <a:extLst xmlns:a="http://schemas.openxmlformats.org/drawingml/2006/main">
              <a:ext uri="{FF2B5EF4-FFF2-40B4-BE49-F238E27FC236}">
                <a16:creationId xmlns:a16="http://schemas.microsoft.com/office/drawing/2014/main" id="{07917CF5-BE65-4D16-92A4-F88D0E729D2E}"/>
              </a:ext>
            </a:extLst>
          </p:cNvPr>
          <p:cNvSpPr>
            <a:spLocks xmlns:a="http://schemas.openxmlformats.org/drawingml/2006/main" noGrp="1"/>
          </p:cNvSpPr>
          <p:nvPr/>
        </p:nvSpPr>
        <p:spPr>
          <a:xfrm xmlns:a="http://schemas.openxmlformats.org/drawingml/2006/main" rot="0">
            <a:off x="723900" y="59817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データは在庫として積み上がり、過去に収集した分も売り続けられる。平均2回販売なら会社取り分は月1,600万円、3回なら月2,400万円になる。</a:t>
            </a:r>
          </a:p>
        </p:txBody>
      </p:sp>
    </p:spTree>
    <p:extLst>
      <p:ext uri="{BB962C8B-B14F-4D97-AF65-F5344CB8AC3E}">
        <p14:creationId xmlns:p14="http://schemas.microsoft.com/office/powerpoint/2010/main" val="252481357"/>
      </p:ext>
    </p:extLst>
  </p:cSld>
</p:sld>
</file>

<file path=ppt/slides/slide2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8D98BA7-E916-44C7-9EFA-19B093D1034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F089A4B-EE91-4544-A7F2-AEA23A0DF12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デバイスコスト以外に想定されるコスト</a:t>
            </a:r>
          </a:p>
        </p:txBody>
      </p:sp>
      <p:sp>
        <p:nvSpPr>
          <p:cNvPr id="3" name="">
            <a:extLst xmlns:a="http://schemas.openxmlformats.org/drawingml/2006/main">
              <a:ext uri="{FF2B5EF4-FFF2-40B4-BE49-F238E27FC236}">
                <a16:creationId xmlns:a16="http://schemas.microsoft.com/office/drawing/2014/main" id="{69975F98-56BD-47E8-AB1D-A5CCDF3B60D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0D261D9-1310-413F-9E0B-10EE0EE877FE}"/>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20</a:t>
            </a:r>
          </a:p>
        </p:txBody>
      </p:sp>
      <p:sp>
        <p:nvSpPr>
          <p:cNvPr id="5" name="">
            <a:extLst xmlns:a="http://schemas.openxmlformats.org/drawingml/2006/main">
              <a:ext uri="{FF2B5EF4-FFF2-40B4-BE49-F238E27FC236}">
                <a16:creationId xmlns:a16="http://schemas.microsoft.com/office/drawing/2014/main" id="{FC7CFC7F-A41D-43F5-935D-957A9C84894A}"/>
              </a:ext>
            </a:extLst>
          </p:cNvPr>
          <p:cNvSpPr>
            <a:spLocks xmlns:a="http://schemas.openxmlformats.org/drawingml/2006/main" noGrp="1"/>
          </p:cNvSpPr>
          <p:nvPr/>
        </p:nvSpPr>
        <p:spPr>
          <a:xfrm xmlns:a="http://schemas.openxmlformats.org/drawingml/2006/main" rot="0">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ストレージ・転送費</a:t>
            </a:r>
          </a:p>
        </p:txBody>
      </p:sp>
      <p:sp>
        <p:nvSpPr>
          <p:cNvPr id="6" name="">
            <a:extLst xmlns:a="http://schemas.openxmlformats.org/drawingml/2006/main">
              <a:ext uri="{FF2B5EF4-FFF2-40B4-BE49-F238E27FC236}">
                <a16:creationId xmlns:a16="http://schemas.microsoft.com/office/drawing/2014/main" id="{33AD6E34-541C-4817-8491-87AA0FBE796F}"/>
              </a:ext>
            </a:extLst>
          </p:cNvPr>
          <p:cNvSpPr>
            <a:spLocks xmlns:a="http://schemas.openxmlformats.org/drawingml/2006/main" noGrp="1"/>
          </p:cNvSpPr>
          <p:nvPr/>
        </p:nvSpPr>
        <p:spPr>
          <a:xfrm xmlns:a="http://schemas.openxmlformats.org/drawingml/2006/main" rot="0">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映像は1時間あたり5〜15GB。月500時間で2.5〜7.5TB、月10,000時間で50〜150TB。Nextremerへ格納し、自社負担を抑える。</a:t>
            </a:r>
          </a:p>
        </p:txBody>
      </p:sp>
      <p:sp>
        <p:nvSpPr>
          <p:cNvPr id="7" name="">
            <a:extLst xmlns:a="http://schemas.openxmlformats.org/drawingml/2006/main">
              <a:ext uri="{FF2B5EF4-FFF2-40B4-BE49-F238E27FC236}">
                <a16:creationId xmlns:a16="http://schemas.microsoft.com/office/drawing/2014/main" id="{4D22AFA1-8864-4ADA-8410-6437207D0FD0}"/>
              </a:ext>
            </a:extLst>
          </p:cNvPr>
          <p:cNvSpPr>
            <a:spLocks xmlns:a="http://schemas.openxmlformats.org/drawingml/2006/main" noGrp="1"/>
          </p:cNvSpPr>
          <p:nvPr/>
        </p:nvSpPr>
        <p:spPr>
          <a:xfrm xmlns:a="http://schemas.openxmlformats.org/drawingml/2006/main">
            <a:off x="723900" y="26003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2625D0A-1FFA-4780-B8E4-5C7C915D0798}"/>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現場開拓・維持の人件費</a:t>
            </a:r>
          </a:p>
        </p:txBody>
      </p:sp>
      <p:sp>
        <p:nvSpPr>
          <p:cNvPr id="9" name="">
            <a:extLst xmlns:a="http://schemas.openxmlformats.org/drawingml/2006/main">
              <a:ext uri="{FF2B5EF4-FFF2-40B4-BE49-F238E27FC236}">
                <a16:creationId xmlns:a16="http://schemas.microsoft.com/office/drawing/2014/main" id="{EFCDC911-E335-4785-AEC8-12F097D1E289}"/>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飛び込み営業、契約、機材の配布・回収、スタッフへの説明、トラブル対応、データチェック。現在は創業メンバーの時間で吸収している。</a:t>
            </a:r>
          </a:p>
        </p:txBody>
      </p:sp>
      <p:sp>
        <p:nvSpPr>
          <p:cNvPr id="10" name="">
            <a:extLst xmlns:a="http://schemas.openxmlformats.org/drawingml/2006/main">
              <a:ext uri="{FF2B5EF4-FFF2-40B4-BE49-F238E27FC236}">
                <a16:creationId xmlns:a16="http://schemas.microsoft.com/office/drawing/2014/main" id="{2D10ACA4-878A-4F1E-85C5-496AE771DF93}"/>
              </a:ext>
            </a:extLst>
          </p:cNvPr>
          <p:cNvSpPr>
            <a:spLocks xmlns:a="http://schemas.openxmlformats.org/drawingml/2006/main" noGrp="1"/>
          </p:cNvSpPr>
          <p:nvPr/>
        </p:nvSpPr>
        <p:spPr>
          <a:xfrm xmlns:a="http://schemas.openxmlformats.org/drawingml/2006/main">
            <a:off x="723900" y="3619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7D6498C-18ED-4EC7-8C1F-A64320B8956C}"/>
              </a:ext>
            </a:extLst>
          </p:cNvPr>
          <p:cNvSpPr>
            <a:spLocks xmlns:a="http://schemas.openxmlformats.org/drawingml/2006/main" noGrp="1"/>
          </p:cNvSpPr>
          <p:nvPr/>
        </p:nvSpPr>
        <p:spPr>
          <a:xfrm xmlns:a="http://schemas.openxmlformats.org/drawingml/2006/main" rot="0">
            <a:off x="723900" y="3762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デバイス破損・紛失</a:t>
            </a:r>
          </a:p>
        </p:txBody>
      </p:sp>
      <p:sp>
        <p:nvSpPr>
          <p:cNvPr id="12" name="">
            <a:extLst xmlns:a="http://schemas.openxmlformats.org/drawingml/2006/main">
              <a:ext uri="{FF2B5EF4-FFF2-40B4-BE49-F238E27FC236}">
                <a16:creationId xmlns:a16="http://schemas.microsoft.com/office/drawing/2014/main" id="{8C781984-6BEA-48DB-9833-0B66FF5753D6}"/>
              </a:ext>
            </a:extLst>
          </p:cNvPr>
          <p:cNvSpPr>
            <a:spLocks xmlns:a="http://schemas.openxmlformats.org/drawingml/2006/main" noGrp="1"/>
          </p:cNvSpPr>
          <p:nvPr/>
        </p:nvSpPr>
        <p:spPr>
          <a:xfrm xmlns:a="http://schemas.openxmlformats.org/drawingml/2006/main" rot="0">
            <a:off x="3714750" y="3743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長時間使う消耗品的な性質がある。8〜10か月の償却期間は、実際の使用状況に応じて見直す必要がある。</a:t>
            </a:r>
          </a:p>
        </p:txBody>
      </p:sp>
      <p:sp>
        <p:nvSpPr>
          <p:cNvPr id="13" name="">
            <a:extLst xmlns:a="http://schemas.openxmlformats.org/drawingml/2006/main">
              <a:ext uri="{FF2B5EF4-FFF2-40B4-BE49-F238E27FC236}">
                <a16:creationId xmlns:a16="http://schemas.microsoft.com/office/drawing/2014/main" id="{F928E97C-C292-47F8-A11D-69F30232A177}"/>
              </a:ext>
            </a:extLst>
          </p:cNvPr>
          <p:cNvSpPr>
            <a:spLocks xmlns:a="http://schemas.openxmlformats.org/drawingml/2006/main" noGrp="1"/>
          </p:cNvSpPr>
          <p:nvPr/>
        </p:nvSpPr>
        <p:spPr>
          <a:xfrm xmlns:a="http://schemas.openxmlformats.org/drawingml/2006/main">
            <a:off x="723900" y="46005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E4AE2BE-B1EB-4A56-850C-C8AC47787A52}"/>
              </a:ext>
            </a:extLst>
          </p:cNvPr>
          <p:cNvSpPr>
            <a:spLocks xmlns:a="http://schemas.openxmlformats.org/drawingml/2006/main" noGrp="1"/>
          </p:cNvSpPr>
          <p:nvPr/>
        </p:nvSpPr>
        <p:spPr>
          <a:xfrm xmlns:a="http://schemas.openxmlformats.org/drawingml/2006/main" rot="0">
            <a:off x="723900" y="4714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契約・法務</a:t>
            </a:r>
          </a:p>
        </p:txBody>
      </p:sp>
      <p:sp>
        <p:nvSpPr>
          <p:cNvPr id="15" name="">
            <a:extLst xmlns:a="http://schemas.openxmlformats.org/drawingml/2006/main">
              <a:ext uri="{FF2B5EF4-FFF2-40B4-BE49-F238E27FC236}">
                <a16:creationId xmlns:a16="http://schemas.microsoft.com/office/drawing/2014/main" id="{6AF42528-7A96-4D88-988E-364C53E6450E}"/>
              </a:ext>
            </a:extLst>
          </p:cNvPr>
          <p:cNvSpPr>
            <a:spLocks xmlns:a="http://schemas.openxmlformats.org/drawingml/2006/main" noGrp="1"/>
          </p:cNvSpPr>
          <p:nvPr/>
        </p:nvSpPr>
        <p:spPr>
          <a:xfrm xmlns:a="http://schemas.openxmlformats.org/drawingml/2006/main" rot="0">
            <a:off x="3714750" y="4695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現段階では大崎が吸収しているが、規模拡大時には法務チームや外部弁護士のコストが発生する。</a:t>
            </a:r>
          </a:p>
        </p:txBody>
      </p:sp>
    </p:spTree>
    <p:extLst>
      <p:ext uri="{BB962C8B-B14F-4D97-AF65-F5344CB8AC3E}">
        <p14:creationId xmlns:p14="http://schemas.microsoft.com/office/powerpoint/2010/main" val="1061058652"/>
      </p:ext>
    </p:extLst>
  </p:cSld>
</p:sld>
</file>

<file path=ppt/slides/slide2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E964E1E-8D8B-4B57-A77B-4ED8AA773E7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7CBC451-BBED-438E-8EBD-6121E5039272}"/>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スケール時のボトルネック</a:t>
            </a:r>
          </a:p>
        </p:txBody>
      </p:sp>
      <p:sp>
        <p:nvSpPr>
          <p:cNvPr id="3" name="">
            <a:extLst xmlns:a="http://schemas.openxmlformats.org/drawingml/2006/main">
              <a:ext uri="{FF2B5EF4-FFF2-40B4-BE49-F238E27FC236}">
                <a16:creationId xmlns:a16="http://schemas.microsoft.com/office/drawing/2014/main" id="{D38ADBC4-496A-4EC3-9F75-8536FD60D75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6814E53-A3C4-409C-A716-1C7A06F462D7}"/>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21</a:t>
            </a:r>
          </a:p>
        </p:txBody>
      </p:sp>
      <p:sp>
        <p:nvSpPr>
          <p:cNvPr id="5" name="">
            <a:extLst xmlns:a="http://schemas.openxmlformats.org/drawingml/2006/main">
              <a:ext uri="{FF2B5EF4-FFF2-40B4-BE49-F238E27FC236}">
                <a16:creationId xmlns:a16="http://schemas.microsoft.com/office/drawing/2014/main" id="{7D0DCA24-44AA-4C70-B1DC-7C93404CBE75}"/>
              </a:ext>
            </a:extLst>
          </p:cNvPr>
          <p:cNvSpPr>
            <a:spLocks xmlns:a="http://schemas.openxmlformats.org/drawingml/2006/main" noGrp="1"/>
          </p:cNvSpPr>
          <p:nvPr/>
        </p:nvSpPr>
        <p:spPr>
          <a:xfrm xmlns:a="http://schemas.openxmlformats.org/drawingml/2006/main" rot="0">
            <a:off x="723900" y="1952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現場開拓のスピード</a:t>
            </a:r>
          </a:p>
        </p:txBody>
      </p:sp>
      <p:sp>
        <p:nvSpPr>
          <p:cNvPr id="6" name="">
            <a:extLst xmlns:a="http://schemas.openxmlformats.org/drawingml/2006/main">
              <a:ext uri="{FF2B5EF4-FFF2-40B4-BE49-F238E27FC236}">
                <a16:creationId xmlns:a16="http://schemas.microsoft.com/office/drawing/2014/main" id="{17C3C4AD-0A5D-4D08-B608-8E21A1B39949}"/>
              </a:ext>
            </a:extLst>
          </p:cNvPr>
          <p:cNvSpPr>
            <a:spLocks xmlns:a="http://schemas.openxmlformats.org/drawingml/2006/main" noGrp="1"/>
          </p:cNvSpPr>
          <p:nvPr/>
        </p:nvSpPr>
        <p:spPr>
          <a:xfrm xmlns:a="http://schemas.openxmlformats.org/drawingml/2006/main" rot="0">
            <a:off x="3714750" y="1933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30店舗を確保する営業リソース。1店舗目から2店舗目へ進むにつれ、獲得サイクルが短縮していくか。</a:t>
            </a:r>
          </a:p>
        </p:txBody>
      </p:sp>
      <p:sp>
        <p:nvSpPr>
          <p:cNvPr id="7" name="">
            <a:extLst xmlns:a="http://schemas.openxmlformats.org/drawingml/2006/main">
              <a:ext uri="{FF2B5EF4-FFF2-40B4-BE49-F238E27FC236}">
                <a16:creationId xmlns:a16="http://schemas.microsoft.com/office/drawing/2014/main" id="{4618577F-7E9F-4A67-A22C-6F6CD0A4C36E}"/>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EC1C2D4-A513-4BEC-AEAA-9326D7F29DFE}"/>
              </a:ext>
            </a:extLst>
          </p:cNvPr>
          <p:cNvSpPr>
            <a:spLocks xmlns:a="http://schemas.openxmlformats.org/drawingml/2006/main" noGrp="1"/>
          </p:cNvSpPr>
          <p:nvPr/>
        </p:nvSpPr>
        <p:spPr>
          <a:xfrm xmlns:a="http://schemas.openxmlformats.org/drawingml/2006/main" rot="0">
            <a:off x="723900" y="3095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現場運用の負担</a:t>
            </a:r>
          </a:p>
        </p:txBody>
      </p:sp>
      <p:sp>
        <p:nvSpPr>
          <p:cNvPr id="9" name="">
            <a:extLst xmlns:a="http://schemas.openxmlformats.org/drawingml/2006/main">
              <a:ext uri="{FF2B5EF4-FFF2-40B4-BE49-F238E27FC236}">
                <a16:creationId xmlns:a16="http://schemas.microsoft.com/office/drawing/2014/main" id="{CE71005B-B4BD-469C-BCCF-29A81F135ADE}"/>
              </a:ext>
            </a:extLst>
          </p:cNvPr>
          <p:cNvSpPr>
            <a:spLocks xmlns:a="http://schemas.openxmlformats.org/drawingml/2006/main" noGrp="1"/>
          </p:cNvSpPr>
          <p:nvPr/>
        </p:nvSpPr>
        <p:spPr>
          <a:xfrm xmlns:a="http://schemas.openxmlformats.org/drawingml/2006/main" rot="0">
            <a:off x="3714750" y="3076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30店舗へデバイスを配布・回収し、トラブルへ対応する運用体制。店舗数 × 定期訪問になると、人件費が膨らむ。</a:t>
            </a:r>
          </a:p>
        </p:txBody>
      </p:sp>
      <p:sp>
        <p:nvSpPr>
          <p:cNvPr id="10" name="">
            <a:extLst xmlns:a="http://schemas.openxmlformats.org/drawingml/2006/main">
              <a:ext uri="{FF2B5EF4-FFF2-40B4-BE49-F238E27FC236}">
                <a16:creationId xmlns:a16="http://schemas.microsoft.com/office/drawing/2014/main" id="{95D9956B-A1E8-4091-8974-87A5B3C65614}"/>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11637CB-5013-4A46-9943-EAE8132A80AA}"/>
              </a:ext>
            </a:extLst>
          </p:cNvPr>
          <p:cNvSpPr>
            <a:spLocks xmlns:a="http://schemas.openxmlformats.org/drawingml/2006/main" noGrp="1"/>
          </p:cNvSpPr>
          <p:nvPr/>
        </p:nvSpPr>
        <p:spPr>
          <a:xfrm xmlns:a="http://schemas.openxmlformats.org/drawingml/2006/main" rot="0">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買い手側の受け入れ規模</a:t>
            </a:r>
          </a:p>
        </p:txBody>
      </p:sp>
      <p:sp>
        <p:nvSpPr>
          <p:cNvPr id="12" name="">
            <a:extLst xmlns:a="http://schemas.openxmlformats.org/drawingml/2006/main">
              <a:ext uri="{FF2B5EF4-FFF2-40B4-BE49-F238E27FC236}">
                <a16:creationId xmlns:a16="http://schemas.microsoft.com/office/drawing/2014/main" id="{B9E5944F-33CC-4576-B417-0FF70435267D}"/>
              </a:ext>
            </a:extLst>
          </p:cNvPr>
          <p:cNvSpPr>
            <a:spLocks xmlns:a="http://schemas.openxmlformats.org/drawingml/2006/main" noGrp="1"/>
          </p:cNvSpPr>
          <p:nvPr/>
        </p:nvSpPr>
        <p:spPr>
          <a:xfrm xmlns:a="http://schemas.openxmlformats.org/drawingml/2006/main" rot="0">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月10,000時間を継続的に売り切れる販路を、Nextremer、海外、国内需要の組み合わせで確保できるか。</a:t>
            </a:r>
          </a:p>
        </p:txBody>
      </p:sp>
      <p:sp>
        <p:nvSpPr>
          <p:cNvPr id="13" name="">
            <a:extLst xmlns:a="http://schemas.openxmlformats.org/drawingml/2006/main">
              <a:ext uri="{FF2B5EF4-FFF2-40B4-BE49-F238E27FC236}">
                <a16:creationId xmlns:a16="http://schemas.microsoft.com/office/drawing/2014/main" id="{35252DEB-C273-4AAA-BF29-B2D31C8B5E4B}"/>
              </a:ext>
            </a:extLst>
          </p:cNvPr>
          <p:cNvSpPr>
            <a:spLocks xmlns:a="http://schemas.openxmlformats.org/drawingml/2006/main" noGrp="1"/>
          </p:cNvSpPr>
          <p:nvPr/>
        </p:nvSpPr>
        <p:spPr>
          <a:xfrm xmlns:a="http://schemas.openxmlformats.org/drawingml/2006/main">
            <a:off x="723900" y="5191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1811739062"/>
      </p:ext>
    </p:extLst>
  </p:cSld>
</p:sld>
</file>

<file path=ppt/slides/slide2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965A1FAD-E725-42E5-9A2F-D8D9B370590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41A8DC9-22F5-423F-B62C-1226D26C712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今後の見通し｜2026 Q4</a:t>
            </a:r>
          </a:p>
        </p:txBody>
      </p:sp>
      <p:sp>
        <p:nvSpPr>
          <p:cNvPr id="3" name="">
            <a:extLst xmlns:a="http://schemas.openxmlformats.org/drawingml/2006/main">
              <a:ext uri="{FF2B5EF4-FFF2-40B4-BE49-F238E27FC236}">
                <a16:creationId xmlns:a16="http://schemas.microsoft.com/office/drawing/2014/main" id="{51B473BF-7FFD-4115-8267-9176631FBC4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127977D-741E-42B1-BB47-1EDD11B1CE8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22</a:t>
            </a:r>
          </a:p>
        </p:txBody>
      </p:sp>
      <p:sp>
        <p:nvSpPr>
          <p:cNvPr id="5" name="">
            <a:extLst xmlns:a="http://schemas.openxmlformats.org/drawingml/2006/main">
              <a:ext uri="{FF2B5EF4-FFF2-40B4-BE49-F238E27FC236}">
                <a16:creationId xmlns:a16="http://schemas.microsoft.com/office/drawing/2014/main" id="{5BE7A652-BA03-4215-888A-9A75AC35A5DB}"/>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2EDB19E-DA70-451A-8698-136D10348501}"/>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7D627ED4-9EA8-48C8-8CBE-B1FF1E44ACB7}"/>
              </a:ext>
            </a:extLst>
          </p:cNvPr>
          <p:cNvSpPr>
            <a:spLocks xmlns:a="http://schemas.openxmlformats.org/drawingml/2006/main" noGrp="1"/>
          </p:cNvSpPr>
          <p:nvPr/>
        </p:nvSpPr>
        <p:spPr>
          <a:xfrm xmlns:a="http://schemas.openxmlformats.org/drawingml/2006/main">
            <a:off x="3057525"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671766EA-C315-482E-8D76-46D482CA2A58}"/>
              </a:ext>
            </a:extLst>
          </p:cNvPr>
          <p:cNvSpPr>
            <a:spLocks xmlns:a="http://schemas.openxmlformats.org/drawingml/2006/main" noGrp="1"/>
          </p:cNvSpPr>
          <p:nvPr/>
        </p:nvSpPr>
        <p:spPr>
          <a:xfrm xmlns:a="http://schemas.openxmlformats.org/drawingml/2006/main" rot="0">
            <a:off x="3057525"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10月</a:t>
            </a:r>
          </a:p>
        </p:txBody>
      </p:sp>
      <p:sp>
        <p:nvSpPr>
          <p:cNvPr id="9" name="">
            <a:extLst xmlns:a="http://schemas.openxmlformats.org/drawingml/2006/main">
              <a:ext uri="{FF2B5EF4-FFF2-40B4-BE49-F238E27FC236}">
                <a16:creationId xmlns:a16="http://schemas.microsoft.com/office/drawing/2014/main" id="{DD04D0A3-7566-4F4F-B44D-EE9D99C873EC}"/>
              </a:ext>
            </a:extLst>
          </p:cNvPr>
          <p:cNvSpPr>
            <a:spLocks xmlns:a="http://schemas.openxmlformats.org/drawingml/2006/main" noGrp="1"/>
          </p:cNvSpPr>
          <p:nvPr/>
        </p:nvSpPr>
        <p:spPr>
          <a:xfrm xmlns:a="http://schemas.openxmlformats.org/drawingml/2006/main">
            <a:off x="5803900"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15C088DD-20FD-469A-880F-9170123FB5EA}"/>
              </a:ext>
            </a:extLst>
          </p:cNvPr>
          <p:cNvSpPr>
            <a:spLocks xmlns:a="http://schemas.openxmlformats.org/drawingml/2006/main" noGrp="1"/>
          </p:cNvSpPr>
          <p:nvPr/>
        </p:nvSpPr>
        <p:spPr>
          <a:xfrm xmlns:a="http://schemas.openxmlformats.org/drawingml/2006/main" rot="0">
            <a:off x="5803900"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11月</a:t>
            </a:r>
          </a:p>
        </p:txBody>
      </p:sp>
      <p:sp>
        <p:nvSpPr>
          <p:cNvPr id="11" name="">
            <a:extLst xmlns:a="http://schemas.openxmlformats.org/drawingml/2006/main">
              <a:ext uri="{FF2B5EF4-FFF2-40B4-BE49-F238E27FC236}">
                <a16:creationId xmlns:a16="http://schemas.microsoft.com/office/drawing/2014/main" id="{9D7FCA16-D898-4170-991F-39CC2BFF501F}"/>
              </a:ext>
            </a:extLst>
          </p:cNvPr>
          <p:cNvSpPr>
            <a:spLocks xmlns:a="http://schemas.openxmlformats.org/drawingml/2006/main" noGrp="1"/>
          </p:cNvSpPr>
          <p:nvPr/>
        </p:nvSpPr>
        <p:spPr>
          <a:xfrm xmlns:a="http://schemas.openxmlformats.org/drawingml/2006/main">
            <a:off x="8550275"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12915BA5-0994-46A9-B2F9-AC99CB1B8A2D}"/>
              </a:ext>
            </a:extLst>
          </p:cNvPr>
          <p:cNvSpPr>
            <a:spLocks xmlns:a="http://schemas.openxmlformats.org/drawingml/2006/main" noGrp="1"/>
          </p:cNvSpPr>
          <p:nvPr/>
        </p:nvSpPr>
        <p:spPr>
          <a:xfrm xmlns:a="http://schemas.openxmlformats.org/drawingml/2006/main" rot="0">
            <a:off x="8550275"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12月</a:t>
            </a:r>
          </a:p>
        </p:txBody>
      </p:sp>
      <p:sp>
        <p:nvSpPr>
          <p:cNvPr id="13" name="">
            <a:extLst xmlns:a="http://schemas.openxmlformats.org/drawingml/2006/main">
              <a:ext uri="{FF2B5EF4-FFF2-40B4-BE49-F238E27FC236}">
                <a16:creationId xmlns:a16="http://schemas.microsoft.com/office/drawing/2014/main" id="{2B0C50ED-2958-4DCC-BE64-F5BCC3A927A1}"/>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ABD70567-25C2-400F-BA5E-D2C8773F7D77}"/>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5" name="">
            <a:extLst xmlns:a="http://schemas.openxmlformats.org/drawingml/2006/main">
              <a:ext uri="{FF2B5EF4-FFF2-40B4-BE49-F238E27FC236}">
                <a16:creationId xmlns:a16="http://schemas.microsoft.com/office/drawing/2014/main" id="{38A79ECB-C436-4615-A6E5-8CDDAF54653C}"/>
              </a:ext>
            </a:extLst>
          </p:cNvPr>
          <p:cNvSpPr>
            <a:spLocks xmlns:a="http://schemas.openxmlformats.org/drawingml/2006/main" noGrp="1"/>
          </p:cNvSpPr>
          <p:nvPr/>
        </p:nvSpPr>
        <p:spPr>
          <a:xfrm xmlns:a="http://schemas.openxmlformats.org/drawingml/2006/main">
            <a:off x="3057525"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0549EEC3-96B4-4888-9822-FCD7F95A54D5}"/>
              </a:ext>
            </a:extLst>
          </p:cNvPr>
          <p:cNvSpPr>
            <a:spLocks xmlns:a="http://schemas.openxmlformats.org/drawingml/2006/main" noGrp="1"/>
          </p:cNvSpPr>
          <p:nvPr/>
        </p:nvSpPr>
        <p:spPr>
          <a:xfrm xmlns:a="http://schemas.openxmlformats.org/drawingml/2006/main">
            <a:off x="5803900"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7" name="">
            <a:extLst xmlns:a="http://schemas.openxmlformats.org/drawingml/2006/main">
              <a:ext uri="{FF2B5EF4-FFF2-40B4-BE49-F238E27FC236}">
                <a16:creationId xmlns:a16="http://schemas.microsoft.com/office/drawing/2014/main" id="{76C6BDDA-9E76-478C-8810-9BCC75EADD22}"/>
              </a:ext>
            </a:extLst>
          </p:cNvPr>
          <p:cNvSpPr>
            <a:spLocks xmlns:a="http://schemas.openxmlformats.org/drawingml/2006/main" noGrp="1"/>
          </p:cNvSpPr>
          <p:nvPr/>
        </p:nvSpPr>
        <p:spPr>
          <a:xfrm xmlns:a="http://schemas.openxmlformats.org/drawingml/2006/main">
            <a:off x="8550275"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CD3BD41C-13FB-4BE1-8A86-7B15A6FE3B56}"/>
              </a:ext>
            </a:extLst>
          </p:cNvPr>
          <p:cNvSpPr>
            <a:spLocks xmlns:a="http://schemas.openxmlformats.org/drawingml/2006/main" noGrp="1"/>
          </p:cNvSpPr>
          <p:nvPr/>
        </p:nvSpPr>
        <p:spPr>
          <a:xfrm xmlns:a="http://schemas.openxmlformats.org/drawingml/2006/main">
            <a:off x="3133725"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9" name="">
            <a:extLst xmlns:a="http://schemas.openxmlformats.org/drawingml/2006/main">
              <a:ext uri="{FF2B5EF4-FFF2-40B4-BE49-F238E27FC236}">
                <a16:creationId xmlns:a16="http://schemas.microsoft.com/office/drawing/2014/main" id="{75AE14DB-AD50-4D33-ADCC-02BE163451B1}"/>
              </a:ext>
            </a:extLst>
          </p:cNvPr>
          <p:cNvSpPr>
            <a:spLocks xmlns:a="http://schemas.openxmlformats.org/drawingml/2006/main" noGrp="1"/>
          </p:cNvSpPr>
          <p:nvPr/>
        </p:nvSpPr>
        <p:spPr>
          <a:xfrm xmlns:a="http://schemas.openxmlformats.org/drawingml/2006/main" rot="0">
            <a:off x="3209925"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月500時間</a:t>
            </a:r>
          </a:p>
        </p:txBody>
      </p:sp>
      <p:sp>
        <p:nvSpPr>
          <p:cNvPr id="20" name="">
            <a:extLst xmlns:a="http://schemas.openxmlformats.org/drawingml/2006/main">
              <a:ext uri="{FF2B5EF4-FFF2-40B4-BE49-F238E27FC236}">
                <a16:creationId xmlns:a16="http://schemas.microsoft.com/office/drawing/2014/main" id="{A7709108-2A92-4582-968F-12BCBE0F4049}"/>
              </a:ext>
            </a:extLst>
          </p:cNvPr>
          <p:cNvSpPr>
            <a:spLocks xmlns:a="http://schemas.openxmlformats.org/drawingml/2006/main" noGrp="1"/>
          </p:cNvSpPr>
          <p:nvPr/>
        </p:nvSpPr>
        <p:spPr>
          <a:xfrm xmlns:a="http://schemas.openxmlformats.org/drawingml/2006/main">
            <a:off x="5880100"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1" name="">
            <a:extLst xmlns:a="http://schemas.openxmlformats.org/drawingml/2006/main">
              <a:ext uri="{FF2B5EF4-FFF2-40B4-BE49-F238E27FC236}">
                <a16:creationId xmlns:a16="http://schemas.microsoft.com/office/drawing/2014/main" id="{6E176F49-B177-48B6-99B4-9D3B9CD320A4}"/>
              </a:ext>
            </a:extLst>
          </p:cNvPr>
          <p:cNvSpPr>
            <a:spLocks xmlns:a="http://schemas.openxmlformats.org/drawingml/2006/main" noGrp="1"/>
          </p:cNvSpPr>
          <p:nvPr/>
        </p:nvSpPr>
        <p:spPr>
          <a:xfrm xmlns:a="http://schemas.openxmlformats.org/drawingml/2006/main" rot="0">
            <a:off x="5956300"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月500時間</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現場の課題を確認</a:t>
            </a:r>
          </a:p>
        </p:txBody>
      </p:sp>
      <p:sp>
        <p:nvSpPr>
          <p:cNvPr id="22" name="">
            <a:extLst xmlns:a="http://schemas.openxmlformats.org/drawingml/2006/main">
              <a:ext uri="{FF2B5EF4-FFF2-40B4-BE49-F238E27FC236}">
                <a16:creationId xmlns:a16="http://schemas.microsoft.com/office/drawing/2014/main" id="{2BE1BB0D-A7E2-4F5C-A422-7E4EE23347DB}"/>
              </a:ext>
            </a:extLst>
          </p:cNvPr>
          <p:cNvSpPr>
            <a:spLocks xmlns:a="http://schemas.openxmlformats.org/drawingml/2006/main" noGrp="1"/>
          </p:cNvSpPr>
          <p:nvPr/>
        </p:nvSpPr>
        <p:spPr>
          <a:xfrm xmlns:a="http://schemas.openxmlformats.org/drawingml/2006/main">
            <a:off x="8626475"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3" name="">
            <a:extLst xmlns:a="http://schemas.openxmlformats.org/drawingml/2006/main">
              <a:ext uri="{FF2B5EF4-FFF2-40B4-BE49-F238E27FC236}">
                <a16:creationId xmlns:a16="http://schemas.microsoft.com/office/drawing/2014/main" id="{D288A6C5-A159-41A5-8583-97C10F3E04CA}"/>
              </a:ext>
            </a:extLst>
          </p:cNvPr>
          <p:cNvSpPr>
            <a:spLocks xmlns:a="http://schemas.openxmlformats.org/drawingml/2006/main" noGrp="1"/>
          </p:cNvSpPr>
          <p:nvPr/>
        </p:nvSpPr>
        <p:spPr>
          <a:xfrm xmlns:a="http://schemas.openxmlformats.org/drawingml/2006/main" rot="0">
            <a:off x="8702675"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月1,000時間</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飲食・小売へ拡大</a:t>
            </a:r>
          </a:p>
        </p:txBody>
      </p:sp>
      <p:sp>
        <p:nvSpPr>
          <p:cNvPr id="24" name="">
            <a:extLst xmlns:a="http://schemas.openxmlformats.org/drawingml/2006/main">
              <a:ext uri="{FF2B5EF4-FFF2-40B4-BE49-F238E27FC236}">
                <a16:creationId xmlns:a16="http://schemas.microsoft.com/office/drawing/2014/main" id="{18176D71-E9F0-4E7B-8A25-AE4F3FE14758}"/>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5" name="">
            <a:extLst xmlns:a="http://schemas.openxmlformats.org/drawingml/2006/main">
              <a:ext uri="{FF2B5EF4-FFF2-40B4-BE49-F238E27FC236}">
                <a16:creationId xmlns:a16="http://schemas.microsoft.com/office/drawing/2014/main" id="{E9BDC9E6-2CBE-45BF-B00A-B731134E2CCD}"/>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6" name="">
            <a:extLst xmlns:a="http://schemas.openxmlformats.org/drawingml/2006/main">
              <a:ext uri="{FF2B5EF4-FFF2-40B4-BE49-F238E27FC236}">
                <a16:creationId xmlns:a16="http://schemas.microsoft.com/office/drawing/2014/main" id="{288998E3-8895-4519-BBF7-F12C516F64BC}"/>
              </a:ext>
            </a:extLst>
          </p:cNvPr>
          <p:cNvSpPr>
            <a:spLocks xmlns:a="http://schemas.openxmlformats.org/drawingml/2006/main" noGrp="1"/>
          </p:cNvSpPr>
          <p:nvPr/>
        </p:nvSpPr>
        <p:spPr>
          <a:xfrm xmlns:a="http://schemas.openxmlformats.org/drawingml/2006/main">
            <a:off x="3057525"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8467F1C1-8F1E-49F8-B2F2-08FF953984D3}"/>
              </a:ext>
            </a:extLst>
          </p:cNvPr>
          <p:cNvSpPr>
            <a:spLocks xmlns:a="http://schemas.openxmlformats.org/drawingml/2006/main" noGrp="1"/>
          </p:cNvSpPr>
          <p:nvPr/>
        </p:nvSpPr>
        <p:spPr>
          <a:xfrm xmlns:a="http://schemas.openxmlformats.org/drawingml/2006/main">
            <a:off x="5803900"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8D5EEECC-6F4A-4B27-877D-6591C85C21CE}"/>
              </a:ext>
            </a:extLst>
          </p:cNvPr>
          <p:cNvSpPr>
            <a:spLocks xmlns:a="http://schemas.openxmlformats.org/drawingml/2006/main" noGrp="1"/>
          </p:cNvSpPr>
          <p:nvPr/>
        </p:nvSpPr>
        <p:spPr>
          <a:xfrm xmlns:a="http://schemas.openxmlformats.org/drawingml/2006/main">
            <a:off x="8550275"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F2FF3B33-C22F-4749-AAA5-13BFD3C7B6F7}"/>
              </a:ext>
            </a:extLst>
          </p:cNvPr>
          <p:cNvSpPr>
            <a:spLocks xmlns:a="http://schemas.openxmlformats.org/drawingml/2006/main" noGrp="1"/>
          </p:cNvSpPr>
          <p:nvPr/>
        </p:nvSpPr>
        <p:spPr>
          <a:xfrm xmlns:a="http://schemas.openxmlformats.org/drawingml/2006/main">
            <a:off x="3133725" y="2819400"/>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6547E782-C82A-452B-945E-E5559B1B81A0}"/>
              </a:ext>
            </a:extLst>
          </p:cNvPr>
          <p:cNvSpPr>
            <a:spLocks xmlns:a="http://schemas.openxmlformats.org/drawingml/2006/main" noGrp="1"/>
          </p:cNvSpPr>
          <p:nvPr/>
        </p:nvSpPr>
        <p:spPr>
          <a:xfrm xmlns:a="http://schemas.openxmlformats.org/drawingml/2006/main" rot="0">
            <a:off x="3209925" y="2781300"/>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Nextremerと合意し格納開始</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海外販売先へ再打診</a:t>
            </a:r>
          </a:p>
        </p:txBody>
      </p:sp>
      <p:sp>
        <p:nvSpPr>
          <p:cNvPr id="31" name="">
            <a:extLst xmlns:a="http://schemas.openxmlformats.org/drawingml/2006/main">
              <a:ext uri="{FF2B5EF4-FFF2-40B4-BE49-F238E27FC236}">
                <a16:creationId xmlns:a16="http://schemas.microsoft.com/office/drawing/2014/main" id="{7B490F06-FE19-4274-8FB5-96DA8152EF53}"/>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23786B95-B24F-4021-818F-B2F7CF19D2E1}"/>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91B5BD72-1EB4-4366-9B1E-6826B363667A}"/>
              </a:ext>
            </a:extLst>
          </p:cNvPr>
          <p:cNvSpPr>
            <a:spLocks xmlns:a="http://schemas.openxmlformats.org/drawingml/2006/main" noGrp="1"/>
          </p:cNvSpPr>
          <p:nvPr/>
        </p:nvSpPr>
        <p:spPr>
          <a:xfrm xmlns:a="http://schemas.openxmlformats.org/drawingml/2006/main">
            <a:off x="3057525"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3AB08A7C-5381-4D08-A7C6-380148FCC078}"/>
              </a:ext>
            </a:extLst>
          </p:cNvPr>
          <p:cNvSpPr>
            <a:spLocks xmlns:a="http://schemas.openxmlformats.org/drawingml/2006/main" noGrp="1"/>
          </p:cNvSpPr>
          <p:nvPr/>
        </p:nvSpPr>
        <p:spPr>
          <a:xfrm xmlns:a="http://schemas.openxmlformats.org/drawingml/2006/main">
            <a:off x="5803900"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8A35E65E-0596-4946-872B-1448A12B97FC}"/>
              </a:ext>
            </a:extLst>
          </p:cNvPr>
          <p:cNvSpPr>
            <a:spLocks xmlns:a="http://schemas.openxmlformats.org/drawingml/2006/main" noGrp="1"/>
          </p:cNvSpPr>
          <p:nvPr/>
        </p:nvSpPr>
        <p:spPr>
          <a:xfrm xmlns:a="http://schemas.openxmlformats.org/drawingml/2006/main">
            <a:off x="8550275"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E16F8BC9-604E-4573-82ED-1EF729806000}"/>
              </a:ext>
            </a:extLst>
          </p:cNvPr>
          <p:cNvSpPr>
            <a:spLocks xmlns:a="http://schemas.openxmlformats.org/drawingml/2006/main" noGrp="1"/>
          </p:cNvSpPr>
          <p:nvPr/>
        </p:nvSpPr>
        <p:spPr>
          <a:xfrm xmlns:a="http://schemas.openxmlformats.org/drawingml/2006/main">
            <a:off x="3133725" y="3400425"/>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7" name="">
            <a:extLst xmlns:a="http://schemas.openxmlformats.org/drawingml/2006/main">
              <a:ext uri="{FF2B5EF4-FFF2-40B4-BE49-F238E27FC236}">
                <a16:creationId xmlns:a16="http://schemas.microsoft.com/office/drawing/2014/main" id="{4C65CB02-BABC-440A-94F7-29D5D32CC824}"/>
              </a:ext>
            </a:extLst>
          </p:cNvPr>
          <p:cNvSpPr>
            <a:spLocks xmlns:a="http://schemas.openxmlformats.org/drawingml/2006/main" noGrp="1"/>
          </p:cNvSpPr>
          <p:nvPr/>
        </p:nvSpPr>
        <p:spPr>
          <a:xfrm xmlns:a="http://schemas.openxmlformats.org/drawingml/2006/main" rot="0">
            <a:off x="3209925" y="3362325"/>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設計で協働できる企業へ打診</a:t>
            </a:r>
          </a:p>
        </p:txBody>
      </p:sp>
      <p:sp>
        <p:nvSpPr>
          <p:cNvPr id="38" name="">
            <a:extLst xmlns:a="http://schemas.openxmlformats.org/drawingml/2006/main">
              <a:ext uri="{FF2B5EF4-FFF2-40B4-BE49-F238E27FC236}">
                <a16:creationId xmlns:a16="http://schemas.microsoft.com/office/drawing/2014/main" id="{920DA927-113A-478A-96D4-D21908A50851}"/>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9" name="">
            <a:extLst xmlns:a="http://schemas.openxmlformats.org/drawingml/2006/main">
              <a:ext uri="{FF2B5EF4-FFF2-40B4-BE49-F238E27FC236}">
                <a16:creationId xmlns:a16="http://schemas.microsoft.com/office/drawing/2014/main" id="{006589E1-34BF-46BC-9298-86AAA23852CC}"/>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40" name="">
            <a:extLst xmlns:a="http://schemas.openxmlformats.org/drawingml/2006/main">
              <a:ext uri="{FF2B5EF4-FFF2-40B4-BE49-F238E27FC236}">
                <a16:creationId xmlns:a16="http://schemas.microsoft.com/office/drawing/2014/main" id="{256852E2-896E-4F70-9DC5-D98F90F63AB4}"/>
              </a:ext>
            </a:extLst>
          </p:cNvPr>
          <p:cNvSpPr>
            <a:spLocks xmlns:a="http://schemas.openxmlformats.org/drawingml/2006/main" noGrp="1"/>
          </p:cNvSpPr>
          <p:nvPr/>
        </p:nvSpPr>
        <p:spPr>
          <a:xfrm xmlns:a="http://schemas.openxmlformats.org/drawingml/2006/main">
            <a:off x="3057525"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890E786B-794A-4744-9E9E-096884BDA099}"/>
              </a:ext>
            </a:extLst>
          </p:cNvPr>
          <p:cNvSpPr>
            <a:spLocks xmlns:a="http://schemas.openxmlformats.org/drawingml/2006/main" noGrp="1"/>
          </p:cNvSpPr>
          <p:nvPr/>
        </p:nvSpPr>
        <p:spPr>
          <a:xfrm xmlns:a="http://schemas.openxmlformats.org/drawingml/2006/main">
            <a:off x="5803900"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E0D607E6-A336-4AF5-BB1F-E9881F255AD6}"/>
              </a:ext>
            </a:extLst>
          </p:cNvPr>
          <p:cNvSpPr>
            <a:spLocks xmlns:a="http://schemas.openxmlformats.org/drawingml/2006/main" noGrp="1"/>
          </p:cNvSpPr>
          <p:nvPr/>
        </p:nvSpPr>
        <p:spPr>
          <a:xfrm xmlns:a="http://schemas.openxmlformats.org/drawingml/2006/main">
            <a:off x="8550275"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F22231C2-69E5-406D-B338-8E62307FA65E}"/>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50AB4422-612D-468F-B290-289C07380DDD}"/>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5" name="">
            <a:extLst xmlns:a="http://schemas.openxmlformats.org/drawingml/2006/main">
              <a:ext uri="{FF2B5EF4-FFF2-40B4-BE49-F238E27FC236}">
                <a16:creationId xmlns:a16="http://schemas.microsoft.com/office/drawing/2014/main" id="{EF82F799-2E8F-4A5B-AB1C-D8E8D0D27F8B}"/>
              </a:ext>
            </a:extLst>
          </p:cNvPr>
          <p:cNvSpPr>
            <a:spLocks xmlns:a="http://schemas.openxmlformats.org/drawingml/2006/main" noGrp="1"/>
          </p:cNvSpPr>
          <p:nvPr/>
        </p:nvSpPr>
        <p:spPr>
          <a:xfrm xmlns:a="http://schemas.openxmlformats.org/drawingml/2006/main">
            <a:off x="3057525"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D8756EC4-B452-49A2-BFD9-4D7BB7D01626}"/>
              </a:ext>
            </a:extLst>
          </p:cNvPr>
          <p:cNvSpPr>
            <a:spLocks xmlns:a="http://schemas.openxmlformats.org/drawingml/2006/main" noGrp="1"/>
          </p:cNvSpPr>
          <p:nvPr/>
        </p:nvSpPr>
        <p:spPr>
          <a:xfrm xmlns:a="http://schemas.openxmlformats.org/drawingml/2006/main">
            <a:off x="5803900"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CC14B9B5-BF99-4BD0-A64B-A53244AFB017}"/>
              </a:ext>
            </a:extLst>
          </p:cNvPr>
          <p:cNvSpPr>
            <a:spLocks xmlns:a="http://schemas.openxmlformats.org/drawingml/2006/main" noGrp="1"/>
          </p:cNvSpPr>
          <p:nvPr/>
        </p:nvSpPr>
        <p:spPr>
          <a:xfrm xmlns:a="http://schemas.openxmlformats.org/drawingml/2006/main">
            <a:off x="8550275"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18723C20-E8B5-41B6-A6F2-02B14E6ABFD1}"/>
              </a:ext>
            </a:extLst>
          </p:cNvPr>
          <p:cNvSpPr>
            <a:spLocks xmlns:a="http://schemas.openxmlformats.org/drawingml/2006/main" noGrp="1"/>
          </p:cNvSpPr>
          <p:nvPr/>
        </p:nvSpPr>
        <p:spPr>
          <a:xfrm xmlns:a="http://schemas.openxmlformats.org/drawingml/2006/main">
            <a:off x="5880100" y="45624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9" name="">
            <a:extLst xmlns:a="http://schemas.openxmlformats.org/drawingml/2006/main">
              <a:ext uri="{FF2B5EF4-FFF2-40B4-BE49-F238E27FC236}">
                <a16:creationId xmlns:a16="http://schemas.microsoft.com/office/drawing/2014/main" id="{8B65FA05-892E-49BB-99F4-CE314CFBF7F3}"/>
              </a:ext>
            </a:extLst>
          </p:cNvPr>
          <p:cNvSpPr>
            <a:spLocks xmlns:a="http://schemas.openxmlformats.org/drawingml/2006/main" noGrp="1"/>
          </p:cNvSpPr>
          <p:nvPr/>
        </p:nvSpPr>
        <p:spPr>
          <a:xfrm xmlns:a="http://schemas.openxmlformats.org/drawingml/2006/main" rot="0">
            <a:off x="5956300" y="45243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合意フローと</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データ取扱いを確認</a:t>
            </a:r>
          </a:p>
        </p:txBody>
      </p:sp>
      <p:sp>
        <p:nvSpPr>
          <p:cNvPr id="50" name="">
            <a:extLst xmlns:a="http://schemas.openxmlformats.org/drawingml/2006/main">
              <a:ext uri="{FF2B5EF4-FFF2-40B4-BE49-F238E27FC236}">
                <a16:creationId xmlns:a16="http://schemas.microsoft.com/office/drawing/2014/main" id="{86B19BC3-19AC-4599-A427-553134596692}"/>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B967E381-C8E6-4D7F-9058-5270751E69B7}"/>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52" name="">
            <a:extLst xmlns:a="http://schemas.openxmlformats.org/drawingml/2006/main">
              <a:ext uri="{FF2B5EF4-FFF2-40B4-BE49-F238E27FC236}">
                <a16:creationId xmlns:a16="http://schemas.microsoft.com/office/drawing/2014/main" id="{93F62C5B-A8E6-4E7B-9239-38599363AA89}"/>
              </a:ext>
            </a:extLst>
          </p:cNvPr>
          <p:cNvSpPr>
            <a:spLocks xmlns:a="http://schemas.openxmlformats.org/drawingml/2006/main" noGrp="1"/>
          </p:cNvSpPr>
          <p:nvPr/>
        </p:nvSpPr>
        <p:spPr>
          <a:xfrm xmlns:a="http://schemas.openxmlformats.org/drawingml/2006/main">
            <a:off x="3057525"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3" name="">
            <a:extLst xmlns:a="http://schemas.openxmlformats.org/drawingml/2006/main">
              <a:ext uri="{FF2B5EF4-FFF2-40B4-BE49-F238E27FC236}">
                <a16:creationId xmlns:a16="http://schemas.microsoft.com/office/drawing/2014/main" id="{62F11A4D-776F-4F0D-9301-2C081B552660}"/>
              </a:ext>
            </a:extLst>
          </p:cNvPr>
          <p:cNvSpPr>
            <a:spLocks xmlns:a="http://schemas.openxmlformats.org/drawingml/2006/main" noGrp="1"/>
          </p:cNvSpPr>
          <p:nvPr/>
        </p:nvSpPr>
        <p:spPr>
          <a:xfrm xmlns:a="http://schemas.openxmlformats.org/drawingml/2006/main">
            <a:off x="5803900"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4CBAB8AD-5B7E-4A59-9B16-9066530AE6E5}"/>
              </a:ext>
            </a:extLst>
          </p:cNvPr>
          <p:cNvSpPr>
            <a:spLocks xmlns:a="http://schemas.openxmlformats.org/drawingml/2006/main" noGrp="1"/>
          </p:cNvSpPr>
          <p:nvPr/>
        </p:nvSpPr>
        <p:spPr>
          <a:xfrm xmlns:a="http://schemas.openxmlformats.org/drawingml/2006/main">
            <a:off x="8550275"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Tree>
    <p:extLst>
      <p:ext uri="{BB962C8B-B14F-4D97-AF65-F5344CB8AC3E}">
        <p14:creationId xmlns:p14="http://schemas.microsoft.com/office/powerpoint/2010/main" val="97402786"/>
      </p:ext>
    </p:extLst>
  </p:cSld>
</p:sld>
</file>

<file path=ppt/slides/slide2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EFF398C4-E48F-4E62-9A6B-95F95B1927D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058EA9-2480-4B54-9417-EFCE3CF3480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今後の見通し｜2027</a:t>
            </a:r>
          </a:p>
        </p:txBody>
      </p:sp>
      <p:sp>
        <p:nvSpPr>
          <p:cNvPr id="3" name="">
            <a:extLst xmlns:a="http://schemas.openxmlformats.org/drawingml/2006/main">
              <a:ext uri="{FF2B5EF4-FFF2-40B4-BE49-F238E27FC236}">
                <a16:creationId xmlns:a16="http://schemas.microsoft.com/office/drawing/2014/main" id="{A86AD2EA-60A7-4D58-A528-C3C554FF7B3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8AEA1BA-8BBC-456B-8A9B-55DA16CE4638}"/>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23</a:t>
            </a:r>
          </a:p>
        </p:txBody>
      </p:sp>
      <p:sp>
        <p:nvSpPr>
          <p:cNvPr id="5" name="">
            <a:extLst xmlns:a="http://schemas.openxmlformats.org/drawingml/2006/main">
              <a:ext uri="{FF2B5EF4-FFF2-40B4-BE49-F238E27FC236}">
                <a16:creationId xmlns:a16="http://schemas.microsoft.com/office/drawing/2014/main" id="{F313AB74-83BD-4B72-BE0A-E717E47122A0}"/>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1576A10-4A23-4473-A35E-160D51FC1909}"/>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EE6018EF-2FBC-41B6-85E8-8AA2A04924C5}"/>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7FB6EFCB-98DA-44AF-B19C-67C77F4FEE86}"/>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114E71BA-FC56-48B3-9121-65082FE5AEEA}"/>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86F74EC2-2C67-40A2-9E30-4AF4561053EA}"/>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E1F79A68-6A7F-4AA0-A315-DE3A5D8AC91A}"/>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DDA7A472-5293-440C-924E-70651CD3D9D6}"/>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5320D7E8-C335-42F5-92C0-81467322218D}"/>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0A0D9089-F327-4955-BFFF-9E9D07D39773}"/>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C50D1671-CEB8-4EC7-81E6-CCE1EB90CB61}"/>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B4084A5F-8F06-4458-934F-2DFF66D23564}"/>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5D9695C2-6818-47FD-AA00-ACBAA5E15D44}"/>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9EF05C68-7FA2-4402-A80A-ACE558EFABE3}"/>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88484E6B-769D-423E-9C56-D0EDCB010008}"/>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DCB3EBB5-60EA-4070-A60D-13F2BF38C272}"/>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F799D670-8666-4A18-825E-80D6887C92AF}"/>
              </a:ext>
            </a:extLst>
          </p:cNvPr>
          <p:cNvSpPr>
            <a:spLocks xmlns:a="http://schemas.openxmlformats.org/drawingml/2006/main" noGrp="1"/>
          </p:cNvSpPr>
          <p:nvPr/>
        </p:nvSpPr>
        <p:spPr>
          <a:xfrm xmlns:a="http://schemas.openxmlformats.org/drawingml/2006/main">
            <a:off x="3133725" y="223837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E816A208-E932-4E3F-B8D5-94960BEDD9D5}"/>
              </a:ext>
            </a:extLst>
          </p:cNvPr>
          <p:cNvSpPr>
            <a:spLocks xmlns:a="http://schemas.openxmlformats.org/drawingml/2006/main" noGrp="1"/>
          </p:cNvSpPr>
          <p:nvPr/>
        </p:nvSpPr>
        <p:spPr>
          <a:xfrm xmlns:a="http://schemas.openxmlformats.org/drawingml/2006/main" rot="0">
            <a:off x="3209925" y="220027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宿泊・改装・清掃へ拡大</a:t>
            </a:r>
          </a:p>
        </p:txBody>
      </p:sp>
      <p:sp>
        <p:nvSpPr>
          <p:cNvPr id="23" name="">
            <a:extLst xmlns:a="http://schemas.openxmlformats.org/drawingml/2006/main">
              <a:ext uri="{FF2B5EF4-FFF2-40B4-BE49-F238E27FC236}">
                <a16:creationId xmlns:a16="http://schemas.microsoft.com/office/drawing/2014/main" id="{88C55EE4-4F71-41A2-8B39-3120562AE11B}"/>
              </a:ext>
            </a:extLst>
          </p:cNvPr>
          <p:cNvSpPr>
            <a:spLocks xmlns:a="http://schemas.openxmlformats.org/drawingml/2006/main" noGrp="1"/>
          </p:cNvSpPr>
          <p:nvPr/>
        </p:nvSpPr>
        <p:spPr>
          <a:xfrm xmlns:a="http://schemas.openxmlformats.org/drawingml/2006/main">
            <a:off x="5193506" y="2238375"/>
            <a:ext cx="6026944"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4" name="">
            <a:extLst xmlns:a="http://schemas.openxmlformats.org/drawingml/2006/main">
              <a:ext uri="{FF2B5EF4-FFF2-40B4-BE49-F238E27FC236}">
                <a16:creationId xmlns:a16="http://schemas.microsoft.com/office/drawing/2014/main" id="{B9BE50CF-EAC5-4ABD-8E8C-34DCCF62C38F}"/>
              </a:ext>
            </a:extLst>
          </p:cNvPr>
          <p:cNvSpPr>
            <a:spLocks xmlns:a="http://schemas.openxmlformats.org/drawingml/2006/main" noGrp="1"/>
          </p:cNvSpPr>
          <p:nvPr/>
        </p:nvSpPr>
        <p:spPr>
          <a:xfrm xmlns:a="http://schemas.openxmlformats.org/drawingml/2006/main" rot="0">
            <a:off x="5269706" y="2200275"/>
            <a:ext cx="5874544"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介護・医療を含む撮影先の拡大</a:t>
            </a:r>
          </a:p>
        </p:txBody>
      </p:sp>
      <p:sp>
        <p:nvSpPr>
          <p:cNvPr id="25" name="">
            <a:extLst xmlns:a="http://schemas.openxmlformats.org/drawingml/2006/main">
              <a:ext uri="{FF2B5EF4-FFF2-40B4-BE49-F238E27FC236}">
                <a16:creationId xmlns:a16="http://schemas.microsoft.com/office/drawing/2014/main" id="{FCAF6E95-93C5-400B-89AF-F9BF7173425A}"/>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ACCDBA9D-7FF0-4E6C-9A2C-C806007978A8}"/>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7" name="">
            <a:extLst xmlns:a="http://schemas.openxmlformats.org/drawingml/2006/main">
              <a:ext uri="{FF2B5EF4-FFF2-40B4-BE49-F238E27FC236}">
                <a16:creationId xmlns:a16="http://schemas.microsoft.com/office/drawing/2014/main" id="{90B0832F-DAC4-4915-A3A9-6ABEE1E51D5C}"/>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9120A4A7-02D4-4780-ABC7-AC2DB9A312A9}"/>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1EDB3638-C536-431A-B12E-9C9A31769B20}"/>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E4E4738E-D1E8-4F79-BB50-567C55649107}"/>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1" name="">
            <a:extLst xmlns:a="http://schemas.openxmlformats.org/drawingml/2006/main">
              <a:ext uri="{FF2B5EF4-FFF2-40B4-BE49-F238E27FC236}">
                <a16:creationId xmlns:a16="http://schemas.microsoft.com/office/drawing/2014/main" id="{CCA8688F-39C9-4215-87D2-15F8F25A9B87}"/>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EAF6C109-EBE8-410D-BB33-82465EBF409A}"/>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544DE3D2-D43B-4A81-895A-ABB52EFB10EE}"/>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2C8D0C52-9D92-4D8E-8F1C-95967DCCF658}"/>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738BD8AC-CC69-44F1-834D-5D833948A186}"/>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5EE9D9E4-5884-4977-AAF1-BFA1470419AA}"/>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96F4DC61-C048-4E78-81A9-71F058B8D769}"/>
              </a:ext>
            </a:extLst>
          </p:cNvPr>
          <p:cNvSpPr>
            <a:spLocks xmlns:a="http://schemas.openxmlformats.org/drawingml/2006/main" noGrp="1"/>
          </p:cNvSpPr>
          <p:nvPr/>
        </p:nvSpPr>
        <p:spPr>
          <a:xfrm xmlns:a="http://schemas.openxmlformats.org/drawingml/2006/main">
            <a:off x="3133725" y="340042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8" name="">
            <a:extLst xmlns:a="http://schemas.openxmlformats.org/drawingml/2006/main">
              <a:ext uri="{FF2B5EF4-FFF2-40B4-BE49-F238E27FC236}">
                <a16:creationId xmlns:a16="http://schemas.microsoft.com/office/drawing/2014/main" id="{5B1DE932-4C66-47BF-9DA5-97C7C6168C5C}"/>
              </a:ext>
            </a:extLst>
          </p:cNvPr>
          <p:cNvSpPr>
            <a:spLocks xmlns:a="http://schemas.openxmlformats.org/drawingml/2006/main" noGrp="1"/>
          </p:cNvSpPr>
          <p:nvPr/>
        </p:nvSpPr>
        <p:spPr>
          <a:xfrm xmlns:a="http://schemas.openxmlformats.org/drawingml/2006/main" rot="0">
            <a:off x="3209925" y="336232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撮影デバイス開発</a:t>
            </a:r>
          </a:p>
        </p:txBody>
      </p:sp>
      <p:sp>
        <p:nvSpPr>
          <p:cNvPr id="39" name="">
            <a:extLst xmlns:a="http://schemas.openxmlformats.org/drawingml/2006/main">
              <a:ext uri="{FF2B5EF4-FFF2-40B4-BE49-F238E27FC236}">
                <a16:creationId xmlns:a16="http://schemas.microsoft.com/office/drawing/2014/main" id="{DCEE670C-40CC-466B-8959-8CD41D6E02E0}"/>
              </a:ext>
            </a:extLst>
          </p:cNvPr>
          <p:cNvSpPr>
            <a:spLocks xmlns:a="http://schemas.openxmlformats.org/drawingml/2006/main" noGrp="1"/>
          </p:cNvSpPr>
          <p:nvPr/>
        </p:nvSpPr>
        <p:spPr>
          <a:xfrm xmlns:a="http://schemas.openxmlformats.org/drawingml/2006/main">
            <a:off x="5193506" y="340042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0" name="">
            <a:extLst xmlns:a="http://schemas.openxmlformats.org/drawingml/2006/main">
              <a:ext uri="{FF2B5EF4-FFF2-40B4-BE49-F238E27FC236}">
                <a16:creationId xmlns:a16="http://schemas.microsoft.com/office/drawing/2014/main" id="{2EE62B1C-6595-41AF-B4BA-73F7D69A8FC3}"/>
              </a:ext>
            </a:extLst>
          </p:cNvPr>
          <p:cNvSpPr>
            <a:spLocks xmlns:a="http://schemas.openxmlformats.org/drawingml/2006/main" noGrp="1"/>
          </p:cNvSpPr>
          <p:nvPr/>
        </p:nvSpPr>
        <p:spPr>
          <a:xfrm xmlns:a="http://schemas.openxmlformats.org/drawingml/2006/main" rot="0">
            <a:off x="5269706" y="336232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意匠・特許を出願</a:t>
            </a:r>
          </a:p>
        </p:txBody>
      </p:sp>
      <p:sp>
        <p:nvSpPr>
          <p:cNvPr id="41" name="">
            <a:extLst xmlns:a="http://schemas.openxmlformats.org/drawingml/2006/main">
              <a:ext uri="{FF2B5EF4-FFF2-40B4-BE49-F238E27FC236}">
                <a16:creationId xmlns:a16="http://schemas.microsoft.com/office/drawing/2014/main" id="{B3AB2BD8-4677-4BDE-9326-3B0D7DB9A750}"/>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78A104F5-9300-417F-8096-C5E3D8998AB7}"/>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43" name="">
            <a:extLst xmlns:a="http://schemas.openxmlformats.org/drawingml/2006/main">
              <a:ext uri="{FF2B5EF4-FFF2-40B4-BE49-F238E27FC236}">
                <a16:creationId xmlns:a16="http://schemas.microsoft.com/office/drawing/2014/main" id="{4EC233FD-1B76-4026-ACC4-DDF74E2B0043}"/>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8EDD6337-430A-47AC-9F63-7F359D7FE5A1}"/>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C9F113DE-E6DD-4235-B35A-2E6C5271E4B2}"/>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2C005601-80B1-48FF-83BA-EDB65645514B}"/>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7AA1E118-C216-4F55-AD2B-8FD4F6DEEF0D}"/>
              </a:ext>
            </a:extLst>
          </p:cNvPr>
          <p:cNvSpPr>
            <a:spLocks xmlns:a="http://schemas.openxmlformats.org/drawingml/2006/main" noGrp="1"/>
          </p:cNvSpPr>
          <p:nvPr/>
        </p:nvSpPr>
        <p:spPr>
          <a:xfrm xmlns:a="http://schemas.openxmlformats.org/drawingml/2006/main">
            <a:off x="5193506"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8" name="">
            <a:extLst xmlns:a="http://schemas.openxmlformats.org/drawingml/2006/main">
              <a:ext uri="{FF2B5EF4-FFF2-40B4-BE49-F238E27FC236}">
                <a16:creationId xmlns:a16="http://schemas.microsoft.com/office/drawing/2014/main" id="{5E67906D-3845-40BD-8C70-0CA6B4AE10B3}"/>
              </a:ext>
            </a:extLst>
          </p:cNvPr>
          <p:cNvSpPr>
            <a:spLocks xmlns:a="http://schemas.openxmlformats.org/drawingml/2006/main" noGrp="1"/>
          </p:cNvSpPr>
          <p:nvPr/>
        </p:nvSpPr>
        <p:spPr>
          <a:xfrm xmlns:a="http://schemas.openxmlformats.org/drawingml/2006/main" rot="0">
            <a:off x="5269706"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機密性の高い</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現場データの活用を検討</a:t>
            </a:r>
          </a:p>
        </p:txBody>
      </p:sp>
      <p:sp>
        <p:nvSpPr>
          <p:cNvPr id="49" name="">
            <a:extLst xmlns:a="http://schemas.openxmlformats.org/drawingml/2006/main">
              <a:ext uri="{FF2B5EF4-FFF2-40B4-BE49-F238E27FC236}">
                <a16:creationId xmlns:a16="http://schemas.microsoft.com/office/drawing/2014/main" id="{4A2B735F-E9A8-477A-A791-7103C9CCDE2F}"/>
              </a:ext>
            </a:extLst>
          </p:cNvPr>
          <p:cNvSpPr>
            <a:spLocks xmlns:a="http://schemas.openxmlformats.org/drawingml/2006/main" noGrp="1"/>
          </p:cNvSpPr>
          <p:nvPr/>
        </p:nvSpPr>
        <p:spPr>
          <a:xfrm xmlns:a="http://schemas.openxmlformats.org/drawingml/2006/main">
            <a:off x="7253288"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0" name="">
            <a:extLst xmlns:a="http://schemas.openxmlformats.org/drawingml/2006/main">
              <a:ext uri="{FF2B5EF4-FFF2-40B4-BE49-F238E27FC236}">
                <a16:creationId xmlns:a16="http://schemas.microsoft.com/office/drawing/2014/main" id="{01168645-D8C4-4C23-A2C3-D7D71135F7FE}"/>
              </a:ext>
            </a:extLst>
          </p:cNvPr>
          <p:cNvSpPr>
            <a:spLocks xmlns:a="http://schemas.openxmlformats.org/drawingml/2006/main" noGrp="1"/>
          </p:cNvSpPr>
          <p:nvPr/>
        </p:nvSpPr>
        <p:spPr>
          <a:xfrm xmlns:a="http://schemas.openxmlformats.org/drawingml/2006/main" rot="0">
            <a:off x="7329488"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企業・政府へ</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データ収集を提案</a:t>
            </a:r>
          </a:p>
        </p:txBody>
      </p:sp>
      <p:sp>
        <p:nvSpPr>
          <p:cNvPr id="51" name="">
            <a:extLst xmlns:a="http://schemas.openxmlformats.org/drawingml/2006/main">
              <a:ext uri="{FF2B5EF4-FFF2-40B4-BE49-F238E27FC236}">
                <a16:creationId xmlns:a16="http://schemas.microsoft.com/office/drawing/2014/main" id="{2B73C143-FC6F-4C46-A99E-475AFCC71900}"/>
              </a:ext>
            </a:extLst>
          </p:cNvPr>
          <p:cNvSpPr>
            <a:spLocks xmlns:a="http://schemas.openxmlformats.org/drawingml/2006/main" noGrp="1"/>
          </p:cNvSpPr>
          <p:nvPr/>
        </p:nvSpPr>
        <p:spPr>
          <a:xfrm xmlns:a="http://schemas.openxmlformats.org/drawingml/2006/main">
            <a:off x="9313069"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2" name="">
            <a:extLst xmlns:a="http://schemas.openxmlformats.org/drawingml/2006/main">
              <a:ext uri="{FF2B5EF4-FFF2-40B4-BE49-F238E27FC236}">
                <a16:creationId xmlns:a16="http://schemas.microsoft.com/office/drawing/2014/main" id="{8D5E60C3-8F5B-4E61-B988-561CC6D5C3AA}"/>
              </a:ext>
            </a:extLst>
          </p:cNvPr>
          <p:cNvSpPr>
            <a:spLocks xmlns:a="http://schemas.openxmlformats.org/drawingml/2006/main" noGrp="1"/>
          </p:cNvSpPr>
          <p:nvPr/>
        </p:nvSpPr>
        <p:spPr>
          <a:xfrm xmlns:a="http://schemas.openxmlformats.org/drawingml/2006/main" rot="0">
            <a:off x="9389269"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750" b="1">
                <a:solidFill>
                  <a:srgbClr val="15191B"/>
                </a:solidFill>
                <a:latin typeface="Hiragino Sans"/>
                <a:ea typeface="Hiragino Sans"/>
                <a:cs typeface="Hiragino Sans"/>
              </a:defRPr>
            </a:pPr>
            <a:r>
              <a:rPr sz="750" b="1">
                <a:solidFill>
                  <a:srgbClr val="15191B"/>
                </a:solidFill>
                <a:latin typeface="Hiragino Sans"/>
                <a:ea typeface="Hiragino Sans"/>
                <a:cs typeface="Hiragino Sans"/>
              </a:rPr>
              <a:t>大学とロボット学習・</a:t>
            </a:r>
          </a:p>
          <a:p xmlns:a="http://schemas.openxmlformats.org/drawingml/2006/main">
            <a:pPr algn="ctr">
              <a:defRPr sz="750" b="1">
                <a:solidFill>
                  <a:srgbClr val="15191B"/>
                </a:solidFill>
                <a:latin typeface="Hiragino Sans"/>
                <a:ea typeface="Hiragino Sans"/>
                <a:cs typeface="Hiragino Sans"/>
              </a:defRPr>
            </a:pPr>
            <a:r>
              <a:rPr sz="750" b="1">
                <a:solidFill>
                  <a:srgbClr val="15191B"/>
                </a:solidFill>
                <a:latin typeface="Hiragino Sans"/>
                <a:ea typeface="Hiragino Sans"/>
                <a:cs typeface="Hiragino Sans"/>
              </a:rPr>
              <a:t>現場再現の研究を開始</a:t>
            </a:r>
          </a:p>
        </p:txBody>
      </p:sp>
      <p:sp>
        <p:nvSpPr>
          <p:cNvPr id="53" name="">
            <a:extLst xmlns:a="http://schemas.openxmlformats.org/drawingml/2006/main">
              <a:ext uri="{FF2B5EF4-FFF2-40B4-BE49-F238E27FC236}">
                <a16:creationId xmlns:a16="http://schemas.microsoft.com/office/drawing/2014/main" id="{499098CC-78AC-415D-A528-ABB82B66F449}"/>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FE1EBAD1-5BBF-4ACB-A255-449A665B4DC7}"/>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55" name="">
            <a:extLst xmlns:a="http://schemas.openxmlformats.org/drawingml/2006/main">
              <a:ext uri="{FF2B5EF4-FFF2-40B4-BE49-F238E27FC236}">
                <a16:creationId xmlns:a16="http://schemas.microsoft.com/office/drawing/2014/main" id="{FF1F12E6-0E2E-417A-96EC-53B8EDEA7817}"/>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6" name="">
            <a:extLst xmlns:a="http://schemas.openxmlformats.org/drawingml/2006/main">
              <a:ext uri="{FF2B5EF4-FFF2-40B4-BE49-F238E27FC236}">
                <a16:creationId xmlns:a16="http://schemas.microsoft.com/office/drawing/2014/main" id="{D4125A82-1989-42FE-9F2E-63A1E3B52942}"/>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7" name="">
            <a:extLst xmlns:a="http://schemas.openxmlformats.org/drawingml/2006/main">
              <a:ext uri="{FF2B5EF4-FFF2-40B4-BE49-F238E27FC236}">
                <a16:creationId xmlns:a16="http://schemas.microsoft.com/office/drawing/2014/main" id="{35A55116-EB78-4D88-BF21-2D5CCFE92F9E}"/>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8" name="">
            <a:extLst xmlns:a="http://schemas.openxmlformats.org/drawingml/2006/main">
              <a:ext uri="{FF2B5EF4-FFF2-40B4-BE49-F238E27FC236}">
                <a16:creationId xmlns:a16="http://schemas.microsoft.com/office/drawing/2014/main" id="{909F8006-68FE-4987-9290-A45D8D200C04}"/>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9" name="">
            <a:extLst xmlns:a="http://schemas.openxmlformats.org/drawingml/2006/main">
              <a:ext uri="{FF2B5EF4-FFF2-40B4-BE49-F238E27FC236}">
                <a16:creationId xmlns:a16="http://schemas.microsoft.com/office/drawing/2014/main" id="{6B82E738-CAD8-46CB-A74B-8625BB76FB71}"/>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0" name="">
            <a:extLst xmlns:a="http://schemas.openxmlformats.org/drawingml/2006/main">
              <a:ext uri="{FF2B5EF4-FFF2-40B4-BE49-F238E27FC236}">
                <a16:creationId xmlns:a16="http://schemas.microsoft.com/office/drawing/2014/main" id="{DF41896A-B92B-47F3-A07E-0B317C90D944}"/>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61" name="">
            <a:extLst xmlns:a="http://schemas.openxmlformats.org/drawingml/2006/main">
              <a:ext uri="{FF2B5EF4-FFF2-40B4-BE49-F238E27FC236}">
                <a16:creationId xmlns:a16="http://schemas.microsoft.com/office/drawing/2014/main" id="{9D056925-2EB8-44BE-ABF5-0C717D1494FB}"/>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2" name="">
            <a:extLst xmlns:a="http://schemas.openxmlformats.org/drawingml/2006/main">
              <a:ext uri="{FF2B5EF4-FFF2-40B4-BE49-F238E27FC236}">
                <a16:creationId xmlns:a16="http://schemas.microsoft.com/office/drawing/2014/main" id="{2B7281DC-5747-4AE7-9C35-2F8BEFDF7DAC}"/>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3" name="">
            <a:extLst xmlns:a="http://schemas.openxmlformats.org/drawingml/2006/main">
              <a:ext uri="{FF2B5EF4-FFF2-40B4-BE49-F238E27FC236}">
                <a16:creationId xmlns:a16="http://schemas.microsoft.com/office/drawing/2014/main" id="{1535712F-3778-4C14-9A2D-0BFB58163E10}"/>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4" name="">
            <a:extLst xmlns:a="http://schemas.openxmlformats.org/drawingml/2006/main">
              <a:ext uri="{FF2B5EF4-FFF2-40B4-BE49-F238E27FC236}">
                <a16:creationId xmlns:a16="http://schemas.microsoft.com/office/drawing/2014/main" id="{428FAA94-52A9-446E-A28B-17C9CB5A215E}"/>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Tree>
    <p:extLst>
      <p:ext uri="{BB962C8B-B14F-4D97-AF65-F5344CB8AC3E}">
        <p14:creationId xmlns:p14="http://schemas.microsoft.com/office/powerpoint/2010/main" val="1658748697"/>
      </p:ext>
    </p:extLst>
  </p:cSld>
</p:sld>
</file>

<file path=ppt/slides/slide2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CDA6C26B-6E2E-4F3B-B17A-BAD6DAD8E53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0DBD5A-1442-4001-BE2D-7659F6465E31}"/>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今後の見通し｜2028</a:t>
            </a:r>
          </a:p>
        </p:txBody>
      </p:sp>
      <p:sp>
        <p:nvSpPr>
          <p:cNvPr id="3" name="">
            <a:extLst xmlns:a="http://schemas.openxmlformats.org/drawingml/2006/main">
              <a:ext uri="{FF2B5EF4-FFF2-40B4-BE49-F238E27FC236}">
                <a16:creationId xmlns:a16="http://schemas.microsoft.com/office/drawing/2014/main" id="{216E08D4-AE57-4682-8D37-0CB56A54828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C7DD5A3-37AE-4FF4-8F8E-EA3D87E4CD41}"/>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24</a:t>
            </a:r>
          </a:p>
        </p:txBody>
      </p:sp>
      <p:sp>
        <p:nvSpPr>
          <p:cNvPr id="5" name="">
            <a:extLst xmlns:a="http://schemas.openxmlformats.org/drawingml/2006/main">
              <a:ext uri="{FF2B5EF4-FFF2-40B4-BE49-F238E27FC236}">
                <a16:creationId xmlns:a16="http://schemas.microsoft.com/office/drawing/2014/main" id="{BFE56A0C-4C14-4610-88B3-9CDBA970591D}"/>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3C562CE-735B-463F-BC83-56DBE57B8790}"/>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5DF85AD1-E175-4851-983E-F686D227AF85}"/>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BEC6959D-2441-4094-AD57-7B3999264A0F}"/>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0B766BAF-51A1-45F6-8DB0-6C7FD5908978}"/>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43F9DFED-DF46-4BEF-B1A8-F3311CC75718}"/>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64A5C993-A161-422B-A9D5-D3FA703E8DF8}"/>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C1D56BA4-1E53-4FAE-B8AD-031C39C30480}"/>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0B7A612E-951F-4E56-9177-C6DBBAA76A09}"/>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06F97C47-7FAA-4F25-8C91-DB685A4113BA}"/>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521BF532-2D09-44AF-B665-AF4EFF80E5C6}"/>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38A89048-0665-436B-9DEE-511453BA9BF0}"/>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2B9BCDCF-9561-4233-9038-3C78A331FAEC}"/>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CFB38F9D-C3F0-49FE-A54B-202F487948AB}"/>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FC254C23-6C15-44D3-87B3-523FE671FC00}"/>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D60F5659-AF30-456F-883C-3337C3E7D7BC}"/>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BA0AD6DE-CE52-4C69-9C63-D30E9E436989}"/>
              </a:ext>
            </a:extLst>
          </p:cNvPr>
          <p:cNvSpPr>
            <a:spLocks xmlns:a="http://schemas.openxmlformats.org/drawingml/2006/main" noGrp="1"/>
          </p:cNvSpPr>
          <p:nvPr/>
        </p:nvSpPr>
        <p:spPr>
          <a:xfrm xmlns:a="http://schemas.openxmlformats.org/drawingml/2006/main">
            <a:off x="3133725" y="2238375"/>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235F6323-AB80-4F87-AFFD-80B763FE8548}"/>
              </a:ext>
            </a:extLst>
          </p:cNvPr>
          <p:cNvSpPr>
            <a:spLocks xmlns:a="http://schemas.openxmlformats.org/drawingml/2006/main" noGrp="1"/>
          </p:cNvSpPr>
          <p:nvPr/>
        </p:nvSpPr>
        <p:spPr>
          <a:xfrm xmlns:a="http://schemas.openxmlformats.org/drawingml/2006/main" rot="0">
            <a:off x="3209925" y="2200275"/>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撮影先と実証に使える現場を拡大</a:t>
            </a:r>
          </a:p>
        </p:txBody>
      </p:sp>
      <p:sp>
        <p:nvSpPr>
          <p:cNvPr id="23" name="">
            <a:extLst xmlns:a="http://schemas.openxmlformats.org/drawingml/2006/main">
              <a:ext uri="{FF2B5EF4-FFF2-40B4-BE49-F238E27FC236}">
                <a16:creationId xmlns:a16="http://schemas.microsoft.com/office/drawing/2014/main" id="{63B214B8-34F3-4708-90BC-E4E6D2032E4B}"/>
              </a:ext>
            </a:extLst>
          </p:cNvPr>
          <p:cNvSpPr>
            <a:spLocks xmlns:a="http://schemas.openxmlformats.org/drawingml/2006/main" noGrp="1"/>
          </p:cNvSpPr>
          <p:nvPr/>
        </p:nvSpPr>
        <p:spPr>
          <a:xfrm xmlns:a="http://schemas.openxmlformats.org/drawingml/2006/main">
            <a:off x="7253288" y="2238375"/>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4" name="">
            <a:extLst xmlns:a="http://schemas.openxmlformats.org/drawingml/2006/main">
              <a:ext uri="{FF2B5EF4-FFF2-40B4-BE49-F238E27FC236}">
                <a16:creationId xmlns:a16="http://schemas.microsoft.com/office/drawing/2014/main" id="{C4C47A93-ED97-4865-BF8A-C8C57DFEEBB6}"/>
              </a:ext>
            </a:extLst>
          </p:cNvPr>
          <p:cNvSpPr>
            <a:spLocks xmlns:a="http://schemas.openxmlformats.org/drawingml/2006/main" noGrp="1"/>
          </p:cNvSpPr>
          <p:nvPr/>
        </p:nvSpPr>
        <p:spPr>
          <a:xfrm xmlns:a="http://schemas.openxmlformats.org/drawingml/2006/main" rot="0">
            <a:off x="7329488" y="2200275"/>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蓄積データから、ロボットを</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導入しやすい業種と現場を絞る</a:t>
            </a:r>
          </a:p>
        </p:txBody>
      </p:sp>
      <p:sp>
        <p:nvSpPr>
          <p:cNvPr id="25" name="">
            <a:extLst xmlns:a="http://schemas.openxmlformats.org/drawingml/2006/main">
              <a:ext uri="{FF2B5EF4-FFF2-40B4-BE49-F238E27FC236}">
                <a16:creationId xmlns:a16="http://schemas.microsoft.com/office/drawing/2014/main" id="{B190C96B-1AA8-4712-B91F-D3030D939A2F}"/>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401DE307-8019-4244-8537-F8958325A136}"/>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7" name="">
            <a:extLst xmlns:a="http://schemas.openxmlformats.org/drawingml/2006/main">
              <a:ext uri="{FF2B5EF4-FFF2-40B4-BE49-F238E27FC236}">
                <a16:creationId xmlns:a16="http://schemas.microsoft.com/office/drawing/2014/main" id="{CE9EC255-DED5-4CA8-9CA9-BD3C298337E4}"/>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5A0973D3-3DCD-4A5F-8F5A-5766978E4EA6}"/>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0D0CC815-B67E-4781-ADB5-5B5143FC937E}"/>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D01E4A86-CCD2-47E3-A5BE-8E7EFF8706FA}"/>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1" name="">
            <a:extLst xmlns:a="http://schemas.openxmlformats.org/drawingml/2006/main">
              <a:ext uri="{FF2B5EF4-FFF2-40B4-BE49-F238E27FC236}">
                <a16:creationId xmlns:a16="http://schemas.microsoft.com/office/drawing/2014/main" id="{F782AD11-5274-4430-8525-1281286E468D}"/>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2039C0C8-DCA7-4F9B-94BD-41EDA8BE3490}"/>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F01C4BED-1878-4A7D-991E-39085666BBBD}"/>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659FB063-1DE8-42A8-B166-F46376A73DF8}"/>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60F9AACF-322A-4F56-9A24-5004DC90B958}"/>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04E0B6EA-C397-42E1-962C-43D1E7292CF1}"/>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4A4F0A8B-66F8-4FE5-9F46-9946AFD1564C}"/>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8" name="">
            <a:extLst xmlns:a="http://schemas.openxmlformats.org/drawingml/2006/main">
              <a:ext uri="{FF2B5EF4-FFF2-40B4-BE49-F238E27FC236}">
                <a16:creationId xmlns:a16="http://schemas.microsoft.com/office/drawing/2014/main" id="{583F2475-1C2F-4A13-A155-8B24E21A64E6}"/>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39" name="">
            <a:extLst xmlns:a="http://schemas.openxmlformats.org/drawingml/2006/main">
              <a:ext uri="{FF2B5EF4-FFF2-40B4-BE49-F238E27FC236}">
                <a16:creationId xmlns:a16="http://schemas.microsoft.com/office/drawing/2014/main" id="{CF792FE5-9D73-412C-AB63-8041F5DEDBD5}"/>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30B0A797-023B-4F3B-B08D-DBE37BC5DA41}"/>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D69B4B0F-4893-460F-9C7F-CF7C2344C213}"/>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1A9AA3F3-F958-4063-9E6F-91D63F5C6B65}"/>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BB44EDD2-E664-43AA-B42D-1EE3FB4B4999}"/>
              </a:ext>
            </a:extLst>
          </p:cNvPr>
          <p:cNvSpPr>
            <a:spLocks xmlns:a="http://schemas.openxmlformats.org/drawingml/2006/main" noGrp="1"/>
          </p:cNvSpPr>
          <p:nvPr/>
        </p:nvSpPr>
        <p:spPr>
          <a:xfrm xmlns:a="http://schemas.openxmlformats.org/drawingml/2006/main">
            <a:off x="3133725" y="3981450"/>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4" name="">
            <a:extLst xmlns:a="http://schemas.openxmlformats.org/drawingml/2006/main">
              <a:ext uri="{FF2B5EF4-FFF2-40B4-BE49-F238E27FC236}">
                <a16:creationId xmlns:a16="http://schemas.microsoft.com/office/drawing/2014/main" id="{2B9D53D3-21B4-452B-9957-50F32E43A070}"/>
              </a:ext>
            </a:extLst>
          </p:cNvPr>
          <p:cNvSpPr>
            <a:spLocks xmlns:a="http://schemas.openxmlformats.org/drawingml/2006/main" noGrp="1"/>
          </p:cNvSpPr>
          <p:nvPr/>
        </p:nvSpPr>
        <p:spPr>
          <a:xfrm xmlns:a="http://schemas.openxmlformats.org/drawingml/2006/main" rot="0">
            <a:off x="3209925" y="3943350"/>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企業・大学へ実証や研究に使う現場を紹介</a:t>
            </a:r>
          </a:p>
        </p:txBody>
      </p:sp>
      <p:sp>
        <p:nvSpPr>
          <p:cNvPr id="45" name="">
            <a:extLst xmlns:a="http://schemas.openxmlformats.org/drawingml/2006/main">
              <a:ext uri="{FF2B5EF4-FFF2-40B4-BE49-F238E27FC236}">
                <a16:creationId xmlns:a16="http://schemas.microsoft.com/office/drawing/2014/main" id="{094F3B10-2612-498F-9C2E-C8699CD171B2}"/>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2037DA17-5181-4B14-8D19-C377D5EF9C05}"/>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7" name="">
            <a:extLst xmlns:a="http://schemas.openxmlformats.org/drawingml/2006/main">
              <a:ext uri="{FF2B5EF4-FFF2-40B4-BE49-F238E27FC236}">
                <a16:creationId xmlns:a16="http://schemas.microsoft.com/office/drawing/2014/main" id="{7574FB3E-2F77-400D-A211-6C9610C63E30}"/>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9390A0CA-30C1-4D04-96F3-C90F5D65AFEA}"/>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9" name="">
            <a:extLst xmlns:a="http://schemas.openxmlformats.org/drawingml/2006/main">
              <a:ext uri="{FF2B5EF4-FFF2-40B4-BE49-F238E27FC236}">
                <a16:creationId xmlns:a16="http://schemas.microsoft.com/office/drawing/2014/main" id="{09F116CB-9DFA-46CF-87FE-FEF6E1818515}"/>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0" name="">
            <a:extLst xmlns:a="http://schemas.openxmlformats.org/drawingml/2006/main">
              <a:ext uri="{FF2B5EF4-FFF2-40B4-BE49-F238E27FC236}">
                <a16:creationId xmlns:a16="http://schemas.microsoft.com/office/drawing/2014/main" id="{F4BCF296-3904-4289-816F-9DABC1D6B9ED}"/>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BD5D46B9-F87F-48F1-BCB1-3999BC6EB027}"/>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2" name="">
            <a:extLst xmlns:a="http://schemas.openxmlformats.org/drawingml/2006/main">
              <a:ext uri="{FF2B5EF4-FFF2-40B4-BE49-F238E27FC236}">
                <a16:creationId xmlns:a16="http://schemas.microsoft.com/office/drawing/2014/main" id="{6A347EE9-2C7E-48E4-A4CE-8B594F68391C}"/>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53" name="">
            <a:extLst xmlns:a="http://schemas.openxmlformats.org/drawingml/2006/main">
              <a:ext uri="{FF2B5EF4-FFF2-40B4-BE49-F238E27FC236}">
                <a16:creationId xmlns:a16="http://schemas.microsoft.com/office/drawing/2014/main" id="{CA0CC0A0-51A0-47FF-AFE7-8C5CE3EB6036}"/>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DE016532-A69C-4AA7-B9C7-3C8B5B3E2972}"/>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5" name="">
            <a:extLst xmlns:a="http://schemas.openxmlformats.org/drawingml/2006/main">
              <a:ext uri="{FF2B5EF4-FFF2-40B4-BE49-F238E27FC236}">
                <a16:creationId xmlns:a16="http://schemas.microsoft.com/office/drawing/2014/main" id="{F37E7CFB-0DF9-40AF-8D78-A309BBED22CC}"/>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6" name="">
            <a:extLst xmlns:a="http://schemas.openxmlformats.org/drawingml/2006/main">
              <a:ext uri="{FF2B5EF4-FFF2-40B4-BE49-F238E27FC236}">
                <a16:creationId xmlns:a16="http://schemas.microsoft.com/office/drawing/2014/main" id="{1C814D02-A53E-402B-ABCE-DC2B72D8E3E0}"/>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7" name="">
            <a:extLst xmlns:a="http://schemas.openxmlformats.org/drawingml/2006/main">
              <a:ext uri="{FF2B5EF4-FFF2-40B4-BE49-F238E27FC236}">
                <a16:creationId xmlns:a16="http://schemas.microsoft.com/office/drawing/2014/main" id="{601C2619-97D3-4B25-A775-9FCF5B9C4D49}"/>
              </a:ext>
            </a:extLst>
          </p:cNvPr>
          <p:cNvSpPr>
            <a:spLocks xmlns:a="http://schemas.openxmlformats.org/drawingml/2006/main" noGrp="1"/>
          </p:cNvSpPr>
          <p:nvPr/>
        </p:nvSpPr>
        <p:spPr>
          <a:xfrm xmlns:a="http://schemas.openxmlformats.org/drawingml/2006/main">
            <a:off x="7253288" y="5143500"/>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8" name="">
            <a:extLst xmlns:a="http://schemas.openxmlformats.org/drawingml/2006/main">
              <a:ext uri="{FF2B5EF4-FFF2-40B4-BE49-F238E27FC236}">
                <a16:creationId xmlns:a16="http://schemas.microsoft.com/office/drawing/2014/main" id="{81A91065-9257-40AC-BE27-96D83EB5C51D}"/>
              </a:ext>
            </a:extLst>
          </p:cNvPr>
          <p:cNvSpPr>
            <a:spLocks xmlns:a="http://schemas.openxmlformats.org/drawingml/2006/main" noGrp="1"/>
          </p:cNvSpPr>
          <p:nvPr/>
        </p:nvSpPr>
        <p:spPr>
          <a:xfrm xmlns:a="http://schemas.openxmlformats.org/drawingml/2006/main" rot="0">
            <a:off x="7329488" y="5105400"/>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既存ロボットを現場へ導入し</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作業に合わせて運用を調整</a:t>
            </a:r>
          </a:p>
        </p:txBody>
      </p:sp>
      <p:sp>
        <p:nvSpPr>
          <p:cNvPr id="59" name="">
            <a:extLst xmlns:a="http://schemas.openxmlformats.org/drawingml/2006/main">
              <a:ext uri="{FF2B5EF4-FFF2-40B4-BE49-F238E27FC236}">
                <a16:creationId xmlns:a16="http://schemas.microsoft.com/office/drawing/2014/main" id="{33238C65-2BC6-4CA2-91F9-5DE417B62B02}"/>
              </a:ext>
            </a:extLst>
          </p:cNvPr>
          <p:cNvSpPr>
            <a:spLocks xmlns:a="http://schemas.openxmlformats.org/drawingml/2006/main" noGrp="1"/>
          </p:cNvSpPr>
          <p:nvPr/>
        </p:nvSpPr>
        <p:spPr>
          <a:xfrm xmlns:a="http://schemas.openxmlformats.org/drawingml/2006/main" rot="0">
            <a:off x="723900" y="59055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2028年は既存ロボットの導入から始め、自社でのモデル・実機開発はまだ行わない</a:t>
            </a:r>
          </a:p>
        </p:txBody>
      </p:sp>
    </p:spTree>
    <p:extLst>
      <p:ext uri="{BB962C8B-B14F-4D97-AF65-F5344CB8AC3E}">
        <p14:creationId xmlns:p14="http://schemas.microsoft.com/office/powerpoint/2010/main" val="2036411451"/>
      </p:ext>
    </p:extLst>
  </p:cSld>
</p:sld>
</file>

<file path=ppt/slides/slide2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CE677B04-51D1-4A47-8EE8-E5D09D32739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B47E94-821B-4043-A0D6-1E41C690B071}"/>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今後の見通し｜2029</a:t>
            </a:r>
          </a:p>
        </p:txBody>
      </p:sp>
      <p:sp>
        <p:nvSpPr>
          <p:cNvPr id="3" name="">
            <a:extLst xmlns:a="http://schemas.openxmlformats.org/drawingml/2006/main">
              <a:ext uri="{FF2B5EF4-FFF2-40B4-BE49-F238E27FC236}">
                <a16:creationId xmlns:a16="http://schemas.microsoft.com/office/drawing/2014/main" id="{DEBA9FFE-77D4-4EAC-A0A9-959178740E2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B12256F-13C5-4390-B067-580DCE96B86F}"/>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25</a:t>
            </a:r>
          </a:p>
        </p:txBody>
      </p:sp>
      <p:sp>
        <p:nvSpPr>
          <p:cNvPr id="5" name="">
            <a:extLst xmlns:a="http://schemas.openxmlformats.org/drawingml/2006/main">
              <a:ext uri="{FF2B5EF4-FFF2-40B4-BE49-F238E27FC236}">
                <a16:creationId xmlns:a16="http://schemas.microsoft.com/office/drawing/2014/main" id="{713BFCE4-89C0-4DCF-B048-97877C9F6AA4}"/>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0BE02D0-537B-4074-A6BC-A2DC30078714}"/>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D64C844A-994E-4D1C-BB10-0ED430E08E98}"/>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8B1982E7-A03F-4CC4-9981-F7920BB7CA7D}"/>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F7DF41A1-EFD0-47D8-8907-C18C73B05416}"/>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12178F00-50E9-4F2C-B773-F47B6743B332}"/>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E2C919A5-D91C-4894-9F4D-D8E8D35C7F5A}"/>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58648371-8495-4972-94F8-CD4A58B608D5}"/>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FA9BA6BE-646E-4429-80BE-A5EF857B78E2}"/>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01B015C7-441C-4CB8-85D2-8BED34FF2011}"/>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3F84A6CE-DDF6-4B1B-BE44-874EFF7FF7A9}"/>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9BD2E47F-7802-4AE3-A06F-43F29D518498}"/>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C5651640-48E9-4928-8BE1-4900CBC5C84C}"/>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BDBC5656-82AA-4D9D-ACD2-0D840F957907}"/>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7F686D90-B211-4B49-A4AE-807903B4670A}"/>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2B065AE9-9016-41E9-A267-AFDF7C31EE84}"/>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A3137629-F590-45C8-AE85-6AE09961FDA2}"/>
              </a:ext>
            </a:extLst>
          </p:cNvPr>
          <p:cNvSpPr>
            <a:spLocks xmlns:a="http://schemas.openxmlformats.org/drawingml/2006/main" noGrp="1"/>
          </p:cNvSpPr>
          <p:nvPr/>
        </p:nvSpPr>
        <p:spPr>
          <a:xfrm xmlns:a="http://schemas.openxmlformats.org/drawingml/2006/main">
            <a:off x="3133725" y="2238375"/>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3A9BEC57-64A7-4AC5-91D4-01F879A579D1}"/>
              </a:ext>
            </a:extLst>
          </p:cNvPr>
          <p:cNvSpPr>
            <a:spLocks xmlns:a="http://schemas.openxmlformats.org/drawingml/2006/main" noGrp="1"/>
          </p:cNvSpPr>
          <p:nvPr/>
        </p:nvSpPr>
        <p:spPr>
          <a:xfrm xmlns:a="http://schemas.openxmlformats.org/drawingml/2006/main" rot="0">
            <a:off x="3209925" y="2200275"/>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ロボット導入先と、各現場の作業データを増やす</a:t>
            </a:r>
          </a:p>
        </p:txBody>
      </p:sp>
      <p:sp>
        <p:nvSpPr>
          <p:cNvPr id="23" name="">
            <a:extLst xmlns:a="http://schemas.openxmlformats.org/drawingml/2006/main">
              <a:ext uri="{FF2B5EF4-FFF2-40B4-BE49-F238E27FC236}">
                <a16:creationId xmlns:a16="http://schemas.microsoft.com/office/drawing/2014/main" id="{A3C87553-23FA-46DE-B619-8A96D136F7D6}"/>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4" name="">
            <a:extLst xmlns:a="http://schemas.openxmlformats.org/drawingml/2006/main">
              <a:ext uri="{FF2B5EF4-FFF2-40B4-BE49-F238E27FC236}">
                <a16:creationId xmlns:a16="http://schemas.microsoft.com/office/drawing/2014/main" id="{C9F3980B-E03E-430E-B48D-E0CF89F689F2}"/>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5" name="">
            <a:extLst xmlns:a="http://schemas.openxmlformats.org/drawingml/2006/main">
              <a:ext uri="{FF2B5EF4-FFF2-40B4-BE49-F238E27FC236}">
                <a16:creationId xmlns:a16="http://schemas.microsoft.com/office/drawing/2014/main" id="{DEC534CB-4A90-41A4-BC15-28175E6096DB}"/>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DDF8D9A0-2F69-4F42-AD08-8105076A3017}"/>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BC82E408-B1E2-4715-8A78-7A3CAF089057}"/>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B6234E1F-6200-4974-B975-D9428E471808}"/>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85A4A912-F9DC-464D-978D-FEFE7B371BE7}"/>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9305C6E5-7466-4DFC-A796-8742604FE176}"/>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1" name="">
            <a:extLst xmlns:a="http://schemas.openxmlformats.org/drawingml/2006/main">
              <a:ext uri="{FF2B5EF4-FFF2-40B4-BE49-F238E27FC236}">
                <a16:creationId xmlns:a16="http://schemas.microsoft.com/office/drawing/2014/main" id="{69B78852-C66D-4E94-9FAC-C6DCC3623D97}"/>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E03A8699-21B6-40DE-8DB8-5037950229B3}"/>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3" name="">
            <a:extLst xmlns:a="http://schemas.openxmlformats.org/drawingml/2006/main">
              <a:ext uri="{FF2B5EF4-FFF2-40B4-BE49-F238E27FC236}">
                <a16:creationId xmlns:a16="http://schemas.microsoft.com/office/drawing/2014/main" id="{B05628A7-3335-4A05-9988-21CB9A995AD7}"/>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E8A5DCE4-F6A4-4B6D-B41B-95E8C0EAA032}"/>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192BEE60-6F31-437B-8A19-F5609645026F}"/>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3332ED45-DD5F-4C96-8F20-30058E359869}"/>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37" name="">
            <a:extLst xmlns:a="http://schemas.openxmlformats.org/drawingml/2006/main">
              <a:ext uri="{FF2B5EF4-FFF2-40B4-BE49-F238E27FC236}">
                <a16:creationId xmlns:a16="http://schemas.microsoft.com/office/drawing/2014/main" id="{028D1D73-CB7D-4B9C-A562-5BF4D4130682}"/>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8" name="">
            <a:extLst xmlns:a="http://schemas.openxmlformats.org/drawingml/2006/main">
              <a:ext uri="{FF2B5EF4-FFF2-40B4-BE49-F238E27FC236}">
                <a16:creationId xmlns:a16="http://schemas.microsoft.com/office/drawing/2014/main" id="{79CBF720-827E-44A6-A6BE-B98F2699F498}"/>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9" name="">
            <a:extLst xmlns:a="http://schemas.openxmlformats.org/drawingml/2006/main">
              <a:ext uri="{FF2B5EF4-FFF2-40B4-BE49-F238E27FC236}">
                <a16:creationId xmlns:a16="http://schemas.microsoft.com/office/drawing/2014/main" id="{C7270542-8700-4FBE-9BBF-A9ABA78390AE}"/>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A076C5AC-C680-4068-A2FD-F6A3DB6FDEE4}"/>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636D1CDF-22E8-4164-959A-CB68819EF4C4}"/>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683F93EC-5EB9-4546-8792-F966200D34D1}"/>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3" name="">
            <a:extLst xmlns:a="http://schemas.openxmlformats.org/drawingml/2006/main">
              <a:ext uri="{FF2B5EF4-FFF2-40B4-BE49-F238E27FC236}">
                <a16:creationId xmlns:a16="http://schemas.microsoft.com/office/drawing/2014/main" id="{2AB0D18D-9460-4519-8800-50D0444875EE}"/>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62A5A848-80BF-49F8-BC93-175FF59217F0}"/>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CA0E9EDF-670B-4565-8A4D-2899C8A57182}"/>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F77BE15A-AE0D-4C41-81B2-670C09441D6B}"/>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773A3B8D-14D3-47AC-A8A9-5F83D25DD2E2}"/>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924C008B-18FD-40AD-8E0E-871F5C51943F}"/>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49" name="">
            <a:extLst xmlns:a="http://schemas.openxmlformats.org/drawingml/2006/main">
              <a:ext uri="{FF2B5EF4-FFF2-40B4-BE49-F238E27FC236}">
                <a16:creationId xmlns:a16="http://schemas.microsoft.com/office/drawing/2014/main" id="{6BE27C8A-30E0-4E15-89A4-F6F69E47CB61}"/>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0" name="">
            <a:extLst xmlns:a="http://schemas.openxmlformats.org/drawingml/2006/main">
              <a:ext uri="{FF2B5EF4-FFF2-40B4-BE49-F238E27FC236}">
                <a16:creationId xmlns:a16="http://schemas.microsoft.com/office/drawing/2014/main" id="{6729AA6A-3461-4FCA-85DD-A41FBC320DA1}"/>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EA954D5E-91E9-4CDD-B643-662677E93ADE}"/>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2" name="">
            <a:extLst xmlns:a="http://schemas.openxmlformats.org/drawingml/2006/main">
              <a:ext uri="{FF2B5EF4-FFF2-40B4-BE49-F238E27FC236}">
                <a16:creationId xmlns:a16="http://schemas.microsoft.com/office/drawing/2014/main" id="{FCA4FFBC-6B74-4697-9D47-A36428495EE4}"/>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3" name="">
            <a:extLst xmlns:a="http://schemas.openxmlformats.org/drawingml/2006/main">
              <a:ext uri="{FF2B5EF4-FFF2-40B4-BE49-F238E27FC236}">
                <a16:creationId xmlns:a16="http://schemas.microsoft.com/office/drawing/2014/main" id="{7CFA46BF-C456-42DB-9E59-E5C19B5D93FC}"/>
              </a:ext>
            </a:extLst>
          </p:cNvPr>
          <p:cNvSpPr>
            <a:spLocks xmlns:a="http://schemas.openxmlformats.org/drawingml/2006/main" noGrp="1"/>
          </p:cNvSpPr>
          <p:nvPr/>
        </p:nvSpPr>
        <p:spPr>
          <a:xfrm xmlns:a="http://schemas.openxmlformats.org/drawingml/2006/main">
            <a:off x="3133725" y="5143500"/>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4" name="">
            <a:extLst xmlns:a="http://schemas.openxmlformats.org/drawingml/2006/main">
              <a:ext uri="{FF2B5EF4-FFF2-40B4-BE49-F238E27FC236}">
                <a16:creationId xmlns:a16="http://schemas.microsoft.com/office/drawing/2014/main" id="{52B941BD-0D3F-4E98-9F11-7F8CB4CFCF40}"/>
              </a:ext>
            </a:extLst>
          </p:cNvPr>
          <p:cNvSpPr>
            <a:spLocks xmlns:a="http://schemas.openxmlformats.org/drawingml/2006/main" noGrp="1"/>
          </p:cNvSpPr>
          <p:nvPr/>
        </p:nvSpPr>
        <p:spPr>
          <a:xfrm xmlns:a="http://schemas.openxmlformats.org/drawingml/2006/main" rot="0">
            <a:off x="3209925" y="5105400"/>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既存ロボットの導入を拡大し、現場データを使った</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動作モデルと実機の改良に自社で着手</a:t>
            </a:r>
          </a:p>
        </p:txBody>
      </p:sp>
      <p:sp>
        <p:nvSpPr>
          <p:cNvPr id="55" name="">
            <a:extLst xmlns:a="http://schemas.openxmlformats.org/drawingml/2006/main">
              <a:ext uri="{FF2B5EF4-FFF2-40B4-BE49-F238E27FC236}">
                <a16:creationId xmlns:a16="http://schemas.microsoft.com/office/drawing/2014/main" id="{B8CBEC76-522A-46D1-96A9-607FED31CFE5}"/>
              </a:ext>
            </a:extLst>
          </p:cNvPr>
          <p:cNvSpPr>
            <a:spLocks xmlns:a="http://schemas.openxmlformats.org/drawingml/2006/main" noGrp="1"/>
          </p:cNvSpPr>
          <p:nvPr/>
        </p:nvSpPr>
        <p:spPr>
          <a:xfrm xmlns:a="http://schemas.openxmlformats.org/drawingml/2006/main" rot="0">
            <a:off x="723900" y="59055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2029年から、ロボットの動作モデルと実機の開発を自社の事業へ加える</a:t>
            </a:r>
          </a:p>
        </p:txBody>
      </p:sp>
    </p:spTree>
    <p:extLst>
      <p:ext uri="{BB962C8B-B14F-4D97-AF65-F5344CB8AC3E}">
        <p14:creationId xmlns:p14="http://schemas.microsoft.com/office/powerpoint/2010/main" val="8468304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2026-09-15T04:28:27.8080000Z</dcterms:created>
  <dcterms:modified xsi:type="dcterms:W3CDTF">2026-09-15T04:28:27.8080000Z</dcterms:modified>
</coreProperties>
</file>
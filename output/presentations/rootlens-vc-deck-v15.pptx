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8676b61d294b27" /><Relationship Type="http://schemas.openxmlformats.org/officeDocument/2006/relationships/extended-properties" Target="/docProps/app.xml" Id="R0e9599ada1024674" /><Relationship Type="http://schemas.openxmlformats.org/officeDocument/2006/relationships/officeDocument" Target="/ppt/presentation.xml" Id="R247b5d276ff64eff" /></Relationships>
</file>

<file path=ppt/presentation.xml><?xml version="1.0" encoding="utf-8"?>
<p:presentation xmlns:p="http://schemas.openxmlformats.org/presentationml/2006/main">
  <p:sldMasterIdLst>
    <p:sldMasterId xmlns:r="http://schemas.openxmlformats.org/officeDocument/2006/relationships" id="2147483648" r:id="R14a0be9c75704908"/>
  </p:sldMasterIdLst>
  <p:notesMasterIdLst>
    <p:notesMasterId xmlns:r="http://schemas.openxmlformats.org/officeDocument/2006/relationships" r:id="Raf66df633aab451f"/>
  </p:notesMasterIdLst>
  <p:sldIdLst>
    <p:sldId xmlns:r="http://schemas.openxmlformats.org/officeDocument/2006/relationships" id="256" r:id="R32e0cdf3f9c74bff"/>
    <p:sldId xmlns:r="http://schemas.openxmlformats.org/officeDocument/2006/relationships" id="257" r:id="R3f288fe53c414640"/>
    <p:sldId xmlns:r="http://schemas.openxmlformats.org/officeDocument/2006/relationships" id="258" r:id="Raf705fc2d9af481c"/>
    <p:sldId xmlns:r="http://schemas.openxmlformats.org/officeDocument/2006/relationships" id="259" r:id="R51fc4143c4e748ba"/>
    <p:sldId xmlns:r="http://schemas.openxmlformats.org/officeDocument/2006/relationships" id="260" r:id="Rc05118ee014d4990"/>
    <p:sldId xmlns:r="http://schemas.openxmlformats.org/officeDocument/2006/relationships" id="261" r:id="R975aac9b8b474586"/>
    <p:sldId xmlns:r="http://schemas.openxmlformats.org/officeDocument/2006/relationships" id="262" r:id="Rdf72970790054c32"/>
    <p:sldId xmlns:r="http://schemas.openxmlformats.org/officeDocument/2006/relationships" id="263" r:id="R2b4751996dc74ab2"/>
    <p:sldId xmlns:r="http://schemas.openxmlformats.org/officeDocument/2006/relationships" id="264" r:id="Rc397708a1ab34d84"/>
    <p:sldId xmlns:r="http://schemas.openxmlformats.org/officeDocument/2006/relationships" id="265" r:id="R773d3c48560a490f"/>
    <p:sldId xmlns:r="http://schemas.openxmlformats.org/officeDocument/2006/relationships" id="266" r:id="R2894c11e12e04b29"/>
    <p:sldId xmlns:r="http://schemas.openxmlformats.org/officeDocument/2006/relationships" id="267" r:id="Rb4775a3e8ae54ec1"/>
    <p:sldId xmlns:r="http://schemas.openxmlformats.org/officeDocument/2006/relationships" id="268" r:id="Rd7349762dda34a11"/>
    <p:sldId xmlns:r="http://schemas.openxmlformats.org/officeDocument/2006/relationships" id="269" r:id="Rbdcc528cb4674db4"/>
    <p:sldId xmlns:r="http://schemas.openxmlformats.org/officeDocument/2006/relationships" id="270" r:id="R10ab9ae32cf84515"/>
    <p:sldId xmlns:r="http://schemas.openxmlformats.org/officeDocument/2006/relationships" id="271" r:id="Re3dcf9607a9b4f31"/>
    <p:sldId xmlns:r="http://schemas.openxmlformats.org/officeDocument/2006/relationships" id="272" r:id="Rca06af4cea5543a8"/>
    <p:sldId xmlns:r="http://schemas.openxmlformats.org/officeDocument/2006/relationships" id="273" r:id="R162e77bf6cad493a"/>
    <p:sldId xmlns:r="http://schemas.openxmlformats.org/officeDocument/2006/relationships" id="274" r:id="R94d753d8bc494cd0"/>
    <p:sldId xmlns:r="http://schemas.openxmlformats.org/officeDocument/2006/relationships" id="275" r:id="Rfdbe16fb8e5244ef"/>
    <p:sldId xmlns:r="http://schemas.openxmlformats.org/officeDocument/2006/relationships" id="276" r:id="R28cbe14c5fe14bbc"/>
    <p:sldId xmlns:r="http://schemas.openxmlformats.org/officeDocument/2006/relationships" id="277" r:id="R9fff8cd35f7149b7"/>
    <p:sldId xmlns:r="http://schemas.openxmlformats.org/officeDocument/2006/relationships" id="278" r:id="Rde80be0022904780"/>
    <p:sldId xmlns:r="http://schemas.openxmlformats.org/officeDocument/2006/relationships" id="279" r:id="R1c24f71a80964586"/>
    <p:sldId xmlns:r="http://schemas.openxmlformats.org/officeDocument/2006/relationships" id="280" r:id="R418762d5695741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9dc928dc184b87" /><Relationship Type="http://schemas.openxmlformats.org/officeDocument/2006/relationships/slideMaster" Target="/ppt/slideMasters/slideMaster1.xml" Id="R14a0be9c75704908" /><Relationship Type="http://schemas.openxmlformats.org/officeDocument/2006/relationships/notesMaster" Target="/ppt/notesMasters/notesMaster1.xml" Id="Raf66df633aab451f" /><Relationship Type="http://schemas.openxmlformats.org/officeDocument/2006/relationships/presProps" Target="/ppt/presProps.xml" Id="Raf229d379b1e4558" /><Relationship Type="http://schemas.openxmlformats.org/officeDocument/2006/relationships/tableStyles" Target="/ppt/tableStyles.xml" Id="R106f50f62b0841e4" /><Relationship Type="http://schemas.openxmlformats.org/officeDocument/2006/relationships/slide" Target="/ppt/slides/slide1.xml" Id="R32e0cdf3f9c74bff" /><Relationship Type="http://schemas.openxmlformats.org/officeDocument/2006/relationships/slide" Target="/ppt/slides/slide2.xml" Id="R3f288fe53c414640" /><Relationship Type="http://schemas.openxmlformats.org/officeDocument/2006/relationships/slide" Target="/ppt/slides/slide3.xml" Id="Raf705fc2d9af481c" /><Relationship Type="http://schemas.openxmlformats.org/officeDocument/2006/relationships/slide" Target="/ppt/slides/slide4.xml" Id="R51fc4143c4e748ba" /><Relationship Type="http://schemas.openxmlformats.org/officeDocument/2006/relationships/slide" Target="/ppt/slides/slide5.xml" Id="Rc05118ee014d4990" /><Relationship Type="http://schemas.openxmlformats.org/officeDocument/2006/relationships/slide" Target="/ppt/slides/slide6.xml" Id="R975aac9b8b474586" /><Relationship Type="http://schemas.openxmlformats.org/officeDocument/2006/relationships/slide" Target="/ppt/slides/slide7.xml" Id="Rdf72970790054c32" /><Relationship Type="http://schemas.openxmlformats.org/officeDocument/2006/relationships/slide" Target="/ppt/slides/slide8.xml" Id="R2b4751996dc74ab2" /><Relationship Type="http://schemas.openxmlformats.org/officeDocument/2006/relationships/slide" Target="/ppt/slides/slide9.xml" Id="Rc397708a1ab34d84" /><Relationship Type="http://schemas.openxmlformats.org/officeDocument/2006/relationships/slide" Target="/ppt/slides/slide10.xml" Id="R773d3c48560a490f" /><Relationship Type="http://schemas.openxmlformats.org/officeDocument/2006/relationships/slide" Target="/ppt/slides/slide11.xml" Id="R2894c11e12e04b29" /><Relationship Type="http://schemas.openxmlformats.org/officeDocument/2006/relationships/slide" Target="/ppt/slides/slide12.xml" Id="Rb4775a3e8ae54ec1" /><Relationship Type="http://schemas.openxmlformats.org/officeDocument/2006/relationships/slide" Target="/ppt/slides/slide13.xml" Id="Rd7349762dda34a11" /><Relationship Type="http://schemas.openxmlformats.org/officeDocument/2006/relationships/slide" Target="/ppt/slides/slide14.xml" Id="Rbdcc528cb4674db4" /><Relationship Type="http://schemas.openxmlformats.org/officeDocument/2006/relationships/slide" Target="/ppt/slides/slide15.xml" Id="R10ab9ae32cf84515" /><Relationship Type="http://schemas.openxmlformats.org/officeDocument/2006/relationships/slide" Target="/ppt/slides/slide16.xml" Id="Re3dcf9607a9b4f31" /><Relationship Type="http://schemas.openxmlformats.org/officeDocument/2006/relationships/slide" Target="/ppt/slides/slide17.xml" Id="Rca06af4cea5543a8" /><Relationship Type="http://schemas.openxmlformats.org/officeDocument/2006/relationships/slide" Target="/ppt/slides/slide18.xml" Id="R162e77bf6cad493a" /><Relationship Type="http://schemas.openxmlformats.org/officeDocument/2006/relationships/slide" Target="/ppt/slides/slide19.xml" Id="R94d753d8bc494cd0" /><Relationship Type="http://schemas.openxmlformats.org/officeDocument/2006/relationships/slide" Target="/ppt/slides/slide20.xml" Id="Rfdbe16fb8e5244ef" /><Relationship Type="http://schemas.openxmlformats.org/officeDocument/2006/relationships/slide" Target="/ppt/slides/slide21.xml" Id="R28cbe14c5fe14bbc" /><Relationship Type="http://schemas.openxmlformats.org/officeDocument/2006/relationships/slide" Target="/ppt/slides/slide22.xml" Id="R9fff8cd35f7149b7" /><Relationship Type="http://schemas.openxmlformats.org/officeDocument/2006/relationships/slide" Target="/ppt/slides/slide23.xml" Id="Rde80be0022904780" /><Relationship Type="http://schemas.openxmlformats.org/officeDocument/2006/relationships/slide" Target="/ppt/slides/slide24.xml" Id="R1c24f71a80964586" /><Relationship Type="http://schemas.openxmlformats.org/officeDocument/2006/relationships/slide" Target="/ppt/slides/slide25.xml" Id="R418762d5695741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abad5c20de41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fe0d1ee1e845bb" /><Relationship Type="http://schemas.openxmlformats.org/officeDocument/2006/relationships/notesMaster" Target="/ppt/notesMasters/notesMaster1.xml" Id="R4322ceae935a43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7db1176a884ad6" /><Relationship Type="http://schemas.openxmlformats.org/officeDocument/2006/relationships/notesMaster" Target="/ppt/notesMasters/notesMaster1.xml" Id="R516973a26fdc47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ea642d86824c2a" /><Relationship Type="http://schemas.openxmlformats.org/officeDocument/2006/relationships/notesMaster" Target="/ppt/notesMasters/notesMaster1.xml" Id="R1a1919e4119844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242cd8ccba41f1" /><Relationship Type="http://schemas.openxmlformats.org/officeDocument/2006/relationships/notesMaster" Target="/ppt/notesMasters/notesMaster1.xml" Id="R0f6fb068b61d41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7cbb9025284b29" /><Relationship Type="http://schemas.openxmlformats.org/officeDocument/2006/relationships/notesMaster" Target="/ppt/notesMasters/notesMaster1.xml" Id="R2d6c34dad37e42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341732bb9d4e9e" /><Relationship Type="http://schemas.openxmlformats.org/officeDocument/2006/relationships/notesMaster" Target="/ppt/notesMasters/notesMaster1.xml" Id="R720c6fa3fa594d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80a26661904730" /><Relationship Type="http://schemas.openxmlformats.org/officeDocument/2006/relationships/notesMaster" Target="/ppt/notesMasters/notesMaster1.xml" Id="Rf2de019912f543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657a6229304c7a" /><Relationship Type="http://schemas.openxmlformats.org/officeDocument/2006/relationships/notesMaster" Target="/ppt/notesMasters/notesMaster1.xml" Id="Rb26ed5a9529e4d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68839ec28f4cd3" /><Relationship Type="http://schemas.openxmlformats.org/officeDocument/2006/relationships/notesMaster" Target="/ppt/notesMasters/notesMaster1.xml" Id="R7debcb03074c46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3f087b2f114d2b" /><Relationship Type="http://schemas.openxmlformats.org/officeDocument/2006/relationships/notesMaster" Target="/ppt/notesMasters/notesMaster1.xml" Id="R1ec3532b06b241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6007fa9f684056" /><Relationship Type="http://schemas.openxmlformats.org/officeDocument/2006/relationships/notesMaster" Target="/ppt/notesMasters/notesMaster1.xml" Id="R5f9c7a651aa745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fb9864bf0934e4c" /><Relationship Type="http://schemas.openxmlformats.org/officeDocument/2006/relationships/notesMaster" Target="/ppt/notesMasters/notesMaster1.xml" Id="Rb455746943504f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e61a1df5f0644c7" /><Relationship Type="http://schemas.openxmlformats.org/officeDocument/2006/relationships/notesMaster" Target="/ppt/notesMasters/notesMaster1.xml" Id="R2faf4023456645d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36fc8a1aab41ce" /><Relationship Type="http://schemas.openxmlformats.org/officeDocument/2006/relationships/notesMaster" Target="/ppt/notesMasters/notesMaster1.xml" Id="R2828c8690c304fd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eda98626c9432f" /><Relationship Type="http://schemas.openxmlformats.org/officeDocument/2006/relationships/notesMaster" Target="/ppt/notesMasters/notesMaster1.xml" Id="Rf8a749c18d984f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292bd93d654fba" /><Relationship Type="http://schemas.openxmlformats.org/officeDocument/2006/relationships/notesMaster" Target="/ppt/notesMasters/notesMaster1.xml" Id="R964730fd5af2416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08105f8a2d42b3" /><Relationship Type="http://schemas.openxmlformats.org/officeDocument/2006/relationships/notesMaster" Target="/ppt/notesMasters/notesMaster1.xml" Id="Rdd4ecdb6d8e0424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ae3e864a92495c" /><Relationship Type="http://schemas.openxmlformats.org/officeDocument/2006/relationships/notesMaster" Target="/ppt/notesMasters/notesMaster1.xml" Id="R0b93e07d537f411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5f15635a2894344" /><Relationship Type="http://schemas.openxmlformats.org/officeDocument/2006/relationships/notesMaster" Target="/ppt/notesMasters/notesMaster1.xml" Id="R6e724338fc9948c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370d0628f2e4fd3" /><Relationship Type="http://schemas.openxmlformats.org/officeDocument/2006/relationships/notesMaster" Target="/ppt/notesMasters/notesMaster1.xml" Id="R1bd3523b925940d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571f2b7a1c54fe1" /><Relationship Type="http://schemas.openxmlformats.org/officeDocument/2006/relationships/notesMaster" Target="/ppt/notesMasters/notesMaster1.xml" Id="Rbadd50958218452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99801a934fc43ac" /><Relationship Type="http://schemas.openxmlformats.org/officeDocument/2006/relationships/notesMaster" Target="/ppt/notesMasters/notesMaster1.xml" Id="R0da9260c0d3b458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20c8fc7e7fa4d69" /><Relationship Type="http://schemas.openxmlformats.org/officeDocument/2006/relationships/notesMaster" Target="/ppt/notesMasters/notesMaster1.xml" Id="R2745ce5c68e54f4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468a82a854341f3" /><Relationship Type="http://schemas.openxmlformats.org/officeDocument/2006/relationships/notesMaster" Target="/ppt/notesMasters/notesMaster1.xml" Id="R0eab83695fa0482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d0d0aae54a246f7" /><Relationship Type="http://schemas.openxmlformats.org/officeDocument/2006/relationships/notesMaster" Target="/ppt/notesMasters/notesMaster1.xml" Id="Rd84d46c9411846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を含む運用フローを擦り合わせています。Nextremerは私たちよりロボット実装に近い下流へアプローチできるため、高度なアノテーション付きデータを求める販売先へ届き、より高い単価を狙えます。手数料なしのレベニューシェアなので、私たちは現場開拓とデータ収集に注力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9bd4557cda41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b2978e3b1b43ce" /><Relationship Type="http://schemas.openxmlformats.org/officeDocument/2006/relationships/slideLayout" Target="/ppt/slideLayouts/slideLayout1.xml" Id="R10ee5680f3f947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ee5680f3f947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8b26ace18b4a8a" /><Relationship Type="http://schemas.openxmlformats.org/officeDocument/2006/relationships/notesSlide" Target="/ppt/notesSlides/notesSlide1.xml" Id="R4726b6df912440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9bc51876fe4dd0" /><Relationship Type="http://schemas.openxmlformats.org/officeDocument/2006/relationships/notesSlide" Target="/ppt/notesSlides/notesSlide2.xml" Id="R5509bfae50ff42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60f42abbd8547c7" /><Relationship Type="http://schemas.openxmlformats.org/officeDocument/2006/relationships/notesSlide" Target="/ppt/notesSlides/notesSlide3.xml" Id="R31399aeda0b545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3fa53e41c34908" /><Relationship Type="http://schemas.openxmlformats.org/officeDocument/2006/relationships/notesSlide" Target="/ppt/notesSlides/notesSlide4.xml" Id="R5cdefe3e19224f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8bc385313d475a" /><Relationship Type="http://schemas.openxmlformats.org/officeDocument/2006/relationships/notesSlide" Target="/ppt/notesSlides/notesSlide5.xml" Id="R2f6d1ed067bd48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ac90fab068241a6" /><Relationship Type="http://schemas.openxmlformats.org/officeDocument/2006/relationships/notesSlide" Target="/ppt/notesSlides/notesSlide6.xml" Id="Rb4448bb32f5048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a62a9514d84d0c" /><Relationship Type="http://schemas.openxmlformats.org/officeDocument/2006/relationships/notesSlide" Target="/ppt/notesSlides/notesSlide7.xml" Id="R7490d763f8034f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4f0bc93c357417b" /><Relationship Type="http://schemas.openxmlformats.org/officeDocument/2006/relationships/notesSlide" Target="/ppt/notesSlides/notesSlide8.xml" Id="R4baab69b8eec48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da2b3777694772" /><Relationship Type="http://schemas.openxmlformats.org/officeDocument/2006/relationships/notesSlide" Target="/ppt/notesSlides/notesSlide9.xml" Id="R2cf76f4b18dd4b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2795062c1fb4524" /><Relationship Type="http://schemas.openxmlformats.org/officeDocument/2006/relationships/notesSlide" Target="/ppt/notesSlides/notesSlide10.xml" Id="R1bcb25d22d8743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b8f3784101e4c27" /><Relationship Type="http://schemas.openxmlformats.org/officeDocument/2006/relationships/notesSlide" Target="/ppt/notesSlides/notesSlide11.xml" Id="R8f1e7d64938a4c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d3b891155254984" /><Relationship Type="http://schemas.openxmlformats.org/officeDocument/2006/relationships/notesSlide" Target="/ppt/notesSlides/notesSlide12.xml" Id="R4ba3bccae72e42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0dec3fb2f6345a8" /><Relationship Type="http://schemas.openxmlformats.org/officeDocument/2006/relationships/notesSlide" Target="/ppt/notesSlides/notesSlide13.xml" Id="R9fc5775be2dd42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1a00f7c0e3a4bd6" /><Relationship Type="http://schemas.openxmlformats.org/officeDocument/2006/relationships/notesSlide" Target="/ppt/notesSlides/notesSlide14.xml" Id="Rf67dac1e475a43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9a2d4cda02d4af3" /><Relationship Type="http://schemas.openxmlformats.org/officeDocument/2006/relationships/notesSlide" Target="/ppt/notesSlides/notesSlide15.xml" Id="Re65a96b2056146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56a1ec5681d4eb2" /><Relationship Type="http://schemas.openxmlformats.org/officeDocument/2006/relationships/notesSlide" Target="/ppt/notesSlides/notesSlide16.xml" Id="Rae7a70daa9364a9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f7eba4fd62a40e1" /><Relationship Type="http://schemas.openxmlformats.org/officeDocument/2006/relationships/image" Target="/ppt/media/image.jpeg" Id="R68d0fed9cd6d4712" /><Relationship Type="http://schemas.openxmlformats.org/officeDocument/2006/relationships/image" Target="/ppt/media/image2.jpeg" Id="R20b253c009c7402c" /><Relationship Type="http://schemas.openxmlformats.org/officeDocument/2006/relationships/image" Target="/ppt/media/image3.jpeg" Id="R36073a087c9946c1" /><Relationship Type="http://schemas.openxmlformats.org/officeDocument/2006/relationships/notesSlide" Target="/ppt/notesSlides/notesSlide17.xml" Id="R57e56d18b76c4c5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e5af2a667964733" /><Relationship Type="http://schemas.openxmlformats.org/officeDocument/2006/relationships/notesSlide" Target="/ppt/notesSlides/notesSlide18.xml" Id="R6cfc5ff555e34f9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d8c56699d0e4e58" /><Relationship Type="http://schemas.openxmlformats.org/officeDocument/2006/relationships/notesSlide" Target="/ppt/notesSlides/notesSlide19.xml" Id="R026c6e60f2c641e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448f7802fd14862" /><Relationship Type="http://schemas.openxmlformats.org/officeDocument/2006/relationships/notesSlide" Target="/ppt/notesSlides/notesSlide20.xml" Id="R8e7dcdcbde6745a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af8f75cafd54994" /><Relationship Type="http://schemas.openxmlformats.org/officeDocument/2006/relationships/notesSlide" Target="/ppt/notesSlides/notesSlide21.xml" Id="Rf80a26c15cb4495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d60b54b03c844c1" /><Relationship Type="http://schemas.openxmlformats.org/officeDocument/2006/relationships/notesSlide" Target="/ppt/notesSlides/notesSlide22.xml" Id="R3e63fea9cafa402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0f1289ebfb64df5" /><Relationship Type="http://schemas.openxmlformats.org/officeDocument/2006/relationships/notesSlide" Target="/ppt/notesSlides/notesSlide23.xml" Id="R6ab8d1e479f44c1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b9cc9eebc4641a0" /><Relationship Type="http://schemas.openxmlformats.org/officeDocument/2006/relationships/notesSlide" Target="/ppt/notesSlides/notesSlide24.xml" Id="Rf6c400160e004b6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e20126a70584eb9" /><Relationship Type="http://schemas.openxmlformats.org/officeDocument/2006/relationships/notesSlide" Target="/ppt/notesSlides/notesSlide25.xml" Id="R71996bb68606440f"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636DB3-509D-407E-BA06-BF027196058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F6658D-C223-4C76-9052-B9B410F7B783}"/>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8D6CE438-B10B-4542-A560-A69A64798668}"/>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9A90822C-9213-4398-AA05-F8E9299A0519}"/>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1F65ACF-C67E-448C-BB53-5E357FC26819}"/>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AAF1B865-3213-4341-9892-6C4488AD78CA}"/>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464915900"/>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1B3EC1B2-22B2-43CD-84AB-9A33E923D10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29E4F4-C26D-4F65-92AA-A4DDFC3DB3A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E6878E3D-FF99-4E8E-8352-E5B8AFFA41C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888F2E-4A5F-47FC-AF12-8115D4B1811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C462A75B-EFDD-4F0D-8066-268F6232F033}"/>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C2944A3E-53CE-4FF4-88DA-E4DE1156DC2A}"/>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0FEDD79-0FC1-44B9-8E98-A7F8DBDDAA6C}"/>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D7B71B-26B9-4FC4-A00E-AB18B0F16EFB}"/>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6D6195B-16CC-44BD-8929-6B08FA567313}"/>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8D64D018-490C-48E2-977F-708E19B145E9}"/>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2A65A1B0-CF86-44B2-B2B6-38AB04F0B730}"/>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87A4F45F-4260-4F94-9AC2-4FBAB82F7A17}"/>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006053CB-0F4F-4CAF-AEB7-E96BEEB5736E}"/>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63D238AA-23B4-4E20-AA7D-1B1CA30290CD}"/>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72C051EC-B86F-4618-9909-98C6E9DEA0CA}"/>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E2D02F3A-A780-4F77-890C-EC2F8D61B4C5}"/>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6F6CFB40-ECD9-4A9F-ACC9-9E303824AD43}"/>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52FBCAE-E80A-481F-9F8A-FEAB0A6E7D26}"/>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B744E76-3F34-4B70-9ABF-9D557DA32C6B}"/>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58A6565-F1B9-45BF-8981-2FDBB3B85780}"/>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276A5576-2A8D-4465-A5C7-5D131D761319}"/>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DB3B024C-E409-4007-9BFE-FB1A4CF69C70}"/>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C9CD499-079F-4D7B-9B32-83B59DA1F0E8}"/>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6A5D8444-B052-4475-9DA5-0DF41FD79A6C}"/>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2808496D-21F2-44B5-B5FE-D6C534C53767}"/>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F18E00C0-D90C-4FC7-B3C3-67F89BF35A51}"/>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C609A4F8-4388-477A-859D-940C7E07C69E}"/>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12EF157C-35FB-4555-BE8D-D1D384492B7A}"/>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532727F3-F508-4DDE-B02A-AAEBAD9E6820}"/>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6100162E-83AC-48EE-AC9E-A231D209E35D}"/>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B8339FCB-DDD2-4551-BE9E-BCE8F49DD147}"/>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FB47FE82-1C51-4D4B-9B08-253D9C21380A}"/>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F6FA88D2-FF26-4E3A-9819-087B7BC2318B}"/>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393380B4-9096-4EB5-998F-4D155D4717DF}"/>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1ECB1128-609F-4F25-875C-D61386DA98B8}"/>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E1609F2F-18B6-4951-AA28-20420CC42B8B}"/>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1296733999"/>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67E95F9-BF6C-4B9B-AFEF-83172E8DB0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50107A-138A-4D36-A5EA-D4343E8AB9C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E7222DE2-C444-42B6-A296-13FE28B879E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C56C84-539B-4DDC-8F48-ADF0A5E5272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B34BCA7E-ABE7-4098-A99E-90E634D56F8F}"/>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B1A50E75-2D60-421D-A36A-B7F7F8327367}"/>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C3CC8A69-D440-4744-AC4C-B2935C6E1041}"/>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807F8C40-763F-4C77-BE6A-8011AF66EFC9}"/>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A7A68509-5985-4870-B6B3-EFA1DC257CEC}"/>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E894CC3-3962-4E5E-A46A-8D0D4E26549C}"/>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94B44818-F238-4970-BB10-62165F752612}"/>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A338996F-5F8B-4BD5-834D-5EFFE4AEBEE3}"/>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976524869"/>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C133F7C-BE3C-455E-8171-9320C997369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8237D7-148D-4D74-840B-571CF2BBCE2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1E76B501-7BF5-4930-9CFB-E2DE0254A8B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A885E90-D080-4A49-91DC-AC94C7BAA88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61BD65EC-4B46-4471-AFAC-6DBABE94E711}"/>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2C4D6827-CAD9-45F1-B292-E65C591CB483}"/>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3810089B-CAF2-46D5-ABBA-03EFBDBA4922}"/>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2A64B39-6408-41EE-9FA0-33A804234757}"/>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8A32C60F-56CE-4E5D-AC81-67231E839D53}"/>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97957425-5C47-49EB-8247-E406615E8C4D}"/>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443123D-BC00-48DB-991E-B9F8B4465559}"/>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E75E47BA-CD67-4AC9-B667-BDA36813AD1F}"/>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80DE17C1-64E4-467A-B598-93A358D11B16}"/>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C7CB276-FCB5-4879-AA77-73D2BCD94AFF}"/>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317E2F3A-B635-490D-BDF7-E0D184479B67}"/>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635912113"/>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E5F9EAD5-3AF4-4C10-8455-853F8D671F3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C442DA-AD32-46A1-927D-E1DE5E4A849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3B326FA0-0503-4267-9128-FCEC9B55907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F7E820-CCC1-4584-960C-B52CB263741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F197DE53-2F97-4B8A-B13B-BD05A5C3EBAD}"/>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3456CBE0-6212-4EB2-A06C-4012468F3072}"/>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80EB7CC-93D0-4FAF-868B-B87CA6636DFC}"/>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87E37AC-6D81-46F9-9B25-7DFCDC2C4B92}"/>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12D480D-D975-49DA-B3C6-56B04F027780}"/>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68B0D63E-79F8-475F-B66F-3DDE78D3BF34}"/>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D4918344-1B56-40EA-9AAB-5A3A4B032B93}"/>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3ED8803E-C660-4949-BA7B-F38DFECC1257}"/>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20B2703D-EA58-4AAF-A0F6-934665249251}"/>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E4C803F2-9B6F-4941-9BB2-047039801BC4}"/>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7D54F870-91F4-4DB0-846A-495421767A9A}"/>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13904EAC-08D5-444A-8C41-32953256B9D1}"/>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E2AC6961-E14F-43B8-89E2-ED217B8B99C6}"/>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AE5A277-9B84-49B2-AF84-ACC2214EAA3F}"/>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4E150E1-CAAF-4C30-847E-FBE3319FB63E}"/>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F9CB1F1-BBEC-41CE-A85A-C3066B80D5AD}"/>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C67214D5-B915-4744-9C2B-3EC5D629E6A4}"/>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5CA28315-A16D-457B-BE89-AFC83FC306D2}"/>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1E0DDD3-6E3A-43BB-A290-C41123AAAAE7}"/>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595A5567-3FBE-4966-8903-63AA9BD0B260}"/>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23D8BBE-9BD1-4855-A52C-F473BEE5F6B4}"/>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179660F-A953-420F-9045-6B6532232EB5}"/>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043B1CD-032A-400B-BCA0-57D67CE3296F}"/>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08A115A-903F-4D64-9D94-C16F89C4D748}"/>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7833028-63F7-4F8A-B330-06FA06512FE8}"/>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13A72DB-980E-4FAD-83EC-CF2685A7AD2E}"/>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5CF1E82-92A4-4172-BF41-4919393529B4}"/>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B5E8E39-456E-42AC-97BB-032FD1D96568}"/>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F9F32B4-4C2F-4BE5-91B4-0486EF90630D}"/>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F16C307-8E82-4E0A-B909-F5915415DA83}"/>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F3BF51E-5EFB-4D7E-B557-45EB0E611DBB}"/>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EC45B19-163E-4443-AEC1-F4E73ECC30FE}"/>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D12FCC2-C45C-4AB3-B42D-E905770079A4}"/>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A1D079F-215E-46E2-9A1E-30022E4E3FC9}"/>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A8B1BE7-9938-4056-8320-2845750EBB0C}"/>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87C5867-3671-476D-A1BA-2DF279EEB537}"/>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0A4021B-E8C2-4AB1-A7C0-FDC443B588BB}"/>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11CE986-C834-470D-8684-3325963F44B7}"/>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A637B6C-126E-4C4A-A414-906F0FA102D2}"/>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8062A071-0123-430B-B9CE-E641DDBCBC47}"/>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88B4E2D9-E46F-46C5-8EDF-A7BF9D8AF9D7}"/>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093938FC-9E98-4F62-A20C-F46E8815E3BD}"/>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5897A8C-1E3C-4983-91D6-0E88B6959A79}"/>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436272D3-1599-4B92-9AE9-09059A7B82CD}"/>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D7B5046-7ED1-4A1F-A01C-3F8A450B2B94}"/>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B43B182E-2A8A-45F9-96E4-23302F134724}"/>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CE3BF85E-B4E4-495D-94A2-825043B483CA}"/>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D5C056BB-17F5-43B6-9643-75CE466D7DF7}"/>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23EFC1AE-0AEB-4E29-A10B-79F8146B994C}"/>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1EC90C5E-C759-4C92-B74F-4AA2F37FC56C}"/>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6F22B353-BF6A-4AE1-B27E-5BAD698E5A21}"/>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4F9D83A7-88EB-4CDF-A7F0-24B23E5C96AE}"/>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70BB5D81-AB49-4B8E-859C-4C3B0D858895}"/>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092EF560-DBAF-4A3A-BDEE-0A12602A1526}"/>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D5E0A4CD-FB80-48E1-966E-E160DB6056EA}"/>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E458CDC8-32C2-4971-A08F-49058981F636}"/>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87FF3D1E-705D-46D8-8D7F-F0A597DCC92C}"/>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F8BB803F-E994-4284-9FBA-B7DE8AA03620}"/>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81B19253-7CF3-4225-966E-E3CD03DD82AD}"/>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94C90453-C30B-4F81-A4AD-8BCB2E42951B}"/>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587735918"/>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A68166-D0D9-467F-B9E6-C7020D0C7E6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E4B161-67A0-4E1A-B18B-704F1E47BF2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FCF71BFB-4CFB-4404-BEA2-3DF04AB7CB6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0651E66-C32A-4A9C-B715-185CB7A5A3C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2D70B744-7924-4C1C-BD29-04DBFB1B60C2}"/>
              </a:ext>
            </a:extLst>
          </p:cNvPr>
          <p:cNvSpPr>
            <a:spLocks xmlns:a="http://schemas.openxmlformats.org/drawingml/2006/main" noGrp="1"/>
          </p:cNvSpPr>
          <p:nvPr/>
        </p:nvSpPr>
        <p:spPr>
          <a:xfrm xmlns:a="http://schemas.openxmlformats.org/drawingml/2006/main" rot="0">
            <a:off x="723900" y="20002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ロボットシステムのフィードバックループは、モデル開発・ハードウェア開発・現場統合の3つで完結する。</a:t>
            </a:r>
          </a:p>
        </p:txBody>
      </p:sp>
      <p:sp>
        <p:nvSpPr>
          <p:cNvPr id="6" name="">
            <a:extLst xmlns:a="http://schemas.openxmlformats.org/drawingml/2006/main">
              <a:ext uri="{FF2B5EF4-FFF2-40B4-BE49-F238E27FC236}">
                <a16:creationId xmlns:a16="http://schemas.microsoft.com/office/drawing/2014/main" id="{77B1C08E-8F89-4172-84D1-15BBDB2D56B4}"/>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13AB6CB-1113-419E-9199-17F9A02BB967}"/>
              </a:ext>
            </a:extLst>
          </p:cNvPr>
          <p:cNvSpPr>
            <a:spLocks xmlns:a="http://schemas.openxmlformats.org/drawingml/2006/main" noGrp="1"/>
          </p:cNvSpPr>
          <p:nvPr/>
        </p:nvSpPr>
        <p:spPr>
          <a:xfrm xmlns:a="http://schemas.openxmlformats.org/drawingml/2006/main" rot="0">
            <a:off x="72390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に統合されたロボットの実機が稼働すること自体が、データ収集になる。フィジカルAIが物理世界に投入されはじめた瞬間から、データは「外部の企業がわざわざ収集するもの」から「ロボットの稼働を通じて自動的に蓄積されるもの」に変わる。</a:t>
            </a:r>
          </a:p>
        </p:txBody>
      </p:sp>
      <p:sp>
        <p:nvSpPr>
          <p:cNvPr id="8" name="">
            <a:extLst xmlns:a="http://schemas.openxmlformats.org/drawingml/2006/main">
              <a:ext uri="{FF2B5EF4-FFF2-40B4-BE49-F238E27FC236}">
                <a16:creationId xmlns:a16="http://schemas.microsoft.com/office/drawing/2014/main" id="{A1C6DDD2-12F0-42B3-87BE-F6A7DA9E13CF}"/>
              </a:ext>
            </a:extLst>
          </p:cNvPr>
          <p:cNvSpPr>
            <a:spLocks xmlns:a="http://schemas.openxmlformats.org/drawingml/2006/main" noGrp="1"/>
          </p:cNvSpPr>
          <p:nvPr/>
        </p:nvSpPr>
        <p:spPr>
          <a:xfrm xmlns:a="http://schemas.openxmlformats.org/drawingml/2006/main" rot="0">
            <a:off x="723900" y="48101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そのデータが直結したフィードバックとしてモデルの改善に使われる。一連のループを自社で持つ企業が最速でロボットを改善でき、最終的に生き残る企業になると考える。</a:t>
            </a:r>
          </a:p>
        </p:txBody>
      </p:sp>
    </p:spTree>
    <p:extLst>
      <p:ext uri="{BB962C8B-B14F-4D97-AF65-F5344CB8AC3E}">
        <p14:creationId xmlns:p14="http://schemas.microsoft.com/office/powerpoint/2010/main" val="192661907"/>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2E7298-EE50-4CE8-84E0-0EC07A53E51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5CA84D-5B42-42DF-9534-F820C35613E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DA9DDC60-59F6-4F86-928E-23222EFC628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EC71CE-EEE9-49A2-A099-3BD9D02A500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11CA0139-9128-4C8C-AB96-0BB5BD2C5A4F}"/>
              </a:ext>
            </a:extLst>
          </p:cNvPr>
          <p:cNvSpPr>
            <a:spLocks xmlns:a="http://schemas.openxmlformats.org/drawingml/2006/main" noGrp="1"/>
          </p:cNvSpPr>
          <p:nvPr/>
        </p:nvSpPr>
        <p:spPr>
          <a:xfrm xmlns:a="http://schemas.openxmlformats.org/drawingml/2006/main" rot="0">
            <a:off x="723900" y="1952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独立したデータレイヤーが将来消滅するなら、データ収集企業に未来はないように聞こえるかもしれない。</a:t>
            </a:r>
          </a:p>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しかし私の考えは逆で、むしろデータ収集こそが最も有利な出発点である。</a:t>
            </a:r>
          </a:p>
        </p:txBody>
      </p:sp>
      <p:sp>
        <p:nvSpPr>
          <p:cNvPr id="6" name="">
            <a:extLst xmlns:a="http://schemas.openxmlformats.org/drawingml/2006/main">
              <a:ext uri="{FF2B5EF4-FFF2-40B4-BE49-F238E27FC236}">
                <a16:creationId xmlns:a16="http://schemas.microsoft.com/office/drawing/2014/main" id="{7A78A06F-2EA3-430D-A3D9-AACA788B9649}"/>
              </a:ext>
            </a:extLst>
          </p:cNvPr>
          <p:cNvSpPr>
            <a:spLocks xmlns:a="http://schemas.openxmlformats.org/drawingml/2006/main" noGrp="1"/>
          </p:cNvSpPr>
          <p:nvPr/>
        </p:nvSpPr>
        <p:spPr>
          <a:xfrm xmlns:a="http://schemas.openxmlformats.org/drawingml/2006/main">
            <a:off x="723900" y="3286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09344E1-635F-4E4B-8C47-5D15C90DB0CC}"/>
              </a:ext>
            </a:extLst>
          </p:cNvPr>
          <p:cNvSpPr>
            <a:spLocks xmlns:a="http://schemas.openxmlformats.org/drawingml/2006/main" noGrp="1"/>
          </p:cNvSpPr>
          <p:nvPr/>
        </p:nvSpPr>
        <p:spPr>
          <a:xfrm xmlns:a="http://schemas.openxmlformats.org/drawingml/2006/main" rot="0">
            <a:off x="723900" y="36195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統合層が現場と直接接触するのは当然である。しかし、一番上流のデータ収集層の中でも、現場データの収集を行う企業は現場と直接接触する。データ収集のために現場へ入り、将来ロボットを導入する可能性がある現場と直接の関係を築く。</a:t>
            </a:r>
          </a:p>
        </p:txBody>
      </p:sp>
      <p:sp>
        <p:nvSpPr>
          <p:cNvPr id="8" name="">
            <a:extLst xmlns:a="http://schemas.openxmlformats.org/drawingml/2006/main">
              <a:ext uri="{FF2B5EF4-FFF2-40B4-BE49-F238E27FC236}">
                <a16:creationId xmlns:a16="http://schemas.microsoft.com/office/drawing/2014/main" id="{728F52A7-7838-4A9F-9CDB-0104DFDFEA09}"/>
              </a:ext>
            </a:extLst>
          </p:cNvPr>
          <p:cNvSpPr>
            <a:spLocks xmlns:a="http://schemas.openxmlformats.org/drawingml/2006/main" noGrp="1"/>
          </p:cNvSpPr>
          <p:nvPr/>
        </p:nvSpPr>
        <p:spPr>
          <a:xfrm xmlns:a="http://schemas.openxmlformats.org/drawingml/2006/main" rot="0">
            <a:off x="723900" y="5191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一般に、上流工程の企業が最下流の顧客と接することは珍しい。フィジカルAIでは現場の実データが不可欠であるため、上流と最下流が直接繋がる。</a:t>
            </a:r>
          </a:p>
        </p:txBody>
      </p:sp>
    </p:spTree>
    <p:extLst>
      <p:ext uri="{BB962C8B-B14F-4D97-AF65-F5344CB8AC3E}">
        <p14:creationId xmlns:p14="http://schemas.microsoft.com/office/powerpoint/2010/main" val="1211258047"/>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70CFA0-D73E-4B71-9D47-F0DBB28C136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195CE2-133C-41EF-BD87-2F05BEB0903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5688DDDC-587B-44CF-B3F5-2F1D22DE230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01C8D50-19C5-45B6-AA52-58C1E31B60E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F30822CA-54DD-4B3C-8056-407ADE30832E}"/>
              </a:ext>
            </a:extLst>
          </p:cNvPr>
          <p:cNvSpPr>
            <a:spLocks xmlns:a="http://schemas.openxmlformats.org/drawingml/2006/main" noGrp="1"/>
          </p:cNvSpPr>
          <p:nvPr/>
        </p:nvSpPr>
        <p:spPr>
          <a:xfrm xmlns:a="http://schemas.openxmlformats.org/drawingml/2006/main" rot="0">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DC062453-3531-43FD-A0BA-A15AD0773B56}"/>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814B224-6AFB-48C2-8E2C-2DA298F28AFC}"/>
              </a:ext>
            </a:extLst>
          </p:cNvPr>
          <p:cNvSpPr>
            <a:spLocks xmlns:a="http://schemas.openxmlformats.org/drawingml/2006/main" noGrp="1"/>
          </p:cNvSpPr>
          <p:nvPr/>
        </p:nvSpPr>
        <p:spPr>
          <a:xfrm xmlns:a="http://schemas.openxmlformats.org/drawingml/2006/main" rot="0">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1240139540"/>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BEDE59-4211-4566-8D82-4B051984826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3841B6-D100-499C-A606-37F10E8B963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24DF311D-90AA-4411-9710-C7BB14482FD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9B733ED-D3F7-4DAC-8117-7FF549550D0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B8BF1E8F-BED6-41E1-97EC-454BCD499613}"/>
              </a:ext>
            </a:extLst>
          </p:cNvPr>
          <p:cNvSpPr>
            <a:spLocks xmlns:a="http://schemas.openxmlformats.org/drawingml/2006/main" noGrp="1"/>
          </p:cNvSpPr>
          <p:nvPr/>
        </p:nvSpPr>
        <p:spPr>
          <a:xfrm xmlns:a="http://schemas.openxmlformats.org/drawingml/2006/main" rot="0">
            <a:off x="723900" y="2047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飲食、小売、製造、配送、建築、美容、農業。途方もない数の現場があるが、有限であることには変わりない。先にどれだけ多くの現場と繋がることができるかが重要である。</a:t>
            </a:r>
          </a:p>
        </p:txBody>
      </p:sp>
      <p:sp>
        <p:nvSpPr>
          <p:cNvPr id="6" name="">
            <a:extLst xmlns:a="http://schemas.openxmlformats.org/drawingml/2006/main">
              <a:ext uri="{FF2B5EF4-FFF2-40B4-BE49-F238E27FC236}">
                <a16:creationId xmlns:a16="http://schemas.microsoft.com/office/drawing/2014/main" id="{51ECA3AD-B008-4701-B3E6-9D8FA15613C4}"/>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F35C3EC-D851-44DD-9D2B-24B7C5B7F17F}"/>
              </a:ext>
            </a:extLst>
          </p:cNvPr>
          <p:cNvSpPr>
            <a:spLocks xmlns:a="http://schemas.openxmlformats.org/drawingml/2006/main" noGrp="1"/>
          </p:cNvSpPr>
          <p:nvPr/>
        </p:nvSpPr>
        <p:spPr>
          <a:xfrm xmlns:a="http://schemas.openxmlformats.org/drawingml/2006/main" rot="0">
            <a:off x="723900" y="3810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一つの現場が複数のデータ収集会社と契約することは考えにくい。撮影機材の管理、スタッフへの説明、プライバシーに関する合意など、一社と契約するだけでも現場側に相応の負担が発生するためである。</a:t>
            </a:r>
          </a:p>
        </p:txBody>
      </p:sp>
      <p:sp>
        <p:nvSpPr>
          <p:cNvPr id="8" name="">
            <a:extLst xmlns:a="http://schemas.openxmlformats.org/drawingml/2006/main">
              <a:ext uri="{FF2B5EF4-FFF2-40B4-BE49-F238E27FC236}">
                <a16:creationId xmlns:a16="http://schemas.microsoft.com/office/drawing/2014/main" id="{4274A503-2632-4E46-9DA7-1599FFC616FD}"/>
              </a:ext>
            </a:extLst>
          </p:cNvPr>
          <p:cNvSpPr>
            <a:spLocks xmlns:a="http://schemas.openxmlformats.org/drawingml/2006/main" noGrp="1"/>
          </p:cNvSpPr>
          <p:nvPr/>
        </p:nvSpPr>
        <p:spPr>
          <a:xfrm xmlns:a="http://schemas.openxmlformats.org/drawingml/2006/main" rot="0">
            <a:off x="7239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海外では急速に広まっている一方、日本ではまだほとんど浸透していない。</a:t>
            </a:r>
          </a:p>
        </p:txBody>
      </p:sp>
    </p:spTree>
    <p:extLst>
      <p:ext uri="{BB962C8B-B14F-4D97-AF65-F5344CB8AC3E}">
        <p14:creationId xmlns:p14="http://schemas.microsoft.com/office/powerpoint/2010/main" val="2092370169"/>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613423-6011-4ACA-ADC0-5A8EC6920C7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E27007-300D-42C9-AAFA-1C0E1B26474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現場ネットワークは、ロボット企業にとって不可欠になる</a:t>
            </a:r>
          </a:p>
        </p:txBody>
      </p:sp>
      <p:sp>
        <p:nvSpPr>
          <p:cNvPr id="3" name="">
            <a:extLst xmlns:a="http://schemas.openxmlformats.org/drawingml/2006/main">
              <a:ext uri="{FF2B5EF4-FFF2-40B4-BE49-F238E27FC236}">
                <a16:creationId xmlns:a16="http://schemas.microsoft.com/office/drawing/2014/main" id="{9F065C40-6694-40BE-854F-38BC2954C18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824B35-7917-4F13-97FF-657F2CD9FD0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1265AD4A-B0CB-4B61-AA22-02A10E600D16}"/>
              </a:ext>
            </a:extLst>
          </p:cNvPr>
          <p:cNvSpPr>
            <a:spLocks xmlns:a="http://schemas.openxmlformats.org/drawingml/2006/main" noGrp="1"/>
          </p:cNvSpPr>
          <p:nvPr/>
        </p:nvSpPr>
        <p:spPr>
          <a:xfrm xmlns:a="http://schemas.openxmlformats.org/drawingml/2006/main" rot="0">
            <a:off x="723900" y="20955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遅かれ早かれ、ロボット企業は最終的な顧客である現場のネットワークを取りに来る。現場を含めたフィードバックループを作ることが、最速の勝ち筋だからである。</a:t>
            </a:r>
          </a:p>
        </p:txBody>
      </p:sp>
      <p:sp>
        <p:nvSpPr>
          <p:cNvPr id="6" name="">
            <a:extLst xmlns:a="http://schemas.openxmlformats.org/drawingml/2006/main">
              <a:ext uri="{FF2B5EF4-FFF2-40B4-BE49-F238E27FC236}">
                <a16:creationId xmlns:a16="http://schemas.microsoft.com/office/drawing/2014/main" id="{858A97EF-4BD1-42B1-8110-81DEF24BE514}"/>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FDBAD5-5C6E-4AEB-948B-E0F7E4DA4449}"/>
              </a:ext>
            </a:extLst>
          </p:cNvPr>
          <p:cNvSpPr>
            <a:spLocks xmlns:a="http://schemas.openxmlformats.org/drawingml/2006/main" noGrp="1"/>
          </p:cNvSpPr>
          <p:nvPr/>
        </p:nvSpPr>
        <p:spPr>
          <a:xfrm xmlns:a="http://schemas.openxmlformats.org/drawingml/2006/main" rot="0">
            <a:off x="723900" y="38576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現場ネットワークを得るには、多業種にわたって様々な同意やコンプライアンス対応を積み重ねる必要がある。その積み重ねは、後発が容易に真似できない参入障壁になる。</a:t>
            </a:r>
          </a:p>
        </p:txBody>
      </p:sp>
      <p:sp>
        <p:nvSpPr>
          <p:cNvPr id="8" name="">
            <a:extLst xmlns:a="http://schemas.openxmlformats.org/drawingml/2006/main">
              <a:ext uri="{FF2B5EF4-FFF2-40B4-BE49-F238E27FC236}">
                <a16:creationId xmlns:a16="http://schemas.microsoft.com/office/drawing/2014/main" id="{77D2FD49-214F-4CBF-ACB3-64D48743DBDB}"/>
              </a:ext>
            </a:extLst>
          </p:cNvPr>
          <p:cNvSpPr>
            <a:spLocks xmlns:a="http://schemas.openxmlformats.org/drawingml/2006/main" noGrp="1"/>
          </p:cNvSpPr>
          <p:nvPr/>
        </p:nvSpPr>
        <p:spPr>
          <a:xfrm xmlns:a="http://schemas.openxmlformats.org/drawingml/2006/main" rot="0">
            <a:off x="723900" y="5334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データだけでなく、現場との関係と、現場へ入り続けるための運用が蓄積される。</a:t>
            </a:r>
          </a:p>
        </p:txBody>
      </p:sp>
    </p:spTree>
    <p:extLst>
      <p:ext uri="{BB962C8B-B14F-4D97-AF65-F5344CB8AC3E}">
        <p14:creationId xmlns:p14="http://schemas.microsoft.com/office/powerpoint/2010/main" val="1390699470"/>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06A679-9D20-47F6-A97F-00032082EE1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8B9117-ABC5-42FB-8CB5-1BCC83BEDF5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5E130687-5291-40F6-97D7-AEE8E28C9D2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355B5FA-CC83-4D05-8659-C1B3D2EDB33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12E39633-BC67-41D5-B67E-F1535F4BC00C}"/>
              </a:ext>
            </a:extLst>
          </p:cNvPr>
          <p:cNvSpPr>
            <a:spLocks xmlns:a="http://schemas.openxmlformats.org/drawingml/2006/main" noGrp="1"/>
          </p:cNvSpPr>
          <p:nvPr/>
        </p:nvSpPr>
        <p:spPr>
          <a:xfrm xmlns:a="http://schemas.openxmlformats.org/drawingml/2006/main" rot="0">
            <a:off x="723900" y="20002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ロボットを各現場へ導入するには、導入判断や導入後の調整のために、既存の人間のワークフローを詳細に把握する必要がある。現場データを収集済みであれば、ロボット企業は一からワークフロー調査をやり直す必要がない。</a:t>
            </a:r>
          </a:p>
        </p:txBody>
      </p:sp>
      <p:sp>
        <p:nvSpPr>
          <p:cNvPr id="6" name="">
            <a:extLst xmlns:a="http://schemas.openxmlformats.org/drawingml/2006/main">
              <a:ext uri="{FF2B5EF4-FFF2-40B4-BE49-F238E27FC236}">
                <a16:creationId xmlns:a16="http://schemas.microsoft.com/office/drawing/2014/main" id="{9E3DA3D3-E9EF-43E8-8B5C-404B871AD6CE}"/>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B39B408-A170-4155-8703-BA178ED0F7EC}"/>
              </a:ext>
            </a:extLst>
          </p:cNvPr>
          <p:cNvSpPr>
            <a:spLocks xmlns:a="http://schemas.openxmlformats.org/drawingml/2006/main" noGrp="1"/>
          </p:cNvSpPr>
          <p:nvPr/>
        </p:nvSpPr>
        <p:spPr>
          <a:xfrm xmlns:a="http://schemas.openxmlformats.org/drawingml/2006/main" rot="0">
            <a:off x="723900" y="40481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そのため、協業の相手として自然に選ばれる立場になる。さらに、他のロボット企業の動きを待つまでもなく、自分たち自身がロボットの現場統合に乗り出せる。</a:t>
            </a:r>
          </a:p>
        </p:txBody>
      </p:sp>
      <p:sp>
        <p:nvSpPr>
          <p:cNvPr id="8" name="">
            <a:extLst xmlns:a="http://schemas.openxmlformats.org/drawingml/2006/main">
              <a:ext uri="{FF2B5EF4-FFF2-40B4-BE49-F238E27FC236}">
                <a16:creationId xmlns:a16="http://schemas.microsoft.com/office/drawing/2014/main" id="{951E5ACE-832E-4F09-9FCA-6B75A0BAB108}"/>
              </a:ext>
            </a:extLst>
          </p:cNvPr>
          <p:cNvSpPr>
            <a:spLocks xmlns:a="http://schemas.openxmlformats.org/drawingml/2006/main" noGrp="1"/>
          </p:cNvSpPr>
          <p:nvPr/>
        </p:nvSpPr>
        <p:spPr>
          <a:xfrm xmlns:a="http://schemas.openxmlformats.org/drawingml/2006/main" rot="0">
            <a:off x="723900" y="538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現場データ収集から始めた企業が、最終的には現場統合を行う企業へと進化できる。これが私たちの長期的な構想である。</a:t>
            </a:r>
          </a:p>
        </p:txBody>
      </p:sp>
    </p:spTree>
    <p:extLst>
      <p:ext uri="{BB962C8B-B14F-4D97-AF65-F5344CB8AC3E}">
        <p14:creationId xmlns:p14="http://schemas.microsoft.com/office/powerpoint/2010/main" val="597352219"/>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BF1B0E9-D40D-44ED-80C7-1F9BED4F5F2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947DB4-DD0E-4A7E-91F1-160CC2CAB85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96B07CAB-13B0-4BCD-8CFC-9D0365EB0C2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54C3A0-4B04-4A73-A78C-E384197DF33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1C3F2A29-D007-479F-879E-FDB9C125EE3F}"/>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6DAA9A38-9797-49DC-BFAB-C8FE6AFF2B81}"/>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0CE2EA27-9736-45B7-AE79-8BB25732B4E8}"/>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B65EB928-5312-4916-8C50-1CA66BAF7A99}"/>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6023261-B83A-41D6-82BE-CBADDA3E8AEF}"/>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4EF1A4E1-A959-41A3-B08C-D566718E78CE}"/>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02DD4327-B54C-4F3D-A065-BD86DC8288EB}"/>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726225DC-C185-4B66-897A-054EC77696C1}"/>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419082962"/>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C029B39-32BC-4ECA-9E78-8B01E83FE2B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1DF109-A813-4D7E-B5B9-018EB46E2A5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BF1A0DEF-2363-4526-9248-87037E0AE4D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75D49E-AEA0-484D-B9A9-0EB2E30E81B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820D3A83-60E6-452D-A813-14BDACDAC0D3}"/>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6BCCE77C-7EE9-453B-86BE-EA9859B95A11}"/>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D2C84DDF-8102-4852-BB74-8B284A121F76}"/>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FE4FFADE-0C25-4160-BFA2-2C9D1579B724}"/>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BFBA41FB-9F39-4D86-90CE-E7EFEA1A9832}"/>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A01AFFD6-3DE5-4288-B0AA-6A8C6CB8B4A2}"/>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0409C448-E922-4691-AC55-2882761ED626}"/>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713316B-49C3-4247-9187-392E8CEE064E}"/>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3A5F0497-743D-403C-93C4-35CD99986F26}"/>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30026FE9-E9E5-4FC5-920A-EE2FD7B52D9C}"/>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FAC7F612-0977-48B1-9CAA-BBE1BE9ED6F5}"/>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114B687F-FEEA-4273-8FD4-0E6009FB12C6}"/>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64D1F51D-E99F-4936-BDED-614AE78113ED}"/>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7E40EB5-211C-4687-B308-EF4A0C39C259}"/>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E1BCBFA-6B2B-4F48-B83E-09377B891C24}"/>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90B6C4DD-B1BB-46EF-B95F-4BB79BCC783C}"/>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CC632461-6389-4B2E-91A6-2A4609E12594}"/>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DA2BF75-A9D2-46AC-90C3-709B88C31EAA}"/>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722635808"/>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6D265B8-A63A-4D8C-B292-4DFF921EDC2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E98BDC-7080-4F96-943A-FD300A2384C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56CC11A1-7B88-4BFC-801B-3A76299F646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A3E1FB0-E590-405D-98E1-DAE9104397A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D20DC846-617E-4ABE-9690-714F886D65E0}"/>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2FBC5C8F-3DD7-49A3-A690-2AD8632D5490}"/>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BC44BB9D-9642-42EF-A955-1FA250FF3F2C}"/>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EB1BAB6-B191-473F-852F-5ECCB1AF53C6}"/>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7C38A9ED-E6A3-4D2F-960A-D7C50E1C6EF1}"/>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D2183E41-C270-42B5-8C89-919414AB3C57}"/>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F29B746-C9A3-4354-A957-336AC1FAA725}"/>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9C91933D-291B-48DB-804A-957AA0164B22}"/>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2FE57ACB-757B-40C5-8FCD-5A94A1EDDDE4}"/>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681C01D-71C5-46A5-A707-E0E1AAC09FE9}"/>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9D92A3D7-9886-48D8-A925-FBCC6554C241}"/>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EFB3BF9A-B425-4505-A2E2-C3BD05FAB49A}"/>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4FD259B-BBA0-42B4-90EC-40D2795BE3EB}"/>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52B98B06-129B-4132-8393-E72CC5DE3077}"/>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657899305"/>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677FB5-FBF0-4C33-BC6B-1FD6A1F4829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956EBF-7EB7-4D47-BD8E-12108F2A723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C1003800-27F1-44FA-BE18-64A833CEE4C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5FF6A2-221D-4D8E-B238-2B4C8EE0C3C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42898222-1089-4CA3-B2C4-E83745A6EADE}"/>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0EB9080D-A4C8-4CF2-8A30-C99C2AAAE28B}"/>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1BD9FAA9-BCA4-4EA6-A3CB-F3C126646E3D}"/>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F243177-9DB4-4005-BD08-AE265F82F00F}"/>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631A3EF5-7C0F-4C75-9ECE-1D6779AD12A6}"/>
              </a:ext>
            </a:extLst>
          </p:cNvPr>
          <p:cNvSpPr>
            <a:spLocks xmlns:a="http://schemas.openxmlformats.org/drawingml/2006/main" noGrp="1"/>
          </p:cNvSpPr>
          <p:nvPr/>
        </p:nvSpPr>
        <p:spPr>
          <a:xfrm xmlns:a="http://schemas.openxmlformats.org/drawingml/2006/main" rot="0">
            <a:off x="723900" y="4572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Nextremerを通すことで、高度なアノテーション付きデータを求める販売先や、ロボット実装に近い下流の顧客へ接続でき、当社単独より高い単価を狙える。</a:t>
            </a:r>
          </a:p>
        </p:txBody>
      </p:sp>
      <p:sp>
        <p:nvSpPr>
          <p:cNvPr id="10" name="">
            <a:extLst xmlns:a="http://schemas.openxmlformats.org/drawingml/2006/main">
              <a:ext uri="{FF2B5EF4-FFF2-40B4-BE49-F238E27FC236}">
                <a16:creationId xmlns:a16="http://schemas.microsoft.com/office/drawing/2014/main" id="{284D337B-35C2-439D-8F5B-C5F8B74844C2}"/>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手数料なしのレベニューシェアで、当社は現場開拓とデータ収集に注力できる。</a:t>
            </a:r>
          </a:p>
        </p:txBody>
      </p:sp>
    </p:spTree>
    <p:extLst>
      <p:ext uri="{BB962C8B-B14F-4D97-AF65-F5344CB8AC3E}">
        <p14:creationId xmlns:p14="http://schemas.microsoft.com/office/powerpoint/2010/main" val="460988974"/>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7CAE6F7-3475-420F-8C94-83EC274AEE2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43ACF8-4781-4CAF-89C5-FD09DF22712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9D666AF5-2062-499B-BEAE-B178A2E0CB5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99D5A8-7B06-40A7-A4F4-C5C8E6AA810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57D47C67-8868-4FFA-A0B4-DA78E26B4D5F}"/>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07C96CC9-C91B-4F8C-85E3-B764BDC70F64}"/>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FCA6437B-AF8C-4023-88AC-3F95F3D759EC}"/>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E109266-1288-4747-8DB2-7AC8E7F0BAA6}"/>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0504E2C4-A94E-4E23-AF07-95A9F75260E4}"/>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7D03CBBC-2E0C-408A-B266-2F577DB1E6C8}"/>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82D4F0B-1988-4D0C-8361-0D74DC9995C8}"/>
              </a:ext>
            </a:extLst>
          </p:cNvPr>
          <p:cNvSpPr>
            <a:spLocks xmlns:a="http://schemas.openxmlformats.org/drawingml/2006/main" noGrp="1"/>
          </p:cNvSpPr>
          <p:nvPr/>
        </p:nvSpPr>
        <p:spPr>
          <a:xfrm xmlns:a="http://schemas.openxmlformats.org/drawingml/2006/main" rot="0">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51A3229B-07BC-49C2-8F52-B06584AB3CEB}"/>
              </a:ext>
            </a:extLst>
          </p:cNvPr>
          <p:cNvSpPr>
            <a:spLocks xmlns:a="http://schemas.openxmlformats.org/drawingml/2006/main" noGrp="1"/>
          </p:cNvSpPr>
          <p:nvPr/>
        </p:nvSpPr>
        <p:spPr>
          <a:xfrm xmlns:a="http://schemas.openxmlformats.org/drawingml/2006/main" rot="0">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D8A22891-BABC-4B29-A686-7106811E1752}"/>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EE27A12-2F9F-4A72-97F0-59BFF5045EC7}"/>
              </a:ext>
            </a:extLst>
          </p:cNvPr>
          <p:cNvSpPr>
            <a:spLocks xmlns:a="http://schemas.openxmlformats.org/drawingml/2006/main" noGrp="1"/>
          </p:cNvSpPr>
          <p:nvPr/>
        </p:nvSpPr>
        <p:spPr>
          <a:xfrm xmlns:a="http://schemas.openxmlformats.org/drawingml/2006/main" rot="0">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132E8D36-3A54-4276-B11B-9FD33A5DEAE3}"/>
              </a:ext>
            </a:extLst>
          </p:cNvPr>
          <p:cNvSpPr>
            <a:spLocks xmlns:a="http://schemas.openxmlformats.org/drawingml/2006/main" noGrp="1"/>
          </p:cNvSpPr>
          <p:nvPr/>
        </p:nvSpPr>
        <p:spPr>
          <a:xfrm xmlns:a="http://schemas.openxmlformats.org/drawingml/2006/main" rot="0">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2145706743"/>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7445B5-A29F-47D2-B3FB-15BD5E5EE51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8A1180-B653-4671-9E94-E34BF08FB8F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5DA9493E-BA22-4183-8B40-F043E242064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E09D2B-864A-4C8A-92AF-6336901FFD4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8d0fed9cd6d4712"/>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2C170E-1C12-4404-9DE7-67484E91A2D8}"/>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F9B0BCB8-B335-41D4-B635-BB11284AD14D}"/>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65DDCED9-85D9-424B-8FD8-F53392E1D2F6}"/>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0b253c009c7402c"/>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02F15F5-3EB3-41CB-9EA8-531065B096DB}"/>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5B7AC2B0-4260-4A5D-9579-F5B77D73D524}"/>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2398175F-26E4-4A2D-A21B-7B608602FD98}"/>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6073a087c9946c1"/>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82E36EA-557B-440B-BB81-C770DF219A07}"/>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498B8888-BFD0-426D-86D7-D30DDC22EE7F}"/>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C7E62DEF-97E5-4A36-AF9B-E6B99C08460C}"/>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34B04E62-EAF9-4479-93D4-58E0B6316548}"/>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5F87951-0FD3-4BB4-8E6C-FACCFA9BF4EB}"/>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335452677"/>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2A9AB0-5A33-4805-AB62-5CE1A053337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37B225-3CDC-4DB7-87C8-8921405E895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C2C9AFB6-7E8A-43A7-879B-A6B1DEC02FD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D6AA369-E7FA-428C-82B9-DFFE43531A9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23AD63A8-3D88-48A3-BEED-7A0C3B4455B5}"/>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110時間/月（中間シナリオ）</a:t>
            </a:r>
          </a:p>
        </p:txBody>
      </p:sp>
    </p:spTree>
    <p:extLst>
      <p:ext uri="{BB962C8B-B14F-4D97-AF65-F5344CB8AC3E}">
        <p14:creationId xmlns:p14="http://schemas.microsoft.com/office/powerpoint/2010/main" val="836265915"/>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1C1F6F-5434-46EB-91E4-8579E6B91F0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84BC68-1C89-407E-B207-E53A444232E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CA2B19EC-4CD9-48F2-AC3E-CC9A5E63749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B63A31-AAF2-45E7-9904-71B237A03FA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0A28DA0-36FB-4093-B456-5C149C53AE23}"/>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月10,000時間を12か月継続：会社取り分9,600万円、デバイス償却後約8,726万円。</a:t>
            </a:r>
          </a:p>
        </p:txBody>
      </p:sp>
      <p:sp>
        <p:nvSpPr>
          <p:cNvPr id="7" name="">
            <a:extLst xmlns:a="http://schemas.openxmlformats.org/drawingml/2006/main">
              <a:ext uri="{FF2B5EF4-FFF2-40B4-BE49-F238E27FC236}">
                <a16:creationId xmlns:a16="http://schemas.microsoft.com/office/drawing/2014/main" id="{3F95EA8F-0E61-4834-8A4A-9084593E6698}"/>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1634916741"/>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43ECB67-1BCB-4426-BD35-2229111A84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AB0E06-B5BE-4A89-B170-1D9D3D0861F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8BB7A190-F3F7-47C4-A39A-4E2DA23135B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036EA23-6E26-4E21-A1D0-50BBED7F6FA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F891B0C0-9EB8-4350-8001-070E7890354A}"/>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9FA9272A-73F0-4888-87B0-71E1CE917A08}"/>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2CE8AC61-D649-4CD4-B5C7-38097AE1534C}"/>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7F68759-B263-4509-9919-E325530EE5E3}"/>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87EC5DEB-3817-45A5-B9E7-A7D7F75D4B90}"/>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F20183C2-0CC6-4E1B-AB85-D02F381A0F11}"/>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DFC10F6-7E3B-4DED-92A6-573D92406FA5}"/>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AB4C0258-5FD5-44C4-9E47-3CBF804E3DF2}"/>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97F8D54A-2B10-477D-B1F0-2584B6ECD513}"/>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7E6FE2F-4B17-4549-BE91-981C2886CE07}"/>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61B5638A-6EE1-474E-AA00-F60DC7A7DF1E}"/>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140362534"/>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ABF208-817B-4FBD-B652-1C038089159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E35B5D-9EB9-4F73-B13E-45103A9C54C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DC64C9AE-27AD-4529-B962-4293F07E556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98B30C9-4F03-4C4C-AFB3-5F47F3ACF77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251DB5B9-8E88-46BF-8E49-7A59F47922E9}"/>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07C9E31D-D408-4183-908D-1D6EF41E4934}"/>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5AEB6C8F-1464-43BB-9409-0DC57CA33E01}"/>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5D3171A-3060-4B0B-A20F-BFC5CEA87775}"/>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B924F987-EB63-4C3F-AADA-D4EADBE1E9D6}"/>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A5BF1D06-3D24-4B60-BCE4-CEEC28B67D3B}"/>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486CE96-C580-4C31-A7FB-DEBDEC65EBAB}"/>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5062FE7E-3125-4D6A-9545-EF7E50219C18}"/>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7F49617B-F46C-4D02-B672-0FFD820A815B}"/>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48784980"/>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C394089-4659-4A16-B071-868B9C55515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BF804A-7F73-4423-A022-AD23FAB8936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E1B01F07-A29B-471D-8816-C45E4B27B63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7027D2-57E6-432B-9F47-D6FB55E7EAD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EC3F7F6A-663D-40B4-BB28-2E18B6308FAC}"/>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10月｜月間500時間</a:t>
            </a:r>
          </a:p>
        </p:txBody>
      </p:sp>
      <p:sp>
        <p:nvSpPr>
          <p:cNvPr id="6" name="">
            <a:extLst xmlns:a="http://schemas.openxmlformats.org/drawingml/2006/main">
              <a:ext uri="{FF2B5EF4-FFF2-40B4-BE49-F238E27FC236}">
                <a16:creationId xmlns:a16="http://schemas.microsoft.com/office/drawing/2014/main" id="{8AE63BCA-31F8-49A2-AD22-44432F0CE20E}"/>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飲食店のネットワークで月間500時間。Nextremerとの合意と格納開始。海外販売先へ再度提供を打診し、撮影デバイス設計で協働できる企業へアプローチ。</a:t>
            </a:r>
          </a:p>
        </p:txBody>
      </p:sp>
      <p:sp>
        <p:nvSpPr>
          <p:cNvPr id="7" name="">
            <a:extLst xmlns:a="http://schemas.openxmlformats.org/drawingml/2006/main">
              <a:ext uri="{FF2B5EF4-FFF2-40B4-BE49-F238E27FC236}">
                <a16:creationId xmlns:a16="http://schemas.microsoft.com/office/drawing/2014/main" id="{9345CF22-897F-49F3-9D2C-52EBF0F948FA}"/>
              </a:ext>
            </a:extLst>
          </p:cNvPr>
          <p:cNvSpPr>
            <a:spLocks xmlns:a="http://schemas.openxmlformats.org/drawingml/2006/main" noGrp="1"/>
          </p:cNvSpPr>
          <p:nvPr/>
        </p:nvSpPr>
        <p:spPr>
          <a:xfrm xmlns:a="http://schemas.openxmlformats.org/drawingml/2006/main">
            <a:off x="723900" y="2857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FB391B2-0A7B-4363-8047-75C873E8C05E}"/>
              </a:ext>
            </a:extLst>
          </p:cNvPr>
          <p:cNvSpPr>
            <a:spLocks xmlns:a="http://schemas.openxmlformats.org/drawingml/2006/main" noGrp="1"/>
          </p:cNvSpPr>
          <p:nvPr/>
        </p:nvSpPr>
        <p:spPr>
          <a:xfrm xmlns:a="http://schemas.openxmlformats.org/drawingml/2006/main" rot="0">
            <a:off x="723900" y="3048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11月｜500時間を維持</a:t>
            </a:r>
          </a:p>
        </p:txBody>
      </p:sp>
      <p:sp>
        <p:nvSpPr>
          <p:cNvPr id="9" name="">
            <a:extLst xmlns:a="http://schemas.openxmlformats.org/drawingml/2006/main">
              <a:ext uri="{FF2B5EF4-FFF2-40B4-BE49-F238E27FC236}">
                <a16:creationId xmlns:a16="http://schemas.microsoft.com/office/drawing/2014/main" id="{7F479D4E-852A-4F5B-A19E-393ED31D9761}"/>
              </a:ext>
            </a:extLst>
          </p:cNvPr>
          <p:cNvSpPr>
            <a:spLocks xmlns:a="http://schemas.openxmlformats.org/drawingml/2006/main" noGrp="1"/>
          </p:cNvSpPr>
          <p:nvPr/>
        </p:nvSpPr>
        <p:spPr>
          <a:xfrm xmlns:a="http://schemas.openxmlformats.org/drawingml/2006/main" rot="0">
            <a:off x="3714750" y="30289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撮影中の現場を可能な限り訪問し、不都合や拡大時の懸念を洗い出す。合意フローとデータ取扱いを法務チェック。</a:t>
            </a:r>
          </a:p>
        </p:txBody>
      </p:sp>
      <p:sp>
        <p:nvSpPr>
          <p:cNvPr id="10" name="">
            <a:extLst xmlns:a="http://schemas.openxmlformats.org/drawingml/2006/main">
              <a:ext uri="{FF2B5EF4-FFF2-40B4-BE49-F238E27FC236}">
                <a16:creationId xmlns:a16="http://schemas.microsoft.com/office/drawing/2014/main" id="{150C824F-E397-4D29-8957-BD93D618C755}"/>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3C4870E-FC66-4608-B729-38F541A1D80E}"/>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12月｜月間1,000時間</a:t>
            </a:r>
          </a:p>
        </p:txBody>
      </p:sp>
      <p:sp>
        <p:nvSpPr>
          <p:cNvPr id="12" name="">
            <a:extLst xmlns:a="http://schemas.openxmlformats.org/drawingml/2006/main">
              <a:ext uri="{FF2B5EF4-FFF2-40B4-BE49-F238E27FC236}">
                <a16:creationId xmlns:a16="http://schemas.microsoft.com/office/drawing/2014/main" id="{B6B721A1-93A8-472D-83EB-E32F9F619ECF}"/>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既存現場からの紹介、SNSのDM・投稿で日本中の撮影先へアプローチ。飲食・小売業界を中心に拡大する。</a:t>
            </a:r>
          </a:p>
        </p:txBody>
      </p:sp>
      <p:sp>
        <p:nvSpPr>
          <p:cNvPr id="13" name="">
            <a:extLst xmlns:a="http://schemas.openxmlformats.org/drawingml/2006/main">
              <a:ext uri="{FF2B5EF4-FFF2-40B4-BE49-F238E27FC236}">
                <a16:creationId xmlns:a16="http://schemas.microsoft.com/office/drawing/2014/main" id="{3B7A80A7-E09E-45EE-A7A2-8CA60BA67B8A}"/>
              </a:ext>
            </a:extLst>
          </p:cNvPr>
          <p:cNvSpPr>
            <a:spLocks xmlns:a="http://schemas.openxmlformats.org/drawingml/2006/main" noGrp="1"/>
          </p:cNvSpPr>
          <p:nvPr/>
        </p:nvSpPr>
        <p:spPr>
          <a:xfrm xmlns:a="http://schemas.openxmlformats.org/drawingml/2006/main">
            <a:off x="723900" y="5238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572054572"/>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3006B1F-D93A-45BF-B53C-3271F8CC518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CD0E45-ECCE-4990-B522-B8CAF558EE6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CD82D351-7720-475B-9B61-19A14D1EB82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630CE9-A814-4DBB-ADE9-66E500F9F00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08AB012C-B7E4-4BD9-BBB3-41738D64F4F8}"/>
              </a:ext>
            </a:extLst>
          </p:cNvPr>
          <p:cNvSpPr>
            <a:spLocks xmlns:a="http://schemas.openxmlformats.org/drawingml/2006/main" noGrp="1"/>
          </p:cNvSpPr>
          <p:nvPr/>
        </p:nvSpPr>
        <p:spPr>
          <a:xfrm xmlns:a="http://schemas.openxmlformats.org/drawingml/2006/main" rot="0">
            <a:off x="723900" y="1666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Q1</a:t>
            </a:r>
          </a:p>
        </p:txBody>
      </p:sp>
      <p:sp>
        <p:nvSpPr>
          <p:cNvPr id="6" name="">
            <a:extLst xmlns:a="http://schemas.openxmlformats.org/drawingml/2006/main">
              <a:ext uri="{FF2B5EF4-FFF2-40B4-BE49-F238E27FC236}">
                <a16:creationId xmlns:a16="http://schemas.microsoft.com/office/drawing/2014/main" id="{6BC04880-5C22-4386-9532-19728FCA60B1}"/>
              </a:ext>
            </a:extLst>
          </p:cNvPr>
          <p:cNvSpPr>
            <a:spLocks xmlns:a="http://schemas.openxmlformats.org/drawingml/2006/main" noGrp="1"/>
          </p:cNvSpPr>
          <p:nvPr/>
        </p:nvSpPr>
        <p:spPr>
          <a:xfrm xmlns:a="http://schemas.openxmlformats.org/drawingml/2006/main" rot="0">
            <a:off x="3714750" y="1647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利益に応じて撮影機材を増やし、宿泊・リフォーム・清掃へ撮影先を拡大。デバイス開発と意匠・特許取得に向けた準備・出願。</a:t>
            </a:r>
          </a:p>
        </p:txBody>
      </p:sp>
      <p:sp>
        <p:nvSpPr>
          <p:cNvPr id="7" name="">
            <a:extLst xmlns:a="http://schemas.openxmlformats.org/drawingml/2006/main">
              <a:ext uri="{FF2B5EF4-FFF2-40B4-BE49-F238E27FC236}">
                <a16:creationId xmlns:a16="http://schemas.microsoft.com/office/drawing/2014/main" id="{7C9568EB-BA98-4638-BDBD-17686971B45E}"/>
              </a:ext>
            </a:extLst>
          </p:cNvPr>
          <p:cNvSpPr>
            <a:spLocks xmlns:a="http://schemas.openxmlformats.org/drawingml/2006/main" noGrp="1"/>
          </p:cNvSpPr>
          <p:nvPr/>
        </p:nvSpPr>
        <p:spPr>
          <a:xfrm xmlns:a="http://schemas.openxmlformats.org/drawingml/2006/main">
            <a:off x="723900" y="2524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BB3E1C0-6E99-4603-8E34-E6AEEC9E344E}"/>
              </a:ext>
            </a:extLst>
          </p:cNvPr>
          <p:cNvSpPr>
            <a:spLocks xmlns:a="http://schemas.openxmlformats.org/drawingml/2006/main" noGrp="1"/>
          </p:cNvSpPr>
          <p:nvPr/>
        </p:nvSpPr>
        <p:spPr>
          <a:xfrm xmlns:a="http://schemas.openxmlformats.org/drawingml/2006/main" rot="0">
            <a:off x="723900" y="2619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Q2</a:t>
            </a:r>
          </a:p>
        </p:txBody>
      </p:sp>
      <p:sp>
        <p:nvSpPr>
          <p:cNvPr id="9" name="">
            <a:extLst xmlns:a="http://schemas.openxmlformats.org/drawingml/2006/main">
              <a:ext uri="{FF2B5EF4-FFF2-40B4-BE49-F238E27FC236}">
                <a16:creationId xmlns:a16="http://schemas.microsoft.com/office/drawing/2014/main" id="{9F5ED136-37BA-4505-BA2A-0D4E8FA43ECC}"/>
              </a:ext>
            </a:extLst>
          </p:cNvPr>
          <p:cNvSpPr>
            <a:spLocks xmlns:a="http://schemas.openxmlformats.org/drawingml/2006/main" noGrp="1"/>
          </p:cNvSpPr>
          <p:nvPr/>
        </p:nvSpPr>
        <p:spPr>
          <a:xfrm xmlns:a="http://schemas.openxmlformats.org/drawingml/2006/main" rot="0">
            <a:off x="3714750" y="2600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介護・医療へ撮影先を拡大。国内ロボット企業等と、プライバシー性の高い現場データを外部流出リスクを管理しながら活用する仕組みを構築。</a:t>
            </a:r>
          </a:p>
        </p:txBody>
      </p:sp>
      <p:sp>
        <p:nvSpPr>
          <p:cNvPr id="10" name="">
            <a:extLst xmlns:a="http://schemas.openxmlformats.org/drawingml/2006/main">
              <a:ext uri="{FF2B5EF4-FFF2-40B4-BE49-F238E27FC236}">
                <a16:creationId xmlns:a16="http://schemas.microsoft.com/office/drawing/2014/main" id="{47FCD459-6156-43AE-8FB8-FF5026D77621}"/>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956FBC2-DD8E-472D-8D88-0762656118F4}"/>
              </a:ext>
            </a:extLst>
          </p:cNvPr>
          <p:cNvSpPr>
            <a:spLocks xmlns:a="http://schemas.openxmlformats.org/drawingml/2006/main" noGrp="1"/>
          </p:cNvSpPr>
          <p:nvPr/>
        </p:nvSpPr>
        <p:spPr>
          <a:xfrm xmlns:a="http://schemas.openxmlformats.org/drawingml/2006/main" rot="0">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Q3</a:t>
            </a:r>
          </a:p>
        </p:txBody>
      </p:sp>
      <p:sp>
        <p:nvSpPr>
          <p:cNvPr id="12" name="">
            <a:extLst xmlns:a="http://schemas.openxmlformats.org/drawingml/2006/main">
              <a:ext uri="{FF2B5EF4-FFF2-40B4-BE49-F238E27FC236}">
                <a16:creationId xmlns:a16="http://schemas.microsoft.com/office/drawing/2014/main" id="{41F95CD6-C25C-4149-A621-6CB3240085D3}"/>
              </a:ext>
            </a:extLst>
          </p:cNvPr>
          <p:cNvSpPr>
            <a:spLocks xmlns:a="http://schemas.openxmlformats.org/drawingml/2006/main" noGrp="1"/>
          </p:cNvSpPr>
          <p:nvPr/>
        </p:nvSpPr>
        <p:spPr>
          <a:xfrm xmlns:a="http://schemas.openxmlformats.org/drawingml/2006/main" rot="0">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撮影先を拡大。国内の垂直統合型ロボティクス企業、政府プロジェクトなどへ現場データ収集を打診。</a:t>
            </a:r>
          </a:p>
        </p:txBody>
      </p:sp>
      <p:sp>
        <p:nvSpPr>
          <p:cNvPr id="13" name="">
            <a:extLst xmlns:a="http://schemas.openxmlformats.org/drawingml/2006/main">
              <a:ext uri="{FF2B5EF4-FFF2-40B4-BE49-F238E27FC236}">
                <a16:creationId xmlns:a16="http://schemas.microsoft.com/office/drawing/2014/main" id="{75DAF690-74D7-4EE8-AF55-0C16E1104A51}"/>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DC6623C-FFF7-4048-A03D-50368FF56F35}"/>
              </a:ext>
            </a:extLst>
          </p:cNvPr>
          <p:cNvSpPr>
            <a:spLocks xmlns:a="http://schemas.openxmlformats.org/drawingml/2006/main" noGrp="1"/>
          </p:cNvSpPr>
          <p:nvPr/>
        </p:nvSpPr>
        <p:spPr>
          <a:xfrm xmlns:a="http://schemas.openxmlformats.org/drawingml/2006/main" rot="0">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B7E81180-FDAD-40C2-A4CA-9CCB8BF57695}"/>
              </a:ext>
            </a:extLst>
          </p:cNvPr>
          <p:cNvSpPr>
            <a:spLocks xmlns:a="http://schemas.openxmlformats.org/drawingml/2006/main" noGrp="1"/>
          </p:cNvSpPr>
          <p:nvPr/>
        </p:nvSpPr>
        <p:spPr>
          <a:xfrm xmlns:a="http://schemas.openxmlformats.org/drawingml/2006/main" rot="0">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撮影先を拡大。蓄積したデータを元に国内大学と提携し、AIモデル開発と現場環境のReal2Sim等の研究開発を開始。</a:t>
            </a:r>
          </a:p>
        </p:txBody>
      </p:sp>
    </p:spTree>
    <p:extLst>
      <p:ext uri="{BB962C8B-B14F-4D97-AF65-F5344CB8AC3E}">
        <p14:creationId xmlns:p14="http://schemas.microsoft.com/office/powerpoint/2010/main" val="1833427567"/>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9B1C36D-7CE6-424B-B600-EE6F7C26712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EC0184-09BD-4098-BD17-42A10672302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5333DD9F-42D6-4D82-BFDA-EE8848A40D7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77FCF80-1ED7-4DA7-993D-01B9B7ACAAA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8DE4AB86-BAF9-4A40-9542-B0CE976E3235}"/>
              </a:ext>
            </a:extLst>
          </p:cNvPr>
          <p:cNvSpPr>
            <a:spLocks xmlns:a="http://schemas.openxmlformats.org/drawingml/2006/main" noGrp="1"/>
          </p:cNvSpPr>
          <p:nvPr/>
        </p:nvSpPr>
        <p:spPr>
          <a:xfrm xmlns:a="http://schemas.openxmlformats.org/drawingml/2006/main" rot="0">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Q1〜Q2</a:t>
            </a:r>
          </a:p>
        </p:txBody>
      </p:sp>
      <p:sp>
        <p:nvSpPr>
          <p:cNvPr id="6" name="">
            <a:extLst xmlns:a="http://schemas.openxmlformats.org/drawingml/2006/main">
              <a:ext uri="{FF2B5EF4-FFF2-40B4-BE49-F238E27FC236}">
                <a16:creationId xmlns:a16="http://schemas.microsoft.com/office/drawing/2014/main" id="{96192231-14B6-425D-B2D6-981DA932656B}"/>
              </a:ext>
            </a:extLst>
          </p:cNvPr>
          <p:cNvSpPr>
            <a:spLocks xmlns:a="http://schemas.openxmlformats.org/drawingml/2006/main" noGrp="1"/>
          </p:cNvSpPr>
          <p:nvPr/>
        </p:nvSpPr>
        <p:spPr>
          <a:xfrm xmlns:a="http://schemas.openxmlformats.org/drawingml/2006/main" rot="0">
            <a:off x="723900" y="242887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撮影先と現場実装先を拡大する。ロボット企業と、ロボットの実証実験を行える現場のマッチングを開始する。大学と提携して行う研究についても、現場のマッチングを実施する。</a:t>
            </a:r>
          </a:p>
        </p:txBody>
      </p:sp>
      <p:sp>
        <p:nvSpPr>
          <p:cNvPr id="7" name="">
            <a:extLst xmlns:a="http://schemas.openxmlformats.org/drawingml/2006/main">
              <a:ext uri="{FF2B5EF4-FFF2-40B4-BE49-F238E27FC236}">
                <a16:creationId xmlns:a16="http://schemas.microsoft.com/office/drawing/2014/main" id="{DFA0685E-518A-4F25-AF0B-27E5DD42A28D}"/>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682609C-1106-4622-BBD1-EC317E5C7A46}"/>
              </a:ext>
            </a:extLst>
          </p:cNvPr>
          <p:cNvSpPr>
            <a:spLocks xmlns:a="http://schemas.openxmlformats.org/drawingml/2006/main" noGrp="1"/>
          </p:cNvSpPr>
          <p:nvPr/>
        </p:nvSpPr>
        <p:spPr>
          <a:xfrm xmlns:a="http://schemas.openxmlformats.org/drawingml/2006/main" rot="0">
            <a:off x="64770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Q3〜Q4</a:t>
            </a:r>
          </a:p>
        </p:txBody>
      </p:sp>
      <p:sp>
        <p:nvSpPr>
          <p:cNvPr id="9" name="">
            <a:extLst xmlns:a="http://schemas.openxmlformats.org/drawingml/2006/main">
              <a:ext uri="{FF2B5EF4-FFF2-40B4-BE49-F238E27FC236}">
                <a16:creationId xmlns:a16="http://schemas.microsoft.com/office/drawing/2014/main" id="{3AC7DD0D-8E88-4420-A008-F801D6DAFEB3}"/>
              </a:ext>
            </a:extLst>
          </p:cNvPr>
          <p:cNvSpPr>
            <a:spLocks xmlns:a="http://schemas.openxmlformats.org/drawingml/2006/main" noGrp="1"/>
          </p:cNvSpPr>
          <p:nvPr/>
        </p:nvSpPr>
        <p:spPr>
          <a:xfrm xmlns:a="http://schemas.openxmlformats.org/drawingml/2006/main" rot="0">
            <a:off x="6477000" y="2428875"/>
            <a:ext cx="4667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業種を絞り、実際にロボットの現場統合を開始する。蓄積したデータや経験を元に、どのような現場がロボット導入に適しているか、優先順位をつける。</a:t>
            </a:r>
          </a:p>
        </p:txBody>
      </p:sp>
      <p:sp>
        <p:nvSpPr>
          <p:cNvPr id="10" name="">
            <a:extLst xmlns:a="http://schemas.openxmlformats.org/drawingml/2006/main">
              <a:ext uri="{FF2B5EF4-FFF2-40B4-BE49-F238E27FC236}">
                <a16:creationId xmlns:a16="http://schemas.microsoft.com/office/drawing/2014/main" id="{A7A7385D-F91C-4084-9B4B-14194B09DE8F}"/>
              </a:ext>
            </a:extLst>
          </p:cNvPr>
          <p:cNvSpPr>
            <a:spLocks xmlns:a="http://schemas.openxmlformats.org/drawingml/2006/main" noGrp="1"/>
          </p:cNvSpPr>
          <p:nvPr/>
        </p:nvSpPr>
        <p:spPr>
          <a:xfrm xmlns:a="http://schemas.openxmlformats.org/drawingml/2006/main" rot="0">
            <a:off x="72390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986304276"/>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68913A2-D281-47BE-ADDC-5BE97939A6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A49216-0B80-4ACD-849C-010096CC3A7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34EAFF33-A103-49F2-9430-6DE672C66FA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2E31C0-9718-4E6C-8B57-39176ACBE03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C65D0484-F62C-4590-B337-4BC5981EDA29}"/>
              </a:ext>
            </a:extLst>
          </p:cNvPr>
          <p:cNvSpPr>
            <a:spLocks xmlns:a="http://schemas.openxmlformats.org/drawingml/2006/main" noGrp="1"/>
          </p:cNvSpPr>
          <p:nvPr/>
        </p:nvSpPr>
        <p:spPr>
          <a:xfrm xmlns:a="http://schemas.openxmlformats.org/drawingml/2006/main" rot="0">
            <a:off x="723900" y="204787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315C78"/>
                </a:solidFill>
                <a:latin typeface="Hiragino Sans"/>
                <a:ea typeface="Hiragino Sans"/>
                <a:cs typeface="Hiragino Sans"/>
              </a:defRPr>
            </a:pPr>
            <a:r>
              <a:rPr sz="2250" b="1">
                <a:solidFill>
                  <a:srgbClr val="315C78"/>
                </a:solidFill>
                <a:latin typeface="Hiragino Sans"/>
                <a:ea typeface="Hiragino Sans"/>
                <a:cs typeface="Hiragino Sans"/>
              </a:rPr>
              <a:t>第2段階への移行</a:t>
            </a:r>
          </a:p>
        </p:txBody>
      </p:sp>
      <p:sp>
        <p:nvSpPr>
          <p:cNvPr id="6" name="">
            <a:extLst xmlns:a="http://schemas.openxmlformats.org/drawingml/2006/main">
              <a:ext uri="{FF2B5EF4-FFF2-40B4-BE49-F238E27FC236}">
                <a16:creationId xmlns:a16="http://schemas.microsoft.com/office/drawing/2014/main" id="{30DC8C62-1542-463D-A72C-4C3B4F4262F8}"/>
              </a:ext>
            </a:extLst>
          </p:cNvPr>
          <p:cNvSpPr>
            <a:spLocks xmlns:a="http://schemas.openxmlformats.org/drawingml/2006/main" noGrp="1"/>
          </p:cNvSpPr>
          <p:nvPr/>
        </p:nvSpPr>
        <p:spPr>
          <a:xfrm xmlns:a="http://schemas.openxmlformats.org/drawingml/2006/main" rot="0">
            <a:off x="723900" y="2952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現場実装先と、各現場の豊富な作業データを所有する。</a:t>
            </a:r>
          </a:p>
        </p:txBody>
      </p:sp>
      <p:sp>
        <p:nvSpPr>
          <p:cNvPr id="7" name="">
            <a:extLst xmlns:a="http://schemas.openxmlformats.org/drawingml/2006/main">
              <a:ext uri="{FF2B5EF4-FFF2-40B4-BE49-F238E27FC236}">
                <a16:creationId xmlns:a16="http://schemas.microsoft.com/office/drawing/2014/main" id="{9FB11E46-8B52-4215-995E-8A756AE0CA0D}"/>
              </a:ext>
            </a:extLst>
          </p:cNvPr>
          <p:cNvSpPr>
            <a:spLocks xmlns:a="http://schemas.openxmlformats.org/drawingml/2006/main" noGrp="1"/>
          </p:cNvSpPr>
          <p:nvPr/>
        </p:nvSpPr>
        <p:spPr>
          <a:xfrm xmlns:a="http://schemas.openxmlformats.org/drawingml/2006/main">
            <a:off x="723900" y="3810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94278F5-340E-46DB-9E48-5BB30D156130}"/>
              </a:ext>
            </a:extLst>
          </p:cNvPr>
          <p:cNvSpPr>
            <a:spLocks xmlns:a="http://schemas.openxmlformats.org/drawingml/2006/main" noGrp="1"/>
          </p:cNvSpPr>
          <p:nvPr/>
        </p:nvSpPr>
        <p:spPr>
          <a:xfrm xmlns:a="http://schemas.openxmlformats.org/drawingml/2006/main" rot="0">
            <a:off x="723900" y="4238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モデル開発・ハードウェア開発・現場統合のフィードバックループを</a:t>
            </a:r>
          </a:p>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自社で回すフィジカルAI企業へと転身する。</a:t>
            </a:r>
          </a:p>
        </p:txBody>
      </p:sp>
      <p:sp>
        <p:nvSpPr>
          <p:cNvPr id="9" name="">
            <a:extLst xmlns:a="http://schemas.openxmlformats.org/drawingml/2006/main">
              <a:ext uri="{FF2B5EF4-FFF2-40B4-BE49-F238E27FC236}">
                <a16:creationId xmlns:a16="http://schemas.microsoft.com/office/drawing/2014/main" id="{657595A3-9474-41A8-8D4E-59CB852A58CC}"/>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現場データ収集から始めるフィジカルAIプレーヤー</a:t>
            </a:r>
          </a:p>
        </p:txBody>
      </p:sp>
    </p:spTree>
    <p:extLst>
      <p:ext uri="{BB962C8B-B14F-4D97-AF65-F5344CB8AC3E}">
        <p14:creationId xmlns:p14="http://schemas.microsoft.com/office/powerpoint/2010/main" val="649089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2026-09-15T03:56:42.9900000Z</dcterms:created>
  <dcterms:modified xsi:type="dcterms:W3CDTF">2026-09-15T03:56:42.9910000Z</dcterms:modified>
</coreProperties>
</file>
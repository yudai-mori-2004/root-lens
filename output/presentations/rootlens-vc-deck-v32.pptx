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5e09523682449d" /><Relationship Type="http://schemas.openxmlformats.org/officeDocument/2006/relationships/extended-properties" Target="/docProps/app.xml" Id="Ra11a546f714f488e" /><Relationship Type="http://schemas.openxmlformats.org/officeDocument/2006/relationships/officeDocument" Target="/ppt/presentation.xml" Id="R78c975df64794731" /></Relationships>
</file>

<file path=ppt/presentation.xml><?xml version="1.0" encoding="utf-8"?>
<p:presentation xmlns:p="http://schemas.openxmlformats.org/presentationml/2006/main">
  <p:sldMasterIdLst>
    <p:sldMasterId xmlns:r="http://schemas.openxmlformats.org/officeDocument/2006/relationships" id="2147483648" r:id="R4b3e35a0061c48c3"/>
  </p:sldMasterIdLst>
  <p:notesMasterIdLst>
    <p:notesMasterId xmlns:r="http://schemas.openxmlformats.org/officeDocument/2006/relationships" r:id="Rb14941e362334612"/>
  </p:notesMasterIdLst>
  <p:sldIdLst>
    <p:sldId xmlns:r="http://schemas.openxmlformats.org/officeDocument/2006/relationships" id="256" r:id="Rb4ce34d39013451a"/>
    <p:sldId xmlns:r="http://schemas.openxmlformats.org/officeDocument/2006/relationships" id="257" r:id="R0b1e60974b83474b"/>
    <p:sldId xmlns:r="http://schemas.openxmlformats.org/officeDocument/2006/relationships" id="258" r:id="R540127b12401422b"/>
    <p:sldId xmlns:r="http://schemas.openxmlformats.org/officeDocument/2006/relationships" id="259" r:id="Ra406489ca51e4993"/>
    <p:sldId xmlns:r="http://schemas.openxmlformats.org/officeDocument/2006/relationships" id="260" r:id="R932384c966e54a77"/>
    <p:sldId xmlns:r="http://schemas.openxmlformats.org/officeDocument/2006/relationships" id="261" r:id="Rfd8c92696f86408a"/>
    <p:sldId xmlns:r="http://schemas.openxmlformats.org/officeDocument/2006/relationships" id="262" r:id="R45f7f24c103d4346"/>
    <p:sldId xmlns:r="http://schemas.openxmlformats.org/officeDocument/2006/relationships" id="263" r:id="R6ae5564e101b4cb4"/>
    <p:sldId xmlns:r="http://schemas.openxmlformats.org/officeDocument/2006/relationships" id="264" r:id="Rac51a03bc2944baf"/>
    <p:sldId xmlns:r="http://schemas.openxmlformats.org/officeDocument/2006/relationships" id="265" r:id="R6053b8318658464e"/>
    <p:sldId xmlns:r="http://schemas.openxmlformats.org/officeDocument/2006/relationships" id="266" r:id="Rd6d2707ad2b74e9f"/>
    <p:sldId xmlns:r="http://schemas.openxmlformats.org/officeDocument/2006/relationships" id="267" r:id="Rcbdb64b748294df5"/>
    <p:sldId xmlns:r="http://schemas.openxmlformats.org/officeDocument/2006/relationships" id="268" r:id="Rf83da1eda8ff49b5"/>
    <p:sldId xmlns:r="http://schemas.openxmlformats.org/officeDocument/2006/relationships" id="269" r:id="R1a8cd39b0bf54b8c"/>
    <p:sldId xmlns:r="http://schemas.openxmlformats.org/officeDocument/2006/relationships" id="270" r:id="R2a6c735659ee452b"/>
    <p:sldId xmlns:r="http://schemas.openxmlformats.org/officeDocument/2006/relationships" id="271" r:id="Ra86dcb334b244965"/>
    <p:sldId xmlns:r="http://schemas.openxmlformats.org/officeDocument/2006/relationships" id="272" r:id="R86b2e45ab3d34ea3"/>
    <p:sldId xmlns:r="http://schemas.openxmlformats.org/officeDocument/2006/relationships" id="273" r:id="R95e0945f9fbf4903"/>
    <p:sldId xmlns:r="http://schemas.openxmlformats.org/officeDocument/2006/relationships" id="274" r:id="Rdd5d8bdcb3724ada"/>
    <p:sldId xmlns:r="http://schemas.openxmlformats.org/officeDocument/2006/relationships" id="275" r:id="R3be1490d66864ced"/>
    <p:sldId xmlns:r="http://schemas.openxmlformats.org/officeDocument/2006/relationships" id="276" r:id="R82dac5f115d749dd"/>
    <p:sldId xmlns:r="http://schemas.openxmlformats.org/officeDocument/2006/relationships" id="277" r:id="Rb426304a45c64420"/>
    <p:sldId xmlns:r="http://schemas.openxmlformats.org/officeDocument/2006/relationships" id="278" r:id="Re0ad032cacbe444c"/>
    <p:sldId xmlns:r="http://schemas.openxmlformats.org/officeDocument/2006/relationships" id="279" r:id="R924f700b17f44515"/>
    <p:sldId xmlns:r="http://schemas.openxmlformats.org/officeDocument/2006/relationships" id="280" r:id="R1bd4186ffd3b40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81691453644b77" /><Relationship Type="http://schemas.openxmlformats.org/officeDocument/2006/relationships/slideMaster" Target="/ppt/slideMasters/slideMaster1.xml" Id="R4b3e35a0061c48c3" /><Relationship Type="http://schemas.openxmlformats.org/officeDocument/2006/relationships/notesMaster" Target="/ppt/notesMasters/notesMaster1.xml" Id="Rb14941e362334612" /><Relationship Type="http://schemas.openxmlformats.org/officeDocument/2006/relationships/presProps" Target="/ppt/presProps.xml" Id="Re75a464412434362" /><Relationship Type="http://schemas.openxmlformats.org/officeDocument/2006/relationships/tableStyles" Target="/ppt/tableStyles.xml" Id="R2bfa9f87598941a7" /><Relationship Type="http://schemas.openxmlformats.org/officeDocument/2006/relationships/slide" Target="/ppt/slides/slide1.xml" Id="Rb4ce34d39013451a" /><Relationship Type="http://schemas.openxmlformats.org/officeDocument/2006/relationships/slide" Target="/ppt/slides/slide2.xml" Id="R0b1e60974b83474b" /><Relationship Type="http://schemas.openxmlformats.org/officeDocument/2006/relationships/slide" Target="/ppt/slides/slide3.xml" Id="R540127b12401422b" /><Relationship Type="http://schemas.openxmlformats.org/officeDocument/2006/relationships/slide" Target="/ppt/slides/slide4.xml" Id="Ra406489ca51e4993" /><Relationship Type="http://schemas.openxmlformats.org/officeDocument/2006/relationships/slide" Target="/ppt/slides/slide5.xml" Id="R932384c966e54a77" /><Relationship Type="http://schemas.openxmlformats.org/officeDocument/2006/relationships/slide" Target="/ppt/slides/slide6.xml" Id="Rfd8c92696f86408a" /><Relationship Type="http://schemas.openxmlformats.org/officeDocument/2006/relationships/slide" Target="/ppt/slides/slide7.xml" Id="R45f7f24c103d4346" /><Relationship Type="http://schemas.openxmlformats.org/officeDocument/2006/relationships/slide" Target="/ppt/slides/slide8.xml" Id="R6ae5564e101b4cb4" /><Relationship Type="http://schemas.openxmlformats.org/officeDocument/2006/relationships/slide" Target="/ppt/slides/slide9.xml" Id="Rac51a03bc2944baf" /><Relationship Type="http://schemas.openxmlformats.org/officeDocument/2006/relationships/slide" Target="/ppt/slides/slide10.xml" Id="R6053b8318658464e" /><Relationship Type="http://schemas.openxmlformats.org/officeDocument/2006/relationships/slide" Target="/ppt/slides/slide11.xml" Id="Rd6d2707ad2b74e9f" /><Relationship Type="http://schemas.openxmlformats.org/officeDocument/2006/relationships/slide" Target="/ppt/slides/slide12.xml" Id="Rcbdb64b748294df5" /><Relationship Type="http://schemas.openxmlformats.org/officeDocument/2006/relationships/slide" Target="/ppt/slides/slide13.xml" Id="Rf83da1eda8ff49b5" /><Relationship Type="http://schemas.openxmlformats.org/officeDocument/2006/relationships/slide" Target="/ppt/slides/slide14.xml" Id="R1a8cd39b0bf54b8c" /><Relationship Type="http://schemas.openxmlformats.org/officeDocument/2006/relationships/slide" Target="/ppt/slides/slide15.xml" Id="R2a6c735659ee452b" /><Relationship Type="http://schemas.openxmlformats.org/officeDocument/2006/relationships/slide" Target="/ppt/slides/slide16.xml" Id="Ra86dcb334b244965" /><Relationship Type="http://schemas.openxmlformats.org/officeDocument/2006/relationships/slide" Target="/ppt/slides/slide17.xml" Id="R86b2e45ab3d34ea3" /><Relationship Type="http://schemas.openxmlformats.org/officeDocument/2006/relationships/slide" Target="/ppt/slides/slide18.xml" Id="R95e0945f9fbf4903" /><Relationship Type="http://schemas.openxmlformats.org/officeDocument/2006/relationships/slide" Target="/ppt/slides/slide19.xml" Id="Rdd5d8bdcb3724ada" /><Relationship Type="http://schemas.openxmlformats.org/officeDocument/2006/relationships/slide" Target="/ppt/slides/slide20.xml" Id="R3be1490d66864ced" /><Relationship Type="http://schemas.openxmlformats.org/officeDocument/2006/relationships/slide" Target="/ppt/slides/slide21.xml" Id="R82dac5f115d749dd" /><Relationship Type="http://schemas.openxmlformats.org/officeDocument/2006/relationships/slide" Target="/ppt/slides/slide22.xml" Id="Rb426304a45c64420" /><Relationship Type="http://schemas.openxmlformats.org/officeDocument/2006/relationships/slide" Target="/ppt/slides/slide23.xml" Id="Re0ad032cacbe444c" /><Relationship Type="http://schemas.openxmlformats.org/officeDocument/2006/relationships/slide" Target="/ppt/slides/slide24.xml" Id="R924f700b17f44515" /><Relationship Type="http://schemas.openxmlformats.org/officeDocument/2006/relationships/slide" Target="/ppt/slides/slide25.xml" Id="R1bd4186ffd3b40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4f882891cd40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19ad6522c2420e" /><Relationship Type="http://schemas.openxmlformats.org/officeDocument/2006/relationships/notesMaster" Target="/ppt/notesMasters/notesMaster1.xml" Id="R4e4baaee2d0c4b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03cf68c654459f" /><Relationship Type="http://schemas.openxmlformats.org/officeDocument/2006/relationships/notesMaster" Target="/ppt/notesMasters/notesMaster1.xml" Id="R8ee01365640c46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6d7de16f9446a6" /><Relationship Type="http://schemas.openxmlformats.org/officeDocument/2006/relationships/notesMaster" Target="/ppt/notesMasters/notesMaster1.xml" Id="R4064d5fa39ad4c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e26da07bfb486d" /><Relationship Type="http://schemas.openxmlformats.org/officeDocument/2006/relationships/notesMaster" Target="/ppt/notesMasters/notesMaster1.xml" Id="R663200243ea244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5e4ed0819f469e" /><Relationship Type="http://schemas.openxmlformats.org/officeDocument/2006/relationships/notesMaster" Target="/ppt/notesMasters/notesMaster1.xml" Id="Rc6c2683e6c2341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29a9791f0a4189" /><Relationship Type="http://schemas.openxmlformats.org/officeDocument/2006/relationships/notesMaster" Target="/ppt/notesMasters/notesMaster1.xml" Id="Racd18c69150948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7937d3db214ef3" /><Relationship Type="http://schemas.openxmlformats.org/officeDocument/2006/relationships/notesMaster" Target="/ppt/notesMasters/notesMaster1.xml" Id="Re5054ce4e6bc4f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cef99704ca4f4d" /><Relationship Type="http://schemas.openxmlformats.org/officeDocument/2006/relationships/notesMaster" Target="/ppt/notesMasters/notesMaster1.xml" Id="R8ff838c4cf0d46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5d8022cf5e45db" /><Relationship Type="http://schemas.openxmlformats.org/officeDocument/2006/relationships/notesMaster" Target="/ppt/notesMasters/notesMaster1.xml" Id="R86fcb3f1fe0a4f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76a05555574b4e" /><Relationship Type="http://schemas.openxmlformats.org/officeDocument/2006/relationships/notesMaster" Target="/ppt/notesMasters/notesMaster1.xml" Id="Rc9f1ae2410144d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5ddd70090b412c" /><Relationship Type="http://schemas.openxmlformats.org/officeDocument/2006/relationships/notesMaster" Target="/ppt/notesMasters/notesMaster1.xml" Id="R6072cd6424994f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3bfc2af731419c" /><Relationship Type="http://schemas.openxmlformats.org/officeDocument/2006/relationships/notesMaster" Target="/ppt/notesMasters/notesMaster1.xml" Id="Rdb10f6834bc5487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ebd123d4ea4889" /><Relationship Type="http://schemas.openxmlformats.org/officeDocument/2006/relationships/notesMaster" Target="/ppt/notesMasters/notesMaster1.xml" Id="R0941b02b9cb54b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ae95be9b944cb8" /><Relationship Type="http://schemas.openxmlformats.org/officeDocument/2006/relationships/notesMaster" Target="/ppt/notesMasters/notesMaster1.xml" Id="R0a97a41257be4b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150ad3d67164291" /><Relationship Type="http://schemas.openxmlformats.org/officeDocument/2006/relationships/notesMaster" Target="/ppt/notesMasters/notesMaster1.xml" Id="R9230f1476ff444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78fc6b488ca4ce9" /><Relationship Type="http://schemas.openxmlformats.org/officeDocument/2006/relationships/notesMaster" Target="/ppt/notesMasters/notesMaster1.xml" Id="R4d59786b40e24c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7a65280d42c4cd5" /><Relationship Type="http://schemas.openxmlformats.org/officeDocument/2006/relationships/notesMaster" Target="/ppt/notesMasters/notesMaster1.xml" Id="R03a732affe30463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e5dfa1bd99544e0" /><Relationship Type="http://schemas.openxmlformats.org/officeDocument/2006/relationships/notesMaster" Target="/ppt/notesMasters/notesMaster1.xml" Id="R1f4a036688f04fe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cab785720614d9f" /><Relationship Type="http://schemas.openxmlformats.org/officeDocument/2006/relationships/notesMaster" Target="/ppt/notesMasters/notesMaster1.xml" Id="R41af681c72304f8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44b4a3e5054951" /><Relationship Type="http://schemas.openxmlformats.org/officeDocument/2006/relationships/notesMaster" Target="/ppt/notesMasters/notesMaster1.xml" Id="Rce07b25be19f474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e7ab7efc29b42d0" /><Relationship Type="http://schemas.openxmlformats.org/officeDocument/2006/relationships/notesMaster" Target="/ppt/notesMasters/notesMaster1.xml" Id="Rb30b55add4814a4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e37b02e81de4c71" /><Relationship Type="http://schemas.openxmlformats.org/officeDocument/2006/relationships/notesMaster" Target="/ppt/notesMasters/notesMaster1.xml" Id="R990cf10a90ea483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b5d0a85ec294fd3" /><Relationship Type="http://schemas.openxmlformats.org/officeDocument/2006/relationships/notesMaster" Target="/ppt/notesMasters/notesMaster1.xml" Id="Rf880ea5d213e467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1f2655d0f0849e5" /><Relationship Type="http://schemas.openxmlformats.org/officeDocument/2006/relationships/notesMaster" Target="/ppt/notesMasters/notesMaster1.xml" Id="R2da34709bcc04ba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50eaacc7c9a46c7" /><Relationship Type="http://schemas.openxmlformats.org/officeDocument/2006/relationships/notesMaster" Target="/ppt/notesMasters/notesMaster1.xml" Id="R86993166dcb243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DeepReachやBuildAIが挙げられます。基盤モデル・シミュレーション層にはPI、SkilledAI、NVIDIAがあります。ハードウェア開発層ではUnitreeが強く、現場統合層ではHIVE RoboticsやFormicが、既存のロボットやモデルを使った現場への導入を進めています。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と直接の接点を持つレイヤーは2つあります。一つは現場統合層。ロボットを実際にその場所に導入して動かす企業なので、当然現場と繋がります。しかしもう一つ、一番上流の現場データ収集企業も、撮影のために現場に入り込む必要があるため、将来ロボットが使われる現場と直接の関係を築くこと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競合がいないというより、まだ直接競争が始まっていないという認識です。同じ現場の撮影で被り、一つの撮影先がRootLensか別の収集会社を選ぶ段階に来て、初めて競合します。海外のプレイヤーは現段階で日本の現場に来ておらず、今は単なる同業者です。撮影先A、B、Cを取り合っているのではなく、まだAとBしか取れていない状態です。</a:t>
            </a:r>
          </a:p>
          <a:p xmlns:a="http://schemas.openxmlformats.org/drawingml/2006/main">
            <a:r>
              <a:t/>
            </a:r>
          </a:p>
          <a:p xmlns:a="http://schemas.openxmlformats.org/drawingml/2006/main">
            <a:r>
              <a:t>販売先側では、月間1,000時間ほどの収集規模が商談の目安になります。他社が100万時間を持っていても、それ以上のデータが不要になるわけではありません。データには現場や作業の多様性が必要だからです。したがって、他社の数字を並べるより、空いている現場へ入り、販売できる収集規模まで拡大できるかを見る方が、現時点の競合リスクを正確に表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現場データを先に持つことは、ロボット企業との協業だけでなく、自分たちがロボットを現場へ導入し、作業に合わせて運用を調整する側へ進むための布石になります。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ます。次に、そのデータとネットワークを使い、既存ロボットの現場導入と運用調整を担います。さらに先では、現場データを使った動作モデルと実機の改良まで自社で行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ただ、私たちの収集規模は世界的にはまだ小さいため、先方での優先度が上がりにくく、合意に至るのが難しい状態です。収集規模を拡大することで、継続的な検討対象になれると考えています。</a:t>
            </a:r>
          </a:p>
          <a:p xmlns:a="http://schemas.openxmlformats.org/drawingml/2006/main">
            <a:r>
              <a:t/>
            </a:r>
          </a:p>
          <a:p xmlns:a="http://schemas.openxmlformats.org/drawingml/2006/main">
            <a:r>
              <a:t>国内ではNextremerと、現場合意、加工、販売を含む運用フローを擦り合わせています。手数料なしのレベニューシェアなので、私たちは現場開拓とデータ収集に注力できます。Nextremerは私たちよりロボット実装に近い下流へアプローチできるため、高度なアノテーション付きデータを求める販売先へ届き、より高い単価を狙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を導入しやすい業種と現場を絞り、既存ロボットを実際に導入します。この段階では自社でロボットを開発するのではなく、現場の作業に合わせた導入と運用調整から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2028年に始めた既存ロボットの現場導入を広げながら、現場で得た作業データをロボットの動作モデル改善へ使います。実機についても、現場で見つかった課題を設計と改良へ戻します。2029年からは、導入と運用調整だけでなく、動作モデルと実機の開発も自社の事業へ加える構想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3b34540c8945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9003f47a6a4275" /><Relationship Type="http://schemas.openxmlformats.org/officeDocument/2006/relationships/slideLayout" Target="/ppt/slideLayouts/slideLayout1.xml" Id="R8d1acb3b19fe44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1acb3b19fe44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77e6c5ad874c8b" /><Relationship Type="http://schemas.openxmlformats.org/officeDocument/2006/relationships/notesSlide" Target="/ppt/notesSlides/notesSlide1.xml" Id="Rd8d7b6917a1c4d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e88a5a76334595" /><Relationship Type="http://schemas.openxmlformats.org/officeDocument/2006/relationships/notesSlide" Target="/ppt/notesSlides/notesSlide2.xml" Id="Rbc8f51b70de145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4d6f463ac84457" /><Relationship Type="http://schemas.openxmlformats.org/officeDocument/2006/relationships/notesSlide" Target="/ppt/notesSlides/notesSlide3.xml" Id="R793a3d60421c41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4a90673ecc4687" /><Relationship Type="http://schemas.openxmlformats.org/officeDocument/2006/relationships/notesSlide" Target="/ppt/notesSlides/notesSlide4.xml" Id="Rc163a1465ad744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6d78c5bb08450e" /><Relationship Type="http://schemas.openxmlformats.org/officeDocument/2006/relationships/notesSlide" Target="/ppt/notesSlides/notesSlide5.xml" Id="R6f052ef13f2148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d17dac27f4475b" /><Relationship Type="http://schemas.openxmlformats.org/officeDocument/2006/relationships/notesSlide" Target="/ppt/notesSlides/notesSlide6.xml" Id="R0490fe1b4fe64d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e6471bc0f34a63" /><Relationship Type="http://schemas.openxmlformats.org/officeDocument/2006/relationships/notesSlide" Target="/ppt/notesSlides/notesSlide7.xml" Id="Rc7bf61ea0f474e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a6ca4b6db994a3b" /><Relationship Type="http://schemas.openxmlformats.org/officeDocument/2006/relationships/notesSlide" Target="/ppt/notesSlides/notesSlide8.xml" Id="R648c3befec8a4c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bee279f4394ee4" /><Relationship Type="http://schemas.openxmlformats.org/officeDocument/2006/relationships/notesSlide" Target="/ppt/notesSlides/notesSlide9.xml" Id="Rcb1ae71ad0e044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6bc1f3cdd2d4e54" /><Relationship Type="http://schemas.openxmlformats.org/officeDocument/2006/relationships/notesSlide" Target="/ppt/notesSlides/notesSlide10.xml" Id="Rf56ed1d07cd445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bdb5444979f4245" /><Relationship Type="http://schemas.openxmlformats.org/officeDocument/2006/relationships/notesSlide" Target="/ppt/notesSlides/notesSlide11.xml" Id="Rac282cd44a944c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c50fbcb8909408b" /><Relationship Type="http://schemas.openxmlformats.org/officeDocument/2006/relationships/notesSlide" Target="/ppt/notesSlides/notesSlide12.xml" Id="R844de90cd23747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817ff2e024841fa" /><Relationship Type="http://schemas.openxmlformats.org/officeDocument/2006/relationships/notesSlide" Target="/ppt/notesSlides/notesSlide13.xml" Id="R9e353249083447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bb72cef7c2b41a6" /><Relationship Type="http://schemas.openxmlformats.org/officeDocument/2006/relationships/notesSlide" Target="/ppt/notesSlides/notesSlide14.xml" Id="R892e2f5c32834b5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7d73fbec1e745fa" /><Relationship Type="http://schemas.openxmlformats.org/officeDocument/2006/relationships/notesSlide" Target="/ppt/notesSlides/notesSlide15.xml" Id="R26dd4ac3b22548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104a9c1468b4a8d" /><Relationship Type="http://schemas.openxmlformats.org/officeDocument/2006/relationships/notesSlide" Target="/ppt/notesSlides/notesSlide16.xml" Id="R24f610a2c15e434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a580d977b044dd9" /><Relationship Type="http://schemas.openxmlformats.org/officeDocument/2006/relationships/image" Target="/ppt/media/image.jpeg" Id="R9f18d34a0dbc4c18" /><Relationship Type="http://schemas.openxmlformats.org/officeDocument/2006/relationships/image" Target="/ppt/media/image2.jpeg" Id="Rf27e9ad97bbd4246" /><Relationship Type="http://schemas.openxmlformats.org/officeDocument/2006/relationships/image" Target="/ppt/media/image3.jpeg" Id="Rae6edd97db6d4411" /><Relationship Type="http://schemas.openxmlformats.org/officeDocument/2006/relationships/notesSlide" Target="/ppt/notesSlides/notesSlide17.xml" Id="R449564dc5f1c4d6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c4e6e70cebb4091" /><Relationship Type="http://schemas.openxmlformats.org/officeDocument/2006/relationships/notesSlide" Target="/ppt/notesSlides/notesSlide18.xml" Id="R359fc01c635a41a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a8867a977e7488d" /><Relationship Type="http://schemas.openxmlformats.org/officeDocument/2006/relationships/notesSlide" Target="/ppt/notesSlides/notesSlide19.xml" Id="Rcb660a423ec34e7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79353f4e84a4b15" /><Relationship Type="http://schemas.openxmlformats.org/officeDocument/2006/relationships/notesSlide" Target="/ppt/notesSlides/notesSlide20.xml" Id="Rbd007aafd33446d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7a6a4d2692044ef" /><Relationship Type="http://schemas.openxmlformats.org/officeDocument/2006/relationships/notesSlide" Target="/ppt/notesSlides/notesSlide21.xml" Id="R4ba5a737085d40f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bb89e8200864b0e" /><Relationship Type="http://schemas.openxmlformats.org/officeDocument/2006/relationships/notesSlide" Target="/ppt/notesSlides/notesSlide22.xml" Id="R9ba87b883fb4433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8d4310cb58047db" /><Relationship Type="http://schemas.openxmlformats.org/officeDocument/2006/relationships/notesSlide" Target="/ppt/notesSlides/notesSlide23.xml" Id="R9db91cf9f8ea4df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121b87bceef49f6" /><Relationship Type="http://schemas.openxmlformats.org/officeDocument/2006/relationships/notesSlide" Target="/ppt/notesSlides/notesSlide24.xml" Id="R7c45bd3cd8204e5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6157639a7a844c6" /><Relationship Type="http://schemas.openxmlformats.org/officeDocument/2006/relationships/notesSlide" Target="/ppt/notesSlides/notesSlide25.xml" Id="R1f1206b8c3f342cd"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02C72D-DADA-481D-BEF6-6F7B9CB6AFE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60FB4F-CDC0-47A9-9036-ABF1E95596ED}"/>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65D5FD54-03AE-4012-9B87-63E92C5B98CD}"/>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3389F034-474F-4720-AD8C-D1CCBB95D322}"/>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E93718-B8A5-42B9-99D5-B33C09F56284}"/>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E7D53C48-AF45-44C1-8291-D065C3B7A98A}"/>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313123062"/>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C1D79F7-68B5-4958-BB6A-382415C6436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EF3D65-2FE2-4849-9A58-E36965560B0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00608E82-20F4-4EA7-A8E9-0405456E655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C592E4-3F6B-4C10-9F95-A63BBB18DC6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242C2765-A727-48FF-AFCA-ACEEFBCC7081}"/>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4FE406B8-ED73-469A-A11F-C8A8F80F1261}"/>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AFA5A7C-4957-4359-9916-03DDAF58D6CA}"/>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3CAA297-B2D3-426D-A484-9B6DD04FE3D9}"/>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6CD0A2-71BE-402A-B33E-061F9EDDA6C8}"/>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F1A54B45-5AAF-4965-9FA5-7A350805EE96}"/>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033D68E5-53D1-427C-8ECF-6D3DB3B90650}"/>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CA2E5735-D955-44F2-B49D-E8BDEEF22240}"/>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CC018CBD-9EBA-4EFC-B52D-D4A9266E3658}"/>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D2238B42-8B45-454E-8EC6-49D1DC2D5A6D}"/>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D2C973EF-F926-4A86-B83E-6531753E1368}"/>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6FA1EFF7-603A-43F1-B49B-BEFB1F901DE8}"/>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4F4CDE4A-93A7-4590-96AC-8AB9D125E5A8}"/>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2C567A2-F918-4B1D-9849-77BD0217024D}"/>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9849CDC-A5FB-4825-9FFF-967846CF2C6E}"/>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61C9EA7-4A44-429D-987B-1568427AE3AD}"/>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6BD41932-23DD-478F-903F-A9C0CF3E6FC0}"/>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1693F45D-2478-406A-B416-B100B48F5E32}"/>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BCB9235-6BD3-4A89-9858-00B2A0E9CFBD}"/>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E417D1C2-7596-456E-9367-AFD769728266}"/>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BC2B4CA5-E0C3-496A-A5A7-2EC3C48E718E}"/>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E9D2085F-015C-4BC1-AE07-771E79AA19CF}"/>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B8821955-9521-40CB-AA39-A92507EDA145}"/>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50D11EC8-0F53-4233-9D92-FA3EACA48AB2}"/>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6D818570-F35D-4646-8578-BE9A3D13A29E}"/>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0C43A2F9-73DF-4E2B-9B76-1A02837EB3CD}"/>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8F405077-8382-4CE0-9CFE-D5047F4E191B}"/>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4E06AF32-CA5F-430A-9C3B-9E790D9C0F05}"/>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35694D2F-CD81-4FE3-8193-710107B1DEA7}"/>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BA58B478-323E-4383-B503-3F4D1852A8EF}"/>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47544FDB-0ADB-4942-9180-D5E293A6B738}"/>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1514BC1E-4621-484A-8D0B-CC4EBCD4BC12}"/>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1776254660"/>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AE91C5-9805-490E-8A90-57B13A3D6C9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B648EB-E535-4E31-8154-E551334C629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597ACDFE-F6B9-4E76-AA80-23C6E12AFF8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9B60A9-7C84-4CC5-96D4-B4C485B839D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1C896F5A-30F8-4DC4-95AF-BB4877CC0370}"/>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5967258B-E256-4FA8-A56F-DDBD575E8BAC}"/>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74D2221C-B606-420A-85EA-D08C8CD3BEEC}"/>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AE22F2CB-7E59-425D-A0A0-92ACC6F780B6}"/>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98B16C05-6582-4607-BB77-DF92C5CAB35D}"/>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4314C4C-5972-4C78-8C2A-205E9E2DCA4E}"/>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540B2890-F85A-4418-9E74-2613B0B09407}"/>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6A58CBC6-F2AE-4073-B40D-FD9217CE5F2E}"/>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422990020"/>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699B40C-09A4-4271-9FEE-B80BF19DF95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7C8AE0-7B9A-4986-B117-26D87652EDE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6FD8E50E-926F-4449-9BEE-8A6996F0911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BCE20B0-2F21-4A07-9A5D-D2DDA37C5DE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D8385C9A-B500-4718-8C9F-7894EFB8390C}"/>
              </a:ext>
            </a:extLst>
          </p:cNvPr>
          <p:cNvSpPr>
            <a:spLocks xmlns:a="http://schemas.openxmlformats.org/drawingml/2006/main" noGrp="1"/>
          </p:cNvSpPr>
          <p:nvPr/>
        </p:nvSpPr>
        <p:spPr>
          <a:xfrm xmlns:a="http://schemas.openxmlformats.org/drawingml/2006/main" rot="0">
            <a:off x="9191625" y="15716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企業例</a:t>
            </a:r>
          </a:p>
        </p:txBody>
      </p:sp>
      <p:sp>
        <p:nvSpPr>
          <p:cNvPr id="6" name="">
            <a:extLst xmlns:a="http://schemas.openxmlformats.org/drawingml/2006/main">
              <a:ext uri="{FF2B5EF4-FFF2-40B4-BE49-F238E27FC236}">
                <a16:creationId xmlns:a16="http://schemas.microsoft.com/office/drawing/2014/main" id="{BA143791-578D-453A-A902-8F433A18BDF4}"/>
              </a:ext>
            </a:extLst>
          </p:cNvPr>
          <p:cNvSpPr>
            <a:spLocks xmlns:a="http://schemas.openxmlformats.org/drawingml/2006/main" noGrp="1"/>
          </p:cNvSpPr>
          <p:nvPr/>
        </p:nvSpPr>
        <p:spPr>
          <a:xfrm xmlns:a="http://schemas.openxmlformats.org/drawingml/2006/main" rot="0">
            <a:off x="723900" y="1809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7" name="">
            <a:extLst xmlns:a="http://schemas.openxmlformats.org/drawingml/2006/main">
              <a:ext uri="{FF2B5EF4-FFF2-40B4-BE49-F238E27FC236}">
                <a16:creationId xmlns:a16="http://schemas.microsoft.com/office/drawing/2014/main" id="{3892ACA5-2966-4DBC-834C-A6D8A70602F7}"/>
              </a:ext>
            </a:extLst>
          </p:cNvPr>
          <p:cNvSpPr>
            <a:spLocks xmlns:a="http://schemas.openxmlformats.org/drawingml/2006/main" noGrp="1"/>
          </p:cNvSpPr>
          <p:nvPr/>
        </p:nvSpPr>
        <p:spPr>
          <a:xfrm xmlns:a="http://schemas.openxmlformats.org/drawingml/2006/main" rot="0">
            <a:off x="3143250" y="1790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人間の作業データ、遠隔操作による収集、合成データ、生データの加工。収集に特化したデバイス開発も広がりはじめている。</a:t>
            </a:r>
          </a:p>
        </p:txBody>
      </p:sp>
      <p:sp>
        <p:nvSpPr>
          <p:cNvPr id="8" name="">
            <a:extLst xmlns:a="http://schemas.openxmlformats.org/drawingml/2006/main">
              <a:ext uri="{FF2B5EF4-FFF2-40B4-BE49-F238E27FC236}">
                <a16:creationId xmlns:a16="http://schemas.microsoft.com/office/drawing/2014/main" id="{926B959F-1F09-40C2-9FB3-C64A845A71CE}"/>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1E57FA0-7D3A-4981-9F77-8271574B1643}"/>
              </a:ext>
            </a:extLst>
          </p:cNvPr>
          <p:cNvSpPr>
            <a:spLocks xmlns:a="http://schemas.openxmlformats.org/drawingml/2006/main" noGrp="1"/>
          </p:cNvSpPr>
          <p:nvPr/>
        </p:nvSpPr>
        <p:spPr>
          <a:xfrm xmlns:a="http://schemas.openxmlformats.org/drawingml/2006/main" rot="0">
            <a:off x="9191625" y="20097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DeepReach / BuildAI</a:t>
            </a:r>
          </a:p>
        </p:txBody>
      </p:sp>
      <p:sp>
        <p:nvSpPr>
          <p:cNvPr id="10" name="">
            <a:extLst xmlns:a="http://schemas.openxmlformats.org/drawingml/2006/main">
              <a:ext uri="{FF2B5EF4-FFF2-40B4-BE49-F238E27FC236}">
                <a16:creationId xmlns:a16="http://schemas.microsoft.com/office/drawing/2014/main" id="{6DAB6B44-6683-4866-BBF9-FEFE989EFF83}"/>
              </a:ext>
            </a:extLst>
          </p:cNvPr>
          <p:cNvSpPr>
            <a:spLocks xmlns:a="http://schemas.openxmlformats.org/drawingml/2006/main" noGrp="1"/>
          </p:cNvSpPr>
          <p:nvPr/>
        </p:nvSpPr>
        <p:spPr>
          <a:xfrm xmlns:a="http://schemas.openxmlformats.org/drawingml/2006/main" rot="0">
            <a:off x="723900" y="2857500"/>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基盤モデル・</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シミュレーション</a:t>
            </a:r>
          </a:p>
        </p:txBody>
      </p:sp>
      <p:sp>
        <p:nvSpPr>
          <p:cNvPr id="11" name="">
            <a:extLst xmlns:a="http://schemas.openxmlformats.org/drawingml/2006/main">
              <a:ext uri="{FF2B5EF4-FFF2-40B4-BE49-F238E27FC236}">
                <a16:creationId xmlns:a16="http://schemas.microsoft.com/office/drawing/2014/main" id="{132EFDBA-4B60-40DA-BC97-45B9153D7D2F}"/>
              </a:ext>
            </a:extLst>
          </p:cNvPr>
          <p:cNvSpPr>
            <a:spLocks xmlns:a="http://schemas.openxmlformats.org/drawingml/2006/main" noGrp="1"/>
          </p:cNvSpPr>
          <p:nvPr/>
        </p:nvSpPr>
        <p:spPr>
          <a:xfrm xmlns:a="http://schemas.openxmlformats.org/drawingml/2006/main" rot="0">
            <a:off x="3143250" y="2838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現実世界を仮想環境に再現し、必要な実データ量を抑えながらモデル開発を進める。</a:t>
            </a:r>
          </a:p>
        </p:txBody>
      </p:sp>
      <p:sp>
        <p:nvSpPr>
          <p:cNvPr id="12" name="">
            <a:extLst xmlns:a="http://schemas.openxmlformats.org/drawingml/2006/main">
              <a:ext uri="{FF2B5EF4-FFF2-40B4-BE49-F238E27FC236}">
                <a16:creationId xmlns:a16="http://schemas.microsoft.com/office/drawing/2014/main" id="{48134F5B-DD96-4B4D-9B68-D453226A1810}"/>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687989F-BEDE-48DC-9719-8B942C2C8199}"/>
              </a:ext>
            </a:extLst>
          </p:cNvPr>
          <p:cNvSpPr>
            <a:spLocks xmlns:a="http://schemas.openxmlformats.org/drawingml/2006/main" noGrp="1"/>
          </p:cNvSpPr>
          <p:nvPr/>
        </p:nvSpPr>
        <p:spPr>
          <a:xfrm xmlns:a="http://schemas.openxmlformats.org/drawingml/2006/main" rot="0">
            <a:off x="9191625" y="30575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14" name="">
            <a:extLst xmlns:a="http://schemas.openxmlformats.org/drawingml/2006/main">
              <a:ext uri="{FF2B5EF4-FFF2-40B4-BE49-F238E27FC236}">
                <a16:creationId xmlns:a16="http://schemas.microsoft.com/office/drawing/2014/main" id="{10523D8B-B92A-4FC2-B44D-B81567ED28C4}"/>
              </a:ext>
            </a:extLst>
          </p:cNvPr>
          <p:cNvSpPr>
            <a:spLocks xmlns:a="http://schemas.openxmlformats.org/drawingml/2006/main" noGrp="1"/>
          </p:cNvSpPr>
          <p:nvPr/>
        </p:nvSpPr>
        <p:spPr>
          <a:xfrm xmlns:a="http://schemas.openxmlformats.org/drawingml/2006/main" rot="0">
            <a:off x="723900" y="400050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ハードウェア開発層</a:t>
            </a:r>
          </a:p>
        </p:txBody>
      </p:sp>
      <p:sp>
        <p:nvSpPr>
          <p:cNvPr id="15" name="">
            <a:extLst xmlns:a="http://schemas.openxmlformats.org/drawingml/2006/main">
              <a:ext uri="{FF2B5EF4-FFF2-40B4-BE49-F238E27FC236}">
                <a16:creationId xmlns:a16="http://schemas.microsoft.com/office/drawing/2014/main" id="{96D27EFC-A5D5-4331-82F2-FB6608FE563B}"/>
              </a:ext>
            </a:extLst>
          </p:cNvPr>
          <p:cNvSpPr>
            <a:spLocks xmlns:a="http://schemas.openxmlformats.org/drawingml/2006/main" noGrp="1"/>
          </p:cNvSpPr>
          <p:nvPr/>
        </p:nvSpPr>
        <p:spPr>
          <a:xfrm xmlns:a="http://schemas.openxmlformats.org/drawingml/2006/main" rot="0">
            <a:off x="3143250" y="3981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特に中国系企業が、安価なロボットを提供する面で強い。</a:t>
            </a:r>
          </a:p>
        </p:txBody>
      </p:sp>
      <p:sp>
        <p:nvSpPr>
          <p:cNvPr id="16" name="">
            <a:extLst xmlns:a="http://schemas.openxmlformats.org/drawingml/2006/main">
              <a:ext uri="{FF2B5EF4-FFF2-40B4-BE49-F238E27FC236}">
                <a16:creationId xmlns:a16="http://schemas.microsoft.com/office/drawing/2014/main" id="{43DBF264-84E4-449B-9F5D-239D8F4DAAB3}"/>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AE4B898-878F-4B86-BAE8-36F3DCEEA746}"/>
              </a:ext>
            </a:extLst>
          </p:cNvPr>
          <p:cNvSpPr>
            <a:spLocks xmlns:a="http://schemas.openxmlformats.org/drawingml/2006/main" noGrp="1"/>
          </p:cNvSpPr>
          <p:nvPr/>
        </p:nvSpPr>
        <p:spPr>
          <a:xfrm xmlns:a="http://schemas.openxmlformats.org/drawingml/2006/main" rot="0">
            <a:off x="9191625" y="42005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18" name="">
            <a:extLst xmlns:a="http://schemas.openxmlformats.org/drawingml/2006/main">
              <a:ext uri="{FF2B5EF4-FFF2-40B4-BE49-F238E27FC236}">
                <a16:creationId xmlns:a16="http://schemas.microsoft.com/office/drawing/2014/main" id="{82BEAA13-40D0-416F-97C5-15C87838B7B0}"/>
              </a:ext>
            </a:extLst>
          </p:cNvPr>
          <p:cNvSpPr>
            <a:spLocks xmlns:a="http://schemas.openxmlformats.org/drawingml/2006/main" noGrp="1"/>
          </p:cNvSpPr>
          <p:nvPr/>
        </p:nvSpPr>
        <p:spPr>
          <a:xfrm xmlns:a="http://schemas.openxmlformats.org/drawingml/2006/main" rot="0">
            <a:off x="723900" y="4857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9" name="">
            <a:extLst xmlns:a="http://schemas.openxmlformats.org/drawingml/2006/main">
              <a:ext uri="{FF2B5EF4-FFF2-40B4-BE49-F238E27FC236}">
                <a16:creationId xmlns:a16="http://schemas.microsoft.com/office/drawing/2014/main" id="{AF446437-AFE6-4368-B7EC-204DB16B4843}"/>
              </a:ext>
            </a:extLst>
          </p:cNvPr>
          <p:cNvSpPr>
            <a:spLocks xmlns:a="http://schemas.openxmlformats.org/drawingml/2006/main" noGrp="1"/>
          </p:cNvSpPr>
          <p:nvPr/>
        </p:nvSpPr>
        <p:spPr>
          <a:xfrm xmlns:a="http://schemas.openxmlformats.org/drawingml/2006/main" rot="0">
            <a:off x="3143250" y="4838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既存のロボットやモデルを利用し、現場への導入と運用調整を優先する。</a:t>
            </a:r>
          </a:p>
        </p:txBody>
      </p:sp>
      <p:sp>
        <p:nvSpPr>
          <p:cNvPr id="20" name="">
            <a:extLst xmlns:a="http://schemas.openxmlformats.org/drawingml/2006/main">
              <a:ext uri="{FF2B5EF4-FFF2-40B4-BE49-F238E27FC236}">
                <a16:creationId xmlns:a16="http://schemas.microsoft.com/office/drawing/2014/main" id="{7A4A5601-A3AA-4646-B2EF-A16F3C28CFFA}"/>
              </a:ext>
            </a:extLst>
          </p:cNvPr>
          <p:cNvSpPr>
            <a:spLocks xmlns:a="http://schemas.openxmlformats.org/drawingml/2006/main" noGrp="1"/>
          </p:cNvSpPr>
          <p:nvPr/>
        </p:nvSpPr>
        <p:spPr>
          <a:xfrm xmlns:a="http://schemas.openxmlformats.org/drawingml/2006/main" rot="0">
            <a:off x="9191625" y="50577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Tree>
    <p:extLst>
      <p:ext uri="{BB962C8B-B14F-4D97-AF65-F5344CB8AC3E}">
        <p14:creationId xmlns:p14="http://schemas.microsoft.com/office/powerpoint/2010/main" val="497087962"/>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A65A071F-234A-4EE0-814B-00C6B947E41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C289CE-3A84-404A-AC44-3FAA439FBA6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現場を含む「ループ」を持つ企業が勝つ</a:t>
            </a:r>
          </a:p>
        </p:txBody>
      </p:sp>
      <p:sp>
        <p:nvSpPr>
          <p:cNvPr id="3" name="">
            <a:extLst xmlns:a="http://schemas.openxmlformats.org/drawingml/2006/main">
              <a:ext uri="{FF2B5EF4-FFF2-40B4-BE49-F238E27FC236}">
                <a16:creationId xmlns:a16="http://schemas.microsoft.com/office/drawing/2014/main" id="{77870236-2DA3-4330-9086-6E8BA3765DE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9DEDBD-D153-4D79-AAC2-120FB1BB2F8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6F9A9466-4AB3-4153-8935-9B35D0E51E6D}"/>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83F9E50C-86AF-4D59-8464-A9A8780A4EF7}"/>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6B5B3FF-E483-4090-AC78-8D0BC1F6E915}"/>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E7EB90-4545-4A0D-9A05-302EFFC2CED8}"/>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727694B-C868-4F7B-9DE5-C64643A28EF2}"/>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8BC6BBB8-F310-42DB-9892-2BE473E846AF}"/>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6C9188A3-D0BD-4417-A204-8CFDB5209EAC}"/>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03AAAC82-F737-41B7-8524-C696A4B778E1}"/>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8313CF79-F95D-43A5-8625-B3D5875ED45F}"/>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29892B15-341E-4B3A-B1F4-FB3B4D073875}"/>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9DA1A8E3-711E-4D3C-B6AC-D3E222E407A9}"/>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4DAD72E4-0477-41E8-8920-2CEF3D51F448}"/>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585B714D-7980-435A-94C6-9E473ACE3BF4}"/>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F3B658F-8921-4403-8812-873056EFD1A1}"/>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1E0059D-9B43-404C-8408-30CEE914A5E1}"/>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08F4FCD-A08D-4DC7-A7DE-61296B07E384}"/>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49A847A7-B8DD-42D2-BC71-FD5932395324}"/>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69E55CFE-AE57-4738-AD8B-7476C1A47CF3}"/>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992F432-310C-48F2-94FF-1A6F453AC040}"/>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06223066-C742-494A-8ACE-1BF3C19C5E89}"/>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218D37C-AA41-4139-B285-9A71BCE21F78}"/>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EF3B1C6-4E19-4CA0-8E7C-CC26FC38AE9F}"/>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57E17E0-B19A-4994-A2E9-E5EB6CBFD4CF}"/>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DE920BA-7430-4B0D-9D41-F5FD7D38CFED}"/>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8E37A65-BC93-4344-9221-E5CD9CB02F34}"/>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A8D2328-E46E-4E2B-AF78-2BCA7477771B}"/>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7637F2D-B85D-47F7-B5FB-70E9EE186E70}"/>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31B1C2F-9A7D-4B34-ADA1-865BB6F20FBC}"/>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9503BB3-C2F7-467A-A6FD-B8DCC57F72EE}"/>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2A7C241-85F8-4F64-9A05-1A77DE4322B6}"/>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62BD8673-4AAE-4339-AC43-D7A39E444F90}"/>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6D19AD4-3E77-4CE3-8967-3429E94CD77E}"/>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F8011CE-354B-4789-977C-21553E1C9452}"/>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00E349E-78AB-4E8D-B66D-CBE2E8B7963C}"/>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F1BE37D9-07EB-4D37-86B2-EBDB62C7077A}"/>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8F3765B5-7B43-4A9B-94C2-529698CC488E}"/>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4D05969-9FBF-49C8-B188-F95819EA2E8E}"/>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BEE1D22-3077-46B9-A3A0-A623F6CD4E83}"/>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0EF36D17-DDF3-4E51-AFE6-2F0ECD7B227A}"/>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8016C2A1-B40B-42B2-869C-C9F79323208F}"/>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F99F2DC1-D0FE-43D2-8BEE-2C986C4D4ECA}"/>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1A7C17E2-4CC2-4D16-B86D-A69491298E42}"/>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A6EA6508-2983-4101-94C7-71FEF41C0124}"/>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846D2C87-BBAD-4E95-84D8-F0D04D39E20B}"/>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F303EB3-82B3-4683-82B5-10E672057E57}"/>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9BFE50A6-78CB-4552-8669-B422632B19CB}"/>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29DB9B33-85F6-4C54-80D6-A1542B82864C}"/>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F1954FB8-B458-4FD6-AF96-9FC6EA5CE96C}"/>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D1282606-C553-4979-9CFC-4EF2BA17AF19}"/>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9373D86A-4DDC-4C1E-8EBB-5E145B1F15F6}"/>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F5BF6918-8F82-4C08-8A2C-FC36770C2218}"/>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DA3DD30B-0D64-4C72-A524-7AEEA9A875E6}"/>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54453605-4EAD-4271-9C19-108875338F9C}"/>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D67F5366-B09B-4A44-9CA6-ACF863F0DC03}"/>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49AF3D7B-C326-46AB-83C1-06B79EBE9374}"/>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EEA5609C-2599-4E82-AFFC-9D5C3B0C5DEC}"/>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501AD65-F666-4839-AFA4-58085DBB0BBA}"/>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999B2D55-DDDF-4F21-95E7-6C529766AA5B}"/>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C4C8E7DB-587B-468F-A9B1-3D4D19847671}"/>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DD2B80F8-9A0C-43A9-89B4-6413C0D489F1}"/>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1256668572"/>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91E6DA04-7D7E-4AD9-82F8-587F70B9433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0194D9-AFEE-45F9-B627-C9B140E8DAC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B0E00BA6-FB97-4CA0-88A8-3686BAE1B2F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44246F-306E-4CE6-A31A-C1B60BE088B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E9B70B89-E949-4E64-82FF-EFC4849EEB3C}"/>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5A95E4FA-AA37-43F4-8DD0-9053EB51F280}"/>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F7B2F8D4-DCEF-4963-8415-986A5122D624}"/>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05FF0723-6F4D-45F4-A6B1-7278E06664AC}"/>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F8FD9216-2491-421E-BA22-F545AE34E50E}"/>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FFEADEBA-0E6E-4DA6-9A7F-163120ABBC41}"/>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D996B3B1-0E21-4ADA-B624-F664AE8448AE}"/>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172C3D0-B6BF-434F-83E6-FB5AEBFE732C}"/>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01E3415-1339-4588-96B8-10096DC7CB44}"/>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56559F7-26FE-4964-9B23-A29455F0223F}"/>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E64A5E2-6442-4A58-9539-F9EEA2EE17E0}"/>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98EAACA-15DC-44D9-B853-1C94E1625E55}"/>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C9D55AA-92BB-4641-8A86-DE76B49592E0}"/>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497ED56-F048-424E-A463-4A7EB5DD114D}"/>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493443F-FD86-4D9C-94FC-C47D7AC76A11}"/>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1940DE7-4040-4141-B442-16D035FD94B6}"/>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9CF9DBD-C44B-42FC-B3F5-E29E41D687F7}"/>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2DB9986-B386-4FB6-A8CC-C48F823F9E0A}"/>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AE1B4FF-59E8-4734-B556-CA9BFE28C455}"/>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6D5E03E-DF6D-4DE8-AEFA-FBA8763B6E78}"/>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53290A8-4E8C-472A-97AA-7071A67F31F5}"/>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BBFE336-661D-4882-B549-E83807D63C73}"/>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151E33E-9D9E-40C7-9595-ABCBD5621A6D}"/>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DDE3A3A-B6CB-4396-B21E-A2BCE89B3F19}"/>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C208A6B-89B7-4F61-BC51-A053BDC7FE85}"/>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C4A8D82-03C0-4E74-85AB-CB17187B91D3}"/>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92F1862-9F46-4AF0-86F6-ADD841139340}"/>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8F0E837-3804-4D95-BB34-1D6480F7FC1C}"/>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883FADE-F530-4BA0-A936-B6277109E5F3}"/>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7D65BE1-87FD-45E9-9728-349DC12D32CD}"/>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08C36C9-CCF8-4ACC-9162-390CFED63D28}"/>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7011976-4D10-48E7-9BA3-69E92616C5BC}"/>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5EF69C3-C005-4D31-8059-94F0AD7DFC3C}"/>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242E5BD-5DD3-4F86-942D-DC04FFD531F8}"/>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5C781F80-C6C1-4023-A02F-F5EA2EEA1C5F}"/>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81CFE779-6B6C-40F9-84F8-CB1C09459174}"/>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DEED84C5-521B-4DAB-8701-AF1B07C71083}"/>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AEA9990F-7551-4829-A0C7-D423B938F6D4}"/>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B5492423-7EA4-4610-90F7-D38B398FAA86}"/>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D25B2D9-A487-4730-9B7D-49220EC6EF0B}"/>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836FB63E-64FB-467C-B653-CFC3871DC049}"/>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A676BA8-64E4-4DA7-9DE9-F27A826EB6C9}"/>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47E5953-6534-426A-96DF-1B9D97C787F2}"/>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34E5638-FBA5-4A1F-A952-CE2D0B99A7CB}"/>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DF34834-C7B5-4123-B6BB-761B97674771}"/>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875B4DC0-8226-474A-BB2D-EF147FF47D5F}"/>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ECF5F0BC-D53B-4E64-97C1-4EFE5B26F9DE}"/>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67B7FEB0-B094-4D95-A4FB-B8802EC09A9C}"/>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09EA6CCD-B285-4FDD-91F9-8A34B2BC1523}"/>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EA0EA2CE-61A5-4D28-93DF-D9E9DDBC09CD}"/>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464453CF-3D30-42CA-B6C6-E1BF2D0DB6B4}"/>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6F38956-CBE0-4B1B-8CF3-707949257A48}"/>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B260F4BB-5CFA-4140-AD96-86FCC9AD76E1}"/>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3A492DFC-9E50-4AAF-B6DA-A8DF229B72BC}"/>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A3357FF8-FB3E-4748-906A-ED85565BA7B7}"/>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AF3B5906-90C5-4709-9779-3325ED4BCFBF}"/>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B3B70C5-2F01-4361-86B9-0A594CB443CC}"/>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A133A85A-13E1-4FA6-A87C-1A6689EB463D}"/>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63153397-2E87-47A4-8D61-CFFFF4C407CF}"/>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26FA6240-4D1C-4949-81CB-0B0F754A4AA0}"/>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AB5E8BE4-BEEB-4569-8294-D62FEB9199A0}"/>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08210095-6859-456C-9854-7999A2FB7E32}"/>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99541475-2F28-497D-862D-3DA14F7DFD2B}"/>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2C505C23-733A-4E41-9E8D-47D06D17664B}"/>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現場稼働データが直接モデル改善</a:t>
            </a:r>
          </a:p>
        </p:txBody>
      </p:sp>
    </p:spTree>
    <p:extLst>
      <p:ext uri="{BB962C8B-B14F-4D97-AF65-F5344CB8AC3E}">
        <p14:creationId xmlns:p14="http://schemas.microsoft.com/office/powerpoint/2010/main" val="562831597"/>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6AB3393-5974-467B-ADC9-606A58E3ED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D77717-70E2-4B9B-A542-DF1F8D959CE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データ収集を通じて、先に実現場ネットワークを構築することが有利</a:t>
            </a:r>
          </a:p>
        </p:txBody>
      </p:sp>
      <p:sp>
        <p:nvSpPr>
          <p:cNvPr id="3" name="">
            <a:extLst xmlns:a="http://schemas.openxmlformats.org/drawingml/2006/main">
              <a:ext uri="{FF2B5EF4-FFF2-40B4-BE49-F238E27FC236}">
                <a16:creationId xmlns:a16="http://schemas.microsoft.com/office/drawing/2014/main" id="{1BD4CE26-1188-4FD7-A916-139BB311FC4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EDB309-0964-460F-866A-52982CFAAFA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06264FA4-FB3D-42F6-9816-D28720A1F2FB}"/>
              </a:ext>
            </a:extLst>
          </p:cNvPr>
          <p:cNvSpPr>
            <a:spLocks xmlns:a="http://schemas.openxmlformats.org/drawingml/2006/main" noGrp="1"/>
          </p:cNvSpPr>
          <p:nvPr/>
        </p:nvSpPr>
        <p:spPr>
          <a:xfrm xmlns:a="http://schemas.openxmlformats.org/drawingml/2006/main" rot="0">
            <a:off x="723900" y="1600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フィジカルAIは実現場のデータなしに成立しないからこそ、最上流のデータ収集層と最下流の現場統合が繋がる、この業界特有の構造がある</a:t>
            </a:r>
          </a:p>
        </p:txBody>
      </p:sp>
      <p:sp>
        <p:nvSpPr>
          <p:cNvPr id="6" name="">
            <a:extLst xmlns:a="http://schemas.openxmlformats.org/drawingml/2006/main">
              <a:ext uri="{FF2B5EF4-FFF2-40B4-BE49-F238E27FC236}">
                <a16:creationId xmlns:a16="http://schemas.microsoft.com/office/drawing/2014/main" id="{5F2F6093-9231-4046-B9BA-2B77B6A2BC31}"/>
              </a:ext>
            </a:extLst>
          </p:cNvPr>
          <p:cNvSpPr>
            <a:spLocks xmlns:a="http://schemas.openxmlformats.org/drawingml/2006/main" noGrp="1"/>
          </p:cNvSpPr>
          <p:nvPr/>
        </p:nvSpPr>
        <p:spPr>
          <a:xfrm xmlns:a="http://schemas.openxmlformats.org/drawingml/2006/main">
            <a:off x="3667125" y="21431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53184A1A-AC98-4C8B-BBD9-1754C8ABF746}"/>
              </a:ext>
            </a:extLst>
          </p:cNvPr>
          <p:cNvSpPr>
            <a:spLocks xmlns:a="http://schemas.openxmlformats.org/drawingml/2006/main" noGrp="1"/>
          </p:cNvSpPr>
          <p:nvPr/>
        </p:nvSpPr>
        <p:spPr>
          <a:xfrm xmlns:a="http://schemas.openxmlformats.org/drawingml/2006/main" rot="0">
            <a:off x="3800475" y="22574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5A88ED06-445D-40EB-ABE4-39A37A1FA131}"/>
              </a:ext>
            </a:extLst>
          </p:cNvPr>
          <p:cNvSpPr>
            <a:spLocks xmlns:a="http://schemas.openxmlformats.org/drawingml/2006/main" noGrp="1"/>
          </p:cNvSpPr>
          <p:nvPr/>
        </p:nvSpPr>
        <p:spPr>
          <a:xfrm xmlns:a="http://schemas.openxmlformats.org/drawingml/2006/main">
            <a:off x="3667125" y="28098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9" name="">
            <a:extLst xmlns:a="http://schemas.openxmlformats.org/drawingml/2006/main">
              <a:ext uri="{FF2B5EF4-FFF2-40B4-BE49-F238E27FC236}">
                <a16:creationId xmlns:a16="http://schemas.microsoft.com/office/drawing/2014/main" id="{13804272-3A1C-436B-A097-8AF84ABB5D8F}"/>
              </a:ext>
            </a:extLst>
          </p:cNvPr>
          <p:cNvSpPr>
            <a:spLocks xmlns:a="http://schemas.openxmlformats.org/drawingml/2006/main" noGrp="1"/>
          </p:cNvSpPr>
          <p:nvPr/>
        </p:nvSpPr>
        <p:spPr>
          <a:xfrm xmlns:a="http://schemas.openxmlformats.org/drawingml/2006/main" rot="0">
            <a:off x="3800475" y="29241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F1BEFDA7-27AE-4779-85C3-197182A61BA8}"/>
              </a:ext>
            </a:extLst>
          </p:cNvPr>
          <p:cNvSpPr>
            <a:spLocks xmlns:a="http://schemas.openxmlformats.org/drawingml/2006/main" noGrp="1"/>
          </p:cNvSpPr>
          <p:nvPr/>
        </p:nvSpPr>
        <p:spPr>
          <a:xfrm xmlns:a="http://schemas.openxmlformats.org/drawingml/2006/main">
            <a:off x="3667125" y="347662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1" name="">
            <a:extLst xmlns:a="http://schemas.openxmlformats.org/drawingml/2006/main">
              <a:ext uri="{FF2B5EF4-FFF2-40B4-BE49-F238E27FC236}">
                <a16:creationId xmlns:a16="http://schemas.microsoft.com/office/drawing/2014/main" id="{EE4C91B5-4633-4A68-A72E-330D20F044D2}"/>
              </a:ext>
            </a:extLst>
          </p:cNvPr>
          <p:cNvSpPr>
            <a:spLocks xmlns:a="http://schemas.openxmlformats.org/drawingml/2006/main" noGrp="1"/>
          </p:cNvSpPr>
          <p:nvPr/>
        </p:nvSpPr>
        <p:spPr>
          <a:xfrm xmlns:a="http://schemas.openxmlformats.org/drawingml/2006/main" rot="0">
            <a:off x="3800475" y="3590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C73FBB57-434E-48FE-8E19-0BE726DF8003}"/>
              </a:ext>
            </a:extLst>
          </p:cNvPr>
          <p:cNvSpPr>
            <a:spLocks xmlns:a="http://schemas.openxmlformats.org/drawingml/2006/main" noGrp="1"/>
          </p:cNvSpPr>
          <p:nvPr/>
        </p:nvSpPr>
        <p:spPr>
          <a:xfrm xmlns:a="http://schemas.openxmlformats.org/drawingml/2006/main">
            <a:off x="3667125" y="414337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A54BE49C-5F80-4462-9285-64540111FDB1}"/>
              </a:ext>
            </a:extLst>
          </p:cNvPr>
          <p:cNvSpPr>
            <a:spLocks xmlns:a="http://schemas.openxmlformats.org/drawingml/2006/main" noGrp="1"/>
          </p:cNvSpPr>
          <p:nvPr/>
        </p:nvSpPr>
        <p:spPr>
          <a:xfrm xmlns:a="http://schemas.openxmlformats.org/drawingml/2006/main" rot="0">
            <a:off x="3800475" y="4257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8B5D4733-F558-427C-8A7C-1C4DE3419774}"/>
              </a:ext>
            </a:extLst>
          </p:cNvPr>
          <p:cNvSpPr>
            <a:spLocks xmlns:a="http://schemas.openxmlformats.org/drawingml/2006/main" noGrp="1"/>
          </p:cNvSpPr>
          <p:nvPr/>
        </p:nvSpPr>
        <p:spPr>
          <a:xfrm xmlns:a="http://schemas.openxmlformats.org/drawingml/2006/main">
            <a:off x="3667125" y="52387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5" name="">
            <a:extLst xmlns:a="http://schemas.openxmlformats.org/drawingml/2006/main">
              <a:ext uri="{FF2B5EF4-FFF2-40B4-BE49-F238E27FC236}">
                <a16:creationId xmlns:a16="http://schemas.microsoft.com/office/drawing/2014/main" id="{A0A2D4A6-43D9-4E1F-8EDD-868DFB6EA29D}"/>
              </a:ext>
            </a:extLst>
          </p:cNvPr>
          <p:cNvSpPr>
            <a:spLocks xmlns:a="http://schemas.openxmlformats.org/drawingml/2006/main" noGrp="1"/>
          </p:cNvSpPr>
          <p:nvPr/>
        </p:nvSpPr>
        <p:spPr>
          <a:xfrm xmlns:a="http://schemas.openxmlformats.org/drawingml/2006/main" rot="0">
            <a:off x="3800475" y="5353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4A82ACEB-C2B9-4131-A8A4-5DAEE1FE1FC8}"/>
              </a:ext>
            </a:extLst>
          </p:cNvPr>
          <p:cNvSpPr>
            <a:spLocks xmlns:a="http://schemas.openxmlformats.org/drawingml/2006/main" noGrp="1"/>
          </p:cNvSpPr>
          <p:nvPr/>
        </p:nvSpPr>
        <p:spPr>
          <a:xfrm xmlns:a="http://schemas.openxmlformats.org/drawingml/2006/main">
            <a:off x="5715000" y="4791075"/>
            <a:ext cx="28575"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912FD84-A2A4-4C8C-8587-997376C1673C}"/>
              </a:ext>
            </a:extLst>
          </p:cNvPr>
          <p:cNvSpPr>
            <a:spLocks xmlns:a="http://schemas.openxmlformats.org/drawingml/2006/main" noGrp="1"/>
          </p:cNvSpPr>
          <p:nvPr/>
        </p:nvSpPr>
        <p:spPr>
          <a:xfrm xmlns:a="http://schemas.openxmlformats.org/drawingml/2006/main" rot="10800000">
            <a:off x="5648325" y="49720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70A4BC3C-2B17-499C-8BE0-54555300F374}"/>
              </a:ext>
            </a:extLst>
          </p:cNvPr>
          <p:cNvSpPr>
            <a:spLocks xmlns:a="http://schemas.openxmlformats.org/drawingml/2006/main" noGrp="1"/>
          </p:cNvSpPr>
          <p:nvPr/>
        </p:nvSpPr>
        <p:spPr>
          <a:xfrm xmlns:a="http://schemas.openxmlformats.org/drawingml/2006/main">
            <a:off x="7762875" y="241935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4B3ABC3-F204-4687-BD81-14EEE3781A22}"/>
              </a:ext>
            </a:extLst>
          </p:cNvPr>
          <p:cNvSpPr>
            <a:spLocks xmlns:a="http://schemas.openxmlformats.org/drawingml/2006/main" noGrp="1"/>
          </p:cNvSpPr>
          <p:nvPr/>
        </p:nvSpPr>
        <p:spPr>
          <a:xfrm xmlns:a="http://schemas.openxmlformats.org/drawingml/2006/main">
            <a:off x="9353550" y="2419350"/>
            <a:ext cx="28575" cy="30956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61C38FD-AE0D-4C05-ABF3-8CAB5ACBA2F5}"/>
              </a:ext>
            </a:extLst>
          </p:cNvPr>
          <p:cNvSpPr>
            <a:spLocks xmlns:a="http://schemas.openxmlformats.org/drawingml/2006/main" noGrp="1"/>
          </p:cNvSpPr>
          <p:nvPr/>
        </p:nvSpPr>
        <p:spPr>
          <a:xfrm xmlns:a="http://schemas.openxmlformats.org/drawingml/2006/main">
            <a:off x="7762875" y="54864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1D097CD-39E0-4FA5-99E6-53CB0F91B409}"/>
              </a:ext>
            </a:extLst>
          </p:cNvPr>
          <p:cNvSpPr>
            <a:spLocks xmlns:a="http://schemas.openxmlformats.org/drawingml/2006/main" noGrp="1"/>
          </p:cNvSpPr>
          <p:nvPr/>
        </p:nvSpPr>
        <p:spPr>
          <a:xfrm xmlns:a="http://schemas.openxmlformats.org/drawingml/2006/main" rot="16200000">
            <a:off x="7743825" y="5419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2" name="">
            <a:extLst xmlns:a="http://schemas.openxmlformats.org/drawingml/2006/main">
              <a:ext uri="{FF2B5EF4-FFF2-40B4-BE49-F238E27FC236}">
                <a16:creationId xmlns:a16="http://schemas.microsoft.com/office/drawing/2014/main" id="{01EB8BDB-FF3D-469C-BA39-1E94061059D2}"/>
              </a:ext>
            </a:extLst>
          </p:cNvPr>
          <p:cNvSpPr>
            <a:spLocks xmlns:a="http://schemas.openxmlformats.org/drawingml/2006/main" noGrp="1"/>
          </p:cNvSpPr>
          <p:nvPr/>
        </p:nvSpPr>
        <p:spPr>
          <a:xfrm xmlns:a="http://schemas.openxmlformats.org/drawingml/2006/main" rot="0">
            <a:off x="9572625" y="33337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3" name="">
            <a:extLst xmlns:a="http://schemas.openxmlformats.org/drawingml/2006/main">
              <a:ext uri="{FF2B5EF4-FFF2-40B4-BE49-F238E27FC236}">
                <a16:creationId xmlns:a16="http://schemas.microsoft.com/office/drawing/2014/main" id="{60DF68E3-D5AC-43B5-BE7E-A85CB1B0BC7A}"/>
              </a:ext>
            </a:extLst>
          </p:cNvPr>
          <p:cNvSpPr>
            <a:spLocks xmlns:a="http://schemas.openxmlformats.org/drawingml/2006/main" noGrp="1"/>
          </p:cNvSpPr>
          <p:nvPr/>
        </p:nvSpPr>
        <p:spPr>
          <a:xfrm xmlns:a="http://schemas.openxmlformats.org/drawingml/2006/main" rot="0">
            <a:off x="723900" y="60007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2042291748"/>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AF6166C-9FFB-4FA4-832E-03A4A5551A0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66DF7B-4226-43AA-A71E-E97514BD1CF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現場統合層は横に広げられないが、データ収集層なら今すぐ広げられる</a:t>
            </a:r>
          </a:p>
        </p:txBody>
      </p:sp>
      <p:sp>
        <p:nvSpPr>
          <p:cNvPr id="3" name="">
            <a:extLst xmlns:a="http://schemas.openxmlformats.org/drawingml/2006/main">
              <a:ext uri="{FF2B5EF4-FFF2-40B4-BE49-F238E27FC236}">
                <a16:creationId xmlns:a16="http://schemas.microsoft.com/office/drawing/2014/main" id="{3A80F0DB-927A-48D4-A83E-D2A30CC6B0F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70637E2-A267-444D-948C-4DFA0980758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352FD6E1-58E8-474C-80AA-EF4589BC1FB1}"/>
              </a:ext>
            </a:extLst>
          </p:cNvPr>
          <p:cNvSpPr>
            <a:spLocks xmlns:a="http://schemas.openxmlformats.org/drawingml/2006/main" noGrp="1"/>
          </p:cNvSpPr>
          <p:nvPr/>
        </p:nvSpPr>
        <p:spPr>
          <a:xfrm xmlns:a="http://schemas.openxmlformats.org/drawingml/2006/main" rot="0">
            <a:off x="723900" y="16002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業種をまたぐ技術的障壁がないのはデータ収集層だけである</a:t>
            </a:r>
          </a:p>
        </p:txBody>
      </p:sp>
      <p:sp>
        <p:nvSpPr>
          <p:cNvPr id="6" name="">
            <a:extLst xmlns:a="http://schemas.openxmlformats.org/drawingml/2006/main">
              <a:ext uri="{FF2B5EF4-FFF2-40B4-BE49-F238E27FC236}">
                <a16:creationId xmlns:a16="http://schemas.microsoft.com/office/drawing/2014/main" id="{BEB5D7CB-57C6-4302-AC1F-39B40DBA3284}"/>
              </a:ext>
            </a:extLst>
          </p:cNvPr>
          <p:cNvSpPr>
            <a:spLocks xmlns:a="http://schemas.openxmlformats.org/drawingml/2006/main" noGrp="1"/>
          </p:cNvSpPr>
          <p:nvPr/>
        </p:nvSpPr>
        <p:spPr>
          <a:xfrm xmlns:a="http://schemas.openxmlformats.org/drawingml/2006/main" rot="0">
            <a:off x="857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現場統合層</a:t>
            </a:r>
          </a:p>
        </p:txBody>
      </p:sp>
      <p:sp>
        <p:nvSpPr>
          <p:cNvPr id="7" name="">
            <a:extLst xmlns:a="http://schemas.openxmlformats.org/drawingml/2006/main">
              <a:ext uri="{FF2B5EF4-FFF2-40B4-BE49-F238E27FC236}">
                <a16:creationId xmlns:a16="http://schemas.microsoft.com/office/drawing/2014/main" id="{1E0D6F29-57C9-4DEE-A5EA-7235F373E01B}"/>
              </a:ext>
            </a:extLst>
          </p:cNvPr>
          <p:cNvSpPr>
            <a:spLocks xmlns:a="http://schemas.openxmlformats.org/drawingml/2006/main" noGrp="1"/>
          </p:cNvSpPr>
          <p:nvPr/>
        </p:nvSpPr>
        <p:spPr>
          <a:xfrm xmlns:a="http://schemas.openxmlformats.org/drawingml/2006/main">
            <a:off x="857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2E652EC-DA7D-45EA-B2C5-A109A45B7108}"/>
              </a:ext>
            </a:extLst>
          </p:cNvPr>
          <p:cNvSpPr>
            <a:spLocks xmlns:a="http://schemas.openxmlformats.org/drawingml/2006/main" noGrp="1"/>
          </p:cNvSpPr>
          <p:nvPr/>
        </p:nvSpPr>
        <p:spPr>
          <a:xfrm xmlns:a="http://schemas.openxmlformats.org/drawingml/2006/main">
            <a:off x="857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A856CF6-5014-426D-9D8A-CD7C3B778995}"/>
              </a:ext>
            </a:extLst>
          </p:cNvPr>
          <p:cNvSpPr>
            <a:spLocks xmlns:a="http://schemas.openxmlformats.org/drawingml/2006/main" noGrp="1"/>
          </p:cNvSpPr>
          <p:nvPr/>
        </p:nvSpPr>
        <p:spPr>
          <a:xfrm xmlns:a="http://schemas.openxmlformats.org/drawingml/2006/main" rot="0">
            <a:off x="1104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業種・タスクごとに</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個別の技術開発が必要</a:t>
            </a:r>
          </a:p>
        </p:txBody>
      </p:sp>
      <p:sp>
        <p:nvSpPr>
          <p:cNvPr id="10" name="">
            <a:extLst xmlns:a="http://schemas.openxmlformats.org/drawingml/2006/main">
              <a:ext uri="{FF2B5EF4-FFF2-40B4-BE49-F238E27FC236}">
                <a16:creationId xmlns:a16="http://schemas.microsoft.com/office/drawing/2014/main" id="{1316FCFD-A3A0-4EF8-A8C4-1D899DB3D9B8}"/>
              </a:ext>
            </a:extLst>
          </p:cNvPr>
          <p:cNvSpPr>
            <a:spLocks xmlns:a="http://schemas.openxmlformats.org/drawingml/2006/main" noGrp="1"/>
          </p:cNvSpPr>
          <p:nvPr/>
        </p:nvSpPr>
        <p:spPr>
          <a:xfrm xmlns:a="http://schemas.openxmlformats.org/drawingml/2006/main">
            <a:off x="857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0259CAB-750D-4928-B91C-DC03011B59AB}"/>
              </a:ext>
            </a:extLst>
          </p:cNvPr>
          <p:cNvSpPr>
            <a:spLocks xmlns:a="http://schemas.openxmlformats.org/drawingml/2006/main" noGrp="1"/>
          </p:cNvSpPr>
          <p:nvPr/>
        </p:nvSpPr>
        <p:spPr>
          <a:xfrm xmlns:a="http://schemas.openxmlformats.org/drawingml/2006/main" rot="0">
            <a:off x="1104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横展開している企業は</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現時点でゼロ</a:t>
            </a:r>
          </a:p>
        </p:txBody>
      </p:sp>
      <p:sp>
        <p:nvSpPr>
          <p:cNvPr id="12" name="">
            <a:extLst xmlns:a="http://schemas.openxmlformats.org/drawingml/2006/main">
              <a:ext uri="{FF2B5EF4-FFF2-40B4-BE49-F238E27FC236}">
                <a16:creationId xmlns:a16="http://schemas.microsoft.com/office/drawing/2014/main" id="{5B106117-AC2C-465C-9194-F9DCF98D5CAB}"/>
              </a:ext>
            </a:extLst>
          </p:cNvPr>
          <p:cNvSpPr>
            <a:spLocks xmlns:a="http://schemas.openxmlformats.org/drawingml/2006/main" noGrp="1"/>
          </p:cNvSpPr>
          <p:nvPr/>
        </p:nvSpPr>
        <p:spPr>
          <a:xfrm xmlns:a="http://schemas.openxmlformats.org/drawingml/2006/main">
            <a:off x="6096000" y="2333625"/>
            <a:ext cx="9525" cy="31908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5DEC313-43BF-4E4D-A967-4D3254055CB5}"/>
              </a:ext>
            </a:extLst>
          </p:cNvPr>
          <p:cNvSpPr>
            <a:spLocks xmlns:a="http://schemas.openxmlformats.org/drawingml/2006/main" noGrp="1"/>
          </p:cNvSpPr>
          <p:nvPr/>
        </p:nvSpPr>
        <p:spPr>
          <a:xfrm xmlns:a="http://schemas.openxmlformats.org/drawingml/2006/main" rot="0">
            <a:off x="6572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データ収集層</a:t>
            </a:r>
          </a:p>
        </p:txBody>
      </p:sp>
      <p:sp>
        <p:nvSpPr>
          <p:cNvPr id="14" name="">
            <a:extLst xmlns:a="http://schemas.openxmlformats.org/drawingml/2006/main">
              <a:ext uri="{FF2B5EF4-FFF2-40B4-BE49-F238E27FC236}">
                <a16:creationId xmlns:a16="http://schemas.microsoft.com/office/drawing/2014/main" id="{CA4A07BF-3917-4DFD-A667-3129479155E0}"/>
              </a:ext>
            </a:extLst>
          </p:cNvPr>
          <p:cNvSpPr>
            <a:spLocks xmlns:a="http://schemas.openxmlformats.org/drawingml/2006/main" noGrp="1"/>
          </p:cNvSpPr>
          <p:nvPr/>
        </p:nvSpPr>
        <p:spPr>
          <a:xfrm xmlns:a="http://schemas.openxmlformats.org/drawingml/2006/main">
            <a:off x="6572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BF05798-54F2-4B4A-8788-23B5694FEACF}"/>
              </a:ext>
            </a:extLst>
          </p:cNvPr>
          <p:cNvSpPr>
            <a:spLocks xmlns:a="http://schemas.openxmlformats.org/drawingml/2006/main" noGrp="1"/>
          </p:cNvSpPr>
          <p:nvPr/>
        </p:nvSpPr>
        <p:spPr>
          <a:xfrm xmlns:a="http://schemas.openxmlformats.org/drawingml/2006/main">
            <a:off x="6572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6EF6928-57ED-4375-9717-14F85B485A99}"/>
              </a:ext>
            </a:extLst>
          </p:cNvPr>
          <p:cNvSpPr>
            <a:spLocks xmlns:a="http://schemas.openxmlformats.org/drawingml/2006/main" noGrp="1"/>
          </p:cNvSpPr>
          <p:nvPr/>
        </p:nvSpPr>
        <p:spPr>
          <a:xfrm xmlns:a="http://schemas.openxmlformats.org/drawingml/2006/main" rot="0">
            <a:off x="6819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カメラを装着した人間の</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作業を撮影するだけ</a:t>
            </a:r>
          </a:p>
        </p:txBody>
      </p:sp>
      <p:sp>
        <p:nvSpPr>
          <p:cNvPr id="17" name="">
            <a:extLst xmlns:a="http://schemas.openxmlformats.org/drawingml/2006/main">
              <a:ext uri="{FF2B5EF4-FFF2-40B4-BE49-F238E27FC236}">
                <a16:creationId xmlns:a16="http://schemas.microsoft.com/office/drawing/2014/main" id="{FD4132D4-6885-4AEF-968A-1E18D73FA8C8}"/>
              </a:ext>
            </a:extLst>
          </p:cNvPr>
          <p:cNvSpPr>
            <a:spLocks xmlns:a="http://schemas.openxmlformats.org/drawingml/2006/main" noGrp="1"/>
          </p:cNvSpPr>
          <p:nvPr/>
        </p:nvSpPr>
        <p:spPr>
          <a:xfrm xmlns:a="http://schemas.openxmlformats.org/drawingml/2006/main">
            <a:off x="6572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687AF23-0B7D-47E5-A41A-0A2DCEBCB426}"/>
              </a:ext>
            </a:extLst>
          </p:cNvPr>
          <p:cNvSpPr>
            <a:spLocks xmlns:a="http://schemas.openxmlformats.org/drawingml/2006/main" noGrp="1"/>
          </p:cNvSpPr>
          <p:nvPr/>
        </p:nvSpPr>
        <p:spPr>
          <a:xfrm xmlns:a="http://schemas.openxmlformats.org/drawingml/2006/main" rot="0">
            <a:off x="6819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今の技術で</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複数業種に展開可能</a:t>
            </a:r>
          </a:p>
        </p:txBody>
      </p:sp>
    </p:spTree>
    <p:extLst>
      <p:ext uri="{BB962C8B-B14F-4D97-AF65-F5344CB8AC3E}">
        <p14:creationId xmlns:p14="http://schemas.microsoft.com/office/powerpoint/2010/main" val="12855473"/>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47C16A45-4D05-4BF7-856F-08AFDF8024F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C460FA-53A1-4F20-A6D6-6901C635C9F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5191B"/>
                </a:solidFill>
                <a:latin typeface="Hiragino Sans"/>
                <a:ea typeface="Hiragino Sans"/>
                <a:cs typeface="Hiragino Sans"/>
              </a:defRPr>
            </a:pPr>
            <a:r>
              <a:rPr sz="2400" b="1">
                <a:solidFill>
                  <a:srgbClr val="15191B"/>
                </a:solidFill>
                <a:latin typeface="Hiragino Sans"/>
                <a:ea typeface="Hiragino Sans"/>
                <a:cs typeface="Hiragino Sans"/>
              </a:rPr>
              <a:t>直接競合はまだいない。現場の取り合いが始まっていない</a:t>
            </a:r>
          </a:p>
        </p:txBody>
      </p:sp>
      <p:sp>
        <p:nvSpPr>
          <p:cNvPr id="3" name="">
            <a:extLst xmlns:a="http://schemas.openxmlformats.org/drawingml/2006/main">
              <a:ext uri="{FF2B5EF4-FFF2-40B4-BE49-F238E27FC236}">
                <a16:creationId xmlns:a16="http://schemas.microsoft.com/office/drawing/2014/main" id="{1D078725-AFDB-469B-9E36-7B71021151E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3A5A6C-695D-4521-A4D0-B1C76C94C30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233938B6-F5CA-422C-8ABF-756E608D2DC3}"/>
              </a:ext>
            </a:extLst>
          </p:cNvPr>
          <p:cNvSpPr>
            <a:spLocks xmlns:a="http://schemas.openxmlformats.org/drawingml/2006/main" noGrp="1"/>
          </p:cNvSpPr>
          <p:nvPr/>
        </p:nvSpPr>
        <p:spPr>
          <a:xfrm xmlns:a="http://schemas.openxmlformats.org/drawingml/2006/main">
            <a:off x="723900" y="1809750"/>
            <a:ext cx="1905000" cy="4000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6" name="">
            <a:extLst xmlns:a="http://schemas.openxmlformats.org/drawingml/2006/main">
              <a:ext uri="{FF2B5EF4-FFF2-40B4-BE49-F238E27FC236}">
                <a16:creationId xmlns:a16="http://schemas.microsoft.com/office/drawing/2014/main" id="{24B981ED-40B7-4E69-A23C-854CA07ACA9A}"/>
              </a:ext>
            </a:extLst>
          </p:cNvPr>
          <p:cNvSpPr>
            <a:spLocks xmlns:a="http://schemas.openxmlformats.org/drawingml/2006/main" noGrp="1"/>
          </p:cNvSpPr>
          <p:nvPr/>
        </p:nvSpPr>
        <p:spPr>
          <a:xfrm xmlns:a="http://schemas.openxmlformats.org/drawingml/2006/main">
            <a:off x="2628900" y="1809750"/>
            <a:ext cx="2190750" cy="4000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7" name="">
            <a:extLst xmlns:a="http://schemas.openxmlformats.org/drawingml/2006/main">
              <a:ext uri="{FF2B5EF4-FFF2-40B4-BE49-F238E27FC236}">
                <a16:creationId xmlns:a16="http://schemas.microsoft.com/office/drawing/2014/main" id="{4965371D-BE6F-4B8F-AA4E-510FB0BD0541}"/>
              </a:ext>
            </a:extLst>
          </p:cNvPr>
          <p:cNvSpPr>
            <a:spLocks xmlns:a="http://schemas.openxmlformats.org/drawingml/2006/main" noGrp="1"/>
          </p:cNvSpPr>
          <p:nvPr/>
        </p:nvSpPr>
        <p:spPr>
          <a:xfrm xmlns:a="http://schemas.openxmlformats.org/drawingml/2006/main">
            <a:off x="4819650" y="1809750"/>
            <a:ext cx="6477000" cy="4000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6A6D8365-E089-47B0-8FBC-489713ECD0A3}"/>
              </a:ext>
            </a:extLst>
          </p:cNvPr>
          <p:cNvSpPr>
            <a:spLocks xmlns:a="http://schemas.openxmlformats.org/drawingml/2006/main" noGrp="1"/>
          </p:cNvSpPr>
          <p:nvPr/>
        </p:nvSpPr>
        <p:spPr>
          <a:xfrm xmlns:a="http://schemas.openxmlformats.org/drawingml/2006/main" rot="0">
            <a:off x="876300" y="1914525"/>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地域</a:t>
            </a:r>
          </a:p>
        </p:txBody>
      </p:sp>
      <p:sp>
        <p:nvSpPr>
          <p:cNvPr id="9" name="">
            <a:extLst xmlns:a="http://schemas.openxmlformats.org/drawingml/2006/main">
              <a:ext uri="{FF2B5EF4-FFF2-40B4-BE49-F238E27FC236}">
                <a16:creationId xmlns:a16="http://schemas.microsoft.com/office/drawing/2014/main" id="{0C5D7DAD-0ABC-4C23-B42D-62CC15B36028}"/>
              </a:ext>
            </a:extLst>
          </p:cNvPr>
          <p:cNvSpPr>
            <a:spLocks xmlns:a="http://schemas.openxmlformats.org/drawingml/2006/main" noGrp="1"/>
          </p:cNvSpPr>
          <p:nvPr/>
        </p:nvSpPr>
        <p:spPr>
          <a:xfrm xmlns:a="http://schemas.openxmlformats.org/drawingml/2006/main" rot="0">
            <a:off x="2781300" y="1914525"/>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開拓状況</a:t>
            </a:r>
          </a:p>
        </p:txBody>
      </p:sp>
      <p:sp>
        <p:nvSpPr>
          <p:cNvPr id="10" name="">
            <a:extLst xmlns:a="http://schemas.openxmlformats.org/drawingml/2006/main">
              <a:ext uri="{FF2B5EF4-FFF2-40B4-BE49-F238E27FC236}">
                <a16:creationId xmlns:a16="http://schemas.microsoft.com/office/drawing/2014/main" id="{AE8EFC46-CFD5-4794-9431-27C0F3412A38}"/>
              </a:ext>
            </a:extLst>
          </p:cNvPr>
          <p:cNvSpPr>
            <a:spLocks xmlns:a="http://schemas.openxmlformats.org/drawingml/2006/main" noGrp="1"/>
          </p:cNvSpPr>
          <p:nvPr/>
        </p:nvSpPr>
        <p:spPr>
          <a:xfrm xmlns:a="http://schemas.openxmlformats.org/drawingml/2006/main" rot="0">
            <a:off x="4972050" y="1914525"/>
            <a:ext cx="617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現場との接続</a:t>
            </a:r>
          </a:p>
        </p:txBody>
      </p:sp>
      <p:sp>
        <p:nvSpPr>
          <p:cNvPr id="11" name="">
            <a:extLst xmlns:a="http://schemas.openxmlformats.org/drawingml/2006/main">
              <a:ext uri="{FF2B5EF4-FFF2-40B4-BE49-F238E27FC236}">
                <a16:creationId xmlns:a16="http://schemas.microsoft.com/office/drawing/2014/main" id="{5A9B90A0-4642-4A07-B7B6-CB4454BE9C42}"/>
              </a:ext>
            </a:extLst>
          </p:cNvPr>
          <p:cNvSpPr>
            <a:spLocks xmlns:a="http://schemas.openxmlformats.org/drawingml/2006/main" noGrp="1"/>
          </p:cNvSpPr>
          <p:nvPr/>
        </p:nvSpPr>
        <p:spPr>
          <a:xfrm xmlns:a="http://schemas.openxmlformats.org/drawingml/2006/main">
            <a:off x="723900" y="2209800"/>
            <a:ext cx="19050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38A73DC6-995C-4A55-A0B5-021D0D74145B}"/>
              </a:ext>
            </a:extLst>
          </p:cNvPr>
          <p:cNvSpPr>
            <a:spLocks xmlns:a="http://schemas.openxmlformats.org/drawingml/2006/main" noGrp="1"/>
          </p:cNvSpPr>
          <p:nvPr/>
        </p:nvSpPr>
        <p:spPr>
          <a:xfrm xmlns:a="http://schemas.openxmlformats.org/drawingml/2006/main">
            <a:off x="2628900" y="2209800"/>
            <a:ext cx="219075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D559F96D-3606-4445-9EA5-ED3F3D7573D4}"/>
              </a:ext>
            </a:extLst>
          </p:cNvPr>
          <p:cNvSpPr>
            <a:spLocks xmlns:a="http://schemas.openxmlformats.org/drawingml/2006/main" noGrp="1"/>
          </p:cNvSpPr>
          <p:nvPr/>
        </p:nvSpPr>
        <p:spPr>
          <a:xfrm xmlns:a="http://schemas.openxmlformats.org/drawingml/2006/main">
            <a:off x="4819650" y="2209800"/>
            <a:ext cx="64770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62D5434E-B803-4817-8041-C0FF7ABF4593}"/>
              </a:ext>
            </a:extLst>
          </p:cNvPr>
          <p:cNvSpPr>
            <a:spLocks xmlns:a="http://schemas.openxmlformats.org/drawingml/2006/main" noGrp="1"/>
          </p:cNvSpPr>
          <p:nvPr/>
        </p:nvSpPr>
        <p:spPr>
          <a:xfrm xmlns:a="http://schemas.openxmlformats.org/drawingml/2006/main" rot="0">
            <a:off x="876300" y="2466975"/>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15" name="">
            <a:extLst xmlns:a="http://schemas.openxmlformats.org/drawingml/2006/main">
              <a:ext uri="{FF2B5EF4-FFF2-40B4-BE49-F238E27FC236}">
                <a16:creationId xmlns:a16="http://schemas.microsoft.com/office/drawing/2014/main" id="{8DBB2540-E7D3-4F07-9E6E-050EE89739AC}"/>
              </a:ext>
            </a:extLst>
          </p:cNvPr>
          <p:cNvSpPr>
            <a:spLocks xmlns:a="http://schemas.openxmlformats.org/drawingml/2006/main" noGrp="1"/>
          </p:cNvSpPr>
          <p:nvPr/>
        </p:nvSpPr>
        <p:spPr>
          <a:xfrm xmlns:a="http://schemas.openxmlformats.org/drawingml/2006/main" rot="0">
            <a:off x="2781300" y="24860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急速に進行中</a:t>
            </a:r>
          </a:p>
        </p:txBody>
      </p:sp>
      <p:sp>
        <p:nvSpPr>
          <p:cNvPr id="16" name="">
            <a:extLst xmlns:a="http://schemas.openxmlformats.org/drawingml/2006/main">
              <a:ext uri="{FF2B5EF4-FFF2-40B4-BE49-F238E27FC236}">
                <a16:creationId xmlns:a16="http://schemas.microsoft.com/office/drawing/2014/main" id="{172859FE-9A8B-4EA7-829F-4CEAC47C0939}"/>
              </a:ext>
            </a:extLst>
          </p:cNvPr>
          <p:cNvSpPr>
            <a:spLocks xmlns:a="http://schemas.openxmlformats.org/drawingml/2006/main" noGrp="1"/>
          </p:cNvSpPr>
          <p:nvPr/>
        </p:nvSpPr>
        <p:spPr>
          <a:xfrm xmlns:a="http://schemas.openxmlformats.org/drawingml/2006/main">
            <a:off x="5143500"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5E34DAD4-2771-4C56-892D-263D43F0A413}"/>
              </a:ext>
            </a:extLst>
          </p:cNvPr>
          <p:cNvSpPr>
            <a:spLocks xmlns:a="http://schemas.openxmlformats.org/drawingml/2006/main" noGrp="1"/>
          </p:cNvSpPr>
          <p:nvPr/>
        </p:nvSpPr>
        <p:spPr>
          <a:xfrm xmlns:a="http://schemas.openxmlformats.org/drawingml/2006/main" rot="0">
            <a:off x="5143500"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2011F091-3E73-4CF5-A478-42C00E81DFEA}"/>
              </a:ext>
            </a:extLst>
          </p:cNvPr>
          <p:cNvSpPr>
            <a:spLocks xmlns:a="http://schemas.openxmlformats.org/drawingml/2006/main" noGrp="1"/>
          </p:cNvSpPr>
          <p:nvPr/>
        </p:nvSpPr>
        <p:spPr>
          <a:xfrm xmlns:a="http://schemas.openxmlformats.org/drawingml/2006/main">
            <a:off x="6048375"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692A6EA2-E635-47FC-A781-6A85DE0F1273}"/>
              </a:ext>
            </a:extLst>
          </p:cNvPr>
          <p:cNvSpPr>
            <a:spLocks xmlns:a="http://schemas.openxmlformats.org/drawingml/2006/main" noGrp="1"/>
          </p:cNvSpPr>
          <p:nvPr/>
        </p:nvSpPr>
        <p:spPr>
          <a:xfrm xmlns:a="http://schemas.openxmlformats.org/drawingml/2006/main" rot="0">
            <a:off x="6048375"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42BAD899-7733-44B2-A0C0-8EDE5ED3E8CC}"/>
              </a:ext>
            </a:extLst>
          </p:cNvPr>
          <p:cNvSpPr>
            <a:spLocks xmlns:a="http://schemas.openxmlformats.org/drawingml/2006/main" noGrp="1"/>
          </p:cNvSpPr>
          <p:nvPr/>
        </p:nvSpPr>
        <p:spPr>
          <a:xfrm xmlns:a="http://schemas.openxmlformats.org/drawingml/2006/main">
            <a:off x="6953250"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27FF31AC-19A8-4181-B6BF-A0E1EE85C6C7}"/>
              </a:ext>
            </a:extLst>
          </p:cNvPr>
          <p:cNvSpPr>
            <a:spLocks xmlns:a="http://schemas.openxmlformats.org/drawingml/2006/main" noGrp="1"/>
          </p:cNvSpPr>
          <p:nvPr/>
        </p:nvSpPr>
        <p:spPr>
          <a:xfrm xmlns:a="http://schemas.openxmlformats.org/drawingml/2006/main" rot="0">
            <a:off x="6953250"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2C7BC1BF-1A96-4C26-9CC0-7CA3FE9E302D}"/>
              </a:ext>
            </a:extLst>
          </p:cNvPr>
          <p:cNvSpPr>
            <a:spLocks xmlns:a="http://schemas.openxmlformats.org/drawingml/2006/main" noGrp="1"/>
          </p:cNvSpPr>
          <p:nvPr/>
        </p:nvSpPr>
        <p:spPr>
          <a:xfrm xmlns:a="http://schemas.openxmlformats.org/drawingml/2006/main">
            <a:off x="7858125"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A1A1EB75-FB36-4A3A-A987-6E7BE889162E}"/>
              </a:ext>
            </a:extLst>
          </p:cNvPr>
          <p:cNvSpPr>
            <a:spLocks xmlns:a="http://schemas.openxmlformats.org/drawingml/2006/main" noGrp="1"/>
          </p:cNvSpPr>
          <p:nvPr/>
        </p:nvSpPr>
        <p:spPr>
          <a:xfrm xmlns:a="http://schemas.openxmlformats.org/drawingml/2006/main" rot="0">
            <a:off x="7858125"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4B38652A-646F-4537-BD61-6AB0419640D2}"/>
              </a:ext>
            </a:extLst>
          </p:cNvPr>
          <p:cNvSpPr>
            <a:spLocks xmlns:a="http://schemas.openxmlformats.org/drawingml/2006/main" noGrp="1"/>
          </p:cNvSpPr>
          <p:nvPr/>
        </p:nvSpPr>
        <p:spPr>
          <a:xfrm xmlns:a="http://schemas.openxmlformats.org/drawingml/2006/main">
            <a:off x="8763000" y="237172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AABB6EE1-B66E-4EFC-9697-EE3D61119946}"/>
              </a:ext>
            </a:extLst>
          </p:cNvPr>
          <p:cNvSpPr>
            <a:spLocks xmlns:a="http://schemas.openxmlformats.org/drawingml/2006/main" noGrp="1"/>
          </p:cNvSpPr>
          <p:nvPr/>
        </p:nvSpPr>
        <p:spPr>
          <a:xfrm xmlns:a="http://schemas.openxmlformats.org/drawingml/2006/main" rot="0">
            <a:off x="8763000"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D2A83AAD-FB26-41B5-BFE8-6E7F9F0AF98B}"/>
              </a:ext>
            </a:extLst>
          </p:cNvPr>
          <p:cNvSpPr>
            <a:spLocks xmlns:a="http://schemas.openxmlformats.org/drawingml/2006/main" noGrp="1"/>
          </p:cNvSpPr>
          <p:nvPr/>
        </p:nvSpPr>
        <p:spPr>
          <a:xfrm xmlns:a="http://schemas.openxmlformats.org/drawingml/2006/main">
            <a:off x="9667875" y="2371725"/>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8D5DEBB9-AFFF-4A1D-A3AC-A7D9216530F0}"/>
              </a:ext>
            </a:extLst>
          </p:cNvPr>
          <p:cNvSpPr>
            <a:spLocks xmlns:a="http://schemas.openxmlformats.org/drawingml/2006/main" noGrp="1"/>
          </p:cNvSpPr>
          <p:nvPr/>
        </p:nvSpPr>
        <p:spPr>
          <a:xfrm xmlns:a="http://schemas.openxmlformats.org/drawingml/2006/main" rot="0">
            <a:off x="9667875" y="252412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61676B27-E438-4993-B71F-716A63D93E80}"/>
              </a:ext>
            </a:extLst>
          </p:cNvPr>
          <p:cNvSpPr>
            <a:spLocks xmlns:a="http://schemas.openxmlformats.org/drawingml/2006/main" noGrp="1"/>
          </p:cNvSpPr>
          <p:nvPr/>
        </p:nvSpPr>
        <p:spPr>
          <a:xfrm xmlns:a="http://schemas.openxmlformats.org/drawingml/2006/main">
            <a:off x="723900" y="3019425"/>
            <a:ext cx="19050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C98A8A7C-D731-4247-8875-89C938CAC237}"/>
              </a:ext>
            </a:extLst>
          </p:cNvPr>
          <p:cNvSpPr>
            <a:spLocks xmlns:a="http://schemas.openxmlformats.org/drawingml/2006/main" noGrp="1"/>
          </p:cNvSpPr>
          <p:nvPr/>
        </p:nvSpPr>
        <p:spPr>
          <a:xfrm xmlns:a="http://schemas.openxmlformats.org/drawingml/2006/main">
            <a:off x="2628900" y="3019425"/>
            <a:ext cx="219075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05E6354D-F4C6-4198-903B-443FB3DCA2EE}"/>
              </a:ext>
            </a:extLst>
          </p:cNvPr>
          <p:cNvSpPr>
            <a:spLocks xmlns:a="http://schemas.openxmlformats.org/drawingml/2006/main" noGrp="1"/>
          </p:cNvSpPr>
          <p:nvPr/>
        </p:nvSpPr>
        <p:spPr>
          <a:xfrm xmlns:a="http://schemas.openxmlformats.org/drawingml/2006/main">
            <a:off x="4819650" y="3019425"/>
            <a:ext cx="64770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C231BA81-D2D8-4585-95A7-701D51E2597A}"/>
              </a:ext>
            </a:extLst>
          </p:cNvPr>
          <p:cNvSpPr>
            <a:spLocks xmlns:a="http://schemas.openxmlformats.org/drawingml/2006/main" noGrp="1"/>
          </p:cNvSpPr>
          <p:nvPr/>
        </p:nvSpPr>
        <p:spPr>
          <a:xfrm xmlns:a="http://schemas.openxmlformats.org/drawingml/2006/main" rot="0">
            <a:off x="876300" y="3276600"/>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日本</a:t>
            </a:r>
          </a:p>
        </p:txBody>
      </p:sp>
      <p:sp>
        <p:nvSpPr>
          <p:cNvPr id="32" name="">
            <a:extLst xmlns:a="http://schemas.openxmlformats.org/drawingml/2006/main">
              <a:ext uri="{FF2B5EF4-FFF2-40B4-BE49-F238E27FC236}">
                <a16:creationId xmlns:a16="http://schemas.microsoft.com/office/drawing/2014/main" id="{4F7C68E4-D888-48F7-ABF7-208C45A58081}"/>
              </a:ext>
            </a:extLst>
          </p:cNvPr>
          <p:cNvSpPr>
            <a:spLocks xmlns:a="http://schemas.openxmlformats.org/drawingml/2006/main" noGrp="1"/>
          </p:cNvSpPr>
          <p:nvPr/>
        </p:nvSpPr>
        <p:spPr>
          <a:xfrm xmlns:a="http://schemas.openxmlformats.org/drawingml/2006/main" rot="0">
            <a:off x="2781300" y="329565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ほぼ未開拓</a:t>
            </a:r>
          </a:p>
        </p:txBody>
      </p:sp>
      <p:sp>
        <p:nvSpPr>
          <p:cNvPr id="33" name="">
            <a:extLst xmlns:a="http://schemas.openxmlformats.org/drawingml/2006/main">
              <a:ext uri="{FF2B5EF4-FFF2-40B4-BE49-F238E27FC236}">
                <a16:creationId xmlns:a16="http://schemas.microsoft.com/office/drawing/2014/main" id="{7F2F0379-227E-42D1-BF7C-D3C068567A0A}"/>
              </a:ext>
            </a:extLst>
          </p:cNvPr>
          <p:cNvSpPr>
            <a:spLocks xmlns:a="http://schemas.openxmlformats.org/drawingml/2006/main" noGrp="1"/>
          </p:cNvSpPr>
          <p:nvPr/>
        </p:nvSpPr>
        <p:spPr>
          <a:xfrm xmlns:a="http://schemas.openxmlformats.org/drawingml/2006/main">
            <a:off x="5143500" y="3181350"/>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979D679C-FE0B-4617-9923-1183E64BCD50}"/>
              </a:ext>
            </a:extLst>
          </p:cNvPr>
          <p:cNvSpPr>
            <a:spLocks xmlns:a="http://schemas.openxmlformats.org/drawingml/2006/main" noGrp="1"/>
          </p:cNvSpPr>
          <p:nvPr/>
        </p:nvSpPr>
        <p:spPr>
          <a:xfrm xmlns:a="http://schemas.openxmlformats.org/drawingml/2006/main" rot="0">
            <a:off x="5143500"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35" name="">
            <a:extLst xmlns:a="http://schemas.openxmlformats.org/drawingml/2006/main">
              <a:ext uri="{FF2B5EF4-FFF2-40B4-BE49-F238E27FC236}">
                <a16:creationId xmlns:a16="http://schemas.microsoft.com/office/drawing/2014/main" id="{C416F23F-F931-4546-B60F-F8301D5EFB10}"/>
              </a:ext>
            </a:extLst>
          </p:cNvPr>
          <p:cNvSpPr>
            <a:spLocks xmlns:a="http://schemas.openxmlformats.org/drawingml/2006/main" noGrp="1"/>
          </p:cNvSpPr>
          <p:nvPr/>
        </p:nvSpPr>
        <p:spPr>
          <a:xfrm xmlns:a="http://schemas.openxmlformats.org/drawingml/2006/main">
            <a:off x="6048375"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6" name="">
            <a:extLst xmlns:a="http://schemas.openxmlformats.org/drawingml/2006/main">
              <a:ext uri="{FF2B5EF4-FFF2-40B4-BE49-F238E27FC236}">
                <a16:creationId xmlns:a16="http://schemas.microsoft.com/office/drawing/2014/main" id="{4D7EA56F-2651-4692-8FAD-9580FAB221E1}"/>
              </a:ext>
            </a:extLst>
          </p:cNvPr>
          <p:cNvSpPr>
            <a:spLocks xmlns:a="http://schemas.openxmlformats.org/drawingml/2006/main" noGrp="1"/>
          </p:cNvSpPr>
          <p:nvPr/>
        </p:nvSpPr>
        <p:spPr>
          <a:xfrm xmlns:a="http://schemas.openxmlformats.org/drawingml/2006/main" rot="0">
            <a:off x="6048375"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37" name="">
            <a:extLst xmlns:a="http://schemas.openxmlformats.org/drawingml/2006/main">
              <a:ext uri="{FF2B5EF4-FFF2-40B4-BE49-F238E27FC236}">
                <a16:creationId xmlns:a16="http://schemas.microsoft.com/office/drawing/2014/main" id="{AF3F6E8A-38F4-44FE-BF5C-07FB7D177F28}"/>
              </a:ext>
            </a:extLst>
          </p:cNvPr>
          <p:cNvSpPr>
            <a:spLocks xmlns:a="http://schemas.openxmlformats.org/drawingml/2006/main" noGrp="1"/>
          </p:cNvSpPr>
          <p:nvPr/>
        </p:nvSpPr>
        <p:spPr>
          <a:xfrm xmlns:a="http://schemas.openxmlformats.org/drawingml/2006/main">
            <a:off x="6953250"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8" name="">
            <a:extLst xmlns:a="http://schemas.openxmlformats.org/drawingml/2006/main">
              <a:ext uri="{FF2B5EF4-FFF2-40B4-BE49-F238E27FC236}">
                <a16:creationId xmlns:a16="http://schemas.microsoft.com/office/drawing/2014/main" id="{707EA67B-8C85-4195-91AD-45D77970B4AD}"/>
              </a:ext>
            </a:extLst>
          </p:cNvPr>
          <p:cNvSpPr>
            <a:spLocks xmlns:a="http://schemas.openxmlformats.org/drawingml/2006/main" noGrp="1"/>
          </p:cNvSpPr>
          <p:nvPr/>
        </p:nvSpPr>
        <p:spPr>
          <a:xfrm xmlns:a="http://schemas.openxmlformats.org/drawingml/2006/main" rot="0">
            <a:off x="6953250"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39" name="">
            <a:extLst xmlns:a="http://schemas.openxmlformats.org/drawingml/2006/main">
              <a:ext uri="{FF2B5EF4-FFF2-40B4-BE49-F238E27FC236}">
                <a16:creationId xmlns:a16="http://schemas.microsoft.com/office/drawing/2014/main" id="{A4768D45-BD6D-42FE-8D2F-C948B7B6317E}"/>
              </a:ext>
            </a:extLst>
          </p:cNvPr>
          <p:cNvSpPr>
            <a:spLocks xmlns:a="http://schemas.openxmlformats.org/drawingml/2006/main" noGrp="1"/>
          </p:cNvSpPr>
          <p:nvPr/>
        </p:nvSpPr>
        <p:spPr>
          <a:xfrm xmlns:a="http://schemas.openxmlformats.org/drawingml/2006/main">
            <a:off x="7858125"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0" name="">
            <a:extLst xmlns:a="http://schemas.openxmlformats.org/drawingml/2006/main">
              <a:ext uri="{FF2B5EF4-FFF2-40B4-BE49-F238E27FC236}">
                <a16:creationId xmlns:a16="http://schemas.microsoft.com/office/drawing/2014/main" id="{251AC8CF-052E-4C9E-8AE4-48A5648FEF38}"/>
              </a:ext>
            </a:extLst>
          </p:cNvPr>
          <p:cNvSpPr>
            <a:spLocks xmlns:a="http://schemas.openxmlformats.org/drawingml/2006/main" noGrp="1"/>
          </p:cNvSpPr>
          <p:nvPr/>
        </p:nvSpPr>
        <p:spPr>
          <a:xfrm xmlns:a="http://schemas.openxmlformats.org/drawingml/2006/main" rot="0">
            <a:off x="7858125"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1" name="">
            <a:extLst xmlns:a="http://schemas.openxmlformats.org/drawingml/2006/main">
              <a:ext uri="{FF2B5EF4-FFF2-40B4-BE49-F238E27FC236}">
                <a16:creationId xmlns:a16="http://schemas.microsoft.com/office/drawing/2014/main" id="{ACA62BD5-70A7-4A3C-98E2-07E9EE7CDB56}"/>
              </a:ext>
            </a:extLst>
          </p:cNvPr>
          <p:cNvSpPr>
            <a:spLocks xmlns:a="http://schemas.openxmlformats.org/drawingml/2006/main" noGrp="1"/>
          </p:cNvSpPr>
          <p:nvPr/>
        </p:nvSpPr>
        <p:spPr>
          <a:xfrm xmlns:a="http://schemas.openxmlformats.org/drawingml/2006/main">
            <a:off x="8763000"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2" name="">
            <a:extLst xmlns:a="http://schemas.openxmlformats.org/drawingml/2006/main">
              <a:ext uri="{FF2B5EF4-FFF2-40B4-BE49-F238E27FC236}">
                <a16:creationId xmlns:a16="http://schemas.microsoft.com/office/drawing/2014/main" id="{AD02B7AA-BC9E-4195-B676-225D687E916F}"/>
              </a:ext>
            </a:extLst>
          </p:cNvPr>
          <p:cNvSpPr>
            <a:spLocks xmlns:a="http://schemas.openxmlformats.org/drawingml/2006/main" noGrp="1"/>
          </p:cNvSpPr>
          <p:nvPr/>
        </p:nvSpPr>
        <p:spPr>
          <a:xfrm xmlns:a="http://schemas.openxmlformats.org/drawingml/2006/main" rot="0">
            <a:off x="8763000"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3" name="">
            <a:extLst xmlns:a="http://schemas.openxmlformats.org/drawingml/2006/main">
              <a:ext uri="{FF2B5EF4-FFF2-40B4-BE49-F238E27FC236}">
                <a16:creationId xmlns:a16="http://schemas.microsoft.com/office/drawing/2014/main" id="{CB8D3970-436A-491F-A2D1-1E3C201D702D}"/>
              </a:ext>
            </a:extLst>
          </p:cNvPr>
          <p:cNvSpPr>
            <a:spLocks xmlns:a="http://schemas.openxmlformats.org/drawingml/2006/main" noGrp="1"/>
          </p:cNvSpPr>
          <p:nvPr/>
        </p:nvSpPr>
        <p:spPr>
          <a:xfrm xmlns:a="http://schemas.openxmlformats.org/drawingml/2006/main">
            <a:off x="9667875" y="318135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4" name="">
            <a:extLst xmlns:a="http://schemas.openxmlformats.org/drawingml/2006/main">
              <a:ext uri="{FF2B5EF4-FFF2-40B4-BE49-F238E27FC236}">
                <a16:creationId xmlns:a16="http://schemas.microsoft.com/office/drawing/2014/main" id="{FA083974-F3F6-442F-BB75-15EFED99D84E}"/>
              </a:ext>
            </a:extLst>
          </p:cNvPr>
          <p:cNvSpPr>
            <a:spLocks xmlns:a="http://schemas.openxmlformats.org/drawingml/2006/main" noGrp="1"/>
          </p:cNvSpPr>
          <p:nvPr/>
        </p:nvSpPr>
        <p:spPr>
          <a:xfrm xmlns:a="http://schemas.openxmlformats.org/drawingml/2006/main" rot="0">
            <a:off x="9667875" y="333375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5" name="">
            <a:extLst xmlns:a="http://schemas.openxmlformats.org/drawingml/2006/main">
              <a:ext uri="{FF2B5EF4-FFF2-40B4-BE49-F238E27FC236}">
                <a16:creationId xmlns:a16="http://schemas.microsoft.com/office/drawing/2014/main" id="{9EC92F43-D026-4C5F-AE6D-F3CEA9ECAA99}"/>
              </a:ext>
            </a:extLst>
          </p:cNvPr>
          <p:cNvSpPr>
            <a:spLocks xmlns:a="http://schemas.openxmlformats.org/drawingml/2006/main" noGrp="1"/>
          </p:cNvSpPr>
          <p:nvPr/>
        </p:nvSpPr>
        <p:spPr>
          <a:xfrm xmlns:a="http://schemas.openxmlformats.org/drawingml/2006/main" rot="0">
            <a:off x="723900" y="4143375"/>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46" name="">
            <a:extLst xmlns:a="http://schemas.openxmlformats.org/drawingml/2006/main">
              <a:ext uri="{FF2B5EF4-FFF2-40B4-BE49-F238E27FC236}">
                <a16:creationId xmlns:a16="http://schemas.microsoft.com/office/drawing/2014/main" id="{DE5A9742-0053-4CEC-8113-A4AC37684ED5}"/>
              </a:ext>
            </a:extLst>
          </p:cNvPr>
          <p:cNvSpPr>
            <a:spLocks xmlns:a="http://schemas.openxmlformats.org/drawingml/2006/main" noGrp="1"/>
          </p:cNvSpPr>
          <p:nvPr/>
        </p:nvSpPr>
        <p:spPr>
          <a:xfrm xmlns:a="http://schemas.openxmlformats.org/drawingml/2006/main" rot="0">
            <a:off x="1762125" y="4067175"/>
            <a:ext cx="952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海外のプレイヤーは現時点で日本の現場に来ておらず、同じ撮影先を取り合っていない。撮影先が複数社から一社を選ぶ段階に来て、初めて競合する。</a:t>
            </a:r>
          </a:p>
        </p:txBody>
      </p:sp>
      <p:sp>
        <p:nvSpPr>
          <p:cNvPr id="47" name="">
            <a:extLst xmlns:a="http://schemas.openxmlformats.org/drawingml/2006/main">
              <a:ext uri="{FF2B5EF4-FFF2-40B4-BE49-F238E27FC236}">
                <a16:creationId xmlns:a16="http://schemas.microsoft.com/office/drawing/2014/main" id="{EC258C2F-93AF-4E89-8991-195E67A45516}"/>
              </a:ext>
            </a:extLst>
          </p:cNvPr>
          <p:cNvSpPr>
            <a:spLocks xmlns:a="http://schemas.openxmlformats.org/drawingml/2006/main" noGrp="1"/>
          </p:cNvSpPr>
          <p:nvPr/>
        </p:nvSpPr>
        <p:spPr>
          <a:xfrm xmlns:a="http://schemas.openxmlformats.org/drawingml/2006/main">
            <a:off x="723900" y="48387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6C2AF283-0182-4277-A65E-68E85DCF3E50}"/>
              </a:ext>
            </a:extLst>
          </p:cNvPr>
          <p:cNvSpPr>
            <a:spLocks xmlns:a="http://schemas.openxmlformats.org/drawingml/2006/main" noGrp="1"/>
          </p:cNvSpPr>
          <p:nvPr/>
        </p:nvSpPr>
        <p:spPr>
          <a:xfrm xmlns:a="http://schemas.openxmlformats.org/drawingml/2006/main" rot="0">
            <a:off x="723900" y="5095875"/>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販売先</a:t>
            </a:r>
          </a:p>
        </p:txBody>
      </p:sp>
      <p:sp>
        <p:nvSpPr>
          <p:cNvPr id="49" name="">
            <a:extLst xmlns:a="http://schemas.openxmlformats.org/drawingml/2006/main">
              <a:ext uri="{FF2B5EF4-FFF2-40B4-BE49-F238E27FC236}">
                <a16:creationId xmlns:a16="http://schemas.microsoft.com/office/drawing/2014/main" id="{82D1EA58-D463-48B9-A729-D2915679EF8B}"/>
              </a:ext>
            </a:extLst>
          </p:cNvPr>
          <p:cNvSpPr>
            <a:spLocks xmlns:a="http://schemas.openxmlformats.org/drawingml/2006/main" noGrp="1"/>
          </p:cNvSpPr>
          <p:nvPr/>
        </p:nvSpPr>
        <p:spPr>
          <a:xfrm xmlns:a="http://schemas.openxmlformats.org/drawingml/2006/main" rot="0">
            <a:off x="1762125" y="5019675"/>
            <a:ext cx="952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月間1,000時間ほどの収集規模に達して初めて商談の土俵に乗る。他社が大量のデータを持っていても、現場や作業が違えば新しいデータの需要はなくならない。</a:t>
            </a:r>
          </a:p>
        </p:txBody>
      </p:sp>
      <p:sp>
        <p:nvSpPr>
          <p:cNvPr id="50" name="">
            <a:extLst xmlns:a="http://schemas.openxmlformats.org/drawingml/2006/main">
              <a:ext uri="{FF2B5EF4-FFF2-40B4-BE49-F238E27FC236}">
                <a16:creationId xmlns:a16="http://schemas.microsoft.com/office/drawing/2014/main" id="{B2BD9F5C-5BCF-48BC-9551-3921B2D9F7CB}"/>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今は同業者との取り合いより、空いている現場をどれだけ早く広く集めるかが重要</a:t>
            </a:r>
          </a:p>
        </p:txBody>
      </p:sp>
    </p:spTree>
    <p:extLst>
      <p:ext uri="{BB962C8B-B14F-4D97-AF65-F5344CB8AC3E}">
        <p14:creationId xmlns:p14="http://schemas.microsoft.com/office/powerpoint/2010/main" val="1288860010"/>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A5C6EB8-88E9-468D-B374-3578906A98F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2BA6F7-9941-407D-A1E2-C614C02F7C9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39C5A3BD-200B-4969-82C3-E327A4FC6EE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3ECF52-12C8-424C-9FDE-0AFDA86ABD0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98B30014-EF56-4127-83B8-6BBFC4DD0494}"/>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3F8F8453-EC9E-4BCB-AF13-DE217646EDC3}"/>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6EC6E25-EC4C-4141-A100-93F0632D1ECE}"/>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B95D5843-BF45-4129-B88A-1AEA9CA307D9}"/>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C78B5816-3C45-470D-9E15-1015A5C3DF2A}"/>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A49F3C76-6F20-4D8E-B69C-6F20750B1A44}"/>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6400F98A-A974-469C-9D0B-5E92CEF5567B}"/>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ABE8C1C3-906C-43CE-B542-56BE573D683B}"/>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4243C3EE-19B0-47C4-B849-868082299685}"/>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A59AFB80-BF80-4A1D-B840-64F573B04C4D}"/>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0E153423-B813-48B4-8774-504B4AE4FD37}"/>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業種ごとの法令・ルールへの対応</a:t>
            </a:r>
          </a:p>
        </p:txBody>
      </p:sp>
      <p:sp>
        <p:nvSpPr>
          <p:cNvPr id="16" name="">
            <a:extLst xmlns:a="http://schemas.openxmlformats.org/drawingml/2006/main">
              <a:ext uri="{FF2B5EF4-FFF2-40B4-BE49-F238E27FC236}">
                <a16:creationId xmlns:a16="http://schemas.microsoft.com/office/drawing/2014/main" id="{4877FA4D-BCFC-40F5-812F-0C366648288E}"/>
              </a:ext>
            </a:extLst>
          </p:cNvPr>
          <p:cNvSpPr>
            <a:spLocks xmlns:a="http://schemas.openxmlformats.org/drawingml/2006/main" noGrp="1"/>
          </p:cNvSpPr>
          <p:nvPr/>
        </p:nvSpPr>
        <p:spPr>
          <a:xfrm xmlns:a="http://schemas.openxmlformats.org/drawingml/2006/main">
            <a:off x="1133475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1D24065-29EA-4F52-AB2F-71932BA415B3}"/>
              </a:ext>
            </a:extLst>
          </p:cNvPr>
          <p:cNvSpPr>
            <a:spLocks xmlns:a="http://schemas.openxmlformats.org/drawingml/2006/main" noGrp="1"/>
          </p:cNvSpPr>
          <p:nvPr/>
        </p:nvSpPr>
        <p:spPr>
          <a:xfrm xmlns:a="http://schemas.openxmlformats.org/drawingml/2006/main" rot="0">
            <a:off x="1126807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7EC7EF6C-747E-454B-9915-FD6122BD088E}"/>
              </a:ext>
            </a:extLst>
          </p:cNvPr>
          <p:cNvSpPr>
            <a:spLocks xmlns:a="http://schemas.openxmlformats.org/drawingml/2006/main" noGrp="1"/>
          </p:cNvSpPr>
          <p:nvPr/>
        </p:nvSpPr>
        <p:spPr>
          <a:xfrm xmlns:a="http://schemas.openxmlformats.org/drawingml/2006/main" rot="0">
            <a:off x="9239250" y="4171950"/>
            <a:ext cx="1857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後発は関係と運用を</a:t>
            </a:r>
          </a:p>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一から積み直す</a:t>
            </a:r>
          </a:p>
        </p:txBody>
      </p:sp>
      <p:sp>
        <p:nvSpPr>
          <p:cNvPr id="19" name="">
            <a:extLst xmlns:a="http://schemas.openxmlformats.org/drawingml/2006/main">
              <a:ext uri="{FF2B5EF4-FFF2-40B4-BE49-F238E27FC236}">
                <a16:creationId xmlns:a16="http://schemas.microsoft.com/office/drawing/2014/main" id="{9EF014F5-DA41-4DD4-8261-3C277D68899C}"/>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1934180477"/>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7A0417D-45E0-4133-9C58-39BC6077AAA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00F0C4-BA06-4EB4-8E32-F5853A793D0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15191B"/>
                </a:solidFill>
                <a:latin typeface="Hiragino Sans"/>
                <a:ea typeface="Hiragino Sans"/>
                <a:cs typeface="Hiragino Sans"/>
              </a:defRPr>
            </a:pPr>
            <a:r>
              <a:rPr sz="2475" b="1">
                <a:solidFill>
                  <a:srgbClr val="15191B"/>
                </a:solidFill>
                <a:latin typeface="Hiragino Sans"/>
                <a:ea typeface="Hiragino Sans"/>
                <a:cs typeface="Hiragino Sans"/>
              </a:rPr>
              <a:t>現場データを先に持つことで、ロボット導入まで進みやすくなる</a:t>
            </a:r>
          </a:p>
        </p:txBody>
      </p:sp>
      <p:sp>
        <p:nvSpPr>
          <p:cNvPr id="3" name="">
            <a:extLst xmlns:a="http://schemas.openxmlformats.org/drawingml/2006/main">
              <a:ext uri="{FF2B5EF4-FFF2-40B4-BE49-F238E27FC236}">
                <a16:creationId xmlns:a16="http://schemas.microsoft.com/office/drawing/2014/main" id="{36CB6311-EA8E-4EEC-B532-889275E87D5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529E257-59E1-4426-8A5C-8EA1B94FF69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7EC541A8-1F2B-4F10-877F-77498D612289}"/>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0E8731E4-5265-456E-B69E-F5FBE199417A}"/>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D9F2CF19-2840-42AC-BCFC-B63C4476CFE4}"/>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94790903-8692-486B-BFEF-782762D3165C}"/>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人間の作業の流れを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4486DFEF-4201-4921-9C03-21BBF5BBB402}"/>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6FAE8CB-C88D-4851-A326-555C4772204D}"/>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08166954-9A72-457D-A526-824966BBB946}"/>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5B7DF11A-8E42-41C9-A0C9-D40A56EE3074}"/>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0F2D2662-73AB-4164-BF3C-3976F4FBC19D}"/>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AB51D2E9-1D02-4F98-A63F-253789A9E44E}"/>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26C9B4B-6834-4869-B619-349CB6101663}"/>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04AF06E1-CC25-4840-A939-E488F2193007}"/>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72A766F7-2EAD-4CE4-989C-5E098E7004B3}"/>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4962E889-DF60-44FC-9767-0CD98692A3C1}"/>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6CB29E9C-5B20-4739-8562-9DD4A4B2DDB2}"/>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ロボットを</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現場へ導入</a:t>
            </a:r>
          </a:p>
        </p:txBody>
      </p:sp>
      <p:sp>
        <p:nvSpPr>
          <p:cNvPr id="20" name="">
            <a:extLst xmlns:a="http://schemas.openxmlformats.org/drawingml/2006/main">
              <a:ext uri="{FF2B5EF4-FFF2-40B4-BE49-F238E27FC236}">
                <a16:creationId xmlns:a16="http://schemas.microsoft.com/office/drawing/2014/main" id="{135B3D6C-A942-4A34-A7FF-D6C4ED5008CD}"/>
              </a:ext>
            </a:extLst>
          </p:cNvPr>
          <p:cNvSpPr>
            <a:spLocks xmlns:a="http://schemas.openxmlformats.org/drawingml/2006/main" noGrp="1"/>
          </p:cNvSpPr>
          <p:nvPr/>
        </p:nvSpPr>
        <p:spPr>
          <a:xfrm xmlns:a="http://schemas.openxmlformats.org/drawingml/2006/main" rot="0">
            <a:off x="8953500" y="37623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作業に合わせて導入・運用を調整</a:t>
            </a:r>
          </a:p>
        </p:txBody>
      </p:sp>
      <p:sp>
        <p:nvSpPr>
          <p:cNvPr id="21" name="">
            <a:extLst xmlns:a="http://schemas.openxmlformats.org/drawingml/2006/main">
              <a:ext uri="{FF2B5EF4-FFF2-40B4-BE49-F238E27FC236}">
                <a16:creationId xmlns:a16="http://schemas.microsoft.com/office/drawing/2014/main" id="{986E49A9-E5EF-4A12-B943-528839F5D346}"/>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FCD4311-CCD7-4BF0-8C52-296E28D2E35F}"/>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ロボット企業と協業し、自ら導入と運用調整を担うこともできる</a:t>
            </a:r>
          </a:p>
        </p:txBody>
      </p:sp>
    </p:spTree>
    <p:extLst>
      <p:ext uri="{BB962C8B-B14F-4D97-AF65-F5344CB8AC3E}">
        <p14:creationId xmlns:p14="http://schemas.microsoft.com/office/powerpoint/2010/main" val="810011423"/>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16C63D5-B372-4E9F-A6AE-07EEBDE2B2F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694326-4DEE-44F4-B766-79523EC56D3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A2705F99-FBF1-4F20-85E7-917D8279A45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62AC7F-5806-434B-8197-CCAEC1C5BFC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F5DA723D-2D0A-4874-8728-19DBBCCFB59D}"/>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5F326045-05ED-4A08-B555-33DDFC02B109}"/>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DBBB6A5F-0D44-4244-96ED-C5B19D3745A6}"/>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データ収集・販売による収益を確保する。現場との関係構築と、業種ごとの法令・ルールへの対応を通じて、後発が真似できない参入障壁を積み上げる。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73B8906A-7942-447F-8A77-422F4CA6A5EB}"/>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EB753B6-C2C5-4D30-95C6-C1E6FA0E02EE}"/>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6950E7FD-BB7D-4850-B173-497D2105E9C9}"/>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自らロボットの現場導入を担う</a:t>
            </a:r>
          </a:p>
        </p:txBody>
      </p:sp>
      <p:sp>
        <p:nvSpPr>
          <p:cNvPr id="11" name="">
            <a:extLst xmlns:a="http://schemas.openxmlformats.org/drawingml/2006/main">
              <a:ext uri="{FF2B5EF4-FFF2-40B4-BE49-F238E27FC236}">
                <a16:creationId xmlns:a16="http://schemas.microsoft.com/office/drawing/2014/main" id="{87C41FB2-07CA-4540-85D8-B3D9EFE394D1}"/>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まず既存ロボットを現場へ導入し、作業に合わせて運用を調整する。その後、現場データを使った動作モデルと実機の改良まで自社で担う。</a:t>
            </a:r>
          </a:p>
        </p:txBody>
      </p:sp>
      <p:sp>
        <p:nvSpPr>
          <p:cNvPr id="12" name="">
            <a:extLst xmlns:a="http://schemas.openxmlformats.org/drawingml/2006/main">
              <a:ext uri="{FF2B5EF4-FFF2-40B4-BE49-F238E27FC236}">
                <a16:creationId xmlns:a16="http://schemas.microsoft.com/office/drawing/2014/main" id="{9C3680B5-BB8C-48CD-B4BC-11316E67D1EE}"/>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2084295549"/>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484BB44-F325-4D53-AAC0-92E01E13048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E1D91C-8FA2-49CB-A086-F792A9342C2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B4ED86CD-4D09-4B03-A644-9BB127013F9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C1BE94F-CAB9-47C4-BB74-FDB0A2BC393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500C3299-DED1-43EF-90CD-B4C2EF1FA3DE}"/>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98D2B1EA-ABBE-4EB1-A4A2-32A3B6F8977E}"/>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4F0B6B1C-7E13-44FB-AD4A-B207114529E5}"/>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094957B9-F8C5-4EE6-A568-A6B07DE5B9BC}"/>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593A0ADA-934B-4C8A-8D5D-93F4C6E5B5DF}"/>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43B41B10-D728-4C63-A624-3D105065245F}"/>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CD14CE06-DC54-4B75-ABF2-96DCFB24A003}"/>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6E6D696-812C-4ABE-A1CA-303D8F26B7F8}"/>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C340009E-DBCD-4655-9B14-D0C82A40E01E}"/>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販売までの運用</a:t>
            </a:r>
          </a:p>
        </p:txBody>
      </p:sp>
      <p:sp>
        <p:nvSpPr>
          <p:cNvPr id="14" name="">
            <a:extLst xmlns:a="http://schemas.openxmlformats.org/drawingml/2006/main">
              <a:ext uri="{FF2B5EF4-FFF2-40B4-BE49-F238E27FC236}">
                <a16:creationId xmlns:a16="http://schemas.microsoft.com/office/drawing/2014/main" id="{D22441D5-EFF6-4B26-8E73-91E879D799D0}"/>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E085ED46-061E-41E4-9B75-09BB4C6C3DEE}"/>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データ購入企業</a:t>
            </a:r>
          </a:p>
        </p:txBody>
      </p:sp>
      <p:sp>
        <p:nvSpPr>
          <p:cNvPr id="16" name="">
            <a:extLst xmlns:a="http://schemas.openxmlformats.org/drawingml/2006/main">
              <a:ext uri="{FF2B5EF4-FFF2-40B4-BE49-F238E27FC236}">
                <a16:creationId xmlns:a16="http://schemas.microsoft.com/office/drawing/2014/main" id="{6B8CD534-C1CE-4BF9-AB96-A368F2BA3CDC}"/>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ED23FF1E-9480-434C-BAC0-60833F2D676B}"/>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A120C58-05C4-48F6-A113-9348036050B7}"/>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96B7E73-412D-457D-B8CE-B56DE4E26AB5}"/>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7F180A7C-3115-4B5D-A51C-730B264B6A52}"/>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F03E9F78-F311-4149-9855-8767ECDC1614}"/>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9BD40AF-C02C-4FE4-8BD5-31AAD798C38E}"/>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1681868879"/>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561F853-221F-4E89-9256-EEDAD21C0D9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6788DC-B5DE-483D-859A-E867AEAC8DD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AFE386D5-C533-46BD-8BF5-0B8F55B9E5B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F295DB3-E5F6-45CC-BC92-63AB6F36B63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9641F868-3B25-4745-A956-C6BF4CD37F74}"/>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09CB47D3-5E64-4B5D-9FB7-55EB9F61019B}"/>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8069FFEE-E59E-4B49-B4AA-B5B1FFB8DB2D}"/>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DC6C376-1924-4D2B-BEB6-0647B7006BA2}"/>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0B51AB0A-D231-4CF1-9D06-D542E4F216C2}"/>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95104993-48FA-425A-B081-33003D6FD119}"/>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E2AADA1-07EF-45C7-AB4E-9ADE955C3834}"/>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43EC4A9C-1767-4756-983C-08A5C587215E}"/>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64BE7AAA-7A54-44E7-A01E-08EBB75CE94A}"/>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D6DE752-9014-4FC6-B8CC-A0AE6D1F41E6}"/>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73039C5E-2557-404A-930D-B8E8C8E3E0C2}"/>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7558FDCC-05C1-450B-A741-0CD4452FFD2D}"/>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4771859-5E5C-4D70-9AEB-85DFC9B773F4}"/>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903A0BA1-A695-4960-B333-B2BD5D7D00D5}"/>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894046928"/>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484563D-8272-4C06-A152-4DD99655899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B2BF56-C569-4DBC-9B67-B3C4B4B4A5D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449E8D24-7392-46C6-B7CB-B981CADD598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370808-4402-493B-B7F8-7DC7B8042ED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3FFAF1B1-95CE-47CB-9DE6-CDC3AEE1EE5F}"/>
              </a:ext>
            </a:extLst>
          </p:cNvPr>
          <p:cNvSpPr>
            <a:spLocks xmlns:a="http://schemas.openxmlformats.org/drawingml/2006/main" noGrp="1"/>
          </p:cNvSpPr>
          <p:nvPr/>
        </p:nvSpPr>
        <p:spPr>
          <a:xfrm xmlns:a="http://schemas.openxmlformats.org/drawingml/2006/main" rot="0">
            <a:off x="723900" y="15049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販売先は確保できる段階にある。収集規模の拡大が課題になる</a:t>
            </a:r>
          </a:p>
        </p:txBody>
      </p:sp>
      <p:sp>
        <p:nvSpPr>
          <p:cNvPr id="6" name="">
            <a:extLst xmlns:a="http://schemas.openxmlformats.org/drawingml/2006/main">
              <a:ext uri="{FF2B5EF4-FFF2-40B4-BE49-F238E27FC236}">
                <a16:creationId xmlns:a16="http://schemas.microsoft.com/office/drawing/2014/main" id="{C333B8C8-5970-4547-9136-438057698557}"/>
              </a:ext>
            </a:extLst>
          </p:cNvPr>
          <p:cNvSpPr>
            <a:spLocks xmlns:a="http://schemas.openxmlformats.org/drawingml/2006/main" noGrp="1"/>
          </p:cNvSpPr>
          <p:nvPr/>
        </p:nvSpPr>
        <p:spPr>
          <a:xfrm xmlns:a="http://schemas.openxmlformats.org/drawingml/2006/main" rot="0">
            <a:off x="857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12088BF7-6598-4143-B936-95F96E2B9107}"/>
              </a:ext>
            </a:extLst>
          </p:cNvPr>
          <p:cNvSpPr>
            <a:spLocks xmlns:a="http://schemas.openxmlformats.org/drawingml/2006/main" noGrp="1"/>
          </p:cNvSpPr>
          <p:nvPr/>
        </p:nvSpPr>
        <p:spPr>
          <a:xfrm xmlns:a="http://schemas.openxmlformats.org/drawingml/2006/main">
            <a:off x="857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8ACDCA0-AA5F-4552-B900-C74E80F1EF9C}"/>
              </a:ext>
            </a:extLst>
          </p:cNvPr>
          <p:cNvSpPr>
            <a:spLocks xmlns:a="http://schemas.openxmlformats.org/drawingml/2006/main" noGrp="1"/>
          </p:cNvSpPr>
          <p:nvPr/>
        </p:nvSpPr>
        <p:spPr>
          <a:xfrm xmlns:a="http://schemas.openxmlformats.org/drawingml/2006/main">
            <a:off x="857250" y="2905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4361CFE-E7E9-4559-AB58-0DD8CF4A3CDE}"/>
              </a:ext>
            </a:extLst>
          </p:cNvPr>
          <p:cNvSpPr>
            <a:spLocks xmlns:a="http://schemas.openxmlformats.org/drawingml/2006/main" noGrp="1"/>
          </p:cNvSpPr>
          <p:nvPr/>
        </p:nvSpPr>
        <p:spPr>
          <a:xfrm xmlns:a="http://schemas.openxmlformats.org/drawingml/2006/main" rot="0">
            <a:off x="1104900" y="27432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5191B"/>
                </a:solidFill>
                <a:latin typeface="Hiragino Sans"/>
                <a:ea typeface="Hiragino Sans"/>
                <a:cs typeface="Hiragino Sans"/>
              </a:defRPr>
            </a:pPr>
            <a:r>
              <a:rPr sz="1575" b="1">
                <a:solidFill>
                  <a:srgbClr val="15191B"/>
                </a:solidFill>
                <a:latin typeface="Hiragino Sans"/>
                <a:ea typeface="Hiragino Sans"/>
                <a:cs typeface="Hiragino Sans"/>
              </a:rPr>
              <a:t>8社とサンプルのやり取りまで到達</a:t>
            </a:r>
          </a:p>
        </p:txBody>
      </p:sp>
      <p:sp>
        <p:nvSpPr>
          <p:cNvPr id="10" name="">
            <a:extLst xmlns:a="http://schemas.openxmlformats.org/drawingml/2006/main">
              <a:ext uri="{FF2B5EF4-FFF2-40B4-BE49-F238E27FC236}">
                <a16:creationId xmlns:a16="http://schemas.microsoft.com/office/drawing/2014/main" id="{7242DC1C-3F06-48F5-A26E-5F8B200B9801}"/>
              </a:ext>
            </a:extLst>
          </p:cNvPr>
          <p:cNvSpPr>
            <a:spLocks xmlns:a="http://schemas.openxmlformats.org/drawingml/2006/main" noGrp="1"/>
          </p:cNvSpPr>
          <p:nvPr/>
        </p:nvSpPr>
        <p:spPr>
          <a:xfrm xmlns:a="http://schemas.openxmlformats.org/drawingml/2006/main">
            <a:off x="857250" y="38576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505B272-366A-41D9-BED1-11AF2E15887B}"/>
              </a:ext>
            </a:extLst>
          </p:cNvPr>
          <p:cNvSpPr>
            <a:spLocks xmlns:a="http://schemas.openxmlformats.org/drawingml/2006/main" noGrp="1"/>
          </p:cNvSpPr>
          <p:nvPr/>
        </p:nvSpPr>
        <p:spPr>
          <a:xfrm xmlns:a="http://schemas.openxmlformats.org/drawingml/2006/main" rot="0">
            <a:off x="1104900" y="366712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合意に至るのが難しいのは、収集規模がまだ小さく、</a:t>
            </a:r>
          </a:p>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先方での優先度が上がらないため</a:t>
            </a:r>
          </a:p>
        </p:txBody>
      </p:sp>
      <p:sp>
        <p:nvSpPr>
          <p:cNvPr id="12" name="">
            <a:extLst xmlns:a="http://schemas.openxmlformats.org/drawingml/2006/main">
              <a:ext uri="{FF2B5EF4-FFF2-40B4-BE49-F238E27FC236}">
                <a16:creationId xmlns:a16="http://schemas.microsoft.com/office/drawing/2014/main" id="{52ED7759-3761-466A-9233-FC056DFEFBEB}"/>
              </a:ext>
            </a:extLst>
          </p:cNvPr>
          <p:cNvSpPr>
            <a:spLocks xmlns:a="http://schemas.openxmlformats.org/drawingml/2006/main" noGrp="1"/>
          </p:cNvSpPr>
          <p:nvPr/>
        </p:nvSpPr>
        <p:spPr>
          <a:xfrm xmlns:a="http://schemas.openxmlformats.org/drawingml/2006/main">
            <a:off x="6096000" y="1857375"/>
            <a:ext cx="9525" cy="361950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A4B3F1E-35A3-481A-B240-CD759E24EDF9}"/>
              </a:ext>
            </a:extLst>
          </p:cNvPr>
          <p:cNvSpPr>
            <a:spLocks xmlns:a="http://schemas.openxmlformats.org/drawingml/2006/main" noGrp="1"/>
          </p:cNvSpPr>
          <p:nvPr/>
        </p:nvSpPr>
        <p:spPr>
          <a:xfrm xmlns:a="http://schemas.openxmlformats.org/drawingml/2006/main" rot="0">
            <a:off x="6572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国内｜Nextremer</a:t>
            </a:r>
          </a:p>
        </p:txBody>
      </p:sp>
      <p:sp>
        <p:nvSpPr>
          <p:cNvPr id="14" name="">
            <a:extLst xmlns:a="http://schemas.openxmlformats.org/drawingml/2006/main">
              <a:ext uri="{FF2B5EF4-FFF2-40B4-BE49-F238E27FC236}">
                <a16:creationId xmlns:a16="http://schemas.microsoft.com/office/drawing/2014/main" id="{24AF0FAD-EFA6-4E75-8DA0-C7F7C5975FE4}"/>
              </a:ext>
            </a:extLst>
          </p:cNvPr>
          <p:cNvSpPr>
            <a:spLocks xmlns:a="http://schemas.openxmlformats.org/drawingml/2006/main" noGrp="1"/>
          </p:cNvSpPr>
          <p:nvPr/>
        </p:nvSpPr>
        <p:spPr>
          <a:xfrm xmlns:a="http://schemas.openxmlformats.org/drawingml/2006/main">
            <a:off x="6572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05942FA-82EA-472E-A047-6214424ADF13}"/>
              </a:ext>
            </a:extLst>
          </p:cNvPr>
          <p:cNvSpPr>
            <a:spLocks xmlns:a="http://schemas.openxmlformats.org/drawingml/2006/main" noGrp="1"/>
          </p:cNvSpPr>
          <p:nvPr/>
        </p:nvSpPr>
        <p:spPr>
          <a:xfrm xmlns:a="http://schemas.openxmlformats.org/drawingml/2006/main">
            <a:off x="6572250" y="28575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232A543-ABAE-4BDF-8DAE-68079D7F3AA4}"/>
              </a:ext>
            </a:extLst>
          </p:cNvPr>
          <p:cNvSpPr>
            <a:spLocks xmlns:a="http://schemas.openxmlformats.org/drawingml/2006/main" noGrp="1"/>
          </p:cNvSpPr>
          <p:nvPr/>
        </p:nvSpPr>
        <p:spPr>
          <a:xfrm xmlns:a="http://schemas.openxmlformats.org/drawingml/2006/main" rot="0">
            <a:off x="6819900" y="268605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販売手数料なしの売上分配。</a:t>
            </a:r>
          </a:p>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当社は現場開拓とデータ収集に専念できる</a:t>
            </a:r>
          </a:p>
        </p:txBody>
      </p:sp>
      <p:sp>
        <p:nvSpPr>
          <p:cNvPr id="17" name="">
            <a:extLst xmlns:a="http://schemas.openxmlformats.org/drawingml/2006/main">
              <a:ext uri="{FF2B5EF4-FFF2-40B4-BE49-F238E27FC236}">
                <a16:creationId xmlns:a16="http://schemas.microsoft.com/office/drawing/2014/main" id="{90591FF3-A04D-49E0-A8D8-FB89F98F1D5C}"/>
              </a:ext>
            </a:extLst>
          </p:cNvPr>
          <p:cNvSpPr>
            <a:spLocks xmlns:a="http://schemas.openxmlformats.org/drawingml/2006/main" noGrp="1"/>
          </p:cNvSpPr>
          <p:nvPr/>
        </p:nvSpPr>
        <p:spPr>
          <a:xfrm xmlns:a="http://schemas.openxmlformats.org/drawingml/2006/main">
            <a:off x="6572250" y="3714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166FD19-767C-4CE1-B164-D6BB400AB365}"/>
              </a:ext>
            </a:extLst>
          </p:cNvPr>
          <p:cNvSpPr>
            <a:spLocks xmlns:a="http://schemas.openxmlformats.org/drawingml/2006/main" noGrp="1"/>
          </p:cNvSpPr>
          <p:nvPr/>
        </p:nvSpPr>
        <p:spPr>
          <a:xfrm xmlns:a="http://schemas.openxmlformats.org/drawingml/2006/main" rot="0">
            <a:off x="6819900" y="354330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データの加工・販売サービスに掲載予定。</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現場合意の手順を共同で構築中</a:t>
            </a:r>
          </a:p>
        </p:txBody>
      </p:sp>
      <p:sp>
        <p:nvSpPr>
          <p:cNvPr id="19" name="">
            <a:extLst xmlns:a="http://schemas.openxmlformats.org/drawingml/2006/main">
              <a:ext uri="{FF2B5EF4-FFF2-40B4-BE49-F238E27FC236}">
                <a16:creationId xmlns:a16="http://schemas.microsoft.com/office/drawing/2014/main" id="{4B117F43-8005-46C3-A32C-32FD2261772E}"/>
              </a:ext>
            </a:extLst>
          </p:cNvPr>
          <p:cNvSpPr>
            <a:spLocks xmlns:a="http://schemas.openxmlformats.org/drawingml/2006/main" noGrp="1"/>
          </p:cNvSpPr>
          <p:nvPr/>
        </p:nvSpPr>
        <p:spPr>
          <a:xfrm xmlns:a="http://schemas.openxmlformats.org/drawingml/2006/main">
            <a:off x="6572250" y="45720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C71CB6F-AB79-4354-9AB4-CF4E5EDFFC30}"/>
              </a:ext>
            </a:extLst>
          </p:cNvPr>
          <p:cNvSpPr>
            <a:spLocks xmlns:a="http://schemas.openxmlformats.org/drawingml/2006/main" noGrp="1"/>
          </p:cNvSpPr>
          <p:nvPr/>
        </p:nvSpPr>
        <p:spPr>
          <a:xfrm xmlns:a="http://schemas.openxmlformats.org/drawingml/2006/main" rot="0">
            <a:off x="6819900" y="440055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作業内容などの情報を付けたデータとして</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高単価の販売先にも提案できる</a:t>
            </a:r>
          </a:p>
        </p:txBody>
      </p:sp>
    </p:spTree>
    <p:extLst>
      <p:ext uri="{BB962C8B-B14F-4D97-AF65-F5344CB8AC3E}">
        <p14:creationId xmlns:p14="http://schemas.microsoft.com/office/powerpoint/2010/main" val="1301243058"/>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DCB3934-D671-4BB2-9248-E512363447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34E299-93E1-46AA-A6E6-F2AB30BD626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953F80BE-77EE-4EF3-93CC-C556AB63AF0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22BE41A-FCD8-4183-B7E3-AB01FD8DF15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6C7B5D6B-1139-474F-8C6F-385D3A216EDB}"/>
              </a:ext>
            </a:extLst>
          </p:cNvPr>
          <p:cNvSpPr>
            <a:spLocks xmlns:a="http://schemas.openxmlformats.org/drawingml/2006/main" noGrp="1"/>
          </p:cNvSpPr>
          <p:nvPr/>
        </p:nvSpPr>
        <p:spPr>
          <a:xfrm xmlns:a="http://schemas.openxmlformats.org/drawingml/2006/main" rot="0">
            <a:off x="723900" y="1762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森雄大</a:t>
            </a:r>
          </a:p>
        </p:txBody>
      </p:sp>
      <p:sp>
        <p:nvSpPr>
          <p:cNvPr id="6" name="">
            <a:extLst xmlns:a="http://schemas.openxmlformats.org/drawingml/2006/main">
              <a:ext uri="{FF2B5EF4-FFF2-40B4-BE49-F238E27FC236}">
                <a16:creationId xmlns:a16="http://schemas.microsoft.com/office/drawing/2014/main" id="{D051E168-E502-4421-86B1-4DF5936552BE}"/>
              </a:ext>
            </a:extLst>
          </p:cNvPr>
          <p:cNvSpPr>
            <a:spLocks xmlns:a="http://schemas.openxmlformats.org/drawingml/2006/main" noGrp="1"/>
          </p:cNvSpPr>
          <p:nvPr/>
        </p:nvSpPr>
        <p:spPr>
          <a:xfrm xmlns:a="http://schemas.openxmlformats.org/drawingml/2006/main" rot="0">
            <a:off x="723900" y="2085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7" name="">
            <a:extLst xmlns:a="http://schemas.openxmlformats.org/drawingml/2006/main">
              <a:ext uri="{FF2B5EF4-FFF2-40B4-BE49-F238E27FC236}">
                <a16:creationId xmlns:a16="http://schemas.microsoft.com/office/drawing/2014/main" id="{78CDD18A-963A-4BFF-ACF5-50A380F4ADC0}"/>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8" name="">
            <a:extLst xmlns:a="http://schemas.openxmlformats.org/drawingml/2006/main">
              <a:ext uri="{FF2B5EF4-FFF2-40B4-BE49-F238E27FC236}">
                <a16:creationId xmlns:a16="http://schemas.microsoft.com/office/drawing/2014/main" id="{0B981988-AEC5-4386-990B-4F4C500830E3}"/>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0D57EB0-3EC2-4F3A-A723-6E00FB0B2F0D}"/>
              </a:ext>
            </a:extLst>
          </p:cNvPr>
          <p:cNvSpPr>
            <a:spLocks xmlns:a="http://schemas.openxmlformats.org/drawingml/2006/main" noGrp="1"/>
          </p:cNvSpPr>
          <p:nvPr/>
        </p:nvSpPr>
        <p:spPr>
          <a:xfrm xmlns:a="http://schemas.openxmlformats.org/drawingml/2006/main" rot="0">
            <a:off x="723900" y="2714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河野瞭人</a:t>
            </a:r>
          </a:p>
        </p:txBody>
      </p:sp>
      <p:sp>
        <p:nvSpPr>
          <p:cNvPr id="10" name="">
            <a:extLst xmlns:a="http://schemas.openxmlformats.org/drawingml/2006/main">
              <a:ext uri="{FF2B5EF4-FFF2-40B4-BE49-F238E27FC236}">
                <a16:creationId xmlns:a16="http://schemas.microsoft.com/office/drawing/2014/main" id="{C8C26D72-D2B8-4649-AA94-FC39DDFDA190}"/>
              </a:ext>
            </a:extLst>
          </p:cNvPr>
          <p:cNvSpPr>
            <a:spLocks xmlns:a="http://schemas.openxmlformats.org/drawingml/2006/main" noGrp="1"/>
          </p:cNvSpPr>
          <p:nvPr/>
        </p:nvSpPr>
        <p:spPr>
          <a:xfrm xmlns:a="http://schemas.openxmlformats.org/drawingml/2006/main" rot="0">
            <a:off x="723900" y="3038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11" name="">
            <a:extLst xmlns:a="http://schemas.openxmlformats.org/drawingml/2006/main">
              <a:ext uri="{FF2B5EF4-FFF2-40B4-BE49-F238E27FC236}">
                <a16:creationId xmlns:a16="http://schemas.microsoft.com/office/drawing/2014/main" id="{DE5021E5-3BD9-40AD-BAF9-A9AC882B8FD3}"/>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神戸大学大学院システム情報学研究科で、シミュレーション上で学習した二足歩行を実機へ移す研究に取り組む。事業ではシミュレーション領域を担う。</a:t>
            </a:r>
          </a:p>
        </p:txBody>
      </p:sp>
      <p:sp>
        <p:nvSpPr>
          <p:cNvPr id="12" name="">
            <a:extLst xmlns:a="http://schemas.openxmlformats.org/drawingml/2006/main">
              <a:ext uri="{FF2B5EF4-FFF2-40B4-BE49-F238E27FC236}">
                <a16:creationId xmlns:a16="http://schemas.microsoft.com/office/drawing/2014/main" id="{B304343D-0871-42E3-8B6D-EF82182E2A50}"/>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3C5DC88-CB9A-4662-B425-74FF9AABF47F}"/>
              </a:ext>
            </a:extLst>
          </p:cNvPr>
          <p:cNvSpPr>
            <a:spLocks xmlns:a="http://schemas.openxmlformats.org/drawingml/2006/main" noGrp="1"/>
          </p:cNvSpPr>
          <p:nvPr/>
        </p:nvSpPr>
        <p:spPr>
          <a:xfrm xmlns:a="http://schemas.openxmlformats.org/drawingml/2006/main" rot="0">
            <a:off x="723900" y="3667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川島健二</a:t>
            </a:r>
          </a:p>
        </p:txBody>
      </p:sp>
      <p:sp>
        <p:nvSpPr>
          <p:cNvPr id="14" name="">
            <a:extLst xmlns:a="http://schemas.openxmlformats.org/drawingml/2006/main">
              <a:ext uri="{FF2B5EF4-FFF2-40B4-BE49-F238E27FC236}">
                <a16:creationId xmlns:a16="http://schemas.microsoft.com/office/drawing/2014/main" id="{F01923C1-39FC-4C5A-854A-FBB443321872}"/>
              </a:ext>
            </a:extLst>
          </p:cNvPr>
          <p:cNvSpPr>
            <a:spLocks xmlns:a="http://schemas.openxmlformats.org/drawingml/2006/main" noGrp="1"/>
          </p:cNvSpPr>
          <p:nvPr/>
        </p:nvSpPr>
        <p:spPr>
          <a:xfrm xmlns:a="http://schemas.openxmlformats.org/drawingml/2006/main" rot="0">
            <a:off x="723900" y="3990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現場パートナー</a:t>
            </a:r>
          </a:p>
        </p:txBody>
      </p:sp>
      <p:sp>
        <p:nvSpPr>
          <p:cNvPr id="15" name="">
            <a:extLst xmlns:a="http://schemas.openxmlformats.org/drawingml/2006/main">
              <a:ext uri="{FF2B5EF4-FFF2-40B4-BE49-F238E27FC236}">
                <a16:creationId xmlns:a16="http://schemas.microsoft.com/office/drawing/2014/main" id="{D38F74E8-2C26-4112-AB4C-4C7315C8FFD1}"/>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箕面デニッシュ合同会社でベーカリーを経営。店舗での撮影に協力し、スタッフからのフィードバックと継続収集を通じて、撮影機材と現場運用の改善を支える。</a:t>
            </a:r>
          </a:p>
        </p:txBody>
      </p:sp>
      <p:sp>
        <p:nvSpPr>
          <p:cNvPr id="16" name="">
            <a:extLst xmlns:a="http://schemas.openxmlformats.org/drawingml/2006/main">
              <a:ext uri="{FF2B5EF4-FFF2-40B4-BE49-F238E27FC236}">
                <a16:creationId xmlns:a16="http://schemas.microsoft.com/office/drawing/2014/main" id="{24BF1AA7-0D38-4EBF-A252-EFB7BEED72AA}"/>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BFEF041-7889-471D-B940-AFCC846D78F6}"/>
              </a:ext>
            </a:extLst>
          </p:cNvPr>
          <p:cNvSpPr>
            <a:spLocks xmlns:a="http://schemas.openxmlformats.org/drawingml/2006/main" noGrp="1"/>
          </p:cNvSpPr>
          <p:nvPr/>
        </p:nvSpPr>
        <p:spPr>
          <a:xfrm xmlns:a="http://schemas.openxmlformats.org/drawingml/2006/main" rot="0">
            <a:off x="723900" y="4619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大崎操</a:t>
            </a:r>
          </a:p>
        </p:txBody>
      </p:sp>
      <p:sp>
        <p:nvSpPr>
          <p:cNvPr id="18" name="">
            <a:extLst xmlns:a="http://schemas.openxmlformats.org/drawingml/2006/main">
              <a:ext uri="{FF2B5EF4-FFF2-40B4-BE49-F238E27FC236}">
                <a16:creationId xmlns:a16="http://schemas.microsoft.com/office/drawing/2014/main" id="{5A765897-9F18-46FA-9CC1-3693A4D2F382}"/>
              </a:ext>
            </a:extLst>
          </p:cNvPr>
          <p:cNvSpPr>
            <a:spLocks xmlns:a="http://schemas.openxmlformats.org/drawingml/2006/main" noGrp="1"/>
          </p:cNvSpPr>
          <p:nvPr/>
        </p:nvSpPr>
        <p:spPr>
          <a:xfrm xmlns:a="http://schemas.openxmlformats.org/drawingml/2006/main" rot="0">
            <a:off x="723900" y="4943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事業支援</a:t>
            </a:r>
          </a:p>
        </p:txBody>
      </p:sp>
      <p:sp>
        <p:nvSpPr>
          <p:cNvPr id="19" name="">
            <a:extLst xmlns:a="http://schemas.openxmlformats.org/drawingml/2006/main">
              <a:ext uri="{FF2B5EF4-FFF2-40B4-BE49-F238E27FC236}">
                <a16:creationId xmlns:a16="http://schemas.microsoft.com/office/drawing/2014/main" id="{64772AAD-13F0-46DA-9413-E7EFDC5BD861}"/>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936935024"/>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7EF3B54-3B94-4C8A-A6FB-19CAE37A7B5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B68A33-6637-4151-B5D6-95854D23F28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54FE39FC-F184-4AFB-91D5-6B42BDB7A27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7450A4-4B6B-4097-AF10-BC4DE17FF4D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f18d34a0dbc4c18"/>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091AF46-2A87-47BC-9B08-E2FEC62DCCC0}"/>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B6795954-D693-4711-98DC-3EFCDB8BAD29}"/>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58D997ED-2002-4546-87AC-D4A72C1C9941}"/>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27e9ad97bbd4246"/>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0A00390-4428-464A-9AD8-E253C5B57DC1}"/>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1F3B9AD1-1936-42A7-9611-E12E3A809141}"/>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54D422C4-0726-4E59-9BA6-D28474428589}"/>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e6edd97db6d4411"/>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F979C0C8-2CD4-485E-8816-89F6DD41300C}"/>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D45D518B-D243-466E-95ED-7EA299EC77FC}"/>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a:t>
            </a:r>
          </a:p>
        </p:txBody>
      </p:sp>
      <p:sp>
        <p:nvSpPr>
          <p:cNvPr id="16" name="">
            <a:extLst xmlns:a="http://schemas.openxmlformats.org/drawingml/2006/main">
              <a:ext uri="{FF2B5EF4-FFF2-40B4-BE49-F238E27FC236}">
                <a16:creationId xmlns:a16="http://schemas.microsoft.com/office/drawing/2014/main" id="{EE3CA011-9B06-4E9F-BFEE-0AEB9877F705}"/>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5681AFC1-B454-4E49-90B6-FBB1E7BF153E}"/>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6397C38-E0A8-46C2-B809-B8714D0C0269}"/>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808412491"/>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1A7823-D8AC-4F7B-8C5F-02654A1559D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9EEE96-9088-40A0-AE42-A433A9F0F80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1時間あたりの収支｜前提</a:t>
            </a:r>
          </a:p>
        </p:txBody>
      </p:sp>
      <p:sp>
        <p:nvSpPr>
          <p:cNvPr id="3" name="">
            <a:extLst xmlns:a="http://schemas.openxmlformats.org/drawingml/2006/main">
              <a:ext uri="{FF2B5EF4-FFF2-40B4-BE49-F238E27FC236}">
                <a16:creationId xmlns:a16="http://schemas.microsoft.com/office/drawing/2014/main" id="{8D199689-5D6D-4335-A710-86FCF068461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88D648-37FF-4F5B-B9A3-9E4A80160E8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1時間あたり1,600円（下限）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デバイス費</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8万円/台を10か月で割る</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約73円/時間</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デバイス費を引いた後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約727円/時間</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0E6B767C-F642-407F-9F44-971BE5B5BFA2}"/>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a:t>
            </a:r>
          </a:p>
        </p:txBody>
      </p:sp>
    </p:spTree>
    <p:extLst>
      <p:ext uri="{BB962C8B-B14F-4D97-AF65-F5344CB8AC3E}">
        <p14:creationId xmlns:p14="http://schemas.microsoft.com/office/powerpoint/2010/main" val="991181433"/>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38A61E-727F-4B78-9FDA-02B64635F6D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8A1AC8-F7B9-4453-B610-F0AA241CE17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収集規模別の収支</a:t>
            </a:r>
          </a:p>
        </p:txBody>
      </p:sp>
      <p:sp>
        <p:nvSpPr>
          <p:cNvPr id="3" name="">
            <a:extLst xmlns:a="http://schemas.openxmlformats.org/drawingml/2006/main">
              <a:ext uri="{FF2B5EF4-FFF2-40B4-BE49-F238E27FC236}">
                <a16:creationId xmlns:a16="http://schemas.microsoft.com/office/drawing/2014/main" id="{55BF2814-1C08-4B11-9B76-3B40B4BA406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CBFAFE-2FAA-4CF4-BB85-A499CFBF9D0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データ販売額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1か月分のデバイス費</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デバイス費を引いた後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デバイス購入費</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5FACBB7-7565-42EE-9E7A-C2C01FD95B83}"/>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月10,000時間を12か月継続：会社取り分9,600万円、デバイス費を引いた後は約8,726万円。</a:t>
            </a:r>
          </a:p>
        </p:txBody>
      </p:sp>
      <p:sp>
        <p:nvSpPr>
          <p:cNvPr id="7" name="">
            <a:extLst xmlns:a="http://schemas.openxmlformats.org/drawingml/2006/main">
              <a:ext uri="{FF2B5EF4-FFF2-40B4-BE49-F238E27FC236}">
                <a16:creationId xmlns:a16="http://schemas.microsoft.com/office/drawing/2014/main" id="{81E02FBB-36F9-4549-B4D6-3F8F9A183AF8}"/>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1758684870"/>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EEA4EAC-951E-43D5-8075-932C59066EC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C644A8-B322-432B-BB48-B7446034FED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デバイス費以外にかかる費用</a:t>
            </a:r>
          </a:p>
        </p:txBody>
      </p:sp>
      <p:sp>
        <p:nvSpPr>
          <p:cNvPr id="3" name="">
            <a:extLst xmlns:a="http://schemas.openxmlformats.org/drawingml/2006/main">
              <a:ext uri="{FF2B5EF4-FFF2-40B4-BE49-F238E27FC236}">
                <a16:creationId xmlns:a16="http://schemas.microsoft.com/office/drawing/2014/main" id="{6C6B7B04-792F-46DC-A50A-5B03D9D189C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1B2D9A-09B2-4B4E-B78C-5579B0EB18A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55679941-6B95-4EAB-BEF4-746E2E4455CA}"/>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データ保存・転送費</a:t>
            </a:r>
          </a:p>
        </p:txBody>
      </p:sp>
      <p:sp>
        <p:nvSpPr>
          <p:cNvPr id="6" name="">
            <a:extLst xmlns:a="http://schemas.openxmlformats.org/drawingml/2006/main">
              <a:ext uri="{FF2B5EF4-FFF2-40B4-BE49-F238E27FC236}">
                <a16:creationId xmlns:a16="http://schemas.microsoft.com/office/drawing/2014/main" id="{E1DDD9DB-9D88-4200-A394-9E2AD87442FA}"/>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5C2F5C35-6878-41DA-83BB-E1501334A1D3}"/>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02B0E95-BFD9-48A6-9E4A-1FE43B6BF34F}"/>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94273896-8135-48FA-B7AD-E5070CE4F5A6}"/>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飛び込み営業、契約、機材の配布・回収、スタッフへの説明、トラブル対応、データチェック。現在は創業メンバーが対応している。</a:t>
            </a:r>
          </a:p>
        </p:txBody>
      </p:sp>
      <p:sp>
        <p:nvSpPr>
          <p:cNvPr id="10" name="">
            <a:extLst xmlns:a="http://schemas.openxmlformats.org/drawingml/2006/main">
              <a:ext uri="{FF2B5EF4-FFF2-40B4-BE49-F238E27FC236}">
                <a16:creationId xmlns:a16="http://schemas.microsoft.com/office/drawing/2014/main" id="{F6CC3744-CE09-46BE-96AF-D24D6F203750}"/>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E5098C1-4C4F-4802-9EE8-194F870D56D5}"/>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941A625B-4589-4581-BADE-37999472C916}"/>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8EE70191-48E3-473D-94F0-CBCFC8E7061A}"/>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4F22905-356A-4A65-80BC-D1E3170F8481}"/>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2BA31AE9-DA73-4C8A-9BCE-452B15554722}"/>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現段階では大崎が対応しているが、規模拡大時には法務チームや外部弁護士のコストが発生する。</a:t>
            </a:r>
          </a:p>
        </p:txBody>
      </p:sp>
    </p:spTree>
    <p:extLst>
      <p:ext uri="{BB962C8B-B14F-4D97-AF65-F5344CB8AC3E}">
        <p14:creationId xmlns:p14="http://schemas.microsoft.com/office/powerpoint/2010/main" val="106182315"/>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F90F8C1-BEED-4F2E-AF8F-0CA7495ED3A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7FDFF7-245E-4CA2-BCFC-60A946A1319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月10,000時間まで広げる際の課題</a:t>
            </a:r>
          </a:p>
        </p:txBody>
      </p:sp>
      <p:sp>
        <p:nvSpPr>
          <p:cNvPr id="3" name="">
            <a:extLst xmlns:a="http://schemas.openxmlformats.org/drawingml/2006/main">
              <a:ext uri="{FF2B5EF4-FFF2-40B4-BE49-F238E27FC236}">
                <a16:creationId xmlns:a16="http://schemas.microsoft.com/office/drawing/2014/main" id="{A0D99639-BE15-4324-BD50-59FD31AF53A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2347DF-6577-465A-B68B-A7C78BE66EE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78A0D29F-B85F-4908-B674-C819A00C6505}"/>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2DBFA235-D17F-4020-A06B-A202CCED0C34}"/>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9D9F628A-F8F6-481B-A0D9-9F73970FB588}"/>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84FA122-FF50-4F0C-8BA4-FDCB00F9D10A}"/>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6380B169-A74F-47E3-AA4B-15DF5158802E}"/>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BF5D6EE5-3746-4B3E-8E42-22AA63D83967}"/>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9CB7ACC-8F1E-492F-A7C1-A559D22B0E94}"/>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FBCD3C0D-EF83-4F0E-A99C-A936FF9F33AF}"/>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09EB3242-F928-4630-A1F2-0FD2244B1602}"/>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262460866"/>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E5D6F978-68AF-4F1E-BFDD-6285329B576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53C012-7818-4B36-B8B0-872351C34A8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25A0B470-B6A3-4685-ABDE-B54685E1C28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FEAC05C-C7EC-4F8A-8C81-B0119A160F4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538915C8-520B-4505-B48E-E4D2C8E3FC98}"/>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B97582B-8325-4BC4-9E72-E8914741253E}"/>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CF095B4D-4CC5-467B-8FC2-2330BB0484C6}"/>
              </a:ext>
            </a:extLst>
          </p:cNvPr>
          <p:cNvSpPr>
            <a:spLocks xmlns:a="http://schemas.openxmlformats.org/drawingml/2006/main" noGrp="1"/>
          </p:cNvSpPr>
          <p:nvPr/>
        </p:nvSpPr>
        <p:spPr>
          <a:xfrm xmlns:a="http://schemas.openxmlformats.org/drawingml/2006/main">
            <a:off x="305752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CA90B87E-DE0A-4309-B172-8DC0870E2D81}"/>
              </a:ext>
            </a:extLst>
          </p:cNvPr>
          <p:cNvSpPr>
            <a:spLocks xmlns:a="http://schemas.openxmlformats.org/drawingml/2006/main" noGrp="1"/>
          </p:cNvSpPr>
          <p:nvPr/>
        </p:nvSpPr>
        <p:spPr>
          <a:xfrm xmlns:a="http://schemas.openxmlformats.org/drawingml/2006/main" rot="0">
            <a:off x="305752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4C06A6AF-272F-4611-B765-FBC0D9BB731D}"/>
              </a:ext>
            </a:extLst>
          </p:cNvPr>
          <p:cNvSpPr>
            <a:spLocks xmlns:a="http://schemas.openxmlformats.org/drawingml/2006/main" noGrp="1"/>
          </p:cNvSpPr>
          <p:nvPr/>
        </p:nvSpPr>
        <p:spPr>
          <a:xfrm xmlns:a="http://schemas.openxmlformats.org/drawingml/2006/main">
            <a:off x="5803900"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933D0FA0-AE1F-477C-BBE0-0777B3795C30}"/>
              </a:ext>
            </a:extLst>
          </p:cNvPr>
          <p:cNvSpPr>
            <a:spLocks xmlns:a="http://schemas.openxmlformats.org/drawingml/2006/main" noGrp="1"/>
          </p:cNvSpPr>
          <p:nvPr/>
        </p:nvSpPr>
        <p:spPr>
          <a:xfrm xmlns:a="http://schemas.openxmlformats.org/drawingml/2006/main" rot="0">
            <a:off x="5803900"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4CC49D88-5861-4DE1-96D9-9203030A358E}"/>
              </a:ext>
            </a:extLst>
          </p:cNvPr>
          <p:cNvSpPr>
            <a:spLocks xmlns:a="http://schemas.openxmlformats.org/drawingml/2006/main" noGrp="1"/>
          </p:cNvSpPr>
          <p:nvPr/>
        </p:nvSpPr>
        <p:spPr>
          <a:xfrm xmlns:a="http://schemas.openxmlformats.org/drawingml/2006/main">
            <a:off x="855027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043537A0-01FB-4195-B812-D948B9870B64}"/>
              </a:ext>
            </a:extLst>
          </p:cNvPr>
          <p:cNvSpPr>
            <a:spLocks xmlns:a="http://schemas.openxmlformats.org/drawingml/2006/main" noGrp="1"/>
          </p:cNvSpPr>
          <p:nvPr/>
        </p:nvSpPr>
        <p:spPr>
          <a:xfrm xmlns:a="http://schemas.openxmlformats.org/drawingml/2006/main" rot="0">
            <a:off x="855027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799FF140-EB03-499F-BC18-01DE629063C9}"/>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8004D64F-0374-493C-9370-9CCF86A97C22}"/>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5" name="">
            <a:extLst xmlns:a="http://schemas.openxmlformats.org/drawingml/2006/main">
              <a:ext uri="{FF2B5EF4-FFF2-40B4-BE49-F238E27FC236}">
                <a16:creationId xmlns:a16="http://schemas.microsoft.com/office/drawing/2014/main" id="{A289D496-4C88-4E68-890D-39B06AAFBC30}"/>
              </a:ext>
            </a:extLst>
          </p:cNvPr>
          <p:cNvSpPr>
            <a:spLocks xmlns:a="http://schemas.openxmlformats.org/drawingml/2006/main" noGrp="1"/>
          </p:cNvSpPr>
          <p:nvPr/>
        </p:nvSpPr>
        <p:spPr>
          <a:xfrm xmlns:a="http://schemas.openxmlformats.org/drawingml/2006/main">
            <a:off x="305752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A8200422-22B9-4F3D-81EC-496908C5610D}"/>
              </a:ext>
            </a:extLst>
          </p:cNvPr>
          <p:cNvSpPr>
            <a:spLocks xmlns:a="http://schemas.openxmlformats.org/drawingml/2006/main" noGrp="1"/>
          </p:cNvSpPr>
          <p:nvPr/>
        </p:nvSpPr>
        <p:spPr>
          <a:xfrm xmlns:a="http://schemas.openxmlformats.org/drawingml/2006/main">
            <a:off x="5803900"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735AC73A-4277-43C8-A289-8606FF779219}"/>
              </a:ext>
            </a:extLst>
          </p:cNvPr>
          <p:cNvSpPr>
            <a:spLocks xmlns:a="http://schemas.openxmlformats.org/drawingml/2006/main" noGrp="1"/>
          </p:cNvSpPr>
          <p:nvPr/>
        </p:nvSpPr>
        <p:spPr>
          <a:xfrm xmlns:a="http://schemas.openxmlformats.org/drawingml/2006/main">
            <a:off x="855027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C50D572A-7B16-4677-9C9D-DC6A18BC22C9}"/>
              </a:ext>
            </a:extLst>
          </p:cNvPr>
          <p:cNvSpPr>
            <a:spLocks xmlns:a="http://schemas.openxmlformats.org/drawingml/2006/main" noGrp="1"/>
          </p:cNvSpPr>
          <p:nvPr/>
        </p:nvSpPr>
        <p:spPr>
          <a:xfrm xmlns:a="http://schemas.openxmlformats.org/drawingml/2006/main">
            <a:off x="313372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4DEA27E0-6D39-47D0-A3BF-BF369D964910}"/>
              </a:ext>
            </a:extLst>
          </p:cNvPr>
          <p:cNvSpPr>
            <a:spLocks xmlns:a="http://schemas.openxmlformats.org/drawingml/2006/main" noGrp="1"/>
          </p:cNvSpPr>
          <p:nvPr/>
        </p:nvSpPr>
        <p:spPr>
          <a:xfrm xmlns:a="http://schemas.openxmlformats.org/drawingml/2006/main" rot="0">
            <a:off x="320992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p:txBody>
      </p:sp>
      <p:sp>
        <p:nvSpPr>
          <p:cNvPr id="20" name="">
            <a:extLst xmlns:a="http://schemas.openxmlformats.org/drawingml/2006/main">
              <a:ext uri="{FF2B5EF4-FFF2-40B4-BE49-F238E27FC236}">
                <a16:creationId xmlns:a16="http://schemas.microsoft.com/office/drawing/2014/main" id="{B932A006-D048-4DBD-B552-9882BE198E27}"/>
              </a:ext>
            </a:extLst>
          </p:cNvPr>
          <p:cNvSpPr>
            <a:spLocks xmlns:a="http://schemas.openxmlformats.org/drawingml/2006/main" noGrp="1"/>
          </p:cNvSpPr>
          <p:nvPr/>
        </p:nvSpPr>
        <p:spPr>
          <a:xfrm xmlns:a="http://schemas.openxmlformats.org/drawingml/2006/main">
            <a:off x="5880100"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277746FE-0804-4EEF-9BAB-653E7898E514}"/>
              </a:ext>
            </a:extLst>
          </p:cNvPr>
          <p:cNvSpPr>
            <a:spLocks xmlns:a="http://schemas.openxmlformats.org/drawingml/2006/main" noGrp="1"/>
          </p:cNvSpPr>
          <p:nvPr/>
        </p:nvSpPr>
        <p:spPr>
          <a:xfrm xmlns:a="http://schemas.openxmlformats.org/drawingml/2006/main" rot="0">
            <a:off x="5956300"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現場の課題を確認</a:t>
            </a:r>
          </a:p>
        </p:txBody>
      </p:sp>
      <p:sp>
        <p:nvSpPr>
          <p:cNvPr id="22" name="">
            <a:extLst xmlns:a="http://schemas.openxmlformats.org/drawingml/2006/main">
              <a:ext uri="{FF2B5EF4-FFF2-40B4-BE49-F238E27FC236}">
                <a16:creationId xmlns:a16="http://schemas.microsoft.com/office/drawing/2014/main" id="{4A1FA828-75FD-4E99-8656-987675FB221E}"/>
              </a:ext>
            </a:extLst>
          </p:cNvPr>
          <p:cNvSpPr>
            <a:spLocks xmlns:a="http://schemas.openxmlformats.org/drawingml/2006/main" noGrp="1"/>
          </p:cNvSpPr>
          <p:nvPr/>
        </p:nvSpPr>
        <p:spPr>
          <a:xfrm xmlns:a="http://schemas.openxmlformats.org/drawingml/2006/main">
            <a:off x="862647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ACD02EE4-5BE7-4EC3-ABF0-E67E64E8F09D}"/>
              </a:ext>
            </a:extLst>
          </p:cNvPr>
          <p:cNvSpPr>
            <a:spLocks xmlns:a="http://schemas.openxmlformats.org/drawingml/2006/main" noGrp="1"/>
          </p:cNvSpPr>
          <p:nvPr/>
        </p:nvSpPr>
        <p:spPr>
          <a:xfrm xmlns:a="http://schemas.openxmlformats.org/drawingml/2006/main" rot="0">
            <a:off x="870267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月1,000時間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飲食・小売へ拡大</a:t>
            </a:r>
          </a:p>
        </p:txBody>
      </p:sp>
      <p:sp>
        <p:nvSpPr>
          <p:cNvPr id="24" name="">
            <a:extLst xmlns:a="http://schemas.openxmlformats.org/drawingml/2006/main">
              <a:ext uri="{FF2B5EF4-FFF2-40B4-BE49-F238E27FC236}">
                <a16:creationId xmlns:a16="http://schemas.microsoft.com/office/drawing/2014/main" id="{F4A85B61-7B6B-4413-9A44-CC49FF28B0CB}"/>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DDD2A9EE-53EB-4C35-A66F-96DEC44A7AAB}"/>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6" name="">
            <a:extLst xmlns:a="http://schemas.openxmlformats.org/drawingml/2006/main">
              <a:ext uri="{FF2B5EF4-FFF2-40B4-BE49-F238E27FC236}">
                <a16:creationId xmlns:a16="http://schemas.microsoft.com/office/drawing/2014/main" id="{6FCA9ED6-A792-44F7-B889-40667E344FAA}"/>
              </a:ext>
            </a:extLst>
          </p:cNvPr>
          <p:cNvSpPr>
            <a:spLocks xmlns:a="http://schemas.openxmlformats.org/drawingml/2006/main" noGrp="1"/>
          </p:cNvSpPr>
          <p:nvPr/>
        </p:nvSpPr>
        <p:spPr>
          <a:xfrm xmlns:a="http://schemas.openxmlformats.org/drawingml/2006/main">
            <a:off x="305752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9861A1BD-C35E-411D-960D-4167BC3452D3}"/>
              </a:ext>
            </a:extLst>
          </p:cNvPr>
          <p:cNvSpPr>
            <a:spLocks xmlns:a="http://schemas.openxmlformats.org/drawingml/2006/main" noGrp="1"/>
          </p:cNvSpPr>
          <p:nvPr/>
        </p:nvSpPr>
        <p:spPr>
          <a:xfrm xmlns:a="http://schemas.openxmlformats.org/drawingml/2006/main">
            <a:off x="5803900"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F4FC1C86-F747-4591-B45A-AA1AC41D63FC}"/>
              </a:ext>
            </a:extLst>
          </p:cNvPr>
          <p:cNvSpPr>
            <a:spLocks xmlns:a="http://schemas.openxmlformats.org/drawingml/2006/main" noGrp="1"/>
          </p:cNvSpPr>
          <p:nvPr/>
        </p:nvSpPr>
        <p:spPr>
          <a:xfrm xmlns:a="http://schemas.openxmlformats.org/drawingml/2006/main">
            <a:off x="855027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A75CC7E1-149D-478E-AEF6-4EE1B5F8C280}"/>
              </a:ext>
            </a:extLst>
          </p:cNvPr>
          <p:cNvSpPr>
            <a:spLocks xmlns:a="http://schemas.openxmlformats.org/drawingml/2006/main" noGrp="1"/>
          </p:cNvSpPr>
          <p:nvPr/>
        </p:nvSpPr>
        <p:spPr>
          <a:xfrm xmlns:a="http://schemas.openxmlformats.org/drawingml/2006/main">
            <a:off x="3133725" y="28194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407BEAA6-2DE1-4D60-A5A5-C1D88B8C2F3C}"/>
              </a:ext>
            </a:extLst>
          </p:cNvPr>
          <p:cNvSpPr>
            <a:spLocks xmlns:a="http://schemas.openxmlformats.org/drawingml/2006/main" noGrp="1"/>
          </p:cNvSpPr>
          <p:nvPr/>
        </p:nvSpPr>
        <p:spPr>
          <a:xfrm xmlns:a="http://schemas.openxmlformats.org/drawingml/2006/main" rot="0">
            <a:off x="3209925" y="27813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Nextremerと合意し格納開始</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海外販売先へ再打診</a:t>
            </a:r>
          </a:p>
        </p:txBody>
      </p:sp>
      <p:sp>
        <p:nvSpPr>
          <p:cNvPr id="31" name="">
            <a:extLst xmlns:a="http://schemas.openxmlformats.org/drawingml/2006/main">
              <a:ext uri="{FF2B5EF4-FFF2-40B4-BE49-F238E27FC236}">
                <a16:creationId xmlns:a16="http://schemas.microsoft.com/office/drawing/2014/main" id="{FB98E4C7-D79F-46A1-9D5E-97572CED24A2}"/>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1B989EDD-FE0E-4080-9E07-CE7A11B21712}"/>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3740CF55-B23F-4A4C-ACAC-F4B7E15F32F0}"/>
              </a:ext>
            </a:extLst>
          </p:cNvPr>
          <p:cNvSpPr>
            <a:spLocks xmlns:a="http://schemas.openxmlformats.org/drawingml/2006/main" noGrp="1"/>
          </p:cNvSpPr>
          <p:nvPr/>
        </p:nvSpPr>
        <p:spPr>
          <a:xfrm xmlns:a="http://schemas.openxmlformats.org/drawingml/2006/main">
            <a:off x="305752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CC99877A-6FDD-42E0-B483-AE1FE3B6FA3C}"/>
              </a:ext>
            </a:extLst>
          </p:cNvPr>
          <p:cNvSpPr>
            <a:spLocks xmlns:a="http://schemas.openxmlformats.org/drawingml/2006/main" noGrp="1"/>
          </p:cNvSpPr>
          <p:nvPr/>
        </p:nvSpPr>
        <p:spPr>
          <a:xfrm xmlns:a="http://schemas.openxmlformats.org/drawingml/2006/main">
            <a:off x="5803900"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6CFA5D7C-638E-45D2-B24D-ECD76314696A}"/>
              </a:ext>
            </a:extLst>
          </p:cNvPr>
          <p:cNvSpPr>
            <a:spLocks xmlns:a="http://schemas.openxmlformats.org/drawingml/2006/main" noGrp="1"/>
          </p:cNvSpPr>
          <p:nvPr/>
        </p:nvSpPr>
        <p:spPr>
          <a:xfrm xmlns:a="http://schemas.openxmlformats.org/drawingml/2006/main">
            <a:off x="855027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8E553D9A-EEBB-4262-814D-C69788409E78}"/>
              </a:ext>
            </a:extLst>
          </p:cNvPr>
          <p:cNvSpPr>
            <a:spLocks xmlns:a="http://schemas.openxmlformats.org/drawingml/2006/main" noGrp="1"/>
          </p:cNvSpPr>
          <p:nvPr/>
        </p:nvSpPr>
        <p:spPr>
          <a:xfrm xmlns:a="http://schemas.openxmlformats.org/drawingml/2006/main">
            <a:off x="3133725" y="340042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7" name="">
            <a:extLst xmlns:a="http://schemas.openxmlformats.org/drawingml/2006/main">
              <a:ext uri="{FF2B5EF4-FFF2-40B4-BE49-F238E27FC236}">
                <a16:creationId xmlns:a16="http://schemas.microsoft.com/office/drawing/2014/main" id="{289C8030-5D3F-4275-AB86-E5B89EB71F03}"/>
              </a:ext>
            </a:extLst>
          </p:cNvPr>
          <p:cNvSpPr>
            <a:spLocks xmlns:a="http://schemas.openxmlformats.org/drawingml/2006/main" noGrp="1"/>
          </p:cNvSpPr>
          <p:nvPr/>
        </p:nvSpPr>
        <p:spPr>
          <a:xfrm xmlns:a="http://schemas.openxmlformats.org/drawingml/2006/main" rot="0">
            <a:off x="3209925" y="336232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設計で協働できる企業へ打診</a:t>
            </a:r>
          </a:p>
        </p:txBody>
      </p:sp>
      <p:sp>
        <p:nvSpPr>
          <p:cNvPr id="38" name="">
            <a:extLst xmlns:a="http://schemas.openxmlformats.org/drawingml/2006/main">
              <a:ext uri="{FF2B5EF4-FFF2-40B4-BE49-F238E27FC236}">
                <a16:creationId xmlns:a16="http://schemas.microsoft.com/office/drawing/2014/main" id="{BEA4EED2-9028-40E1-AF24-4C289D1182FC}"/>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5248C9BA-3B4B-43E0-A892-ADB9B8297850}"/>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0" name="">
            <a:extLst xmlns:a="http://schemas.openxmlformats.org/drawingml/2006/main">
              <a:ext uri="{FF2B5EF4-FFF2-40B4-BE49-F238E27FC236}">
                <a16:creationId xmlns:a16="http://schemas.microsoft.com/office/drawing/2014/main" id="{491606D6-57C8-4C26-92CA-D503E2CCD3DC}"/>
              </a:ext>
            </a:extLst>
          </p:cNvPr>
          <p:cNvSpPr>
            <a:spLocks xmlns:a="http://schemas.openxmlformats.org/drawingml/2006/main" noGrp="1"/>
          </p:cNvSpPr>
          <p:nvPr/>
        </p:nvSpPr>
        <p:spPr>
          <a:xfrm xmlns:a="http://schemas.openxmlformats.org/drawingml/2006/main">
            <a:off x="305752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D980624C-CAE1-4A60-929F-F71BBB631DDD}"/>
              </a:ext>
            </a:extLst>
          </p:cNvPr>
          <p:cNvSpPr>
            <a:spLocks xmlns:a="http://schemas.openxmlformats.org/drawingml/2006/main" noGrp="1"/>
          </p:cNvSpPr>
          <p:nvPr/>
        </p:nvSpPr>
        <p:spPr>
          <a:xfrm xmlns:a="http://schemas.openxmlformats.org/drawingml/2006/main">
            <a:off x="5803900"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232B2090-546D-4922-B113-4E2F5D9E66D9}"/>
              </a:ext>
            </a:extLst>
          </p:cNvPr>
          <p:cNvSpPr>
            <a:spLocks xmlns:a="http://schemas.openxmlformats.org/drawingml/2006/main" noGrp="1"/>
          </p:cNvSpPr>
          <p:nvPr/>
        </p:nvSpPr>
        <p:spPr>
          <a:xfrm xmlns:a="http://schemas.openxmlformats.org/drawingml/2006/main">
            <a:off x="855027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CD58F25C-5BD1-4DAF-B373-FF7D110AB26F}"/>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0986AFBC-853B-4960-B446-4FF71E1F1E19}"/>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5" name="">
            <a:extLst xmlns:a="http://schemas.openxmlformats.org/drawingml/2006/main">
              <a:ext uri="{FF2B5EF4-FFF2-40B4-BE49-F238E27FC236}">
                <a16:creationId xmlns:a16="http://schemas.microsoft.com/office/drawing/2014/main" id="{55ABD9DC-D4B0-42F8-B01A-9C281E186466}"/>
              </a:ext>
            </a:extLst>
          </p:cNvPr>
          <p:cNvSpPr>
            <a:spLocks xmlns:a="http://schemas.openxmlformats.org/drawingml/2006/main" noGrp="1"/>
          </p:cNvSpPr>
          <p:nvPr/>
        </p:nvSpPr>
        <p:spPr>
          <a:xfrm xmlns:a="http://schemas.openxmlformats.org/drawingml/2006/main">
            <a:off x="305752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F7D741E5-AF2A-487B-96AC-C3E7B045D565}"/>
              </a:ext>
            </a:extLst>
          </p:cNvPr>
          <p:cNvSpPr>
            <a:spLocks xmlns:a="http://schemas.openxmlformats.org/drawingml/2006/main" noGrp="1"/>
          </p:cNvSpPr>
          <p:nvPr/>
        </p:nvSpPr>
        <p:spPr>
          <a:xfrm xmlns:a="http://schemas.openxmlformats.org/drawingml/2006/main">
            <a:off x="5803900"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F9BF7662-62D5-4338-A31E-FA8E5C3AF752}"/>
              </a:ext>
            </a:extLst>
          </p:cNvPr>
          <p:cNvSpPr>
            <a:spLocks xmlns:a="http://schemas.openxmlformats.org/drawingml/2006/main" noGrp="1"/>
          </p:cNvSpPr>
          <p:nvPr/>
        </p:nvSpPr>
        <p:spPr>
          <a:xfrm xmlns:a="http://schemas.openxmlformats.org/drawingml/2006/main">
            <a:off x="855027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E423AD45-644F-48E0-8531-2583AB2EAA84}"/>
              </a:ext>
            </a:extLst>
          </p:cNvPr>
          <p:cNvSpPr>
            <a:spLocks xmlns:a="http://schemas.openxmlformats.org/drawingml/2006/main" noGrp="1"/>
          </p:cNvSpPr>
          <p:nvPr/>
        </p:nvSpPr>
        <p:spPr>
          <a:xfrm xmlns:a="http://schemas.openxmlformats.org/drawingml/2006/main">
            <a:off x="5880100" y="45624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9" name="">
            <a:extLst xmlns:a="http://schemas.openxmlformats.org/drawingml/2006/main">
              <a:ext uri="{FF2B5EF4-FFF2-40B4-BE49-F238E27FC236}">
                <a16:creationId xmlns:a16="http://schemas.microsoft.com/office/drawing/2014/main" id="{2A221789-4FF1-4124-92B8-99184FDEEEC8}"/>
              </a:ext>
            </a:extLst>
          </p:cNvPr>
          <p:cNvSpPr>
            <a:spLocks xmlns:a="http://schemas.openxmlformats.org/drawingml/2006/main" noGrp="1"/>
          </p:cNvSpPr>
          <p:nvPr/>
        </p:nvSpPr>
        <p:spPr>
          <a:xfrm xmlns:a="http://schemas.openxmlformats.org/drawingml/2006/main" rot="0">
            <a:off x="5956300" y="45243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合意フローと</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データ取扱いを確認</a:t>
            </a:r>
          </a:p>
        </p:txBody>
      </p:sp>
      <p:sp>
        <p:nvSpPr>
          <p:cNvPr id="50" name="">
            <a:extLst xmlns:a="http://schemas.openxmlformats.org/drawingml/2006/main">
              <a:ext uri="{FF2B5EF4-FFF2-40B4-BE49-F238E27FC236}">
                <a16:creationId xmlns:a16="http://schemas.microsoft.com/office/drawing/2014/main" id="{D02D9471-5652-49D8-ABF2-31B66E70D6EB}"/>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B81D2FE2-D125-419B-9117-FA4C4385504B}"/>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2" name="">
            <a:extLst xmlns:a="http://schemas.openxmlformats.org/drawingml/2006/main">
              <a:ext uri="{FF2B5EF4-FFF2-40B4-BE49-F238E27FC236}">
                <a16:creationId xmlns:a16="http://schemas.microsoft.com/office/drawing/2014/main" id="{D302BCB5-FE07-446D-AE55-82E2395418FC}"/>
              </a:ext>
            </a:extLst>
          </p:cNvPr>
          <p:cNvSpPr>
            <a:spLocks xmlns:a="http://schemas.openxmlformats.org/drawingml/2006/main" noGrp="1"/>
          </p:cNvSpPr>
          <p:nvPr/>
        </p:nvSpPr>
        <p:spPr>
          <a:xfrm xmlns:a="http://schemas.openxmlformats.org/drawingml/2006/main">
            <a:off x="305752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1B3244AE-7AFE-4D6F-B68C-D0795AC1D4D8}"/>
              </a:ext>
            </a:extLst>
          </p:cNvPr>
          <p:cNvSpPr>
            <a:spLocks xmlns:a="http://schemas.openxmlformats.org/drawingml/2006/main" noGrp="1"/>
          </p:cNvSpPr>
          <p:nvPr/>
        </p:nvSpPr>
        <p:spPr>
          <a:xfrm xmlns:a="http://schemas.openxmlformats.org/drawingml/2006/main">
            <a:off x="5803900"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A9E93D4F-3739-404A-9F47-CCBE5D6A6D2B}"/>
              </a:ext>
            </a:extLst>
          </p:cNvPr>
          <p:cNvSpPr>
            <a:spLocks xmlns:a="http://schemas.openxmlformats.org/drawingml/2006/main" noGrp="1"/>
          </p:cNvSpPr>
          <p:nvPr/>
        </p:nvSpPr>
        <p:spPr>
          <a:xfrm xmlns:a="http://schemas.openxmlformats.org/drawingml/2006/main">
            <a:off x="855027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1138632851"/>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83046263-C5B4-4435-A4C5-5CC27E3615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B2A77F-B034-4679-837A-D182D56804A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3B7B998B-C474-4C25-A69A-1278D188850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0DF045-61E3-4742-A0B9-3EBF9E384D0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8093B953-E078-4E62-A4C0-2B888D1FD030}"/>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74A029-375C-4A16-872B-B234936A5E4A}"/>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842CBC32-B653-434B-8DA0-FFEBF67A2681}"/>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7D1545EB-FEB5-4898-B146-12B22B0936AA}"/>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C85355C9-FEFC-499D-A1CB-AC755AE70B23}"/>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1E0CB221-DC6D-49E4-943A-08FA337FC5CF}"/>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0E2CC666-B0DE-4DD7-83B6-61437A164A1F}"/>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A8F4C3EB-F98C-42E3-AA79-42574E4075DD}"/>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3DC583EE-74BB-4484-9AFC-08745CAF0010}"/>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1832CCC5-40BD-4230-8539-3F01E2D33CB6}"/>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2B00F6EF-1942-4F6E-BACF-2172E7A0C7A9}"/>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6666E592-4456-4989-9318-B7B313E67B4C}"/>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8B47AA05-5650-4243-A54D-B402036CF389}"/>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F4B0C1B3-F176-46CC-97AA-67FE8F0BC8B1}"/>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944F79F5-C1E6-46DF-B684-3B1CD4C90AC4}"/>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0AC73CB6-7B0E-4B07-B3C2-68684D96EF3C}"/>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EE0FF3F6-7844-4FD9-9BE2-F812DC7D86A9}"/>
              </a:ext>
            </a:extLst>
          </p:cNvPr>
          <p:cNvSpPr>
            <a:spLocks xmlns:a="http://schemas.openxmlformats.org/drawingml/2006/main" noGrp="1"/>
          </p:cNvSpPr>
          <p:nvPr/>
        </p:nvSpPr>
        <p:spPr>
          <a:xfrm xmlns:a="http://schemas.openxmlformats.org/drawingml/2006/main">
            <a:off x="3133725" y="223837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DD4FC2D1-D565-433E-8B7E-24DDA090503B}"/>
              </a:ext>
            </a:extLst>
          </p:cNvPr>
          <p:cNvSpPr>
            <a:spLocks xmlns:a="http://schemas.openxmlformats.org/drawingml/2006/main" noGrp="1"/>
          </p:cNvSpPr>
          <p:nvPr/>
        </p:nvSpPr>
        <p:spPr>
          <a:xfrm xmlns:a="http://schemas.openxmlformats.org/drawingml/2006/main" rot="0">
            <a:off x="3209925" y="220027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宿泊・改装・清掃へ拡大</a:t>
            </a:r>
          </a:p>
        </p:txBody>
      </p:sp>
      <p:sp>
        <p:nvSpPr>
          <p:cNvPr id="23" name="">
            <a:extLst xmlns:a="http://schemas.openxmlformats.org/drawingml/2006/main">
              <a:ext uri="{FF2B5EF4-FFF2-40B4-BE49-F238E27FC236}">
                <a16:creationId xmlns:a16="http://schemas.microsoft.com/office/drawing/2014/main" id="{B927450F-F704-455B-A0FF-FE6806B56311}"/>
              </a:ext>
            </a:extLst>
          </p:cNvPr>
          <p:cNvSpPr>
            <a:spLocks xmlns:a="http://schemas.openxmlformats.org/drawingml/2006/main" noGrp="1"/>
          </p:cNvSpPr>
          <p:nvPr/>
        </p:nvSpPr>
        <p:spPr>
          <a:xfrm xmlns:a="http://schemas.openxmlformats.org/drawingml/2006/main">
            <a:off x="5193506" y="2238375"/>
            <a:ext cx="6026944"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EFD8C204-9E8B-4F25-8C5F-6834788B0A14}"/>
              </a:ext>
            </a:extLst>
          </p:cNvPr>
          <p:cNvSpPr>
            <a:spLocks xmlns:a="http://schemas.openxmlformats.org/drawingml/2006/main" noGrp="1"/>
          </p:cNvSpPr>
          <p:nvPr/>
        </p:nvSpPr>
        <p:spPr>
          <a:xfrm xmlns:a="http://schemas.openxmlformats.org/drawingml/2006/main" rot="0">
            <a:off x="5269706" y="2200275"/>
            <a:ext cx="5874544"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介護・医療を含む撮影先の拡大</a:t>
            </a:r>
          </a:p>
        </p:txBody>
      </p:sp>
      <p:sp>
        <p:nvSpPr>
          <p:cNvPr id="25" name="">
            <a:extLst xmlns:a="http://schemas.openxmlformats.org/drawingml/2006/main">
              <a:ext uri="{FF2B5EF4-FFF2-40B4-BE49-F238E27FC236}">
                <a16:creationId xmlns:a16="http://schemas.microsoft.com/office/drawing/2014/main" id="{D5D6F45E-3015-4B81-A1BC-0B18C163CA7C}"/>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67732B2D-D89C-4F52-814F-29AEAD9E6190}"/>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40FFB4F2-DE64-4248-BE50-A8E7DBDA4F26}"/>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D82399A2-E458-47F3-8BB8-8C619D5698F7}"/>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110D0A59-57E0-4D57-8EAE-63677C4A8E6F}"/>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21D237EE-94C8-4B59-94EE-02DF7B37D7EB}"/>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62734098-56AF-4087-BA81-4C6EE771F7F2}"/>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4BA8CAEB-9FE7-4E76-89A6-9749CF64F01F}"/>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77AD9074-834D-4B26-86C2-B2BBD4D2F518}"/>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3E2528C0-A9D1-4CF4-B0F2-8D6E9BBA8021}"/>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311A8CDF-D4D8-4C7B-9BBF-AAB46E8F9C8F}"/>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3E55544A-FAEC-4CC6-A930-1C8C226F04DF}"/>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FC2187C6-1B44-4D03-9344-4B3DF161DC8F}"/>
              </a:ext>
            </a:extLst>
          </p:cNvPr>
          <p:cNvSpPr>
            <a:spLocks xmlns:a="http://schemas.openxmlformats.org/drawingml/2006/main" noGrp="1"/>
          </p:cNvSpPr>
          <p:nvPr/>
        </p:nvSpPr>
        <p:spPr>
          <a:xfrm xmlns:a="http://schemas.openxmlformats.org/drawingml/2006/main">
            <a:off x="3133725"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DE584EA0-FA00-4B03-A038-5ACBB664171A}"/>
              </a:ext>
            </a:extLst>
          </p:cNvPr>
          <p:cNvSpPr>
            <a:spLocks xmlns:a="http://schemas.openxmlformats.org/drawingml/2006/main" noGrp="1"/>
          </p:cNvSpPr>
          <p:nvPr/>
        </p:nvSpPr>
        <p:spPr>
          <a:xfrm xmlns:a="http://schemas.openxmlformats.org/drawingml/2006/main" rot="0">
            <a:off x="3209925"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撮影デバイス開発</a:t>
            </a:r>
          </a:p>
        </p:txBody>
      </p:sp>
      <p:sp>
        <p:nvSpPr>
          <p:cNvPr id="39" name="">
            <a:extLst xmlns:a="http://schemas.openxmlformats.org/drawingml/2006/main">
              <a:ext uri="{FF2B5EF4-FFF2-40B4-BE49-F238E27FC236}">
                <a16:creationId xmlns:a16="http://schemas.microsoft.com/office/drawing/2014/main" id="{C91DB25E-5CFC-4020-A5C2-D6506B24F3A0}"/>
              </a:ext>
            </a:extLst>
          </p:cNvPr>
          <p:cNvSpPr>
            <a:spLocks xmlns:a="http://schemas.openxmlformats.org/drawingml/2006/main" noGrp="1"/>
          </p:cNvSpPr>
          <p:nvPr/>
        </p:nvSpPr>
        <p:spPr>
          <a:xfrm xmlns:a="http://schemas.openxmlformats.org/drawingml/2006/main">
            <a:off x="5193506"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B8C6D41B-F9CD-4EB8-8CD5-217682662E72}"/>
              </a:ext>
            </a:extLst>
          </p:cNvPr>
          <p:cNvSpPr>
            <a:spLocks xmlns:a="http://schemas.openxmlformats.org/drawingml/2006/main" noGrp="1"/>
          </p:cNvSpPr>
          <p:nvPr/>
        </p:nvSpPr>
        <p:spPr>
          <a:xfrm xmlns:a="http://schemas.openxmlformats.org/drawingml/2006/main" rot="0">
            <a:off x="5269706"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意匠・特許を出願</a:t>
            </a:r>
          </a:p>
        </p:txBody>
      </p:sp>
      <p:sp>
        <p:nvSpPr>
          <p:cNvPr id="41" name="">
            <a:extLst xmlns:a="http://schemas.openxmlformats.org/drawingml/2006/main">
              <a:ext uri="{FF2B5EF4-FFF2-40B4-BE49-F238E27FC236}">
                <a16:creationId xmlns:a16="http://schemas.microsoft.com/office/drawing/2014/main" id="{A510FEBF-BEAF-4EFC-B111-635C1F90D822}"/>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EDA81E77-4C78-499A-9014-196AFE54EB6D}"/>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3" name="">
            <a:extLst xmlns:a="http://schemas.openxmlformats.org/drawingml/2006/main">
              <a:ext uri="{FF2B5EF4-FFF2-40B4-BE49-F238E27FC236}">
                <a16:creationId xmlns:a16="http://schemas.microsoft.com/office/drawing/2014/main" id="{FDE96FAD-C9F0-4815-A6BE-0F16A56EC00E}"/>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C602AFFA-2BB3-4FCC-83D8-E189634D0DC2}"/>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61BC0CBA-B60E-4538-9CCE-4E0899D358F1}"/>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352D1B0C-1EF6-4325-B71A-207D75907181}"/>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B7C34D7D-5341-4A6A-A3AD-80C304F7F0F5}"/>
              </a:ext>
            </a:extLst>
          </p:cNvPr>
          <p:cNvSpPr>
            <a:spLocks xmlns:a="http://schemas.openxmlformats.org/drawingml/2006/main" noGrp="1"/>
          </p:cNvSpPr>
          <p:nvPr/>
        </p:nvSpPr>
        <p:spPr>
          <a:xfrm xmlns:a="http://schemas.openxmlformats.org/drawingml/2006/main">
            <a:off x="5193506"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8" name="">
            <a:extLst xmlns:a="http://schemas.openxmlformats.org/drawingml/2006/main">
              <a:ext uri="{FF2B5EF4-FFF2-40B4-BE49-F238E27FC236}">
                <a16:creationId xmlns:a16="http://schemas.microsoft.com/office/drawing/2014/main" id="{0BF1A3AD-2768-4C9F-AC1E-C19CE8FDE7AE}"/>
              </a:ext>
            </a:extLst>
          </p:cNvPr>
          <p:cNvSpPr>
            <a:spLocks xmlns:a="http://schemas.openxmlformats.org/drawingml/2006/main" noGrp="1"/>
          </p:cNvSpPr>
          <p:nvPr/>
        </p:nvSpPr>
        <p:spPr>
          <a:xfrm xmlns:a="http://schemas.openxmlformats.org/drawingml/2006/main" rot="0">
            <a:off x="5269706"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機密性の高い</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現場データの活用を検討</a:t>
            </a:r>
          </a:p>
        </p:txBody>
      </p:sp>
      <p:sp>
        <p:nvSpPr>
          <p:cNvPr id="49" name="">
            <a:extLst xmlns:a="http://schemas.openxmlformats.org/drawingml/2006/main">
              <a:ext uri="{FF2B5EF4-FFF2-40B4-BE49-F238E27FC236}">
                <a16:creationId xmlns:a16="http://schemas.microsoft.com/office/drawing/2014/main" id="{489B376C-1FB5-4BD3-96BF-69265975BB32}"/>
              </a:ext>
            </a:extLst>
          </p:cNvPr>
          <p:cNvSpPr>
            <a:spLocks xmlns:a="http://schemas.openxmlformats.org/drawingml/2006/main" noGrp="1"/>
          </p:cNvSpPr>
          <p:nvPr/>
        </p:nvSpPr>
        <p:spPr>
          <a:xfrm xmlns:a="http://schemas.openxmlformats.org/drawingml/2006/main">
            <a:off x="7253288"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0" name="">
            <a:extLst xmlns:a="http://schemas.openxmlformats.org/drawingml/2006/main">
              <a:ext uri="{FF2B5EF4-FFF2-40B4-BE49-F238E27FC236}">
                <a16:creationId xmlns:a16="http://schemas.microsoft.com/office/drawing/2014/main" id="{347DBD61-8798-49EB-9E9B-EFE7961112A6}"/>
              </a:ext>
            </a:extLst>
          </p:cNvPr>
          <p:cNvSpPr>
            <a:spLocks xmlns:a="http://schemas.openxmlformats.org/drawingml/2006/main" noGrp="1"/>
          </p:cNvSpPr>
          <p:nvPr/>
        </p:nvSpPr>
        <p:spPr>
          <a:xfrm xmlns:a="http://schemas.openxmlformats.org/drawingml/2006/main" rot="0">
            <a:off x="7329488"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企業・政府へ</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データ収集を提案</a:t>
            </a:r>
          </a:p>
        </p:txBody>
      </p:sp>
      <p:sp>
        <p:nvSpPr>
          <p:cNvPr id="51" name="">
            <a:extLst xmlns:a="http://schemas.openxmlformats.org/drawingml/2006/main">
              <a:ext uri="{FF2B5EF4-FFF2-40B4-BE49-F238E27FC236}">
                <a16:creationId xmlns:a16="http://schemas.microsoft.com/office/drawing/2014/main" id="{C14D4B91-393C-4CE7-9B9C-193DCEA1B74B}"/>
              </a:ext>
            </a:extLst>
          </p:cNvPr>
          <p:cNvSpPr>
            <a:spLocks xmlns:a="http://schemas.openxmlformats.org/drawingml/2006/main" noGrp="1"/>
          </p:cNvSpPr>
          <p:nvPr/>
        </p:nvSpPr>
        <p:spPr>
          <a:xfrm xmlns:a="http://schemas.openxmlformats.org/drawingml/2006/main">
            <a:off x="9313069"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2" name="">
            <a:extLst xmlns:a="http://schemas.openxmlformats.org/drawingml/2006/main">
              <a:ext uri="{FF2B5EF4-FFF2-40B4-BE49-F238E27FC236}">
                <a16:creationId xmlns:a16="http://schemas.microsoft.com/office/drawing/2014/main" id="{A30E2C8A-AE99-4976-A002-E9F94649FC1F}"/>
              </a:ext>
            </a:extLst>
          </p:cNvPr>
          <p:cNvSpPr>
            <a:spLocks xmlns:a="http://schemas.openxmlformats.org/drawingml/2006/main" noGrp="1"/>
          </p:cNvSpPr>
          <p:nvPr/>
        </p:nvSpPr>
        <p:spPr>
          <a:xfrm xmlns:a="http://schemas.openxmlformats.org/drawingml/2006/main" rot="0">
            <a:off x="9389269"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大学とロボット学習・</a:t>
            </a:r>
          </a:p>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現場再現の研究を開始</a:t>
            </a:r>
          </a:p>
        </p:txBody>
      </p:sp>
      <p:sp>
        <p:nvSpPr>
          <p:cNvPr id="53" name="">
            <a:extLst xmlns:a="http://schemas.openxmlformats.org/drawingml/2006/main">
              <a:ext uri="{FF2B5EF4-FFF2-40B4-BE49-F238E27FC236}">
                <a16:creationId xmlns:a16="http://schemas.microsoft.com/office/drawing/2014/main" id="{5B8A15ED-052F-46A4-A93C-B365038C9CF6}"/>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8B8CCFCF-F601-4C7E-A0D9-E9CCAA8A51C4}"/>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55" name="">
            <a:extLst xmlns:a="http://schemas.openxmlformats.org/drawingml/2006/main">
              <a:ext uri="{FF2B5EF4-FFF2-40B4-BE49-F238E27FC236}">
                <a16:creationId xmlns:a16="http://schemas.microsoft.com/office/drawing/2014/main" id="{C6B06241-E235-489A-8711-FACB8AEA41AD}"/>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CA2BFFB1-4F28-4367-BDC2-AF4FAC12DB77}"/>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A1FCA006-7D5C-4508-9247-8076D3E10AF7}"/>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8" name="">
            <a:extLst xmlns:a="http://schemas.openxmlformats.org/drawingml/2006/main">
              <a:ext uri="{FF2B5EF4-FFF2-40B4-BE49-F238E27FC236}">
                <a16:creationId xmlns:a16="http://schemas.microsoft.com/office/drawing/2014/main" id="{00DB0C79-8D2D-4D24-AA75-CE4B28B31254}"/>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9" name="">
            <a:extLst xmlns:a="http://schemas.openxmlformats.org/drawingml/2006/main">
              <a:ext uri="{FF2B5EF4-FFF2-40B4-BE49-F238E27FC236}">
                <a16:creationId xmlns:a16="http://schemas.microsoft.com/office/drawing/2014/main" id="{B15881D7-46FB-4E21-AC37-4E304CB7A791}"/>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0" name="">
            <a:extLst xmlns:a="http://schemas.openxmlformats.org/drawingml/2006/main">
              <a:ext uri="{FF2B5EF4-FFF2-40B4-BE49-F238E27FC236}">
                <a16:creationId xmlns:a16="http://schemas.microsoft.com/office/drawing/2014/main" id="{0ACB46EB-BE65-4F29-A36B-DDD44A5655FB}"/>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61" name="">
            <a:extLst xmlns:a="http://schemas.openxmlformats.org/drawingml/2006/main">
              <a:ext uri="{FF2B5EF4-FFF2-40B4-BE49-F238E27FC236}">
                <a16:creationId xmlns:a16="http://schemas.microsoft.com/office/drawing/2014/main" id="{FFF1E596-B221-4817-8034-584A17DAA3C2}"/>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2" name="">
            <a:extLst xmlns:a="http://schemas.openxmlformats.org/drawingml/2006/main">
              <a:ext uri="{FF2B5EF4-FFF2-40B4-BE49-F238E27FC236}">
                <a16:creationId xmlns:a16="http://schemas.microsoft.com/office/drawing/2014/main" id="{68CC9994-8994-4275-9B1D-B0F21CA73E12}"/>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3" name="">
            <a:extLst xmlns:a="http://schemas.openxmlformats.org/drawingml/2006/main">
              <a:ext uri="{FF2B5EF4-FFF2-40B4-BE49-F238E27FC236}">
                <a16:creationId xmlns:a16="http://schemas.microsoft.com/office/drawing/2014/main" id="{2D3310DA-48A2-4785-AD49-96598F5F6699}"/>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4" name="">
            <a:extLst xmlns:a="http://schemas.openxmlformats.org/drawingml/2006/main">
              <a:ext uri="{FF2B5EF4-FFF2-40B4-BE49-F238E27FC236}">
                <a16:creationId xmlns:a16="http://schemas.microsoft.com/office/drawing/2014/main" id="{2450CC6B-6803-485F-83AB-174C7FA4BD74}"/>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2113813858"/>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31B7005F-60EE-4751-BEEA-359A75E7B96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9A4CDB-6586-4267-BF1E-94F5D29B06B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CA8D17D3-63C8-40A0-82DF-E4B65720C71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1E7EBC4-FE7C-4607-887A-404D65D6311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7B135D23-948E-40DD-B110-601E03ABD964}"/>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A9085E0-C217-4110-A936-8FE04BC64BEB}"/>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5F52F927-2D93-4C87-9170-A9448F8D8121}"/>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1A99E697-0B1E-4A0F-8F0B-2EF62F035ACD}"/>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EE214055-51A2-49BA-AA52-D7665107119F}"/>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034B6DB7-3B04-4AE2-9CC7-7BC8A8EBF376}"/>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FB479380-BFE8-4BA4-B88A-50D370FF6F45}"/>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5BC6B629-0AF7-464B-9192-A8537376772B}"/>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CE65AE55-5057-4FB2-A879-E4723757E05A}"/>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B1B230A3-6561-495B-8763-EBBDD9D1A5B2}"/>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B3BDE84C-8565-4F07-B277-532F027F42CB}"/>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8A6E898C-2251-4AFB-8EF5-8D2C8D0151A5}"/>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F2D07336-563F-4541-A89F-99EB31E831ED}"/>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2D58D1E7-B3DD-4257-910C-1197609C990E}"/>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203BBB32-8E7B-46C8-9083-8A1D6B3A5E27}"/>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0EC67D12-E34E-4770-B545-755597DE8196}"/>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E6E5A8D9-6EE1-448D-A857-5841227AF7E5}"/>
              </a:ext>
            </a:extLst>
          </p:cNvPr>
          <p:cNvSpPr>
            <a:spLocks xmlns:a="http://schemas.openxmlformats.org/drawingml/2006/main" noGrp="1"/>
          </p:cNvSpPr>
          <p:nvPr/>
        </p:nvSpPr>
        <p:spPr>
          <a:xfrm xmlns:a="http://schemas.openxmlformats.org/drawingml/2006/main">
            <a:off x="3133725"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EAFCD39E-5696-47D2-A6E9-D0ED07B8A784}"/>
              </a:ext>
            </a:extLst>
          </p:cNvPr>
          <p:cNvSpPr>
            <a:spLocks xmlns:a="http://schemas.openxmlformats.org/drawingml/2006/main" noGrp="1"/>
          </p:cNvSpPr>
          <p:nvPr/>
        </p:nvSpPr>
        <p:spPr>
          <a:xfrm xmlns:a="http://schemas.openxmlformats.org/drawingml/2006/main" rot="0">
            <a:off x="3209925"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撮影先と実証に使える現場を拡大</a:t>
            </a:r>
          </a:p>
        </p:txBody>
      </p:sp>
      <p:sp>
        <p:nvSpPr>
          <p:cNvPr id="23" name="">
            <a:extLst xmlns:a="http://schemas.openxmlformats.org/drawingml/2006/main">
              <a:ext uri="{FF2B5EF4-FFF2-40B4-BE49-F238E27FC236}">
                <a16:creationId xmlns:a16="http://schemas.microsoft.com/office/drawing/2014/main" id="{5EC0B736-290C-4A10-94EF-BD10F66AFF72}"/>
              </a:ext>
            </a:extLst>
          </p:cNvPr>
          <p:cNvSpPr>
            <a:spLocks xmlns:a="http://schemas.openxmlformats.org/drawingml/2006/main" noGrp="1"/>
          </p:cNvSpPr>
          <p:nvPr/>
        </p:nvSpPr>
        <p:spPr>
          <a:xfrm xmlns:a="http://schemas.openxmlformats.org/drawingml/2006/main">
            <a:off x="7253288"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6417B9C7-CF4C-4DB1-B1B8-0030E6326AE3}"/>
              </a:ext>
            </a:extLst>
          </p:cNvPr>
          <p:cNvSpPr>
            <a:spLocks xmlns:a="http://schemas.openxmlformats.org/drawingml/2006/main" noGrp="1"/>
          </p:cNvSpPr>
          <p:nvPr/>
        </p:nvSpPr>
        <p:spPr>
          <a:xfrm xmlns:a="http://schemas.openxmlformats.org/drawingml/2006/main" rot="0">
            <a:off x="7329488"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蓄積データから、ロボットを</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導入しやすい業種と現場を絞る</a:t>
            </a:r>
          </a:p>
        </p:txBody>
      </p:sp>
      <p:sp>
        <p:nvSpPr>
          <p:cNvPr id="25" name="">
            <a:extLst xmlns:a="http://schemas.openxmlformats.org/drawingml/2006/main">
              <a:ext uri="{FF2B5EF4-FFF2-40B4-BE49-F238E27FC236}">
                <a16:creationId xmlns:a16="http://schemas.microsoft.com/office/drawing/2014/main" id="{4F88A132-6D86-428F-B43E-37CB9F71FB37}"/>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75621D8B-6B6E-4D01-A5EF-517C39F85E0A}"/>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D4311288-53B0-4A5F-B139-8450658F2325}"/>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E5FBD965-3745-477C-9073-ADB3B3922E6E}"/>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6ED4E5F6-3657-4FB4-BF9F-69B5AA3E2438}"/>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98939CF9-26D3-46C7-BD32-DE19E21C97B6}"/>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B9FA0448-BCDA-4866-A35D-40E77DD3F57B}"/>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D7A9937B-0E07-4D1A-89DB-22BFB452D3E4}"/>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DEA3C314-D0A4-4857-8E73-C35260708DE7}"/>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982A19F2-58D4-410B-83CA-B5690BBA8DA9}"/>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8AC4F4EA-97E0-4B6A-AE46-5221A1A47A83}"/>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A6E4B2D5-1DFA-417A-B716-8C7E37D1764E}"/>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6430837D-8973-42B3-99FE-44B541322406}"/>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4A5CD630-90FA-40F6-BCEA-382FFED3BB6F}"/>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9" name="">
            <a:extLst xmlns:a="http://schemas.openxmlformats.org/drawingml/2006/main">
              <a:ext uri="{FF2B5EF4-FFF2-40B4-BE49-F238E27FC236}">
                <a16:creationId xmlns:a16="http://schemas.microsoft.com/office/drawing/2014/main" id="{F907BAA1-9D67-4E28-ADE5-2E1088A9612B}"/>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A7EF365E-1FC0-4FB9-B876-C75ABA1B71FB}"/>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525C9C4A-C727-42EE-9BE3-26A2F69B3BF7}"/>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B9A70946-37F6-4B12-9335-BEE34EC22D03}"/>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D1849A55-888F-4A3D-86DA-957CF4D7B5A6}"/>
              </a:ext>
            </a:extLst>
          </p:cNvPr>
          <p:cNvSpPr>
            <a:spLocks xmlns:a="http://schemas.openxmlformats.org/drawingml/2006/main" noGrp="1"/>
          </p:cNvSpPr>
          <p:nvPr/>
        </p:nvSpPr>
        <p:spPr>
          <a:xfrm xmlns:a="http://schemas.openxmlformats.org/drawingml/2006/main">
            <a:off x="3133725" y="398145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4" name="">
            <a:extLst xmlns:a="http://schemas.openxmlformats.org/drawingml/2006/main">
              <a:ext uri="{FF2B5EF4-FFF2-40B4-BE49-F238E27FC236}">
                <a16:creationId xmlns:a16="http://schemas.microsoft.com/office/drawing/2014/main" id="{7680225B-C097-4B7E-BE35-DB0BBF228D9C}"/>
              </a:ext>
            </a:extLst>
          </p:cNvPr>
          <p:cNvSpPr>
            <a:spLocks xmlns:a="http://schemas.openxmlformats.org/drawingml/2006/main" noGrp="1"/>
          </p:cNvSpPr>
          <p:nvPr/>
        </p:nvSpPr>
        <p:spPr>
          <a:xfrm xmlns:a="http://schemas.openxmlformats.org/drawingml/2006/main" rot="0">
            <a:off x="3209925" y="394335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企業・大学へ実証や研究に使う現場を紹介</a:t>
            </a:r>
          </a:p>
        </p:txBody>
      </p:sp>
      <p:sp>
        <p:nvSpPr>
          <p:cNvPr id="45" name="">
            <a:extLst xmlns:a="http://schemas.openxmlformats.org/drawingml/2006/main">
              <a:ext uri="{FF2B5EF4-FFF2-40B4-BE49-F238E27FC236}">
                <a16:creationId xmlns:a16="http://schemas.microsoft.com/office/drawing/2014/main" id="{8098FAEE-7A51-4824-83CA-A82DBC8782CF}"/>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BB5F6017-748C-41CE-A4F7-7317729A2513}"/>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7" name="">
            <a:extLst xmlns:a="http://schemas.openxmlformats.org/drawingml/2006/main">
              <a:ext uri="{FF2B5EF4-FFF2-40B4-BE49-F238E27FC236}">
                <a16:creationId xmlns:a16="http://schemas.microsoft.com/office/drawing/2014/main" id="{F2393C90-B3F8-4606-9E62-BDBD3A077271}"/>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AD7D360B-CD88-4FDE-8B80-A849DD54E5B4}"/>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9" name="">
            <a:extLst xmlns:a="http://schemas.openxmlformats.org/drawingml/2006/main">
              <a:ext uri="{FF2B5EF4-FFF2-40B4-BE49-F238E27FC236}">
                <a16:creationId xmlns:a16="http://schemas.microsoft.com/office/drawing/2014/main" id="{FA456495-B8B0-437D-9448-DCE2F6575994}"/>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03DD86FA-C09F-46BE-AE8B-9BD0B0237FCE}"/>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EF849B3F-E058-42C0-A602-02E7B8B41C88}"/>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3F1D9A98-3B1D-4872-9BE1-3B9F89C793D3}"/>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3" name="">
            <a:extLst xmlns:a="http://schemas.openxmlformats.org/drawingml/2006/main">
              <a:ext uri="{FF2B5EF4-FFF2-40B4-BE49-F238E27FC236}">
                <a16:creationId xmlns:a16="http://schemas.microsoft.com/office/drawing/2014/main" id="{6D123BB4-83F7-4D44-BFC4-B882933420EA}"/>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74D1EB92-B084-41C6-B3D1-2CADAC4E7A9D}"/>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5" name="">
            <a:extLst xmlns:a="http://schemas.openxmlformats.org/drawingml/2006/main">
              <a:ext uri="{FF2B5EF4-FFF2-40B4-BE49-F238E27FC236}">
                <a16:creationId xmlns:a16="http://schemas.microsoft.com/office/drawing/2014/main" id="{E71FEF5D-CF1E-4B8A-B153-F5CE9C62C92A}"/>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575C9D7F-FCCB-41A7-8FCA-4CC2A7D16BA8}"/>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B36001EE-EFCA-4674-B544-AE0E27EA9AA5}"/>
              </a:ext>
            </a:extLst>
          </p:cNvPr>
          <p:cNvSpPr>
            <a:spLocks xmlns:a="http://schemas.openxmlformats.org/drawingml/2006/main" noGrp="1"/>
          </p:cNvSpPr>
          <p:nvPr/>
        </p:nvSpPr>
        <p:spPr>
          <a:xfrm xmlns:a="http://schemas.openxmlformats.org/drawingml/2006/main">
            <a:off x="7253288" y="514350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8" name="">
            <a:extLst xmlns:a="http://schemas.openxmlformats.org/drawingml/2006/main">
              <a:ext uri="{FF2B5EF4-FFF2-40B4-BE49-F238E27FC236}">
                <a16:creationId xmlns:a16="http://schemas.microsoft.com/office/drawing/2014/main" id="{D514B842-1034-413F-B3F9-82E5237494E4}"/>
              </a:ext>
            </a:extLst>
          </p:cNvPr>
          <p:cNvSpPr>
            <a:spLocks xmlns:a="http://schemas.openxmlformats.org/drawingml/2006/main" noGrp="1"/>
          </p:cNvSpPr>
          <p:nvPr/>
        </p:nvSpPr>
        <p:spPr>
          <a:xfrm xmlns:a="http://schemas.openxmlformats.org/drawingml/2006/main" rot="0">
            <a:off x="7329488" y="510540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既存ロボットを現場へ導入し</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作業に合わせて運用を調整</a:t>
            </a:r>
          </a:p>
        </p:txBody>
      </p:sp>
      <p:sp>
        <p:nvSpPr>
          <p:cNvPr id="59" name="">
            <a:extLst xmlns:a="http://schemas.openxmlformats.org/drawingml/2006/main">
              <a:ext uri="{FF2B5EF4-FFF2-40B4-BE49-F238E27FC236}">
                <a16:creationId xmlns:a16="http://schemas.microsoft.com/office/drawing/2014/main" id="{0A1FD5D0-107B-4643-9C3C-850F61C347E1}"/>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2028年は既存ロボットの導入から始め、自社でのモデル・実機開発はまだ行わない</a:t>
            </a:r>
          </a:p>
        </p:txBody>
      </p:sp>
    </p:spTree>
    <p:extLst>
      <p:ext uri="{BB962C8B-B14F-4D97-AF65-F5344CB8AC3E}">
        <p14:creationId xmlns:p14="http://schemas.microsoft.com/office/powerpoint/2010/main" val="516176449"/>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FC9FFDA3-1DBF-4FAD-8985-09C36090877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B19C37-8A6A-4A38-956D-1342B1CBB2E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D2BCD0D5-ED87-4D1F-8E03-AACB237BB9B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01C821-A355-40A1-8D71-65CE759FD79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6F62FE93-808E-4BF8-9800-F139886BF129}"/>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2FF4BD4-4768-430F-8CCC-FC098DA54B13}"/>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10A7DCB9-7C47-4450-AE85-F193C2C5CDA3}"/>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24B6654F-5667-460F-B821-A7B4D04028A8}"/>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A28CA0D6-E3AC-446D-BF7E-0E716000B288}"/>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38EC9344-F9EF-4879-A308-BE8B7B72BB05}"/>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AE2B83D6-EB42-46E6-A1FD-C84DA725DF47}"/>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CDE80637-A31F-4D88-805B-E31F6CEE3A65}"/>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26FF2445-CFAE-419C-A196-871D836BB805}"/>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04857B38-7CBC-4999-B83D-83E5EAD9EA5B}"/>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EFF6EBD4-EAC7-4BAB-A49B-A4E18CFE31AC}"/>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D6882145-FFA8-4031-B1A7-7F0298AA2E61}"/>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A81811B8-54C5-4FCD-B2D0-AD565B56DC18}"/>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DA2D1D96-522A-46AC-8770-94DFC95E0034}"/>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C1225201-B5F7-463B-A408-514C81B2436A}"/>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AC6182F0-D1E4-4A11-8F44-9BF27F1ECFB4}"/>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206BEA1C-CB08-4240-AD22-06B4B67DBCF3}"/>
              </a:ext>
            </a:extLst>
          </p:cNvPr>
          <p:cNvSpPr>
            <a:spLocks xmlns:a="http://schemas.openxmlformats.org/drawingml/2006/main" noGrp="1"/>
          </p:cNvSpPr>
          <p:nvPr/>
        </p:nvSpPr>
        <p:spPr>
          <a:xfrm xmlns:a="http://schemas.openxmlformats.org/drawingml/2006/main">
            <a:off x="3133725" y="223837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78974DE2-4EE4-40FF-8AAB-89F71B6AAA7F}"/>
              </a:ext>
            </a:extLst>
          </p:cNvPr>
          <p:cNvSpPr>
            <a:spLocks xmlns:a="http://schemas.openxmlformats.org/drawingml/2006/main" noGrp="1"/>
          </p:cNvSpPr>
          <p:nvPr/>
        </p:nvSpPr>
        <p:spPr>
          <a:xfrm xmlns:a="http://schemas.openxmlformats.org/drawingml/2006/main" rot="0">
            <a:off x="3209925" y="220027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ロボット導入先と、各現場の作業データを増やす</a:t>
            </a:r>
          </a:p>
        </p:txBody>
      </p:sp>
      <p:sp>
        <p:nvSpPr>
          <p:cNvPr id="23" name="">
            <a:extLst xmlns:a="http://schemas.openxmlformats.org/drawingml/2006/main">
              <a:ext uri="{FF2B5EF4-FFF2-40B4-BE49-F238E27FC236}">
                <a16:creationId xmlns:a16="http://schemas.microsoft.com/office/drawing/2014/main" id="{2BE44FB6-D5FF-47E7-A280-CF1D7B2E515D}"/>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1620DCCB-4EE4-4C0F-B84C-B5DBB69967DB}"/>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5" name="">
            <a:extLst xmlns:a="http://schemas.openxmlformats.org/drawingml/2006/main">
              <a:ext uri="{FF2B5EF4-FFF2-40B4-BE49-F238E27FC236}">
                <a16:creationId xmlns:a16="http://schemas.microsoft.com/office/drawing/2014/main" id="{C1A52E05-B163-4622-9C6C-76C932169D1B}"/>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051DB748-733B-4FB4-AB2C-984BFC9B32F4}"/>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0A4BC3FD-5211-4549-8336-0A4358D0BA3C}"/>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30E4135D-E36E-48EB-9D91-16B16ECD11CA}"/>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3B12C24D-1DC2-4D5D-BFE7-FC0D71A503B7}"/>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9A7509A0-786E-43BC-B52F-3361926F05F8}"/>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1" name="">
            <a:extLst xmlns:a="http://schemas.openxmlformats.org/drawingml/2006/main">
              <a:ext uri="{FF2B5EF4-FFF2-40B4-BE49-F238E27FC236}">
                <a16:creationId xmlns:a16="http://schemas.microsoft.com/office/drawing/2014/main" id="{E0FB3C3D-18A2-4174-B5D2-772B03EED529}"/>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4AAFBA72-411F-4644-965E-2CB57E3634D4}"/>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3" name="">
            <a:extLst xmlns:a="http://schemas.openxmlformats.org/drawingml/2006/main">
              <a:ext uri="{FF2B5EF4-FFF2-40B4-BE49-F238E27FC236}">
                <a16:creationId xmlns:a16="http://schemas.microsoft.com/office/drawing/2014/main" id="{7ED53275-5A99-4D56-95D2-5A89D000D931}"/>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4F716C4B-B0A1-441A-A5B7-E9BB857B6D60}"/>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20A204BA-2240-479E-8047-AA6A7AEE6A1D}"/>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61759AD9-EEC8-43EA-AE60-9C4764F315BA}"/>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7" name="">
            <a:extLst xmlns:a="http://schemas.openxmlformats.org/drawingml/2006/main">
              <a:ext uri="{FF2B5EF4-FFF2-40B4-BE49-F238E27FC236}">
                <a16:creationId xmlns:a16="http://schemas.microsoft.com/office/drawing/2014/main" id="{28C62926-BDF6-481A-ABA5-FD330DE192A3}"/>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E2D6B162-7FE8-4EBC-8CB9-91A7E9E54CD5}"/>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3212212E-0F1D-487E-AFF6-3F784313A505}"/>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5BE6EA6E-3986-486B-A6CC-7860C8CAACE1}"/>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F347B1EC-01F1-4D38-BA62-24FF85A936E3}"/>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36324451-AFEE-4620-BC46-104C0179BBA4}"/>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3" name="">
            <a:extLst xmlns:a="http://schemas.openxmlformats.org/drawingml/2006/main">
              <a:ext uri="{FF2B5EF4-FFF2-40B4-BE49-F238E27FC236}">
                <a16:creationId xmlns:a16="http://schemas.microsoft.com/office/drawing/2014/main" id="{1BAE8B2E-3876-4E31-B163-89B340A2FE46}"/>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067FF629-EDF0-4CF9-8EBA-302E73E29338}"/>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225B9729-BF16-42F5-9E27-436969455117}"/>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603F79F3-1D61-4A07-9AA6-FC249E20DD36}"/>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463CC16F-B183-4D44-98D6-65239DB67FC1}"/>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5B120B6B-90AA-4D02-94F0-DA37720CB018}"/>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49" name="">
            <a:extLst xmlns:a="http://schemas.openxmlformats.org/drawingml/2006/main">
              <a:ext uri="{FF2B5EF4-FFF2-40B4-BE49-F238E27FC236}">
                <a16:creationId xmlns:a16="http://schemas.microsoft.com/office/drawing/2014/main" id="{3CB2300C-E168-45C5-96E8-33BA32DC854E}"/>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0054C992-14A0-4C4B-9BF2-49293150DB35}"/>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983C2765-CECF-495C-A79C-A4F7130A69B1}"/>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0D5E61EE-B12E-42D5-BE09-9F338BA1437F}"/>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1AFACFB1-1581-4CD1-A2E8-34C5AC51E3BE}"/>
              </a:ext>
            </a:extLst>
          </p:cNvPr>
          <p:cNvSpPr>
            <a:spLocks xmlns:a="http://schemas.openxmlformats.org/drawingml/2006/main" noGrp="1"/>
          </p:cNvSpPr>
          <p:nvPr/>
        </p:nvSpPr>
        <p:spPr>
          <a:xfrm xmlns:a="http://schemas.openxmlformats.org/drawingml/2006/main">
            <a:off x="3133725" y="51435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BBC06DC5-3174-42E0-8A79-5EDEBBAAD126}"/>
              </a:ext>
            </a:extLst>
          </p:cNvPr>
          <p:cNvSpPr>
            <a:spLocks xmlns:a="http://schemas.openxmlformats.org/drawingml/2006/main" noGrp="1"/>
          </p:cNvSpPr>
          <p:nvPr/>
        </p:nvSpPr>
        <p:spPr>
          <a:xfrm xmlns:a="http://schemas.openxmlformats.org/drawingml/2006/main" rot="0">
            <a:off x="3209925" y="51054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既存ロボットの導入を拡大し、現場データを使った</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動作モデルと実機の改良に自社で着手</a:t>
            </a:r>
          </a:p>
        </p:txBody>
      </p:sp>
      <p:sp>
        <p:nvSpPr>
          <p:cNvPr id="55" name="">
            <a:extLst xmlns:a="http://schemas.openxmlformats.org/drawingml/2006/main">
              <a:ext uri="{FF2B5EF4-FFF2-40B4-BE49-F238E27FC236}">
                <a16:creationId xmlns:a16="http://schemas.microsoft.com/office/drawing/2014/main" id="{22E2D713-05D1-42F4-A1EB-18A925C4517F}"/>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2029年から、ロボットの動作モデルと実機の開発を自社の事業へ加える</a:t>
            </a:r>
          </a:p>
        </p:txBody>
      </p:sp>
    </p:spTree>
    <p:extLst>
      <p:ext uri="{BB962C8B-B14F-4D97-AF65-F5344CB8AC3E}">
        <p14:creationId xmlns:p14="http://schemas.microsoft.com/office/powerpoint/2010/main" val="11887762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2026-09-15T04:58:47.1170000Z</dcterms:created>
  <dcterms:modified xsi:type="dcterms:W3CDTF">2026-09-15T04:58:47.1170000Z</dcterms:modified>
</coreProperties>
</file>
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1803f60c484eff" /><Relationship Type="http://schemas.openxmlformats.org/officeDocument/2006/relationships/extended-properties" Target="/docProps/app.xml" Id="Rfb5043acbe9e4671" /><Relationship Type="http://schemas.openxmlformats.org/officeDocument/2006/relationships/officeDocument" Target="/ppt/presentation.xml" Id="R420f3ce246504a3e" /></Relationships>
</file>

<file path=ppt/presentation.xml><?xml version="1.0" encoding="utf-8"?>
<p:presentation xmlns:p="http://schemas.openxmlformats.org/presentationml/2006/main">
  <p:sldMasterIdLst>
    <p:sldMasterId xmlns:r="http://schemas.openxmlformats.org/officeDocument/2006/relationships" id="2147483648" r:id="R82d454e0b1094b0a"/>
  </p:sldMasterIdLst>
  <p:notesMasterIdLst>
    <p:notesMasterId xmlns:r="http://schemas.openxmlformats.org/officeDocument/2006/relationships" r:id="Ra8354cf6dc414402"/>
  </p:notesMasterIdLst>
  <p:sldIdLst>
    <p:sldId xmlns:r="http://schemas.openxmlformats.org/officeDocument/2006/relationships" id="256" r:id="R3f69dcd2588240a3"/>
    <p:sldId xmlns:r="http://schemas.openxmlformats.org/officeDocument/2006/relationships" id="257" r:id="R9cdbbd9a51434c94"/>
    <p:sldId xmlns:r="http://schemas.openxmlformats.org/officeDocument/2006/relationships" id="258" r:id="R7f2ed3b607f54a5b"/>
    <p:sldId xmlns:r="http://schemas.openxmlformats.org/officeDocument/2006/relationships" id="259" r:id="Re06a84b762ee46e2"/>
    <p:sldId xmlns:r="http://schemas.openxmlformats.org/officeDocument/2006/relationships" id="260" r:id="R475a8654545c40a4"/>
    <p:sldId xmlns:r="http://schemas.openxmlformats.org/officeDocument/2006/relationships" id="261" r:id="Rb7a08d1a22ef4fb8"/>
    <p:sldId xmlns:r="http://schemas.openxmlformats.org/officeDocument/2006/relationships" id="262" r:id="Rda1ee3bc00734f51"/>
    <p:sldId xmlns:r="http://schemas.openxmlformats.org/officeDocument/2006/relationships" id="263" r:id="R1e76391732044f19"/>
    <p:sldId xmlns:r="http://schemas.openxmlformats.org/officeDocument/2006/relationships" id="264" r:id="R4b8a00d28cae47f1"/>
    <p:sldId xmlns:r="http://schemas.openxmlformats.org/officeDocument/2006/relationships" id="265" r:id="R88ce36f2628c451c"/>
    <p:sldId xmlns:r="http://schemas.openxmlformats.org/officeDocument/2006/relationships" id="266" r:id="R5ec2edfdf312464e"/>
    <p:sldId xmlns:r="http://schemas.openxmlformats.org/officeDocument/2006/relationships" id="267" r:id="R68478beab14b48da"/>
    <p:sldId xmlns:r="http://schemas.openxmlformats.org/officeDocument/2006/relationships" id="268" r:id="R38c71ecc641342b8"/>
    <p:sldId xmlns:r="http://schemas.openxmlformats.org/officeDocument/2006/relationships" id="269" r:id="R662ba73908684711"/>
    <p:sldId xmlns:r="http://schemas.openxmlformats.org/officeDocument/2006/relationships" id="270" r:id="Recd1e5b2730249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d6cad354344b95" /><Relationship Type="http://schemas.openxmlformats.org/officeDocument/2006/relationships/slideMaster" Target="/ppt/slideMasters/slideMaster1.xml" Id="R82d454e0b1094b0a" /><Relationship Type="http://schemas.openxmlformats.org/officeDocument/2006/relationships/notesMaster" Target="/ppt/notesMasters/notesMaster1.xml" Id="Ra8354cf6dc414402" /><Relationship Type="http://schemas.openxmlformats.org/officeDocument/2006/relationships/presProps" Target="/ppt/presProps.xml" Id="R14bee538d6d347c3" /><Relationship Type="http://schemas.openxmlformats.org/officeDocument/2006/relationships/tableStyles" Target="/ppt/tableStyles.xml" Id="R1f190f024be34f19" /><Relationship Type="http://schemas.openxmlformats.org/officeDocument/2006/relationships/slide" Target="/ppt/slides/slide1.xml" Id="R3f69dcd2588240a3" /><Relationship Type="http://schemas.openxmlformats.org/officeDocument/2006/relationships/slide" Target="/ppt/slides/slide2.xml" Id="R9cdbbd9a51434c94" /><Relationship Type="http://schemas.openxmlformats.org/officeDocument/2006/relationships/slide" Target="/ppt/slides/slide3.xml" Id="R7f2ed3b607f54a5b" /><Relationship Type="http://schemas.openxmlformats.org/officeDocument/2006/relationships/slide" Target="/ppt/slides/slide4.xml" Id="Re06a84b762ee46e2" /><Relationship Type="http://schemas.openxmlformats.org/officeDocument/2006/relationships/slide" Target="/ppt/slides/slide5.xml" Id="R475a8654545c40a4" /><Relationship Type="http://schemas.openxmlformats.org/officeDocument/2006/relationships/slide" Target="/ppt/slides/slide6.xml" Id="Rb7a08d1a22ef4fb8" /><Relationship Type="http://schemas.openxmlformats.org/officeDocument/2006/relationships/slide" Target="/ppt/slides/slide7.xml" Id="Rda1ee3bc00734f51" /><Relationship Type="http://schemas.openxmlformats.org/officeDocument/2006/relationships/slide" Target="/ppt/slides/slide8.xml" Id="R1e76391732044f19" /><Relationship Type="http://schemas.openxmlformats.org/officeDocument/2006/relationships/slide" Target="/ppt/slides/slide9.xml" Id="R4b8a00d28cae47f1" /><Relationship Type="http://schemas.openxmlformats.org/officeDocument/2006/relationships/slide" Target="/ppt/slides/slide10.xml" Id="R88ce36f2628c451c" /><Relationship Type="http://schemas.openxmlformats.org/officeDocument/2006/relationships/slide" Target="/ppt/slides/slide11.xml" Id="R5ec2edfdf312464e" /><Relationship Type="http://schemas.openxmlformats.org/officeDocument/2006/relationships/slide" Target="/ppt/slides/slide12.xml" Id="R68478beab14b48da" /><Relationship Type="http://schemas.openxmlformats.org/officeDocument/2006/relationships/slide" Target="/ppt/slides/slide13.xml" Id="R38c71ecc641342b8" /><Relationship Type="http://schemas.openxmlformats.org/officeDocument/2006/relationships/slide" Target="/ppt/slides/slide14.xml" Id="R662ba73908684711" /><Relationship Type="http://schemas.openxmlformats.org/officeDocument/2006/relationships/slide" Target="/ppt/slides/slide15.xml" Id="Recd1e5b2730249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ae804fd54e40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e7f76159a14b42" /><Relationship Type="http://schemas.openxmlformats.org/officeDocument/2006/relationships/notesMaster" Target="/ppt/notesMasters/notesMaster1.xml" Id="R04429432a9bc48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f5ae0b32be4c48" /><Relationship Type="http://schemas.openxmlformats.org/officeDocument/2006/relationships/notesMaster" Target="/ppt/notesMasters/notesMaster1.xml" Id="Rc490e187714341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f4a7e63b674bc4" /><Relationship Type="http://schemas.openxmlformats.org/officeDocument/2006/relationships/notesMaster" Target="/ppt/notesMasters/notesMaster1.xml" Id="R965ebb21904845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cb25f1fe544a87" /><Relationship Type="http://schemas.openxmlformats.org/officeDocument/2006/relationships/notesMaster" Target="/ppt/notesMasters/notesMaster1.xml" Id="Rae514a6eb0f14c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ac6b6a72b146b1" /><Relationship Type="http://schemas.openxmlformats.org/officeDocument/2006/relationships/notesMaster" Target="/ppt/notesMasters/notesMaster1.xml" Id="R70520422ba06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cc90a77bf541b4" /><Relationship Type="http://schemas.openxmlformats.org/officeDocument/2006/relationships/notesMaster" Target="/ppt/notesMasters/notesMaster1.xml" Id="Rdb1f5cd3cca645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4a98bdc4b94835" /><Relationship Type="http://schemas.openxmlformats.org/officeDocument/2006/relationships/notesMaster" Target="/ppt/notesMasters/notesMaster1.xml" Id="Re44d2fa83db94d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92b53f28ea4b5d" /><Relationship Type="http://schemas.openxmlformats.org/officeDocument/2006/relationships/notesMaster" Target="/ppt/notesMasters/notesMaster1.xml" Id="Rfe6887e847b944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04d38d84e949c0" /><Relationship Type="http://schemas.openxmlformats.org/officeDocument/2006/relationships/notesMaster" Target="/ppt/notesMasters/notesMaster1.xml" Id="Rfc2fcb18bd6245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f030357e614fcd" /><Relationship Type="http://schemas.openxmlformats.org/officeDocument/2006/relationships/notesMaster" Target="/ppt/notesMasters/notesMaster1.xml" Id="R30dab2a4c02542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ff489c8ced4fd3" /><Relationship Type="http://schemas.openxmlformats.org/officeDocument/2006/relationships/notesMaster" Target="/ppt/notesMasters/notesMaster1.xml" Id="R0285e2295dc345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e658d8e7434761" /><Relationship Type="http://schemas.openxmlformats.org/officeDocument/2006/relationships/notesMaster" Target="/ppt/notesMasters/notesMaster1.xml" Id="Rae6f62853cdd4d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5c3dd9b01642d6" /><Relationship Type="http://schemas.openxmlformats.org/officeDocument/2006/relationships/notesMaster" Target="/ppt/notesMasters/notesMaster1.xml" Id="R9985b0de16c447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efbda4d76a42bd" /><Relationship Type="http://schemas.openxmlformats.org/officeDocument/2006/relationships/notesMaster" Target="/ppt/notesMasters/notesMaster1.xml" Id="Rfa864c683c6240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86afffdc6f47f7" /><Relationship Type="http://schemas.openxmlformats.org/officeDocument/2006/relationships/notesMaster" Target="/ppt/notesMasters/notesMaster1.xml" Id="R971e90512c2c43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RootLensは、現場で人間が行っている作業のデータ収集から事業を始めています。この資料では、現在行っていることと、その先に何を見ているかを分けて話します。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業界を、特定タスクのロボットから現場まで一体で作る垂直統合型と、各レイヤーを横断して提供する水平統合型に分けて見ています。これは厳密な分類ではなく、私たちが自社の位置を考えるための見取り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現在の実績ではなく、私たちの業界仮説です。ロボットが現場で稼働すれば、その稼働自体がデータ収集になります。そのため長期的には、データ収集を含む改善ループを自社で持つ企業が強い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企業を最終形と考えているわけではありません。現時点で複数業種の現場へ入れる方法として、データ収集が最も実行しやすく、その過程で将来の現場統合に必要な情報と関係が残る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構造が、現場データ収集を入口にする理由の中心です。現場統合層だけでなく、上流のデータ収集層も現場と直接接します。上流の企業が将来の顧客となる現場へ先に入れるという、フィジカルAI特有の構造だ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撮影先と販売先の両面を開拓する事業です。現在は現場側が先行しています。海外の販売先との会話では、データの内容以前に、継続してまとまった時間を供給できるかが重要でした。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現場側では、約30件への営業と、ベーカリーでの実撮影まで進みました。カフェチェーンとスーパーマーケットは、まだ契約済みや撮影済みではありません。現在進んでいる話として分けて説明します。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先については、需要の有無よりも、私たちが供給できる規模が商談上の課題になっています。海外8社とはサンプルのやり取りまで進みましたが、契約実績はまだありません。国内ではNextremerと実際の運用フローを詰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撮影ではヘルメット型の構成を使いました。その後、帽子型を試し、現在はスマートグラスによる撮影も導入しています。ベーカリーでは、メガネ型に変えたことで『これならつけてもいい』という反応が増えました。デバイスの快適性は撮影先の拡大に直結する課題だと分かり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現在はこの4名で活動しています。共同創業者の二人に加えて、最初の現場で出会った川島さんと、小売・製造業界のネットワークと経営管理経験を持つ大崎さんに協力してもらっています。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を1時間1,600円、その半分を現場へ還元する前提です。1台が月110時間動く場合、デバイス償却は1時間あたり約73円です。ここまでは機材だけを見た試算で、現場運用の人件費などはまだ含め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集時間に比例してデバイス台数も増えるため、機材費の比率は大きく変わりません。ただし、運用人員が同じ比率で増えるかはまだ分かっていません。また、同じデータを複数回販売できる可能性はありますが、この表には入れ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数字で問題が見えにくいのはデバイス費です。実際に事業の採算を決めるのは、現場を増やす営業と運用の人件費、そして収集したデータを継続して売れるかだと考えています。ここを今後の収集拡大の中で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ここから先はロードマップではありません。今の時点で、データ収集を入口にするとどこまで進める可能性が見えるかを示しています。環境や技術、収集したデータによって進み方は変わります。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直近では、長期構想よりも収集規模と運用の検証を優先します。10月に500時間、12月に1,000時間を目標とし、同時に販売先が必要とする条件と、現場運用にかかる実際の負担を確認します。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9f17da8e93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814e4f88db42d2" /><Relationship Type="http://schemas.openxmlformats.org/officeDocument/2006/relationships/slideLayout" Target="/ppt/slideLayouts/slideLayout1.xml" Id="R5a8390e6ede741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8390e6ede741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b793b6adc04ae5" /><Relationship Type="http://schemas.openxmlformats.org/officeDocument/2006/relationships/notesSlide" Target="/ppt/notesSlides/notesSlide1.xml" Id="R4c2b8023e2164e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ab0bb8e0464d50" /><Relationship Type="http://schemas.openxmlformats.org/officeDocument/2006/relationships/notesSlide" Target="/ppt/notesSlides/notesSlide2.xml" Id="R52db5b0c965a4e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a01c710c7f4338" /><Relationship Type="http://schemas.openxmlformats.org/officeDocument/2006/relationships/notesSlide" Target="/ppt/notesSlides/notesSlide3.xml" Id="R7bd164b45b4f41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84c8e2d5004971" /><Relationship Type="http://schemas.openxmlformats.org/officeDocument/2006/relationships/notesSlide" Target="/ppt/notesSlides/notesSlide4.xml" Id="R34a455f9340940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2eeb4dc74e4ce4" /><Relationship Type="http://schemas.openxmlformats.org/officeDocument/2006/relationships/notesSlide" Target="/ppt/notesSlides/notesSlide5.xml" Id="Rabbd94f9bc49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4cd0aaea3548c3" /><Relationship Type="http://schemas.openxmlformats.org/officeDocument/2006/relationships/notesSlide" Target="/ppt/notesSlides/notesSlide6.xml" Id="R03472a15cd5645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6d2756c1264c89" /><Relationship Type="http://schemas.openxmlformats.org/officeDocument/2006/relationships/notesSlide" Target="/ppt/notesSlides/notesSlide7.xml" Id="R9aacffbfcf254d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3bff388b3d4a10" /><Relationship Type="http://schemas.openxmlformats.org/officeDocument/2006/relationships/notesSlide" Target="/ppt/notesSlides/notesSlide8.xml" Id="R45c47f4db02041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ffda3f5d984d88" /><Relationship Type="http://schemas.openxmlformats.org/officeDocument/2006/relationships/image" Target="/ppt/media/image.jpeg" Id="R6d964dccf5d1471e" /><Relationship Type="http://schemas.openxmlformats.org/officeDocument/2006/relationships/image" Target="/ppt/media/image2.jpeg" Id="R99d1df6e4a2f4bfa" /><Relationship Type="http://schemas.openxmlformats.org/officeDocument/2006/relationships/image" Target="/ppt/media/image3.jpeg" Id="R1eac3e5ad5144920" /><Relationship Type="http://schemas.openxmlformats.org/officeDocument/2006/relationships/notesSlide" Target="/ppt/notesSlides/notesSlide9.xml" Id="R08340c8d86fa49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17882370944032" /><Relationship Type="http://schemas.openxmlformats.org/officeDocument/2006/relationships/notesSlide" Target="/ppt/notesSlides/notesSlide10.xml" Id="R5125c85704d245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dfc8855a884736" /><Relationship Type="http://schemas.openxmlformats.org/officeDocument/2006/relationships/notesSlide" Target="/ppt/notesSlides/notesSlide11.xml" Id="R62ed7d789c0e4d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ed8de741b94194" /><Relationship Type="http://schemas.openxmlformats.org/officeDocument/2006/relationships/notesSlide" Target="/ppt/notesSlides/notesSlide12.xml" Id="R55e907f3e6824c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371397f95c4399" /><Relationship Type="http://schemas.openxmlformats.org/officeDocument/2006/relationships/notesSlide" Target="/ppt/notesSlides/notesSlide13.xml" Id="Raded104d0eaa42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72a706ec854ca3" /><Relationship Type="http://schemas.openxmlformats.org/officeDocument/2006/relationships/notesSlide" Target="/ppt/notesSlides/notesSlide14.xml" Id="R2e12de22002c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42bdd01bd8b4737" /><Relationship Type="http://schemas.openxmlformats.org/officeDocument/2006/relationships/notesSlide" Target="/ppt/notesSlides/notesSlide15.xml" Id="Ra17f3e755b844303"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5E26EA-97A9-4A7D-BA3C-559AB15268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AD55A5-682F-4C8B-90AF-E67E59488D13}"/>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6B1447A2-2E5D-41C5-81BE-D30AEEBB2831}"/>
              </a:ext>
            </a:extLst>
          </p:cNvPr>
          <p:cNvSpPr>
            <a:spLocks xmlns:a="http://schemas.openxmlformats.org/drawingml/2006/main" noGrp="1"/>
          </p:cNvSpPr>
          <p:nvPr/>
        </p:nvSpPr>
        <p:spPr>
          <a:xfrm xmlns:a="http://schemas.openxmlformats.org/drawingml/2006/main">
            <a:off x="666750" y="2543175"/>
            <a:ext cx="9334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現場データ収集から始める</a:t>
            </a:r>
          </a:p>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フィジカルAI企業</a:t>
            </a:r>
          </a:p>
        </p:txBody>
      </p:sp>
      <p:sp>
        <p:nvSpPr>
          <p:cNvPr id="4" name="">
            <a:extLst xmlns:a="http://schemas.openxmlformats.org/drawingml/2006/main">
              <a:ext uri="{FF2B5EF4-FFF2-40B4-BE49-F238E27FC236}">
                <a16:creationId xmlns:a16="http://schemas.microsoft.com/office/drawing/2014/main" id="{A5FC195B-1AFD-484E-98E7-AD67EA36E1D1}"/>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20AF04-1CA2-4D5B-B5BF-256DE196618A}"/>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84FD8405-1060-496E-A9B8-2E4143757C76}"/>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873747718"/>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0CFC4BA-E6D4-4F56-9C22-8BD3CC3D5D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A32F3B-7EAA-46C8-AE3A-3EB20805DC34}"/>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INDUSTRY</a:t>
            </a:r>
          </a:p>
        </p:txBody>
      </p:sp>
      <p:sp>
        <p:nvSpPr>
          <p:cNvPr id="3" name="">
            <a:extLst xmlns:a="http://schemas.openxmlformats.org/drawingml/2006/main">
              <a:ext uri="{FF2B5EF4-FFF2-40B4-BE49-F238E27FC236}">
                <a16:creationId xmlns:a16="http://schemas.microsoft.com/office/drawing/2014/main" id="{3E48AA5C-DAD6-4DCB-9611-004A5CCAFCDA}"/>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フィジカルAI業界の構造</a:t>
            </a:r>
          </a:p>
        </p:txBody>
      </p:sp>
      <p:sp>
        <p:nvSpPr>
          <p:cNvPr id="4" name="">
            <a:extLst xmlns:a="http://schemas.openxmlformats.org/drawingml/2006/main">
              <a:ext uri="{FF2B5EF4-FFF2-40B4-BE49-F238E27FC236}">
                <a16:creationId xmlns:a16="http://schemas.microsoft.com/office/drawing/2014/main" id="{EBCEB939-6FCB-4331-B8FB-F6A21AAC5D95}"/>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E39147-6999-4316-A72E-6AC7C256CF4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6" name="">
            <a:extLst xmlns:a="http://schemas.openxmlformats.org/drawingml/2006/main">
              <a:ext uri="{FF2B5EF4-FFF2-40B4-BE49-F238E27FC236}">
                <a16:creationId xmlns:a16="http://schemas.microsoft.com/office/drawing/2014/main" id="{362BF497-C1D1-443D-A994-B7AEBC4D0CEA}"/>
              </a:ext>
            </a:extLst>
          </p:cNvPr>
          <p:cNvSpPr>
            <a:spLocks xmlns:a="http://schemas.openxmlformats.org/drawingml/2006/main" noGrp="1"/>
          </p:cNvSpPr>
          <p:nvPr/>
        </p:nvSpPr>
        <p:spPr>
          <a:xfrm xmlns:a="http://schemas.openxmlformats.org/drawingml/2006/main">
            <a:off x="723900" y="1952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垂直統合型</a:t>
            </a:r>
          </a:p>
        </p:txBody>
      </p:sp>
      <p:sp>
        <p:nvSpPr>
          <p:cNvPr id="7" name="">
            <a:extLst xmlns:a="http://schemas.openxmlformats.org/drawingml/2006/main">
              <a:ext uri="{FF2B5EF4-FFF2-40B4-BE49-F238E27FC236}">
                <a16:creationId xmlns:a16="http://schemas.microsoft.com/office/drawing/2014/main" id="{2BE4AC09-0E25-4423-A7C7-5BA299905A1E}"/>
              </a:ext>
            </a:extLst>
          </p:cNvPr>
          <p:cNvSpPr>
            <a:spLocks xmlns:a="http://schemas.openxmlformats.org/drawingml/2006/main" noGrp="1"/>
          </p:cNvSpPr>
          <p:nvPr/>
        </p:nvSpPr>
        <p:spPr>
          <a:xfrm xmlns:a="http://schemas.openxmlformats.org/drawingml/2006/main">
            <a:off x="723900" y="2428875"/>
            <a:ext cx="2571750" cy="32385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CC4B7C-ED24-48CB-9AD8-CF0CB5B6B5E3}"/>
              </a:ext>
            </a:extLst>
          </p:cNvPr>
          <p:cNvSpPr>
            <a:spLocks xmlns:a="http://schemas.openxmlformats.org/drawingml/2006/main" noGrp="1"/>
          </p:cNvSpPr>
          <p:nvPr/>
        </p:nvSpPr>
        <p:spPr>
          <a:xfrm xmlns:a="http://schemas.openxmlformats.org/drawingml/2006/main">
            <a:off x="981075" y="2695575"/>
            <a:ext cx="2057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iragino Sans"/>
                <a:ea typeface="Hiragino Sans"/>
                <a:cs typeface="Hiragino Sans"/>
              </a:defRPr>
            </a:pPr>
            <a:r>
              <a:rPr sz="1350" b="1">
                <a:solidFill>
                  <a:srgbClr val="FFFFFF"/>
                </a:solidFill>
                <a:latin typeface="Hiragino Sans"/>
                <a:ea typeface="Hiragino Sans"/>
                <a:cs typeface="Hiragino Sans"/>
              </a:rPr>
              <a:t>特定の業種・タスク</a:t>
            </a:r>
          </a:p>
        </p:txBody>
      </p:sp>
      <p:sp>
        <p:nvSpPr>
          <p:cNvPr id="9" name="">
            <a:extLst xmlns:a="http://schemas.openxmlformats.org/drawingml/2006/main">
              <a:ext uri="{FF2B5EF4-FFF2-40B4-BE49-F238E27FC236}">
                <a16:creationId xmlns:a16="http://schemas.microsoft.com/office/drawing/2014/main" id="{1A9C274E-9372-4A85-8D92-76B618C10FF8}"/>
              </a:ext>
            </a:extLst>
          </p:cNvPr>
          <p:cNvSpPr>
            <a:spLocks xmlns:a="http://schemas.openxmlformats.org/drawingml/2006/main" noGrp="1"/>
          </p:cNvSpPr>
          <p:nvPr/>
        </p:nvSpPr>
        <p:spPr>
          <a:xfrm xmlns:a="http://schemas.openxmlformats.org/drawingml/2006/main">
            <a:off x="1000125" y="3257550"/>
            <a:ext cx="2000250" cy="9525"/>
          </a:xfrm>
          <a:prstGeom xmlns:a="http://schemas.openxmlformats.org/drawingml/2006/main" prst="rect">
            <a:avLst/>
          </a:prstGeom>
          <a:solidFill xmlns:a="http://schemas.openxmlformats.org/drawingml/2006/main">
            <a:srgbClr val="6F7D8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9CEC15-7C52-4F3F-89F9-F916E6911B55}"/>
              </a:ext>
            </a:extLst>
          </p:cNvPr>
          <p:cNvSpPr>
            <a:spLocks xmlns:a="http://schemas.openxmlformats.org/drawingml/2006/main" noGrp="1"/>
          </p:cNvSpPr>
          <p:nvPr/>
        </p:nvSpPr>
        <p:spPr>
          <a:xfrm xmlns:a="http://schemas.openxmlformats.org/drawingml/2006/main">
            <a:off x="1066800" y="3533775"/>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モデル</a:t>
            </a:r>
          </a:p>
        </p:txBody>
      </p:sp>
      <p:sp>
        <p:nvSpPr>
          <p:cNvPr id="11" name="">
            <a:extLst xmlns:a="http://schemas.openxmlformats.org/drawingml/2006/main">
              <a:ext uri="{FF2B5EF4-FFF2-40B4-BE49-F238E27FC236}">
                <a16:creationId xmlns:a16="http://schemas.microsoft.com/office/drawing/2014/main" id="{9208FEA4-E561-4C7F-BD64-E5F6D2C93161}"/>
              </a:ext>
            </a:extLst>
          </p:cNvPr>
          <p:cNvSpPr>
            <a:spLocks xmlns:a="http://schemas.openxmlformats.org/drawingml/2006/main" noGrp="1"/>
          </p:cNvSpPr>
          <p:nvPr/>
        </p:nvSpPr>
        <p:spPr>
          <a:xfrm xmlns:a="http://schemas.openxmlformats.org/drawingml/2006/main">
            <a:off x="1066800" y="4076700"/>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15F0C08A-0A1E-43C5-9DD5-ED37F2355C1C}"/>
              </a:ext>
            </a:extLst>
          </p:cNvPr>
          <p:cNvSpPr>
            <a:spLocks xmlns:a="http://schemas.openxmlformats.org/drawingml/2006/main" noGrp="1"/>
          </p:cNvSpPr>
          <p:nvPr/>
        </p:nvSpPr>
        <p:spPr>
          <a:xfrm xmlns:a="http://schemas.openxmlformats.org/drawingml/2006/main">
            <a:off x="1066800" y="4619625"/>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4B957924-A3F8-412D-9161-2B9E9C3CD110}"/>
              </a:ext>
            </a:extLst>
          </p:cNvPr>
          <p:cNvSpPr>
            <a:spLocks xmlns:a="http://schemas.openxmlformats.org/drawingml/2006/main" noGrp="1"/>
          </p:cNvSpPr>
          <p:nvPr/>
        </p:nvSpPr>
        <p:spPr>
          <a:xfrm xmlns:a="http://schemas.openxmlformats.org/drawingml/2006/main">
            <a:off x="981075" y="5229225"/>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CED6DA"/>
                </a:solidFill>
                <a:latin typeface="Hiragino Sans"/>
                <a:ea typeface="Hiragino Sans"/>
                <a:cs typeface="Hiragino Sans"/>
              </a:defRPr>
            </a:pPr>
            <a:r>
              <a:rPr sz="1125" b="0">
                <a:solidFill>
                  <a:srgbClr val="CED6DA"/>
                </a:solidFill>
                <a:latin typeface="Hiragino Sans"/>
                <a:ea typeface="Hiragino Sans"/>
                <a:cs typeface="Hiragino Sans"/>
              </a:rPr>
              <a:t>一社の開発ループとして持つ</a:t>
            </a:r>
          </a:p>
        </p:txBody>
      </p:sp>
      <p:sp>
        <p:nvSpPr>
          <p:cNvPr id="14" name="">
            <a:extLst xmlns:a="http://schemas.openxmlformats.org/drawingml/2006/main">
              <a:ext uri="{FF2B5EF4-FFF2-40B4-BE49-F238E27FC236}">
                <a16:creationId xmlns:a16="http://schemas.microsoft.com/office/drawing/2014/main" id="{3EEB686A-9A96-40C9-9A14-D0810ED14156}"/>
              </a:ext>
            </a:extLst>
          </p:cNvPr>
          <p:cNvSpPr>
            <a:spLocks xmlns:a="http://schemas.openxmlformats.org/drawingml/2006/main" noGrp="1"/>
          </p:cNvSpPr>
          <p:nvPr/>
        </p:nvSpPr>
        <p:spPr>
          <a:xfrm xmlns:a="http://schemas.openxmlformats.org/drawingml/2006/main">
            <a:off x="4000500" y="1952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水平統合型</a:t>
            </a:r>
          </a:p>
        </p:txBody>
      </p:sp>
      <p:sp>
        <p:nvSpPr>
          <p:cNvPr id="15" name="">
            <a:extLst xmlns:a="http://schemas.openxmlformats.org/drawingml/2006/main">
              <a:ext uri="{FF2B5EF4-FFF2-40B4-BE49-F238E27FC236}">
                <a16:creationId xmlns:a16="http://schemas.microsoft.com/office/drawing/2014/main" id="{DB218009-6D58-45C0-9FAB-310A659EC0A5}"/>
              </a:ext>
            </a:extLst>
          </p:cNvPr>
          <p:cNvSpPr>
            <a:spLocks xmlns:a="http://schemas.openxmlformats.org/drawingml/2006/main" noGrp="1"/>
          </p:cNvSpPr>
          <p:nvPr/>
        </p:nvSpPr>
        <p:spPr>
          <a:xfrm xmlns:a="http://schemas.openxmlformats.org/drawingml/2006/main">
            <a:off x="4000500" y="2428875"/>
            <a:ext cx="7239000" cy="64770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F57B19F-3DBB-413C-BD3C-281A063A78B9}"/>
              </a:ext>
            </a:extLst>
          </p:cNvPr>
          <p:cNvSpPr>
            <a:spLocks xmlns:a="http://schemas.openxmlformats.org/drawingml/2006/main" noGrp="1"/>
          </p:cNvSpPr>
          <p:nvPr/>
        </p:nvSpPr>
        <p:spPr>
          <a:xfrm xmlns:a="http://schemas.openxmlformats.org/drawingml/2006/main">
            <a:off x="4248150" y="25908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データ収集・加工</a:t>
            </a:r>
          </a:p>
        </p:txBody>
      </p:sp>
      <p:sp>
        <p:nvSpPr>
          <p:cNvPr id="17" name="">
            <a:extLst xmlns:a="http://schemas.openxmlformats.org/drawingml/2006/main">
              <a:ext uri="{FF2B5EF4-FFF2-40B4-BE49-F238E27FC236}">
                <a16:creationId xmlns:a16="http://schemas.microsoft.com/office/drawing/2014/main" id="{0105C706-7C76-4BC4-A706-890556376299}"/>
              </a:ext>
            </a:extLst>
          </p:cNvPr>
          <p:cNvSpPr>
            <a:spLocks xmlns:a="http://schemas.openxmlformats.org/drawingml/2006/main" noGrp="1"/>
          </p:cNvSpPr>
          <p:nvPr/>
        </p:nvSpPr>
        <p:spPr>
          <a:xfrm xmlns:a="http://schemas.openxmlformats.org/drawingml/2006/main">
            <a:off x="7239000" y="25908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人間の作業、テレオペレーション、合成データ</a:t>
            </a:r>
          </a:p>
        </p:txBody>
      </p:sp>
      <p:sp>
        <p:nvSpPr>
          <p:cNvPr id="18" name="">
            <a:extLst xmlns:a="http://schemas.openxmlformats.org/drawingml/2006/main">
              <a:ext uri="{FF2B5EF4-FFF2-40B4-BE49-F238E27FC236}">
                <a16:creationId xmlns:a16="http://schemas.microsoft.com/office/drawing/2014/main" id="{A4E69B7E-E5D3-4B49-9C18-B4FF065BAC94}"/>
              </a:ext>
            </a:extLst>
          </p:cNvPr>
          <p:cNvSpPr>
            <a:spLocks xmlns:a="http://schemas.openxmlformats.org/drawingml/2006/main" noGrp="1"/>
          </p:cNvSpPr>
          <p:nvPr/>
        </p:nvSpPr>
        <p:spPr>
          <a:xfrm xmlns:a="http://schemas.openxmlformats.org/drawingml/2006/main">
            <a:off x="4000500" y="3238500"/>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6355C53-4F5E-432E-811F-71ACFB3A307D}"/>
              </a:ext>
            </a:extLst>
          </p:cNvPr>
          <p:cNvSpPr>
            <a:spLocks xmlns:a="http://schemas.openxmlformats.org/drawingml/2006/main" noGrp="1"/>
          </p:cNvSpPr>
          <p:nvPr/>
        </p:nvSpPr>
        <p:spPr>
          <a:xfrm xmlns:a="http://schemas.openxmlformats.org/drawingml/2006/main">
            <a:off x="4248150" y="3400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基盤モデル・シミュレーション</a:t>
            </a:r>
          </a:p>
        </p:txBody>
      </p:sp>
      <p:sp>
        <p:nvSpPr>
          <p:cNvPr id="20" name="">
            <a:extLst xmlns:a="http://schemas.openxmlformats.org/drawingml/2006/main">
              <a:ext uri="{FF2B5EF4-FFF2-40B4-BE49-F238E27FC236}">
                <a16:creationId xmlns:a16="http://schemas.microsoft.com/office/drawing/2014/main" id="{91AD72CE-5A61-430A-B2EC-F10D87E15C13}"/>
              </a:ext>
            </a:extLst>
          </p:cNvPr>
          <p:cNvSpPr>
            <a:spLocks xmlns:a="http://schemas.openxmlformats.org/drawingml/2006/main" noGrp="1"/>
          </p:cNvSpPr>
          <p:nvPr/>
        </p:nvSpPr>
        <p:spPr>
          <a:xfrm xmlns:a="http://schemas.openxmlformats.org/drawingml/2006/main">
            <a:off x="7239000" y="34004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学習基盤、デジタルツイン、Real2Sim</a:t>
            </a:r>
          </a:p>
        </p:txBody>
      </p:sp>
      <p:sp>
        <p:nvSpPr>
          <p:cNvPr id="21" name="">
            <a:extLst xmlns:a="http://schemas.openxmlformats.org/drawingml/2006/main">
              <a:ext uri="{FF2B5EF4-FFF2-40B4-BE49-F238E27FC236}">
                <a16:creationId xmlns:a16="http://schemas.microsoft.com/office/drawing/2014/main" id="{E202BA33-80D2-447E-B335-F46DF4C571D7}"/>
              </a:ext>
            </a:extLst>
          </p:cNvPr>
          <p:cNvSpPr>
            <a:spLocks xmlns:a="http://schemas.openxmlformats.org/drawingml/2006/main" noGrp="1"/>
          </p:cNvSpPr>
          <p:nvPr/>
        </p:nvSpPr>
        <p:spPr>
          <a:xfrm xmlns:a="http://schemas.openxmlformats.org/drawingml/2006/main">
            <a:off x="4000500" y="4048125"/>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2" name="">
            <a:extLst xmlns:a="http://schemas.openxmlformats.org/drawingml/2006/main">
              <a:ext uri="{FF2B5EF4-FFF2-40B4-BE49-F238E27FC236}">
                <a16:creationId xmlns:a16="http://schemas.microsoft.com/office/drawing/2014/main" id="{6461D7AA-0443-4B98-AEDA-62327A5F7219}"/>
              </a:ext>
            </a:extLst>
          </p:cNvPr>
          <p:cNvSpPr>
            <a:spLocks xmlns:a="http://schemas.openxmlformats.org/drawingml/2006/main" noGrp="1"/>
          </p:cNvSpPr>
          <p:nvPr/>
        </p:nvSpPr>
        <p:spPr>
          <a:xfrm xmlns:a="http://schemas.openxmlformats.org/drawingml/2006/main">
            <a:off x="4248150" y="42100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ハードウェア</a:t>
            </a:r>
          </a:p>
        </p:txBody>
      </p:sp>
      <p:sp>
        <p:nvSpPr>
          <p:cNvPr id="23" name="">
            <a:extLst xmlns:a="http://schemas.openxmlformats.org/drawingml/2006/main">
              <a:ext uri="{FF2B5EF4-FFF2-40B4-BE49-F238E27FC236}">
                <a16:creationId xmlns:a16="http://schemas.microsoft.com/office/drawing/2014/main" id="{CCC4B56D-6AD5-44BA-ABA8-694EBCAB2CD4}"/>
              </a:ext>
            </a:extLst>
          </p:cNvPr>
          <p:cNvSpPr>
            <a:spLocks xmlns:a="http://schemas.openxmlformats.org/drawingml/2006/main" noGrp="1"/>
          </p:cNvSpPr>
          <p:nvPr/>
        </p:nvSpPr>
        <p:spPr>
          <a:xfrm xmlns:a="http://schemas.openxmlformats.org/drawingml/2006/main">
            <a:off x="7239000" y="4210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ロボット本体、センサー、周辺機器</a:t>
            </a:r>
          </a:p>
        </p:txBody>
      </p:sp>
      <p:sp>
        <p:nvSpPr>
          <p:cNvPr id="24" name="">
            <a:extLst xmlns:a="http://schemas.openxmlformats.org/drawingml/2006/main">
              <a:ext uri="{FF2B5EF4-FFF2-40B4-BE49-F238E27FC236}">
                <a16:creationId xmlns:a16="http://schemas.microsoft.com/office/drawing/2014/main" id="{2BE3DDE6-5530-45EA-8045-3E7116CFE7C1}"/>
              </a:ext>
            </a:extLst>
          </p:cNvPr>
          <p:cNvSpPr>
            <a:spLocks xmlns:a="http://schemas.openxmlformats.org/drawingml/2006/main" noGrp="1"/>
          </p:cNvSpPr>
          <p:nvPr/>
        </p:nvSpPr>
        <p:spPr>
          <a:xfrm xmlns:a="http://schemas.openxmlformats.org/drawingml/2006/main">
            <a:off x="4000500" y="4857750"/>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194BE4D0-8D0A-4561-B70C-571F85F60C7A}"/>
              </a:ext>
            </a:extLst>
          </p:cNvPr>
          <p:cNvSpPr>
            <a:spLocks xmlns:a="http://schemas.openxmlformats.org/drawingml/2006/main" noGrp="1"/>
          </p:cNvSpPr>
          <p:nvPr/>
        </p:nvSpPr>
        <p:spPr>
          <a:xfrm xmlns:a="http://schemas.openxmlformats.org/drawingml/2006/main">
            <a:off x="4248150" y="50196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現場統合</a:t>
            </a:r>
          </a:p>
        </p:txBody>
      </p:sp>
      <p:sp>
        <p:nvSpPr>
          <p:cNvPr id="26" name="">
            <a:extLst xmlns:a="http://schemas.openxmlformats.org/drawingml/2006/main">
              <a:ext uri="{FF2B5EF4-FFF2-40B4-BE49-F238E27FC236}">
                <a16:creationId xmlns:a16="http://schemas.microsoft.com/office/drawing/2014/main" id="{144DF9B1-F846-41F5-8098-1455148295AB}"/>
              </a:ext>
            </a:extLst>
          </p:cNvPr>
          <p:cNvSpPr>
            <a:spLocks xmlns:a="http://schemas.openxmlformats.org/drawingml/2006/main" noGrp="1"/>
          </p:cNvSpPr>
          <p:nvPr/>
        </p:nvSpPr>
        <p:spPr>
          <a:xfrm xmlns:a="http://schemas.openxmlformats.org/drawingml/2006/main">
            <a:off x="7239000" y="50196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既存ロボットやモデルを現場へ導入</a:t>
            </a:r>
          </a:p>
        </p:txBody>
      </p:sp>
      <p:sp>
        <p:nvSpPr>
          <p:cNvPr id="27" name="">
            <a:extLst xmlns:a="http://schemas.openxmlformats.org/drawingml/2006/main">
              <a:ext uri="{FF2B5EF4-FFF2-40B4-BE49-F238E27FC236}">
                <a16:creationId xmlns:a16="http://schemas.microsoft.com/office/drawing/2014/main" id="{38B2B9B4-7C92-4DCF-90DF-CB2692097D03}"/>
              </a:ext>
            </a:extLst>
          </p:cNvPr>
          <p:cNvSpPr>
            <a:spLocks xmlns:a="http://schemas.openxmlformats.org/drawingml/2006/main" noGrp="1"/>
          </p:cNvSpPr>
          <p:nvPr/>
        </p:nvSpPr>
        <p:spPr>
          <a:xfrm xmlns:a="http://schemas.openxmlformats.org/drawingml/2006/main">
            <a:off x="4000500" y="585787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75891603"/>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2224ED2-9FC1-4176-8F7E-2C556E21D33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6A5FC6-903F-4590-A55A-3511392C99CE}"/>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THESIS</a:t>
            </a:r>
          </a:p>
        </p:txBody>
      </p:sp>
      <p:sp>
        <p:nvSpPr>
          <p:cNvPr id="3" name="">
            <a:extLst xmlns:a="http://schemas.openxmlformats.org/drawingml/2006/main">
              <a:ext uri="{FF2B5EF4-FFF2-40B4-BE49-F238E27FC236}">
                <a16:creationId xmlns:a16="http://schemas.microsoft.com/office/drawing/2014/main" id="{98C37B4C-0F48-4889-9FC1-5B79F64648E6}"/>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現場を含むフィードバックループ</a:t>
            </a:r>
          </a:p>
        </p:txBody>
      </p:sp>
      <p:sp>
        <p:nvSpPr>
          <p:cNvPr id="4" name="">
            <a:extLst xmlns:a="http://schemas.openxmlformats.org/drawingml/2006/main">
              <a:ext uri="{FF2B5EF4-FFF2-40B4-BE49-F238E27FC236}">
                <a16:creationId xmlns:a16="http://schemas.microsoft.com/office/drawing/2014/main" id="{0FA7924D-5E3A-4822-B9E9-F07B64E549DD}"/>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595FD1-1920-480D-AC07-00EE33C5A16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6" name="">
            <a:extLst xmlns:a="http://schemas.openxmlformats.org/drawingml/2006/main">
              <a:ext uri="{FF2B5EF4-FFF2-40B4-BE49-F238E27FC236}">
                <a16:creationId xmlns:a16="http://schemas.microsoft.com/office/drawing/2014/main" id="{7D741EAD-65DC-4A61-96A8-1F8077D374A4}"/>
              </a:ext>
            </a:extLst>
          </p:cNvPr>
          <p:cNvSpPr>
            <a:spLocks xmlns:a="http://schemas.openxmlformats.org/drawingml/2006/main" noGrp="1"/>
          </p:cNvSpPr>
          <p:nvPr/>
        </p:nvSpPr>
        <p:spPr>
          <a:xfrm xmlns:a="http://schemas.openxmlformats.org/drawingml/2006/main">
            <a:off x="723900" y="18859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現在考えていること</a:t>
            </a:r>
          </a:p>
        </p:txBody>
      </p:sp>
      <p:sp>
        <p:nvSpPr>
          <p:cNvPr id="7" name="">
            <a:extLst xmlns:a="http://schemas.openxmlformats.org/drawingml/2006/main">
              <a:ext uri="{FF2B5EF4-FFF2-40B4-BE49-F238E27FC236}">
                <a16:creationId xmlns:a16="http://schemas.microsoft.com/office/drawing/2014/main" id="{0C88182B-C906-472F-A89F-47ECDDC7E4A4}"/>
              </a:ext>
            </a:extLst>
          </p:cNvPr>
          <p:cNvSpPr>
            <a:spLocks xmlns:a="http://schemas.openxmlformats.org/drawingml/2006/main" noGrp="1"/>
          </p:cNvSpPr>
          <p:nvPr/>
        </p:nvSpPr>
        <p:spPr>
          <a:xfrm xmlns:a="http://schemas.openxmlformats.org/drawingml/2006/main">
            <a:off x="723900" y="2324100"/>
            <a:ext cx="1019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モデル開発、ハードウェア開発、現場統合が一つのループになる企業が、</a:t>
            </a:r>
          </a:p>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ロボットを最も速く改善できる。</a:t>
            </a:r>
          </a:p>
        </p:txBody>
      </p:sp>
      <p:sp>
        <p:nvSpPr>
          <p:cNvPr id="8" name="">
            <a:extLst xmlns:a="http://schemas.openxmlformats.org/drawingml/2006/main">
              <a:ext uri="{FF2B5EF4-FFF2-40B4-BE49-F238E27FC236}">
                <a16:creationId xmlns:a16="http://schemas.microsoft.com/office/drawing/2014/main" id="{902FF45F-72DC-49DF-BF24-5541DE036E0A}"/>
              </a:ext>
            </a:extLst>
          </p:cNvPr>
          <p:cNvSpPr>
            <a:spLocks xmlns:a="http://schemas.openxmlformats.org/drawingml/2006/main" noGrp="1"/>
          </p:cNvSpPr>
          <p:nvPr/>
        </p:nvSpPr>
        <p:spPr>
          <a:xfrm xmlns:a="http://schemas.openxmlformats.org/drawingml/2006/main">
            <a:off x="781050" y="3724275"/>
            <a:ext cx="285750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7A3A8F90-AEFB-467E-BE82-9CB5A2F228A1}"/>
              </a:ext>
            </a:extLst>
          </p:cNvPr>
          <p:cNvSpPr>
            <a:spLocks xmlns:a="http://schemas.openxmlformats.org/drawingml/2006/main" noGrp="1"/>
          </p:cNvSpPr>
          <p:nvPr/>
        </p:nvSpPr>
        <p:spPr>
          <a:xfrm xmlns:a="http://schemas.openxmlformats.org/drawingml/2006/main">
            <a:off x="990600"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01</a:t>
            </a:r>
          </a:p>
        </p:txBody>
      </p:sp>
      <p:sp>
        <p:nvSpPr>
          <p:cNvPr id="10" name="">
            <a:extLst xmlns:a="http://schemas.openxmlformats.org/drawingml/2006/main">
              <a:ext uri="{FF2B5EF4-FFF2-40B4-BE49-F238E27FC236}">
                <a16:creationId xmlns:a16="http://schemas.microsoft.com/office/drawing/2014/main" id="{CD26B1EA-5556-4014-B1D4-7DF93040F3D7}"/>
              </a:ext>
            </a:extLst>
          </p:cNvPr>
          <p:cNvSpPr>
            <a:spLocks xmlns:a="http://schemas.openxmlformats.org/drawingml/2006/main" noGrp="1"/>
          </p:cNvSpPr>
          <p:nvPr/>
        </p:nvSpPr>
        <p:spPr>
          <a:xfrm xmlns:a="http://schemas.openxmlformats.org/drawingml/2006/main">
            <a:off x="990600"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モデル開発</a:t>
            </a:r>
          </a:p>
        </p:txBody>
      </p:sp>
      <p:sp>
        <p:nvSpPr>
          <p:cNvPr id="11" name="">
            <a:extLst xmlns:a="http://schemas.openxmlformats.org/drawingml/2006/main">
              <a:ext uri="{FF2B5EF4-FFF2-40B4-BE49-F238E27FC236}">
                <a16:creationId xmlns:a16="http://schemas.microsoft.com/office/drawing/2014/main" id="{B2027C1C-0690-44A8-B4DC-8D399F5FD6CA}"/>
              </a:ext>
            </a:extLst>
          </p:cNvPr>
          <p:cNvSpPr>
            <a:spLocks xmlns:a="http://schemas.openxmlformats.org/drawingml/2006/main" noGrp="1"/>
          </p:cNvSpPr>
          <p:nvPr/>
        </p:nvSpPr>
        <p:spPr>
          <a:xfrm xmlns:a="http://schemas.openxmlformats.org/drawingml/2006/main">
            <a:off x="990600"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現場から戻ったデータで</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動作を改善する</a:t>
            </a:r>
          </a:p>
        </p:txBody>
      </p:sp>
      <p:sp>
        <p:nvSpPr>
          <p:cNvPr id="12" name="">
            <a:extLst xmlns:a="http://schemas.openxmlformats.org/drawingml/2006/main">
              <a:ext uri="{FF2B5EF4-FFF2-40B4-BE49-F238E27FC236}">
                <a16:creationId xmlns:a16="http://schemas.microsoft.com/office/drawing/2014/main" id="{CB61AE4B-4927-4400-8288-9CDF42D4EF79}"/>
              </a:ext>
            </a:extLst>
          </p:cNvPr>
          <p:cNvSpPr>
            <a:spLocks xmlns:a="http://schemas.openxmlformats.org/drawingml/2006/main" noGrp="1"/>
          </p:cNvSpPr>
          <p:nvPr/>
        </p:nvSpPr>
        <p:spPr>
          <a:xfrm xmlns:a="http://schemas.openxmlformats.org/drawingml/2006/main">
            <a:off x="4410075" y="3724275"/>
            <a:ext cx="285750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56DD6272-B66E-45DF-A8D0-7EE136B14551}"/>
              </a:ext>
            </a:extLst>
          </p:cNvPr>
          <p:cNvSpPr>
            <a:spLocks xmlns:a="http://schemas.openxmlformats.org/drawingml/2006/main" noGrp="1"/>
          </p:cNvSpPr>
          <p:nvPr/>
        </p:nvSpPr>
        <p:spPr>
          <a:xfrm xmlns:a="http://schemas.openxmlformats.org/drawingml/2006/main">
            <a:off x="4619625"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02</a:t>
            </a:r>
          </a:p>
        </p:txBody>
      </p:sp>
      <p:sp>
        <p:nvSpPr>
          <p:cNvPr id="14" name="">
            <a:extLst xmlns:a="http://schemas.openxmlformats.org/drawingml/2006/main">
              <a:ext uri="{FF2B5EF4-FFF2-40B4-BE49-F238E27FC236}">
                <a16:creationId xmlns:a16="http://schemas.microsoft.com/office/drawing/2014/main" id="{C9D0A056-CF10-459D-9B18-17F4C8BC598C}"/>
              </a:ext>
            </a:extLst>
          </p:cNvPr>
          <p:cNvSpPr>
            <a:spLocks xmlns:a="http://schemas.openxmlformats.org/drawingml/2006/main" noGrp="1"/>
          </p:cNvSpPr>
          <p:nvPr/>
        </p:nvSpPr>
        <p:spPr>
          <a:xfrm xmlns:a="http://schemas.openxmlformats.org/drawingml/2006/main">
            <a:off x="4619625"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ハードウェア開発</a:t>
            </a:r>
          </a:p>
        </p:txBody>
      </p:sp>
      <p:sp>
        <p:nvSpPr>
          <p:cNvPr id="15" name="">
            <a:extLst xmlns:a="http://schemas.openxmlformats.org/drawingml/2006/main">
              <a:ext uri="{FF2B5EF4-FFF2-40B4-BE49-F238E27FC236}">
                <a16:creationId xmlns:a16="http://schemas.microsoft.com/office/drawing/2014/main" id="{34344E01-5096-429B-919F-8897CF256450}"/>
              </a:ext>
            </a:extLst>
          </p:cNvPr>
          <p:cNvSpPr>
            <a:spLocks xmlns:a="http://schemas.openxmlformats.org/drawingml/2006/main" noGrp="1"/>
          </p:cNvSpPr>
          <p:nvPr/>
        </p:nvSpPr>
        <p:spPr>
          <a:xfrm xmlns:a="http://schemas.openxmlformats.org/drawingml/2006/main">
            <a:off x="4619625"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現場で起きた問題を</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機体やセンサーへ戻す</a:t>
            </a:r>
          </a:p>
        </p:txBody>
      </p:sp>
      <p:sp>
        <p:nvSpPr>
          <p:cNvPr id="16" name="">
            <a:extLst xmlns:a="http://schemas.openxmlformats.org/drawingml/2006/main">
              <a:ext uri="{FF2B5EF4-FFF2-40B4-BE49-F238E27FC236}">
                <a16:creationId xmlns:a16="http://schemas.microsoft.com/office/drawing/2014/main" id="{D8650A6E-B271-4DD6-A112-1490D724843A}"/>
              </a:ext>
            </a:extLst>
          </p:cNvPr>
          <p:cNvSpPr>
            <a:spLocks xmlns:a="http://schemas.openxmlformats.org/drawingml/2006/main" noGrp="1"/>
          </p:cNvSpPr>
          <p:nvPr/>
        </p:nvSpPr>
        <p:spPr>
          <a:xfrm xmlns:a="http://schemas.openxmlformats.org/drawingml/2006/main">
            <a:off x="8039100" y="3724275"/>
            <a:ext cx="2857500" cy="14192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FCE9BB19-99BF-427D-A05F-C5EE0AE2F387}"/>
              </a:ext>
            </a:extLst>
          </p:cNvPr>
          <p:cNvSpPr>
            <a:spLocks xmlns:a="http://schemas.openxmlformats.org/drawingml/2006/main" noGrp="1"/>
          </p:cNvSpPr>
          <p:nvPr/>
        </p:nvSpPr>
        <p:spPr>
          <a:xfrm xmlns:a="http://schemas.openxmlformats.org/drawingml/2006/main">
            <a:off x="8248650"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03</a:t>
            </a:r>
          </a:p>
        </p:txBody>
      </p:sp>
      <p:sp>
        <p:nvSpPr>
          <p:cNvPr id="18" name="">
            <a:extLst xmlns:a="http://schemas.openxmlformats.org/drawingml/2006/main">
              <a:ext uri="{FF2B5EF4-FFF2-40B4-BE49-F238E27FC236}">
                <a16:creationId xmlns:a16="http://schemas.microsoft.com/office/drawing/2014/main" id="{05568382-E4A7-4C3B-96BF-3A4ADB11AE4F}"/>
              </a:ext>
            </a:extLst>
          </p:cNvPr>
          <p:cNvSpPr>
            <a:spLocks xmlns:a="http://schemas.openxmlformats.org/drawingml/2006/main" noGrp="1"/>
          </p:cNvSpPr>
          <p:nvPr/>
        </p:nvSpPr>
        <p:spPr>
          <a:xfrm xmlns:a="http://schemas.openxmlformats.org/drawingml/2006/main">
            <a:off x="8248650"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現場統合</a:t>
            </a:r>
          </a:p>
        </p:txBody>
      </p:sp>
      <p:sp>
        <p:nvSpPr>
          <p:cNvPr id="19" name="">
            <a:extLst xmlns:a="http://schemas.openxmlformats.org/drawingml/2006/main">
              <a:ext uri="{FF2B5EF4-FFF2-40B4-BE49-F238E27FC236}">
                <a16:creationId xmlns:a16="http://schemas.microsoft.com/office/drawing/2014/main" id="{DAB30F33-CD8A-4021-B9EC-016376A4A12C}"/>
              </a:ext>
            </a:extLst>
          </p:cNvPr>
          <p:cNvSpPr>
            <a:spLocks xmlns:a="http://schemas.openxmlformats.org/drawingml/2006/main" noGrp="1"/>
          </p:cNvSpPr>
          <p:nvPr/>
        </p:nvSpPr>
        <p:spPr>
          <a:xfrm xmlns:a="http://schemas.openxmlformats.org/drawingml/2006/main">
            <a:off x="8248650"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実際の作業へ導入し</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新しいデータを得る</a:t>
            </a:r>
          </a:p>
        </p:txBody>
      </p:sp>
      <p:sp>
        <p:nvSpPr>
          <p:cNvPr id="20" name="">
            <a:extLst xmlns:a="http://schemas.openxmlformats.org/drawingml/2006/main">
              <a:ext uri="{FF2B5EF4-FFF2-40B4-BE49-F238E27FC236}">
                <a16:creationId xmlns:a16="http://schemas.microsoft.com/office/drawing/2014/main" id="{4DA19E57-E5EE-4238-8441-3A688F831136}"/>
              </a:ext>
            </a:extLst>
          </p:cNvPr>
          <p:cNvSpPr>
            <a:spLocks xmlns:a="http://schemas.openxmlformats.org/drawingml/2006/main" noGrp="1"/>
          </p:cNvSpPr>
          <p:nvPr/>
        </p:nvSpPr>
        <p:spPr>
          <a:xfrm xmlns:a="http://schemas.openxmlformats.org/drawingml/2006/main">
            <a:off x="3638550" y="4429125"/>
            <a:ext cx="7715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ACD9A56-BB5E-44A6-9889-849E3A475C98}"/>
              </a:ext>
            </a:extLst>
          </p:cNvPr>
          <p:cNvSpPr>
            <a:spLocks xmlns:a="http://schemas.openxmlformats.org/drawingml/2006/main" noGrp="1"/>
          </p:cNvSpPr>
          <p:nvPr/>
        </p:nvSpPr>
        <p:spPr>
          <a:xfrm xmlns:a="http://schemas.openxmlformats.org/drawingml/2006/main">
            <a:off x="7267575" y="4429125"/>
            <a:ext cx="7715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B9BD84F-3EE5-4698-BD4B-169B5702DEF0}"/>
              </a:ext>
            </a:extLst>
          </p:cNvPr>
          <p:cNvSpPr>
            <a:spLocks xmlns:a="http://schemas.openxmlformats.org/drawingml/2006/main" noGrp="1"/>
          </p:cNvSpPr>
          <p:nvPr/>
        </p:nvSpPr>
        <p:spPr>
          <a:xfrm xmlns:a="http://schemas.openxmlformats.org/drawingml/2006/main">
            <a:off x="723900" y="56388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データ収集は、将来このループの中へ取り込まれると見ている。</a:t>
            </a:r>
          </a:p>
        </p:txBody>
      </p:sp>
    </p:spTree>
    <p:extLst>
      <p:ext uri="{BB962C8B-B14F-4D97-AF65-F5344CB8AC3E}">
        <p14:creationId xmlns:p14="http://schemas.microsoft.com/office/powerpoint/2010/main" val="187609194"/>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551BE19-FD26-497C-94D7-94937B7413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9604DE-3762-46FC-812D-949B38314C27}"/>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ENTRY POINT</a:t>
            </a:r>
          </a:p>
        </p:txBody>
      </p:sp>
      <p:sp>
        <p:nvSpPr>
          <p:cNvPr id="3" name="">
            <a:extLst xmlns:a="http://schemas.openxmlformats.org/drawingml/2006/main">
              <a:ext uri="{FF2B5EF4-FFF2-40B4-BE49-F238E27FC236}">
                <a16:creationId xmlns:a16="http://schemas.microsoft.com/office/drawing/2014/main" id="{FF7EDBF3-6368-4F2C-9337-DBB9EF98500A}"/>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現場データ収集から始める理由</a:t>
            </a:r>
          </a:p>
        </p:txBody>
      </p:sp>
      <p:sp>
        <p:nvSpPr>
          <p:cNvPr id="4" name="">
            <a:extLst xmlns:a="http://schemas.openxmlformats.org/drawingml/2006/main">
              <a:ext uri="{FF2B5EF4-FFF2-40B4-BE49-F238E27FC236}">
                <a16:creationId xmlns:a16="http://schemas.microsoft.com/office/drawing/2014/main" id="{87D79B06-1597-4F5C-943B-66AE49042B05}"/>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97BF0C-A391-4112-88F4-B2D03450060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6" name="">
            <a:extLst xmlns:a="http://schemas.openxmlformats.org/drawingml/2006/main">
              <a:ext uri="{FF2B5EF4-FFF2-40B4-BE49-F238E27FC236}">
                <a16:creationId xmlns:a16="http://schemas.microsoft.com/office/drawing/2014/main" id="{81D073ED-8F2A-4227-9A74-75A35CB15018}"/>
              </a:ext>
            </a:extLst>
          </p:cNvPr>
          <p:cNvSpPr>
            <a:spLocks xmlns:a="http://schemas.openxmlformats.org/drawingml/2006/main" noGrp="1"/>
          </p:cNvSpPr>
          <p:nvPr/>
        </p:nvSpPr>
        <p:spPr>
          <a:xfrm xmlns:a="http://schemas.openxmlformats.org/drawingml/2006/main">
            <a:off x="723900" y="1952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88C7FCE0-69F4-405F-B424-D6AF7C2BC20B}"/>
              </a:ext>
            </a:extLst>
          </p:cNvPr>
          <p:cNvSpPr>
            <a:spLocks xmlns:a="http://schemas.openxmlformats.org/drawingml/2006/main" noGrp="1"/>
          </p:cNvSpPr>
          <p:nvPr/>
        </p:nvSpPr>
        <p:spPr>
          <a:xfrm xmlns:a="http://schemas.openxmlformats.org/drawingml/2006/main">
            <a:off x="1476375" y="19240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複数業種へ入れる</a:t>
            </a:r>
          </a:p>
        </p:txBody>
      </p:sp>
      <p:sp>
        <p:nvSpPr>
          <p:cNvPr id="8" name="">
            <a:extLst xmlns:a="http://schemas.openxmlformats.org/drawingml/2006/main">
              <a:ext uri="{FF2B5EF4-FFF2-40B4-BE49-F238E27FC236}">
                <a16:creationId xmlns:a16="http://schemas.microsoft.com/office/drawing/2014/main" id="{2300F89A-AFA6-406F-9F04-16609E4B1BBC}"/>
              </a:ext>
            </a:extLst>
          </p:cNvPr>
          <p:cNvSpPr>
            <a:spLocks xmlns:a="http://schemas.openxmlformats.org/drawingml/2006/main" noGrp="1"/>
          </p:cNvSpPr>
          <p:nvPr/>
        </p:nvSpPr>
        <p:spPr>
          <a:xfrm xmlns:a="http://schemas.openxmlformats.org/drawingml/2006/main">
            <a:off x="4191000" y="19240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人間の作業を撮影するため、ロボットの動作開発よりも業種を跨ぎやすい。</a:t>
            </a:r>
          </a:p>
        </p:txBody>
      </p:sp>
      <p:sp>
        <p:nvSpPr>
          <p:cNvPr id="9" name="">
            <a:extLst xmlns:a="http://schemas.openxmlformats.org/drawingml/2006/main">
              <a:ext uri="{FF2B5EF4-FFF2-40B4-BE49-F238E27FC236}">
                <a16:creationId xmlns:a16="http://schemas.microsoft.com/office/drawing/2014/main" id="{14FDE12F-34EE-48EB-B16B-93DB94456587}"/>
              </a:ext>
            </a:extLst>
          </p:cNvPr>
          <p:cNvSpPr>
            <a:spLocks xmlns:a="http://schemas.openxmlformats.org/drawingml/2006/main" noGrp="1"/>
          </p:cNvSpPr>
          <p:nvPr/>
        </p:nvSpPr>
        <p:spPr>
          <a:xfrm xmlns:a="http://schemas.openxmlformats.org/drawingml/2006/main">
            <a:off x="723900" y="28479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085894-8103-4D22-BB2D-6764B1A7C7C6}"/>
              </a:ext>
            </a:extLst>
          </p:cNvPr>
          <p:cNvSpPr>
            <a:spLocks xmlns:a="http://schemas.openxmlformats.org/drawingml/2006/main" noGrp="1"/>
          </p:cNvSpPr>
          <p:nvPr/>
        </p:nvSpPr>
        <p:spPr>
          <a:xfrm xmlns:a="http://schemas.openxmlformats.org/drawingml/2006/main">
            <a:off x="723900" y="3048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1" name="">
            <a:extLst xmlns:a="http://schemas.openxmlformats.org/drawingml/2006/main">
              <a:ext uri="{FF2B5EF4-FFF2-40B4-BE49-F238E27FC236}">
                <a16:creationId xmlns:a16="http://schemas.microsoft.com/office/drawing/2014/main" id="{9F895B10-BABA-4FCF-AA39-80249C1098DF}"/>
              </a:ext>
            </a:extLst>
          </p:cNvPr>
          <p:cNvSpPr>
            <a:spLocks xmlns:a="http://schemas.openxmlformats.org/drawingml/2006/main" noGrp="1"/>
          </p:cNvSpPr>
          <p:nvPr/>
        </p:nvSpPr>
        <p:spPr>
          <a:xfrm xmlns:a="http://schemas.openxmlformats.org/drawingml/2006/main">
            <a:off x="1476375" y="30194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現場との関係ができる</a:t>
            </a:r>
          </a:p>
        </p:txBody>
      </p:sp>
      <p:sp>
        <p:nvSpPr>
          <p:cNvPr id="12" name="">
            <a:extLst xmlns:a="http://schemas.openxmlformats.org/drawingml/2006/main">
              <a:ext uri="{FF2B5EF4-FFF2-40B4-BE49-F238E27FC236}">
                <a16:creationId xmlns:a16="http://schemas.microsoft.com/office/drawing/2014/main" id="{4B8E5C02-16F7-42B0-8ED8-3D7106C524E0}"/>
              </a:ext>
            </a:extLst>
          </p:cNvPr>
          <p:cNvSpPr>
            <a:spLocks xmlns:a="http://schemas.openxmlformats.org/drawingml/2006/main" noGrp="1"/>
          </p:cNvSpPr>
          <p:nvPr/>
        </p:nvSpPr>
        <p:spPr>
          <a:xfrm xmlns:a="http://schemas.openxmlformats.org/drawingml/2006/main">
            <a:off x="4191000" y="30194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撮影には、現場の許可、スタッフへの説明、プライバシー対応が必要になる。</a:t>
            </a:r>
          </a:p>
        </p:txBody>
      </p:sp>
      <p:sp>
        <p:nvSpPr>
          <p:cNvPr id="13" name="">
            <a:extLst xmlns:a="http://schemas.openxmlformats.org/drawingml/2006/main">
              <a:ext uri="{FF2B5EF4-FFF2-40B4-BE49-F238E27FC236}">
                <a16:creationId xmlns:a16="http://schemas.microsoft.com/office/drawing/2014/main" id="{A7F3C971-2EC7-42D5-99CE-3051A983ED97}"/>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F136B0-0951-48EE-97BF-C2607F37559C}"/>
              </a:ext>
            </a:extLst>
          </p:cNvPr>
          <p:cNvSpPr>
            <a:spLocks xmlns:a="http://schemas.openxmlformats.org/drawingml/2006/main" noGrp="1"/>
          </p:cNvSpPr>
          <p:nvPr/>
        </p:nvSpPr>
        <p:spPr>
          <a:xfrm xmlns:a="http://schemas.openxmlformats.org/drawingml/2006/main">
            <a:off x="723900" y="4143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5" name="">
            <a:extLst xmlns:a="http://schemas.openxmlformats.org/drawingml/2006/main">
              <a:ext uri="{FF2B5EF4-FFF2-40B4-BE49-F238E27FC236}">
                <a16:creationId xmlns:a16="http://schemas.microsoft.com/office/drawing/2014/main" id="{D1C6434D-6034-44DB-9F73-99206D50B9A9}"/>
              </a:ext>
            </a:extLst>
          </p:cNvPr>
          <p:cNvSpPr>
            <a:spLocks xmlns:a="http://schemas.openxmlformats.org/drawingml/2006/main" noGrp="1"/>
          </p:cNvSpPr>
          <p:nvPr/>
        </p:nvSpPr>
        <p:spPr>
          <a:xfrm xmlns:a="http://schemas.openxmlformats.org/drawingml/2006/main">
            <a:off x="1476375" y="41148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既存作業を先に知れる</a:t>
            </a:r>
          </a:p>
        </p:txBody>
      </p:sp>
      <p:sp>
        <p:nvSpPr>
          <p:cNvPr id="16" name="">
            <a:extLst xmlns:a="http://schemas.openxmlformats.org/drawingml/2006/main">
              <a:ext uri="{FF2B5EF4-FFF2-40B4-BE49-F238E27FC236}">
                <a16:creationId xmlns:a16="http://schemas.microsoft.com/office/drawing/2014/main" id="{65EE11CA-E2BC-4C09-9624-F8ABE0192A01}"/>
              </a:ext>
            </a:extLst>
          </p:cNvPr>
          <p:cNvSpPr>
            <a:spLocks xmlns:a="http://schemas.openxmlformats.org/drawingml/2006/main" noGrp="1"/>
          </p:cNvSpPr>
          <p:nvPr/>
        </p:nvSpPr>
        <p:spPr>
          <a:xfrm xmlns:a="http://schemas.openxmlformats.org/drawingml/2006/main">
            <a:off x="4191000" y="411480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ロボット導入前のワークフローを記録し、どの作業が導入対象になるかを考えられる。</a:t>
            </a:r>
          </a:p>
        </p:txBody>
      </p:sp>
      <p:sp>
        <p:nvSpPr>
          <p:cNvPr id="17" name="">
            <a:extLst xmlns:a="http://schemas.openxmlformats.org/drawingml/2006/main">
              <a:ext uri="{FF2B5EF4-FFF2-40B4-BE49-F238E27FC236}">
                <a16:creationId xmlns:a16="http://schemas.microsoft.com/office/drawing/2014/main" id="{3CDC5E30-6F97-4D9E-B89D-4375B96B0CBA}"/>
              </a:ext>
            </a:extLst>
          </p:cNvPr>
          <p:cNvSpPr>
            <a:spLocks xmlns:a="http://schemas.openxmlformats.org/drawingml/2006/main" noGrp="1"/>
          </p:cNvSpPr>
          <p:nvPr/>
        </p:nvSpPr>
        <p:spPr>
          <a:xfrm xmlns:a="http://schemas.openxmlformats.org/drawingml/2006/main">
            <a:off x="723900" y="50387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BE5E640-9502-4F0B-B1EC-138F93DA5ED4}"/>
              </a:ext>
            </a:extLst>
          </p:cNvPr>
          <p:cNvSpPr>
            <a:spLocks xmlns:a="http://schemas.openxmlformats.org/drawingml/2006/main" noGrp="1"/>
          </p:cNvSpPr>
          <p:nvPr/>
        </p:nvSpPr>
        <p:spPr>
          <a:xfrm xmlns:a="http://schemas.openxmlformats.org/drawingml/2006/main">
            <a:off x="723900" y="5486400"/>
            <a:ext cx="10572750" cy="581025"/>
          </a:xfrm>
          <a:prstGeom xmlns:a="http://schemas.openxmlformats.org/drawingml/2006/main" prst="rect">
            <a:avLst/>
          </a:prstGeom>
          <a:solidFill xmlns:a="http://schemas.openxmlformats.org/drawingml/2006/main">
            <a:srgbClr val="DCE8E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86436AB-B7E0-49B4-A682-96675D79723C}"/>
              </a:ext>
            </a:extLst>
          </p:cNvPr>
          <p:cNvSpPr>
            <a:spLocks xmlns:a="http://schemas.openxmlformats.org/drawingml/2006/main" noGrp="1"/>
          </p:cNvSpPr>
          <p:nvPr/>
        </p:nvSpPr>
        <p:spPr>
          <a:xfrm xmlns:a="http://schemas.openxmlformats.org/drawingml/2006/main">
            <a:off x="952500" y="56292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今の技術で現場へ入り、将来の現場統合に必要な関係とデータを先に蓄積する。</a:t>
            </a:r>
          </a:p>
        </p:txBody>
      </p:sp>
    </p:spTree>
    <p:extLst>
      <p:ext uri="{BB962C8B-B14F-4D97-AF65-F5344CB8AC3E}">
        <p14:creationId xmlns:p14="http://schemas.microsoft.com/office/powerpoint/2010/main" val="1838237144"/>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40AAB94-8052-4C18-B919-3D51A43369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74220C-7850-4255-9C85-91852F8471F7}"/>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MARKET STRUCTURE</a:t>
            </a:r>
          </a:p>
        </p:txBody>
      </p:sp>
      <p:sp>
        <p:nvSpPr>
          <p:cNvPr id="3" name="">
            <a:extLst xmlns:a="http://schemas.openxmlformats.org/drawingml/2006/main">
              <a:ext uri="{FF2B5EF4-FFF2-40B4-BE49-F238E27FC236}">
                <a16:creationId xmlns:a16="http://schemas.microsoft.com/office/drawing/2014/main" id="{4CE594F7-B1AD-454D-B7B1-00E1BB7A2A63}"/>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上流と現場が直接つながる構造</a:t>
            </a:r>
          </a:p>
        </p:txBody>
      </p:sp>
      <p:sp>
        <p:nvSpPr>
          <p:cNvPr id="4" name="">
            <a:extLst xmlns:a="http://schemas.openxmlformats.org/drawingml/2006/main">
              <a:ext uri="{FF2B5EF4-FFF2-40B4-BE49-F238E27FC236}">
                <a16:creationId xmlns:a16="http://schemas.microsoft.com/office/drawing/2014/main" id="{08D0DE06-F82D-4A88-AE0E-B09586944190}"/>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A8E697-CAB3-4D78-BF89-6A95638E07C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6" name="">
            <a:extLst xmlns:a="http://schemas.openxmlformats.org/drawingml/2006/main">
              <a:ext uri="{FF2B5EF4-FFF2-40B4-BE49-F238E27FC236}">
                <a16:creationId xmlns:a16="http://schemas.microsoft.com/office/drawing/2014/main" id="{7B0370BC-FB58-4D80-9B12-CD3A702B61E1}"/>
              </a:ext>
            </a:extLst>
          </p:cNvPr>
          <p:cNvSpPr>
            <a:spLocks xmlns:a="http://schemas.openxmlformats.org/drawingml/2006/main" noGrp="1"/>
          </p:cNvSpPr>
          <p:nvPr/>
        </p:nvSpPr>
        <p:spPr>
          <a:xfrm xmlns:a="http://schemas.openxmlformats.org/drawingml/2006/main">
            <a:off x="857250" y="2057400"/>
            <a:ext cx="4000500" cy="5810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3F98EC15-B7FA-4E04-9948-BA555A6F4A3A}"/>
              </a:ext>
            </a:extLst>
          </p:cNvPr>
          <p:cNvSpPr>
            <a:spLocks xmlns:a="http://schemas.openxmlformats.org/drawingml/2006/main" noGrp="1"/>
          </p:cNvSpPr>
          <p:nvPr/>
        </p:nvSpPr>
        <p:spPr>
          <a:xfrm xmlns:a="http://schemas.openxmlformats.org/drawingml/2006/main">
            <a:off x="1104900" y="22098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a:t>
            </a:r>
          </a:p>
        </p:txBody>
      </p:sp>
      <p:sp>
        <p:nvSpPr>
          <p:cNvPr id="8" name="">
            <a:extLst xmlns:a="http://schemas.openxmlformats.org/drawingml/2006/main">
              <a:ext uri="{FF2B5EF4-FFF2-40B4-BE49-F238E27FC236}">
                <a16:creationId xmlns:a16="http://schemas.microsoft.com/office/drawing/2014/main" id="{CA5CAFE2-4C20-4597-A77B-6EE5EBAF0EA3}"/>
              </a:ext>
            </a:extLst>
          </p:cNvPr>
          <p:cNvSpPr>
            <a:spLocks xmlns:a="http://schemas.openxmlformats.org/drawingml/2006/main" noGrp="1"/>
          </p:cNvSpPr>
          <p:nvPr/>
        </p:nvSpPr>
        <p:spPr>
          <a:xfrm xmlns:a="http://schemas.openxmlformats.org/drawingml/2006/main">
            <a:off x="857250" y="2895600"/>
            <a:ext cx="4000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8941BFC0-E3B0-4A0A-B34F-13C89F1DF703}"/>
              </a:ext>
            </a:extLst>
          </p:cNvPr>
          <p:cNvSpPr>
            <a:spLocks xmlns:a="http://schemas.openxmlformats.org/drawingml/2006/main" noGrp="1"/>
          </p:cNvSpPr>
          <p:nvPr/>
        </p:nvSpPr>
        <p:spPr>
          <a:xfrm xmlns:a="http://schemas.openxmlformats.org/drawingml/2006/main">
            <a:off x="1104900" y="30480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C78DC457-615E-40C1-B10A-2A57DA2FC5CB}"/>
              </a:ext>
            </a:extLst>
          </p:cNvPr>
          <p:cNvSpPr>
            <a:spLocks xmlns:a="http://schemas.openxmlformats.org/drawingml/2006/main" noGrp="1"/>
          </p:cNvSpPr>
          <p:nvPr/>
        </p:nvSpPr>
        <p:spPr>
          <a:xfrm xmlns:a="http://schemas.openxmlformats.org/drawingml/2006/main">
            <a:off x="857250" y="3733800"/>
            <a:ext cx="4000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40028626-0042-4D6B-9DF7-45150988BEA1}"/>
              </a:ext>
            </a:extLst>
          </p:cNvPr>
          <p:cNvSpPr>
            <a:spLocks xmlns:a="http://schemas.openxmlformats.org/drawingml/2006/main" noGrp="1"/>
          </p:cNvSpPr>
          <p:nvPr/>
        </p:nvSpPr>
        <p:spPr>
          <a:xfrm xmlns:a="http://schemas.openxmlformats.org/drawingml/2006/main">
            <a:off x="1104900" y="38862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234C4C96-AAC4-4745-882C-92B5036FB003}"/>
              </a:ext>
            </a:extLst>
          </p:cNvPr>
          <p:cNvSpPr>
            <a:spLocks xmlns:a="http://schemas.openxmlformats.org/drawingml/2006/main" noGrp="1"/>
          </p:cNvSpPr>
          <p:nvPr/>
        </p:nvSpPr>
        <p:spPr>
          <a:xfrm xmlns:a="http://schemas.openxmlformats.org/drawingml/2006/main">
            <a:off x="857250" y="4572000"/>
            <a:ext cx="4000500" cy="5810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30095A63-C30A-4D40-BEE3-8B5DA1B58BC7}"/>
              </a:ext>
            </a:extLst>
          </p:cNvPr>
          <p:cNvSpPr>
            <a:spLocks xmlns:a="http://schemas.openxmlformats.org/drawingml/2006/main" noGrp="1"/>
          </p:cNvSpPr>
          <p:nvPr/>
        </p:nvSpPr>
        <p:spPr>
          <a:xfrm xmlns:a="http://schemas.openxmlformats.org/drawingml/2006/main">
            <a:off x="1104900" y="47244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D97DD5AF-6B36-4444-AE30-11C8B46AEADA}"/>
              </a:ext>
            </a:extLst>
          </p:cNvPr>
          <p:cNvSpPr>
            <a:spLocks xmlns:a="http://schemas.openxmlformats.org/drawingml/2006/main" noGrp="1"/>
          </p:cNvSpPr>
          <p:nvPr/>
        </p:nvSpPr>
        <p:spPr>
          <a:xfrm xmlns:a="http://schemas.openxmlformats.org/drawingml/2006/main">
            <a:off x="8143875" y="2828925"/>
            <a:ext cx="2571750" cy="18478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A9F582-8C80-4359-A212-F9C61E990E82}"/>
              </a:ext>
            </a:extLst>
          </p:cNvPr>
          <p:cNvSpPr>
            <a:spLocks xmlns:a="http://schemas.openxmlformats.org/drawingml/2006/main" noGrp="1"/>
          </p:cNvSpPr>
          <p:nvPr/>
        </p:nvSpPr>
        <p:spPr>
          <a:xfrm xmlns:a="http://schemas.openxmlformats.org/drawingml/2006/main">
            <a:off x="8524875" y="317182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7A723C28-D3CB-4F43-B475-7A9656DA7604}"/>
              </a:ext>
            </a:extLst>
          </p:cNvPr>
          <p:cNvSpPr>
            <a:spLocks xmlns:a="http://schemas.openxmlformats.org/drawingml/2006/main" noGrp="1"/>
          </p:cNvSpPr>
          <p:nvPr/>
        </p:nvSpPr>
        <p:spPr>
          <a:xfrm xmlns:a="http://schemas.openxmlformats.org/drawingml/2006/main">
            <a:off x="8420100" y="3895725"/>
            <a:ext cx="2019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D6DDE0"/>
                </a:solidFill>
                <a:latin typeface="Hiragino Sans"/>
                <a:ea typeface="Hiragino Sans"/>
                <a:cs typeface="Hiragino Sans"/>
              </a:defRPr>
            </a:pPr>
            <a:r>
              <a:rPr sz="1275" b="0">
                <a:solidFill>
                  <a:srgbClr val="D6DDE0"/>
                </a:solidFill>
                <a:latin typeface="Hiragino Sans"/>
                <a:ea typeface="Hiragino Sans"/>
                <a:cs typeface="Hiragino Sans"/>
              </a:rPr>
              <a:t>飲食・小売・製造・配送など</a:t>
            </a:r>
          </a:p>
        </p:txBody>
      </p:sp>
      <p:sp>
        <p:nvSpPr>
          <p:cNvPr id="17" name="">
            <a:extLst xmlns:a="http://schemas.openxmlformats.org/drawingml/2006/main">
              <a:ext uri="{FF2B5EF4-FFF2-40B4-BE49-F238E27FC236}">
                <a16:creationId xmlns:a16="http://schemas.microsoft.com/office/drawing/2014/main" id="{1870A383-3631-4CDD-BC27-802124B639B9}"/>
              </a:ext>
            </a:extLst>
          </p:cNvPr>
          <p:cNvSpPr>
            <a:spLocks xmlns:a="http://schemas.openxmlformats.org/drawingml/2006/main" noGrp="1"/>
          </p:cNvSpPr>
          <p:nvPr/>
        </p:nvSpPr>
        <p:spPr>
          <a:xfrm xmlns:a="http://schemas.openxmlformats.org/drawingml/2006/main">
            <a:off x="4857750" y="2333625"/>
            <a:ext cx="32861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FF88D0-C66F-4760-8C2E-6FB37CEF487C}"/>
              </a:ext>
            </a:extLst>
          </p:cNvPr>
          <p:cNvSpPr>
            <a:spLocks xmlns:a="http://schemas.openxmlformats.org/drawingml/2006/main" noGrp="1"/>
          </p:cNvSpPr>
          <p:nvPr/>
        </p:nvSpPr>
        <p:spPr>
          <a:xfrm xmlns:a="http://schemas.openxmlformats.org/drawingml/2006/main">
            <a:off x="4857750" y="4848225"/>
            <a:ext cx="32861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1D81A4-F872-4CF5-8DF0-B2150117CBDE}"/>
              </a:ext>
            </a:extLst>
          </p:cNvPr>
          <p:cNvSpPr>
            <a:spLocks xmlns:a="http://schemas.openxmlformats.org/drawingml/2006/main" noGrp="1"/>
          </p:cNvSpPr>
          <p:nvPr/>
        </p:nvSpPr>
        <p:spPr>
          <a:xfrm xmlns:a="http://schemas.openxmlformats.org/drawingml/2006/main">
            <a:off x="5524500" y="20097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撮影のために直接入る</a:t>
            </a:r>
          </a:p>
        </p:txBody>
      </p:sp>
      <p:sp>
        <p:nvSpPr>
          <p:cNvPr id="20" name="">
            <a:extLst xmlns:a="http://schemas.openxmlformats.org/drawingml/2006/main">
              <a:ext uri="{FF2B5EF4-FFF2-40B4-BE49-F238E27FC236}">
                <a16:creationId xmlns:a16="http://schemas.microsoft.com/office/drawing/2014/main" id="{C3FA590F-6F86-4B5D-AF1E-97F756CB3BCA}"/>
              </a:ext>
            </a:extLst>
          </p:cNvPr>
          <p:cNvSpPr>
            <a:spLocks xmlns:a="http://schemas.openxmlformats.org/drawingml/2006/main" noGrp="1"/>
          </p:cNvSpPr>
          <p:nvPr/>
        </p:nvSpPr>
        <p:spPr>
          <a:xfrm xmlns:a="http://schemas.openxmlformats.org/drawingml/2006/main">
            <a:off x="5524500" y="49530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ロボットを導入する</a:t>
            </a:r>
          </a:p>
        </p:txBody>
      </p:sp>
      <p:sp>
        <p:nvSpPr>
          <p:cNvPr id="21" name="">
            <a:extLst xmlns:a="http://schemas.openxmlformats.org/drawingml/2006/main">
              <a:ext uri="{FF2B5EF4-FFF2-40B4-BE49-F238E27FC236}">
                <a16:creationId xmlns:a16="http://schemas.microsoft.com/office/drawing/2014/main" id="{C8BBB084-A71A-4711-9E0A-6C2C22C16610}"/>
              </a:ext>
            </a:extLst>
          </p:cNvPr>
          <p:cNvSpPr>
            <a:spLocks xmlns:a="http://schemas.openxmlformats.org/drawingml/2006/main" noGrp="1"/>
          </p:cNvSpPr>
          <p:nvPr/>
        </p:nvSpPr>
        <p:spPr>
          <a:xfrm xmlns:a="http://schemas.openxmlformats.org/drawingml/2006/main">
            <a:off x="857250" y="5800725"/>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一般には離れている上流と最下流が、現実世界のデータを通じて直接つながる。</a:t>
            </a:r>
          </a:p>
        </p:txBody>
      </p:sp>
    </p:spTree>
    <p:extLst>
      <p:ext uri="{BB962C8B-B14F-4D97-AF65-F5344CB8AC3E}">
        <p14:creationId xmlns:p14="http://schemas.microsoft.com/office/powerpoint/2010/main" val="27935460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CA0729-B47E-41AC-91EF-C93220E752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CF0549-AE76-4A75-A593-677CD9B9955A}"/>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BUSINESS</a:t>
            </a:r>
          </a:p>
        </p:txBody>
      </p:sp>
      <p:sp>
        <p:nvSpPr>
          <p:cNvPr id="3" name="">
            <a:extLst xmlns:a="http://schemas.openxmlformats.org/drawingml/2006/main">
              <a:ext uri="{FF2B5EF4-FFF2-40B4-BE49-F238E27FC236}">
                <a16:creationId xmlns:a16="http://schemas.microsoft.com/office/drawing/2014/main" id="{18EB6A58-E371-459C-8357-994F961F0C04}"/>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事業の構造</a:t>
            </a:r>
          </a:p>
        </p:txBody>
      </p:sp>
      <p:sp>
        <p:nvSpPr>
          <p:cNvPr id="4" name="">
            <a:extLst xmlns:a="http://schemas.openxmlformats.org/drawingml/2006/main">
              <a:ext uri="{FF2B5EF4-FFF2-40B4-BE49-F238E27FC236}">
                <a16:creationId xmlns:a16="http://schemas.microsoft.com/office/drawing/2014/main" id="{74DCE249-08CE-4828-B8C7-99F6E4E6170C}"/>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8646E8-A116-415F-93E2-8F264DFA228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6" name="">
            <a:extLst xmlns:a="http://schemas.openxmlformats.org/drawingml/2006/main">
              <a:ext uri="{FF2B5EF4-FFF2-40B4-BE49-F238E27FC236}">
                <a16:creationId xmlns:a16="http://schemas.microsoft.com/office/drawing/2014/main" id="{578B0054-1438-4FB5-9E6C-7922D7633517}"/>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7" name="">
            <a:extLst xmlns:a="http://schemas.openxmlformats.org/drawingml/2006/main">
              <a:ext uri="{FF2B5EF4-FFF2-40B4-BE49-F238E27FC236}">
                <a16:creationId xmlns:a16="http://schemas.microsoft.com/office/drawing/2014/main" id="{D4289CB1-1184-4749-8395-1762E0D26043}"/>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8" name="">
            <a:extLst xmlns:a="http://schemas.openxmlformats.org/drawingml/2006/main">
              <a:ext uri="{FF2B5EF4-FFF2-40B4-BE49-F238E27FC236}">
                <a16:creationId xmlns:a16="http://schemas.microsoft.com/office/drawing/2014/main" id="{67CAF3D5-453B-4B53-88BA-8D45649ED1CB}"/>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9" name="">
            <a:extLst xmlns:a="http://schemas.openxmlformats.org/drawingml/2006/main">
              <a:ext uri="{FF2B5EF4-FFF2-40B4-BE49-F238E27FC236}">
                <a16:creationId xmlns:a16="http://schemas.microsoft.com/office/drawing/2014/main" id="{29094667-F845-42BE-8036-B873605E93D4}"/>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28390C95-411C-4F71-ADCA-235923A2A168}"/>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1" name="">
            <a:extLst xmlns:a="http://schemas.openxmlformats.org/drawingml/2006/main">
              <a:ext uri="{FF2B5EF4-FFF2-40B4-BE49-F238E27FC236}">
                <a16:creationId xmlns:a16="http://schemas.microsoft.com/office/drawing/2014/main" id="{EACC8049-1612-46F3-B710-C6390D8CB088}"/>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2" name="">
            <a:extLst xmlns:a="http://schemas.openxmlformats.org/drawingml/2006/main">
              <a:ext uri="{FF2B5EF4-FFF2-40B4-BE49-F238E27FC236}">
                <a16:creationId xmlns:a16="http://schemas.microsoft.com/office/drawing/2014/main" id="{45C6CA44-F944-4D40-8F49-AA83A00317B2}"/>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3539DF1-368A-4F39-972C-963D998767EB}"/>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収集・確認・管理</a:t>
            </a:r>
          </a:p>
        </p:txBody>
      </p:sp>
      <p:sp>
        <p:nvSpPr>
          <p:cNvPr id="14" name="">
            <a:extLst xmlns:a="http://schemas.openxmlformats.org/drawingml/2006/main">
              <a:ext uri="{FF2B5EF4-FFF2-40B4-BE49-F238E27FC236}">
                <a16:creationId xmlns:a16="http://schemas.microsoft.com/office/drawing/2014/main" id="{4A2BC271-4EE0-46C4-9151-311EF33763CD}"/>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現場運用</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データ品質</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販売フロー</a:t>
            </a:r>
          </a:p>
        </p:txBody>
      </p:sp>
      <p:sp>
        <p:nvSpPr>
          <p:cNvPr id="15" name="">
            <a:extLst xmlns:a="http://schemas.openxmlformats.org/drawingml/2006/main">
              <a:ext uri="{FF2B5EF4-FFF2-40B4-BE49-F238E27FC236}">
                <a16:creationId xmlns:a16="http://schemas.microsoft.com/office/drawing/2014/main" id="{9C6B589A-69D4-486E-BD95-2B7AB9ADA5C1}"/>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8024EA9-29FA-4A30-92F9-FE371B147467}"/>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7" name="">
            <a:extLst xmlns:a="http://schemas.openxmlformats.org/drawingml/2006/main">
              <a:ext uri="{FF2B5EF4-FFF2-40B4-BE49-F238E27FC236}">
                <a16:creationId xmlns:a16="http://schemas.microsoft.com/office/drawing/2014/main" id="{D8C4C561-3711-48EE-93AD-CFEB002F710A}"/>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8" name="">
            <a:extLst xmlns:a="http://schemas.openxmlformats.org/drawingml/2006/main">
              <a:ext uri="{FF2B5EF4-FFF2-40B4-BE49-F238E27FC236}">
                <a16:creationId xmlns:a16="http://schemas.microsoft.com/office/drawing/2014/main" id="{C5B4996B-716A-4840-B515-9FCCE9EBB1C2}"/>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026052D-1E0E-431A-B692-DDB5C82958AD}"/>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69BBF1D-22DA-4049-924A-BA738A3E1B84}"/>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1" name="">
            <a:extLst xmlns:a="http://schemas.openxmlformats.org/drawingml/2006/main">
              <a:ext uri="{FF2B5EF4-FFF2-40B4-BE49-F238E27FC236}">
                <a16:creationId xmlns:a16="http://schemas.microsoft.com/office/drawing/2014/main" id="{07C3009A-8C13-4995-9134-8287E5F3F7F0}"/>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2" name="">
            <a:extLst xmlns:a="http://schemas.openxmlformats.org/drawingml/2006/main">
              <a:ext uri="{FF2B5EF4-FFF2-40B4-BE49-F238E27FC236}">
                <a16:creationId xmlns:a16="http://schemas.microsoft.com/office/drawing/2014/main" id="{4ABB8416-DB73-441A-A676-C5F09F90A0E3}"/>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4153FC8-376F-45D0-A08F-821E28B5B070}"/>
              </a:ext>
            </a:extLst>
          </p:cNvPr>
          <p:cNvSpPr>
            <a:spLocks xmlns:a="http://schemas.openxmlformats.org/drawingml/2006/main" noGrp="1"/>
          </p:cNvSpPr>
          <p:nvPr/>
        </p:nvSpPr>
        <p:spPr>
          <a:xfrm xmlns:a="http://schemas.openxmlformats.org/drawingml/2006/main">
            <a:off x="723900" y="51530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現在は現場開拓が先行している。販売側では、一定の収集規模に達することが商談を進める条件になっている。</a:t>
            </a:r>
          </a:p>
        </p:txBody>
      </p:sp>
    </p:spTree>
    <p:extLst>
      <p:ext uri="{BB962C8B-B14F-4D97-AF65-F5344CB8AC3E}">
        <p14:creationId xmlns:p14="http://schemas.microsoft.com/office/powerpoint/2010/main" val="1663751483"/>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5B0D3DC-92DC-4AF2-B56A-6F1D875B47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B40893-6D68-41D4-9C05-FD1350F15200}"/>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CURRENT FACTS</a:t>
            </a:r>
          </a:p>
        </p:txBody>
      </p:sp>
      <p:sp>
        <p:nvSpPr>
          <p:cNvPr id="3" name="">
            <a:extLst xmlns:a="http://schemas.openxmlformats.org/drawingml/2006/main">
              <a:ext uri="{FF2B5EF4-FFF2-40B4-BE49-F238E27FC236}">
                <a16:creationId xmlns:a16="http://schemas.microsoft.com/office/drawing/2014/main" id="{35A9116B-E96E-47E2-8FC9-27CEC2090D0A}"/>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現在の現場開拓</a:t>
            </a:r>
          </a:p>
        </p:txBody>
      </p:sp>
      <p:sp>
        <p:nvSpPr>
          <p:cNvPr id="4" name="">
            <a:extLst xmlns:a="http://schemas.openxmlformats.org/drawingml/2006/main">
              <a:ext uri="{FF2B5EF4-FFF2-40B4-BE49-F238E27FC236}">
                <a16:creationId xmlns:a16="http://schemas.microsoft.com/office/drawing/2014/main" id="{B1C95276-F102-44A2-81D5-DE00E977151B}"/>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E160EA-C73F-427F-A3DE-C9B1F4034F5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6" name="">
            <a:extLst xmlns:a="http://schemas.openxmlformats.org/drawingml/2006/main">
              <a:ext uri="{FF2B5EF4-FFF2-40B4-BE49-F238E27FC236}">
                <a16:creationId xmlns:a16="http://schemas.microsoft.com/office/drawing/2014/main" id="{0AEA3502-D0AB-4602-9A0B-FAEE2CAE46DA}"/>
              </a:ext>
            </a:extLst>
          </p:cNvPr>
          <p:cNvSpPr>
            <a:spLocks xmlns:a="http://schemas.openxmlformats.org/drawingml/2006/main" noGrp="1"/>
          </p:cNvSpPr>
          <p:nvPr/>
        </p:nvSpPr>
        <p:spPr>
          <a:xfrm xmlns:a="http://schemas.openxmlformats.org/drawingml/2006/main">
            <a:off x="723900" y="19431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A397A7DB-9D81-4502-9B17-9FD879B95586}"/>
              </a:ext>
            </a:extLst>
          </p:cNvPr>
          <p:cNvSpPr>
            <a:spLocks xmlns:a="http://schemas.openxmlformats.org/drawingml/2006/main" noGrp="1"/>
          </p:cNvSpPr>
          <p:nvPr/>
        </p:nvSpPr>
        <p:spPr>
          <a:xfrm xmlns:a="http://schemas.openxmlformats.org/drawingml/2006/main">
            <a:off x="1476375" y="19145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飛び込み営業</a:t>
            </a:r>
          </a:p>
        </p:txBody>
      </p:sp>
      <p:sp>
        <p:nvSpPr>
          <p:cNvPr id="8" name="">
            <a:extLst xmlns:a="http://schemas.openxmlformats.org/drawingml/2006/main">
              <a:ext uri="{FF2B5EF4-FFF2-40B4-BE49-F238E27FC236}">
                <a16:creationId xmlns:a16="http://schemas.microsoft.com/office/drawing/2014/main" id="{142F059F-CD96-417E-8AE0-4B663A36CA62}"/>
              </a:ext>
            </a:extLst>
          </p:cNvPr>
          <p:cNvSpPr>
            <a:spLocks xmlns:a="http://schemas.openxmlformats.org/drawingml/2006/main" noGrp="1"/>
          </p:cNvSpPr>
          <p:nvPr/>
        </p:nvSpPr>
        <p:spPr>
          <a:xfrm xmlns:a="http://schemas.openxmlformats.org/drawingml/2006/main">
            <a:off x="4191000" y="19145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約30件の現場へ訪問した。</a:t>
            </a:r>
          </a:p>
        </p:txBody>
      </p:sp>
      <p:sp>
        <p:nvSpPr>
          <p:cNvPr id="9" name="">
            <a:extLst xmlns:a="http://schemas.openxmlformats.org/drawingml/2006/main">
              <a:ext uri="{FF2B5EF4-FFF2-40B4-BE49-F238E27FC236}">
                <a16:creationId xmlns:a16="http://schemas.microsoft.com/office/drawing/2014/main" id="{00A8D261-AF78-4C5F-9CB0-11ECCC6B4B18}"/>
              </a:ext>
            </a:extLst>
          </p:cNvPr>
          <p:cNvSpPr>
            <a:spLocks xmlns:a="http://schemas.openxmlformats.org/drawingml/2006/main" noGrp="1"/>
          </p:cNvSpPr>
          <p:nvPr/>
        </p:nvSpPr>
        <p:spPr>
          <a:xfrm xmlns:a="http://schemas.openxmlformats.org/drawingml/2006/main">
            <a:off x="723900" y="2667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ADE384-32BC-4824-8BB5-94C709ED1CBD}"/>
              </a:ext>
            </a:extLst>
          </p:cNvPr>
          <p:cNvSpPr>
            <a:spLocks xmlns:a="http://schemas.openxmlformats.org/drawingml/2006/main" noGrp="1"/>
          </p:cNvSpPr>
          <p:nvPr/>
        </p:nvSpPr>
        <p:spPr>
          <a:xfrm xmlns:a="http://schemas.openxmlformats.org/drawingml/2006/main">
            <a:off x="723900" y="28575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1" name="">
            <a:extLst xmlns:a="http://schemas.openxmlformats.org/drawingml/2006/main">
              <a:ext uri="{FF2B5EF4-FFF2-40B4-BE49-F238E27FC236}">
                <a16:creationId xmlns:a16="http://schemas.microsoft.com/office/drawing/2014/main" id="{7F54402A-5599-432F-9A29-122B206C831D}"/>
              </a:ext>
            </a:extLst>
          </p:cNvPr>
          <p:cNvSpPr>
            <a:spLocks xmlns:a="http://schemas.openxmlformats.org/drawingml/2006/main" noGrp="1"/>
          </p:cNvSpPr>
          <p:nvPr/>
        </p:nvSpPr>
        <p:spPr>
          <a:xfrm xmlns:a="http://schemas.openxmlformats.org/drawingml/2006/main">
            <a:off x="1476375" y="28289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ベーカリー</a:t>
            </a:r>
          </a:p>
        </p:txBody>
      </p:sp>
      <p:sp>
        <p:nvSpPr>
          <p:cNvPr id="12" name="">
            <a:extLst xmlns:a="http://schemas.openxmlformats.org/drawingml/2006/main">
              <a:ext uri="{FF2B5EF4-FFF2-40B4-BE49-F238E27FC236}">
                <a16:creationId xmlns:a16="http://schemas.microsoft.com/office/drawing/2014/main" id="{58103C26-AA99-4C98-9442-AFDDDF1AFB43}"/>
              </a:ext>
            </a:extLst>
          </p:cNvPr>
          <p:cNvSpPr>
            <a:spLocks xmlns:a="http://schemas.openxmlformats.org/drawingml/2006/main" noGrp="1"/>
          </p:cNvSpPr>
          <p:nvPr/>
        </p:nvSpPr>
        <p:spPr>
          <a:xfrm xmlns:a="http://schemas.openxmlformats.org/drawingml/2006/main">
            <a:off x="4191000" y="28289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店舗の許可を得て装着テストを行い、合計約50時間を収集した。</a:t>
            </a:r>
          </a:p>
        </p:txBody>
      </p:sp>
      <p:sp>
        <p:nvSpPr>
          <p:cNvPr id="13" name="">
            <a:extLst xmlns:a="http://schemas.openxmlformats.org/drawingml/2006/main">
              <a:ext uri="{FF2B5EF4-FFF2-40B4-BE49-F238E27FC236}">
                <a16:creationId xmlns:a16="http://schemas.microsoft.com/office/drawing/2014/main" id="{7744AD98-C290-4D39-834E-9A70E0B5FC5C}"/>
              </a:ext>
            </a:extLst>
          </p:cNvPr>
          <p:cNvSpPr>
            <a:spLocks xmlns:a="http://schemas.openxmlformats.org/drawingml/2006/main" noGrp="1"/>
          </p:cNvSpPr>
          <p:nvPr/>
        </p:nvSpPr>
        <p:spPr>
          <a:xfrm xmlns:a="http://schemas.openxmlformats.org/drawingml/2006/main">
            <a:off x="723900" y="35814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1FCB99-F001-4D53-8991-37F94471ACC1}"/>
              </a:ext>
            </a:extLst>
          </p:cNvPr>
          <p:cNvSpPr>
            <a:spLocks xmlns:a="http://schemas.openxmlformats.org/drawingml/2006/main" noGrp="1"/>
          </p:cNvSpPr>
          <p:nvPr/>
        </p:nvSpPr>
        <p:spPr>
          <a:xfrm xmlns:a="http://schemas.openxmlformats.org/drawingml/2006/main">
            <a:off x="723900" y="37719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5" name="">
            <a:extLst xmlns:a="http://schemas.openxmlformats.org/drawingml/2006/main">
              <a:ext uri="{FF2B5EF4-FFF2-40B4-BE49-F238E27FC236}">
                <a16:creationId xmlns:a16="http://schemas.microsoft.com/office/drawing/2014/main" id="{3B80889E-0D64-43CC-8689-3EA76437D9CE}"/>
              </a:ext>
            </a:extLst>
          </p:cNvPr>
          <p:cNvSpPr>
            <a:spLocks xmlns:a="http://schemas.openxmlformats.org/drawingml/2006/main" noGrp="1"/>
          </p:cNvSpPr>
          <p:nvPr/>
        </p:nvSpPr>
        <p:spPr>
          <a:xfrm xmlns:a="http://schemas.openxmlformats.org/drawingml/2006/main">
            <a:off x="1476375" y="37433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カフェチェーン</a:t>
            </a:r>
          </a:p>
        </p:txBody>
      </p:sp>
      <p:sp>
        <p:nvSpPr>
          <p:cNvPr id="16" name="">
            <a:extLst xmlns:a="http://schemas.openxmlformats.org/drawingml/2006/main">
              <a:ext uri="{FF2B5EF4-FFF2-40B4-BE49-F238E27FC236}">
                <a16:creationId xmlns:a16="http://schemas.microsoft.com/office/drawing/2014/main" id="{B1712DEF-C16E-486C-8A44-BA43BDEDE5CC}"/>
              </a:ext>
            </a:extLst>
          </p:cNvPr>
          <p:cNvSpPr>
            <a:spLocks xmlns:a="http://schemas.openxmlformats.org/drawingml/2006/main" noGrp="1"/>
          </p:cNvSpPr>
          <p:nvPr/>
        </p:nvSpPr>
        <p:spPr>
          <a:xfrm xmlns:a="http://schemas.openxmlformats.org/drawingml/2006/main">
            <a:off x="4191000" y="37433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SNS経由で接触した神戸の一社と、撮影合意の手続きを進めている。</a:t>
            </a:r>
          </a:p>
        </p:txBody>
      </p:sp>
      <p:sp>
        <p:nvSpPr>
          <p:cNvPr id="17" name="">
            <a:extLst xmlns:a="http://schemas.openxmlformats.org/drawingml/2006/main">
              <a:ext uri="{FF2B5EF4-FFF2-40B4-BE49-F238E27FC236}">
                <a16:creationId xmlns:a16="http://schemas.microsoft.com/office/drawing/2014/main" id="{E3E2AF88-B893-4096-A707-5F29179B84EA}"/>
              </a:ext>
            </a:extLst>
          </p:cNvPr>
          <p:cNvSpPr>
            <a:spLocks xmlns:a="http://schemas.openxmlformats.org/drawingml/2006/main" noGrp="1"/>
          </p:cNvSpPr>
          <p:nvPr/>
        </p:nvSpPr>
        <p:spPr>
          <a:xfrm xmlns:a="http://schemas.openxmlformats.org/drawingml/2006/main">
            <a:off x="723900" y="44958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5EF3B2C-6756-4781-8010-D5E4CA675B8F}"/>
              </a:ext>
            </a:extLst>
          </p:cNvPr>
          <p:cNvSpPr>
            <a:spLocks xmlns:a="http://schemas.openxmlformats.org/drawingml/2006/main" noGrp="1"/>
          </p:cNvSpPr>
          <p:nvPr/>
        </p:nvSpPr>
        <p:spPr>
          <a:xfrm xmlns:a="http://schemas.openxmlformats.org/drawingml/2006/main">
            <a:off x="723900" y="4686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04</a:t>
            </a:r>
          </a:p>
        </p:txBody>
      </p:sp>
      <p:sp>
        <p:nvSpPr>
          <p:cNvPr id="19" name="">
            <a:extLst xmlns:a="http://schemas.openxmlformats.org/drawingml/2006/main">
              <a:ext uri="{FF2B5EF4-FFF2-40B4-BE49-F238E27FC236}">
                <a16:creationId xmlns:a16="http://schemas.microsoft.com/office/drawing/2014/main" id="{7DC78D83-217A-4EDD-A256-982E911545CA}"/>
              </a:ext>
            </a:extLst>
          </p:cNvPr>
          <p:cNvSpPr>
            <a:spLocks xmlns:a="http://schemas.openxmlformats.org/drawingml/2006/main" noGrp="1"/>
          </p:cNvSpPr>
          <p:nvPr/>
        </p:nvSpPr>
        <p:spPr>
          <a:xfrm xmlns:a="http://schemas.openxmlformats.org/drawingml/2006/main">
            <a:off x="1476375" y="46577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スーパーマーケット</a:t>
            </a:r>
          </a:p>
        </p:txBody>
      </p:sp>
      <p:sp>
        <p:nvSpPr>
          <p:cNvPr id="20" name="">
            <a:extLst xmlns:a="http://schemas.openxmlformats.org/drawingml/2006/main">
              <a:ext uri="{FF2B5EF4-FFF2-40B4-BE49-F238E27FC236}">
                <a16:creationId xmlns:a16="http://schemas.microsoft.com/office/drawing/2014/main" id="{0DEAD90C-6992-46A1-AC7D-7A7F2940A196}"/>
              </a:ext>
            </a:extLst>
          </p:cNvPr>
          <p:cNvSpPr>
            <a:spLocks xmlns:a="http://schemas.openxmlformats.org/drawingml/2006/main" noGrp="1"/>
          </p:cNvSpPr>
          <p:nvPr/>
        </p:nvSpPr>
        <p:spPr>
          <a:xfrm xmlns:a="http://schemas.openxmlformats.org/drawingml/2006/main">
            <a:off x="4191000" y="46577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紹介を通じて関西の一社と接触し、9月17日にオフィスで説明する予定。</a:t>
            </a:r>
          </a:p>
        </p:txBody>
      </p:sp>
      <p:sp>
        <p:nvSpPr>
          <p:cNvPr id="21" name="">
            <a:extLst xmlns:a="http://schemas.openxmlformats.org/drawingml/2006/main">
              <a:ext uri="{FF2B5EF4-FFF2-40B4-BE49-F238E27FC236}">
                <a16:creationId xmlns:a16="http://schemas.microsoft.com/office/drawing/2014/main" id="{32ACBBAC-0533-46D0-AEE4-2E86D3C3C20E}"/>
              </a:ext>
            </a:extLst>
          </p:cNvPr>
          <p:cNvSpPr>
            <a:spLocks xmlns:a="http://schemas.openxmlformats.org/drawingml/2006/main" noGrp="1"/>
          </p:cNvSpPr>
          <p:nvPr/>
        </p:nvSpPr>
        <p:spPr>
          <a:xfrm xmlns:a="http://schemas.openxmlformats.org/drawingml/2006/main">
            <a:off x="723900" y="5410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FD3EA4-0D4E-467C-AFBB-693639EA6CE1}"/>
              </a:ext>
            </a:extLst>
          </p:cNvPr>
          <p:cNvSpPr>
            <a:spLocks xmlns:a="http://schemas.openxmlformats.org/drawingml/2006/main" noGrp="1"/>
          </p:cNvSpPr>
          <p:nvPr/>
        </p:nvSpPr>
        <p:spPr>
          <a:xfrm xmlns:a="http://schemas.openxmlformats.org/drawingml/2006/main">
            <a:off x="723900" y="5829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完了した撮影と、合意・商談中の案件を分けて記載。</a:t>
            </a:r>
          </a:p>
        </p:txBody>
      </p:sp>
    </p:spTree>
    <p:extLst>
      <p:ext uri="{BB962C8B-B14F-4D97-AF65-F5344CB8AC3E}">
        <p14:creationId xmlns:p14="http://schemas.microsoft.com/office/powerpoint/2010/main" val="1049362841"/>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6C70D7-6CFF-4075-9D99-D7B89F1958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3D324F-1BC6-462C-96D6-229894D92C2B}"/>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CURRENT FACTS</a:t>
            </a:r>
          </a:p>
        </p:txBody>
      </p:sp>
      <p:sp>
        <p:nvSpPr>
          <p:cNvPr id="3" name="">
            <a:extLst xmlns:a="http://schemas.openxmlformats.org/drawingml/2006/main">
              <a:ext uri="{FF2B5EF4-FFF2-40B4-BE49-F238E27FC236}">
                <a16:creationId xmlns:a16="http://schemas.microsoft.com/office/drawing/2014/main" id="{C4F0D41E-60A3-46AF-AC2A-7EAD9EE67593}"/>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現在の販売先開拓</a:t>
            </a:r>
          </a:p>
        </p:txBody>
      </p:sp>
      <p:sp>
        <p:nvSpPr>
          <p:cNvPr id="4" name="">
            <a:extLst xmlns:a="http://schemas.openxmlformats.org/drawingml/2006/main">
              <a:ext uri="{FF2B5EF4-FFF2-40B4-BE49-F238E27FC236}">
                <a16:creationId xmlns:a16="http://schemas.microsoft.com/office/drawing/2014/main" id="{6C721095-7BC4-4BAD-B2B3-19A8E32BE28E}"/>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B80EFE-5F6D-4ECD-AE3A-89C5406D894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6" name="">
            <a:extLst xmlns:a="http://schemas.openxmlformats.org/drawingml/2006/main">
              <a:ext uri="{FF2B5EF4-FFF2-40B4-BE49-F238E27FC236}">
                <a16:creationId xmlns:a16="http://schemas.microsoft.com/office/drawing/2014/main" id="{5E99489F-B11B-4F10-BDE7-583C38B13EBE}"/>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054A9C37-0796-4048-AD31-71455E8CCB14}"/>
              </a:ext>
            </a:extLst>
          </p:cNvPr>
          <p:cNvSpPr>
            <a:spLocks xmlns:a="http://schemas.openxmlformats.org/drawingml/2006/main" noGrp="1"/>
          </p:cNvSpPr>
          <p:nvPr/>
        </p:nvSpPr>
        <p:spPr>
          <a:xfrm xmlns:a="http://schemas.openxmlformats.org/drawingml/2006/main">
            <a:off x="723900" y="24098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8社と連絡し、ベーカリーのサンプルデータを送付した。</a:t>
            </a:r>
          </a:p>
        </p:txBody>
      </p:sp>
      <p:sp>
        <p:nvSpPr>
          <p:cNvPr id="8" name="">
            <a:extLst xmlns:a="http://schemas.openxmlformats.org/drawingml/2006/main">
              <a:ext uri="{FF2B5EF4-FFF2-40B4-BE49-F238E27FC236}">
                <a16:creationId xmlns:a16="http://schemas.microsoft.com/office/drawing/2014/main" id="{C921E991-7002-4600-B548-DAAAE06A51A9}"/>
              </a:ext>
            </a:extLst>
          </p:cNvPr>
          <p:cNvSpPr>
            <a:spLocks xmlns:a="http://schemas.openxmlformats.org/drawingml/2006/main" noGrp="1"/>
          </p:cNvSpPr>
          <p:nvPr/>
        </p:nvSpPr>
        <p:spPr>
          <a:xfrm xmlns:a="http://schemas.openxmlformats.org/drawingml/2006/main">
            <a:off x="723900" y="294322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合意には至っていない。現在の収集規模が小さく、優先度が上がらなかった。</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商談を進める目安として、月間1,000時間程度の供給規模を聞いている。</a:t>
            </a:r>
          </a:p>
        </p:txBody>
      </p:sp>
      <p:sp>
        <p:nvSpPr>
          <p:cNvPr id="9" name="">
            <a:extLst xmlns:a="http://schemas.openxmlformats.org/drawingml/2006/main">
              <a:ext uri="{FF2B5EF4-FFF2-40B4-BE49-F238E27FC236}">
                <a16:creationId xmlns:a16="http://schemas.microsoft.com/office/drawing/2014/main" id="{5AFBF9AF-309A-4C7E-BB1B-96D7954F4AC1}"/>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17A96A-B753-4497-B76E-E5DFE579781B}"/>
              </a:ext>
            </a:extLst>
          </p:cNvPr>
          <p:cNvSpPr>
            <a:spLocks xmlns:a="http://schemas.openxmlformats.org/drawingml/2006/main" noGrp="1"/>
          </p:cNvSpPr>
          <p:nvPr/>
        </p:nvSpPr>
        <p:spPr>
          <a:xfrm xmlns:a="http://schemas.openxmlformats.org/drawingml/2006/main">
            <a:off x="723900" y="4267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a:t>
            </a:r>
          </a:p>
        </p:txBody>
      </p:sp>
      <p:sp>
        <p:nvSpPr>
          <p:cNvPr id="11" name="">
            <a:extLst xmlns:a="http://schemas.openxmlformats.org/drawingml/2006/main">
              <a:ext uri="{FF2B5EF4-FFF2-40B4-BE49-F238E27FC236}">
                <a16:creationId xmlns:a16="http://schemas.microsoft.com/office/drawing/2014/main" id="{3984F635-384C-47DA-A19D-A5C8AEF02074}"/>
              </a:ext>
            </a:extLst>
          </p:cNvPr>
          <p:cNvSpPr>
            <a:spLocks xmlns:a="http://schemas.openxmlformats.org/drawingml/2006/main" noGrp="1"/>
          </p:cNvSpPr>
          <p:nvPr/>
        </p:nvSpPr>
        <p:spPr>
          <a:xfrm xmlns:a="http://schemas.openxmlformats.org/drawingml/2006/main">
            <a:off x="723900" y="47244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Nextremerのデータ加工・販売サービスへの掲載を調整している。</a:t>
            </a:r>
          </a:p>
        </p:txBody>
      </p:sp>
      <p:sp>
        <p:nvSpPr>
          <p:cNvPr id="12" name="">
            <a:extLst xmlns:a="http://schemas.openxmlformats.org/drawingml/2006/main">
              <a:ext uri="{FF2B5EF4-FFF2-40B4-BE49-F238E27FC236}">
                <a16:creationId xmlns:a16="http://schemas.microsoft.com/office/drawing/2014/main" id="{0ED80807-E178-49AC-A920-9BF4B0659018}"/>
              </a:ext>
            </a:extLst>
          </p:cNvPr>
          <p:cNvSpPr>
            <a:spLocks xmlns:a="http://schemas.openxmlformats.org/drawingml/2006/main" noGrp="1"/>
          </p:cNvSpPr>
          <p:nvPr/>
        </p:nvSpPr>
        <p:spPr>
          <a:xfrm xmlns:a="http://schemas.openxmlformats.org/drawingml/2006/main">
            <a:off x="723900" y="52578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現場合意の取り方とデータ取扱フローを擦り合わせている。</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データ加工、プライバシー処理、ストレージを自社だけで抱えない形を検討している。</a:t>
            </a:r>
          </a:p>
        </p:txBody>
      </p:sp>
    </p:spTree>
    <p:extLst>
      <p:ext uri="{BB962C8B-B14F-4D97-AF65-F5344CB8AC3E}">
        <p14:creationId xmlns:p14="http://schemas.microsoft.com/office/powerpoint/2010/main" val="61576190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93E4778-7988-48AD-84C8-575A60B1197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B87511-7F6C-4EBE-984B-4D577329BCC6}"/>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FIELD LEARNING</a:t>
            </a:r>
          </a:p>
        </p:txBody>
      </p:sp>
      <p:sp>
        <p:nvSpPr>
          <p:cNvPr id="3" name="">
            <a:extLst xmlns:a="http://schemas.openxmlformats.org/drawingml/2006/main">
              <a:ext uri="{FF2B5EF4-FFF2-40B4-BE49-F238E27FC236}">
                <a16:creationId xmlns:a16="http://schemas.microsoft.com/office/drawing/2014/main" id="{66632FA1-1ED2-4E94-B405-B6E55C99C0FA}"/>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撮影デバイスの変遷</a:t>
            </a:r>
          </a:p>
        </p:txBody>
      </p:sp>
      <p:sp>
        <p:nvSpPr>
          <p:cNvPr id="4" name="">
            <a:extLst xmlns:a="http://schemas.openxmlformats.org/drawingml/2006/main">
              <a:ext uri="{FF2B5EF4-FFF2-40B4-BE49-F238E27FC236}">
                <a16:creationId xmlns:a16="http://schemas.microsoft.com/office/drawing/2014/main" id="{63DFD72E-DE4C-4B7E-A7A3-39A4A2FC7C4D}"/>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D168C5-A61F-48AA-A6B7-B8386DE12E8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d964dccf5d1471e"/>
          <a:srcRect xmlns:a="http://schemas.openxmlformats.org/drawingml/2006/main" l="0" t="21875" r="0" b="21875"/>
          <a:stretch xmlns:a="http://schemas.openxmlformats.org/drawingml/2006/main">
            <a:fillRect l="0" t="0" r="0" b="0"/>
          </a:stretch>
        </p:blipFill>
        <p:spPr>
          <a:xfrm xmlns:a="http://schemas.openxmlformats.org/drawingml/2006/main">
            <a:off x="723900" y="1952625"/>
            <a:ext cx="3238500" cy="2428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0F37F66-9735-4F5E-A799-C9FE1692742D}"/>
              </a:ext>
            </a:extLst>
          </p:cNvPr>
          <p:cNvSpPr>
            <a:spLocks xmlns:a="http://schemas.openxmlformats.org/drawingml/2006/main" noGrp="1"/>
          </p:cNvSpPr>
          <p:nvPr/>
        </p:nvSpPr>
        <p:spPr>
          <a:xfrm xmlns:a="http://schemas.openxmlformats.org/drawingml/2006/main">
            <a:off x="723900"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01</a:t>
            </a:r>
          </a:p>
        </p:txBody>
      </p:sp>
      <p:sp>
        <p:nvSpPr>
          <p:cNvPr id="8" name="">
            <a:extLst xmlns:a="http://schemas.openxmlformats.org/drawingml/2006/main">
              <a:ext uri="{FF2B5EF4-FFF2-40B4-BE49-F238E27FC236}">
                <a16:creationId xmlns:a16="http://schemas.microsoft.com/office/drawing/2014/main" id="{26DC1EB1-6E34-4C94-AB02-685BA6B47ACA}"/>
              </a:ext>
            </a:extLst>
          </p:cNvPr>
          <p:cNvSpPr>
            <a:spLocks xmlns:a="http://schemas.openxmlformats.org/drawingml/2006/main" noGrp="1"/>
          </p:cNvSpPr>
          <p:nvPr/>
        </p:nvSpPr>
        <p:spPr>
          <a:xfrm xmlns:a="http://schemas.openxmlformats.org/drawingml/2006/main">
            <a:off x="1181100"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初回撮影  ヘルメット</a:t>
            </a:r>
          </a:p>
        </p:txBody>
      </p:sp>
      <p:sp>
        <p:nvSpPr>
          <p:cNvPr id="9" name="">
            <a:extLst xmlns:a="http://schemas.openxmlformats.org/drawingml/2006/main">
              <a:ext uri="{FF2B5EF4-FFF2-40B4-BE49-F238E27FC236}">
                <a16:creationId xmlns:a16="http://schemas.microsoft.com/office/drawing/2014/main" id="{670D1CE1-AE93-4FDD-BB7B-C5E1E5E9EF13}"/>
              </a:ext>
            </a:extLst>
          </p:cNvPr>
          <p:cNvSpPr>
            <a:spLocks xmlns:a="http://schemas.openxmlformats.org/drawingml/2006/main" noGrp="1"/>
          </p:cNvSpPr>
          <p:nvPr/>
        </p:nvSpPr>
        <p:spPr>
          <a:xfrm xmlns:a="http://schemas.openxmlformats.org/drawingml/2006/main">
            <a:off x="1181100"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装着して撮影できることを確認</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9d1df6e4a2f4bfa"/>
          <a:srcRect xmlns:a="http://schemas.openxmlformats.org/drawingml/2006/main" l="9333" t="0" r="9333" b="0"/>
          <a:stretch xmlns:a="http://schemas.openxmlformats.org/drawingml/2006/main">
            <a:fillRect l="0" t="0" r="0" b="0"/>
          </a:stretch>
        </p:blipFill>
        <p:spPr>
          <a:xfrm xmlns:a="http://schemas.openxmlformats.org/drawingml/2006/main">
            <a:off x="4314825" y="1952625"/>
            <a:ext cx="3238500" cy="24288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FA77933-E7DB-4D04-8DDF-BB127A880999}"/>
              </a:ext>
            </a:extLst>
          </p:cNvPr>
          <p:cNvSpPr>
            <a:spLocks xmlns:a="http://schemas.openxmlformats.org/drawingml/2006/main" noGrp="1"/>
          </p:cNvSpPr>
          <p:nvPr/>
        </p:nvSpPr>
        <p:spPr>
          <a:xfrm xmlns:a="http://schemas.openxmlformats.org/drawingml/2006/main">
            <a:off x="4314825"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02</a:t>
            </a:r>
          </a:p>
        </p:txBody>
      </p:sp>
      <p:sp>
        <p:nvSpPr>
          <p:cNvPr id="12" name="">
            <a:extLst xmlns:a="http://schemas.openxmlformats.org/drawingml/2006/main">
              <a:ext uri="{FF2B5EF4-FFF2-40B4-BE49-F238E27FC236}">
                <a16:creationId xmlns:a16="http://schemas.microsoft.com/office/drawing/2014/main" id="{2E11E87E-2119-47AA-8B10-F6ECB7536C18}"/>
              </a:ext>
            </a:extLst>
          </p:cNvPr>
          <p:cNvSpPr>
            <a:spLocks xmlns:a="http://schemas.openxmlformats.org/drawingml/2006/main" noGrp="1"/>
          </p:cNvSpPr>
          <p:nvPr/>
        </p:nvSpPr>
        <p:spPr>
          <a:xfrm xmlns:a="http://schemas.openxmlformats.org/drawingml/2006/main">
            <a:off x="4772025"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帽子型</a:t>
            </a:r>
          </a:p>
        </p:txBody>
      </p:sp>
      <p:sp>
        <p:nvSpPr>
          <p:cNvPr id="13" name="">
            <a:extLst xmlns:a="http://schemas.openxmlformats.org/drawingml/2006/main">
              <a:ext uri="{FF2B5EF4-FFF2-40B4-BE49-F238E27FC236}">
                <a16:creationId xmlns:a16="http://schemas.microsoft.com/office/drawing/2014/main" id="{F428D270-F87F-4B10-941C-9F60F180FA89}"/>
              </a:ext>
            </a:extLst>
          </p:cNvPr>
          <p:cNvSpPr>
            <a:spLocks xmlns:a="http://schemas.openxmlformats.org/drawingml/2006/main" noGrp="1"/>
          </p:cNvSpPr>
          <p:nvPr/>
        </p:nvSpPr>
        <p:spPr>
          <a:xfrm xmlns:a="http://schemas.openxmlformats.org/drawingml/2006/main">
            <a:off x="4772025"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重量バランスと装着感を改善</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eac3e5ad5144920"/>
          <a:srcRect xmlns:a="http://schemas.openxmlformats.org/drawingml/2006/main" l="0" t="2730" r="0" b="2730"/>
          <a:stretch xmlns:a="http://schemas.openxmlformats.org/drawingml/2006/main">
            <a:fillRect l="0" t="0" r="0" b="0"/>
          </a:stretch>
        </p:blipFill>
        <p:spPr>
          <a:xfrm xmlns:a="http://schemas.openxmlformats.org/drawingml/2006/main">
            <a:off x="7905750" y="1952625"/>
            <a:ext cx="3238500" cy="24288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28177A9-61D8-4A71-AA12-4A5F437533F5}"/>
              </a:ext>
            </a:extLst>
          </p:cNvPr>
          <p:cNvSpPr>
            <a:spLocks xmlns:a="http://schemas.openxmlformats.org/drawingml/2006/main" noGrp="1"/>
          </p:cNvSpPr>
          <p:nvPr/>
        </p:nvSpPr>
        <p:spPr>
          <a:xfrm xmlns:a="http://schemas.openxmlformats.org/drawingml/2006/main">
            <a:off x="7905750"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03</a:t>
            </a:r>
          </a:p>
        </p:txBody>
      </p:sp>
      <p:sp>
        <p:nvSpPr>
          <p:cNvPr id="16" name="">
            <a:extLst xmlns:a="http://schemas.openxmlformats.org/drawingml/2006/main">
              <a:ext uri="{FF2B5EF4-FFF2-40B4-BE49-F238E27FC236}">
                <a16:creationId xmlns:a16="http://schemas.microsoft.com/office/drawing/2014/main" id="{BF2E492E-B851-434A-84FF-E91ED13B6EA7}"/>
              </a:ext>
            </a:extLst>
          </p:cNvPr>
          <p:cNvSpPr>
            <a:spLocks xmlns:a="http://schemas.openxmlformats.org/drawingml/2006/main" noGrp="1"/>
          </p:cNvSpPr>
          <p:nvPr/>
        </p:nvSpPr>
        <p:spPr>
          <a:xfrm xmlns:a="http://schemas.openxmlformats.org/drawingml/2006/main">
            <a:off x="8362950"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メガネ型</a:t>
            </a:r>
          </a:p>
        </p:txBody>
      </p:sp>
      <p:sp>
        <p:nvSpPr>
          <p:cNvPr id="17" name="">
            <a:extLst xmlns:a="http://schemas.openxmlformats.org/drawingml/2006/main">
              <a:ext uri="{FF2B5EF4-FFF2-40B4-BE49-F238E27FC236}">
                <a16:creationId xmlns:a16="http://schemas.microsoft.com/office/drawing/2014/main" id="{6DFDD053-C7CD-4091-BF6D-820913AADBFE}"/>
              </a:ext>
            </a:extLst>
          </p:cNvPr>
          <p:cNvSpPr>
            <a:spLocks xmlns:a="http://schemas.openxmlformats.org/drawingml/2006/main" noGrp="1"/>
          </p:cNvSpPr>
          <p:nvPr/>
        </p:nvSpPr>
        <p:spPr>
          <a:xfrm xmlns:a="http://schemas.openxmlformats.org/drawingml/2006/main">
            <a:off x="8362950"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見た目と長時間装着の負担を低減</a:t>
            </a:r>
          </a:p>
        </p:txBody>
      </p:sp>
      <p:sp>
        <p:nvSpPr>
          <p:cNvPr id="18" name="">
            <a:extLst xmlns:a="http://schemas.openxmlformats.org/drawingml/2006/main">
              <a:ext uri="{FF2B5EF4-FFF2-40B4-BE49-F238E27FC236}">
                <a16:creationId xmlns:a16="http://schemas.microsoft.com/office/drawing/2014/main" id="{FC274852-106C-4D55-8328-E83E115771F9}"/>
              </a:ext>
            </a:extLst>
          </p:cNvPr>
          <p:cNvSpPr>
            <a:spLocks xmlns:a="http://schemas.openxmlformats.org/drawingml/2006/main" noGrp="1"/>
          </p:cNvSpPr>
          <p:nvPr/>
        </p:nvSpPr>
        <p:spPr>
          <a:xfrm xmlns:a="http://schemas.openxmlformats.org/drawingml/2006/main">
            <a:off x="723900" y="5762625"/>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AEC38D-354E-49EA-9AE4-D7AC7126C048}"/>
              </a:ext>
            </a:extLst>
          </p:cNvPr>
          <p:cNvSpPr>
            <a:spLocks xmlns:a="http://schemas.openxmlformats.org/drawingml/2006/main" noGrp="1"/>
          </p:cNvSpPr>
          <p:nvPr/>
        </p:nvSpPr>
        <p:spPr>
          <a:xfrm xmlns:a="http://schemas.openxmlformats.org/drawingml/2006/main">
            <a:off x="723900" y="5943600"/>
            <a:ext cx="1042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現場での反応から、撮影品質だけでなく、作業者の負担が現場拡大を左右すると分かった。</a:t>
            </a:r>
          </a:p>
        </p:txBody>
      </p:sp>
    </p:spTree>
    <p:extLst>
      <p:ext uri="{BB962C8B-B14F-4D97-AF65-F5344CB8AC3E}">
        <p14:creationId xmlns:p14="http://schemas.microsoft.com/office/powerpoint/2010/main" val="13502877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558D71-8A09-4B1A-A50D-99FBFA375D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4FC0B3-4573-4DFE-899F-8CC901E0AE85}"/>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TEAM</a:t>
            </a:r>
          </a:p>
        </p:txBody>
      </p:sp>
      <p:sp>
        <p:nvSpPr>
          <p:cNvPr id="3" name="">
            <a:extLst xmlns:a="http://schemas.openxmlformats.org/drawingml/2006/main">
              <a:ext uri="{FF2B5EF4-FFF2-40B4-BE49-F238E27FC236}">
                <a16:creationId xmlns:a16="http://schemas.microsoft.com/office/drawing/2014/main" id="{7118F958-B7C3-4854-8C1B-7161D937CD36}"/>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現在のチーム</a:t>
            </a:r>
          </a:p>
        </p:txBody>
      </p:sp>
      <p:sp>
        <p:nvSpPr>
          <p:cNvPr id="4" name="">
            <a:extLst xmlns:a="http://schemas.openxmlformats.org/drawingml/2006/main">
              <a:ext uri="{FF2B5EF4-FFF2-40B4-BE49-F238E27FC236}">
                <a16:creationId xmlns:a16="http://schemas.microsoft.com/office/drawing/2014/main" id="{E662408C-B369-4B76-BE72-B3D6E27E743B}"/>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BDBAB0-41B1-41F3-8008-F1464B6C1C5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6" name="">
            <a:extLst xmlns:a="http://schemas.openxmlformats.org/drawingml/2006/main">
              <a:ext uri="{FF2B5EF4-FFF2-40B4-BE49-F238E27FC236}">
                <a16:creationId xmlns:a16="http://schemas.microsoft.com/office/drawing/2014/main" id="{3533BC85-7110-4161-A0E3-20234559058A}"/>
              </a:ext>
            </a:extLst>
          </p:cNvPr>
          <p:cNvSpPr>
            <a:spLocks xmlns:a="http://schemas.openxmlformats.org/drawingml/2006/main" noGrp="1"/>
          </p:cNvSpPr>
          <p:nvPr/>
        </p:nvSpPr>
        <p:spPr>
          <a:xfrm xmlns:a="http://schemas.openxmlformats.org/drawingml/2006/main">
            <a:off x="723900" y="18954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27D8E10D-CF48-42E2-869D-467096C6B887}"/>
              </a:ext>
            </a:extLst>
          </p:cNvPr>
          <p:cNvSpPr>
            <a:spLocks xmlns:a="http://schemas.openxmlformats.org/drawingml/2006/main" noGrp="1"/>
          </p:cNvSpPr>
          <p:nvPr/>
        </p:nvSpPr>
        <p:spPr>
          <a:xfrm xmlns:a="http://schemas.openxmlformats.org/drawingml/2006/main">
            <a:off x="1476375" y="18669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森  共同創業者</a:t>
            </a:r>
          </a:p>
        </p:txBody>
      </p:sp>
      <p:sp>
        <p:nvSpPr>
          <p:cNvPr id="8" name="">
            <a:extLst xmlns:a="http://schemas.openxmlformats.org/drawingml/2006/main">
              <a:ext uri="{FF2B5EF4-FFF2-40B4-BE49-F238E27FC236}">
                <a16:creationId xmlns:a16="http://schemas.microsoft.com/office/drawing/2014/main" id="{740F4E9F-2DC3-4401-991D-131D575401F2}"/>
              </a:ext>
            </a:extLst>
          </p:cNvPr>
          <p:cNvSpPr>
            <a:spLocks xmlns:a="http://schemas.openxmlformats.org/drawingml/2006/main" noGrp="1"/>
          </p:cNvSpPr>
          <p:nvPr/>
        </p:nvSpPr>
        <p:spPr>
          <a:xfrm xmlns:a="http://schemas.openxmlformats.org/drawingml/2006/main">
            <a:off x="4638675" y="18669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現場開拓、販売先開拓、撮影デバイスの設計・開発、事業全体の推進。</a:t>
            </a:r>
          </a:p>
        </p:txBody>
      </p:sp>
      <p:sp>
        <p:nvSpPr>
          <p:cNvPr id="9" name="">
            <a:extLst xmlns:a="http://schemas.openxmlformats.org/drawingml/2006/main">
              <a:ext uri="{FF2B5EF4-FFF2-40B4-BE49-F238E27FC236}">
                <a16:creationId xmlns:a16="http://schemas.microsoft.com/office/drawing/2014/main" id="{24388FDA-4C3D-43E6-AF05-02F410D276F5}"/>
              </a:ext>
            </a:extLst>
          </p:cNvPr>
          <p:cNvSpPr>
            <a:spLocks xmlns:a="http://schemas.openxmlformats.org/drawingml/2006/main" noGrp="1"/>
          </p:cNvSpPr>
          <p:nvPr/>
        </p:nvSpPr>
        <p:spPr>
          <a:xfrm xmlns:a="http://schemas.openxmlformats.org/drawingml/2006/main">
            <a:off x="723900" y="26765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55E799-6DDE-440A-8701-B48A8799794F}"/>
              </a:ext>
            </a:extLst>
          </p:cNvPr>
          <p:cNvSpPr>
            <a:spLocks xmlns:a="http://schemas.openxmlformats.org/drawingml/2006/main" noGrp="1"/>
          </p:cNvSpPr>
          <p:nvPr/>
        </p:nvSpPr>
        <p:spPr>
          <a:xfrm xmlns:a="http://schemas.openxmlformats.org/drawingml/2006/main">
            <a:off x="723900" y="28670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1" name="">
            <a:extLst xmlns:a="http://schemas.openxmlformats.org/drawingml/2006/main">
              <a:ext uri="{FF2B5EF4-FFF2-40B4-BE49-F238E27FC236}">
                <a16:creationId xmlns:a16="http://schemas.microsoft.com/office/drawing/2014/main" id="{4AE1AEF5-E0E8-4860-B08D-FE614B5FC018}"/>
              </a:ext>
            </a:extLst>
          </p:cNvPr>
          <p:cNvSpPr>
            <a:spLocks xmlns:a="http://schemas.openxmlformats.org/drawingml/2006/main" noGrp="1"/>
          </p:cNvSpPr>
          <p:nvPr/>
        </p:nvSpPr>
        <p:spPr>
          <a:xfrm xmlns:a="http://schemas.openxmlformats.org/drawingml/2006/main">
            <a:off x="1476375" y="28384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河野  共同創業者</a:t>
            </a:r>
          </a:p>
        </p:txBody>
      </p:sp>
      <p:sp>
        <p:nvSpPr>
          <p:cNvPr id="12" name="">
            <a:extLst xmlns:a="http://schemas.openxmlformats.org/drawingml/2006/main">
              <a:ext uri="{FF2B5EF4-FFF2-40B4-BE49-F238E27FC236}">
                <a16:creationId xmlns:a16="http://schemas.microsoft.com/office/drawing/2014/main" id="{4514E489-1510-4EF9-BE4B-2B48D2EC1B01}"/>
              </a:ext>
            </a:extLst>
          </p:cNvPr>
          <p:cNvSpPr>
            <a:spLocks xmlns:a="http://schemas.openxmlformats.org/drawingml/2006/main" noGrp="1"/>
          </p:cNvSpPr>
          <p:nvPr/>
        </p:nvSpPr>
        <p:spPr>
          <a:xfrm xmlns:a="http://schemas.openxmlformats.org/drawingml/2006/main">
            <a:off x="4638675" y="28384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神戸大学大学院情報学研究科。シミュレーション領域を研究しながら事業へ参画。</a:t>
            </a:r>
          </a:p>
        </p:txBody>
      </p:sp>
      <p:sp>
        <p:nvSpPr>
          <p:cNvPr id="13" name="">
            <a:extLst xmlns:a="http://schemas.openxmlformats.org/drawingml/2006/main">
              <a:ext uri="{FF2B5EF4-FFF2-40B4-BE49-F238E27FC236}">
                <a16:creationId xmlns:a16="http://schemas.microsoft.com/office/drawing/2014/main" id="{B94ACD8B-A3AE-49E0-81F0-1C6C09B35360}"/>
              </a:ext>
            </a:extLst>
          </p:cNvPr>
          <p:cNvSpPr>
            <a:spLocks xmlns:a="http://schemas.openxmlformats.org/drawingml/2006/main" noGrp="1"/>
          </p:cNvSpPr>
          <p:nvPr/>
        </p:nvSpPr>
        <p:spPr>
          <a:xfrm xmlns:a="http://schemas.openxmlformats.org/drawingml/2006/main">
            <a:off x="723900" y="3648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D8C969D-9FD6-4125-8576-E19F090CCBED}"/>
              </a:ext>
            </a:extLst>
          </p:cNvPr>
          <p:cNvSpPr>
            <a:spLocks xmlns:a="http://schemas.openxmlformats.org/drawingml/2006/main" noGrp="1"/>
          </p:cNvSpPr>
          <p:nvPr/>
        </p:nvSpPr>
        <p:spPr>
          <a:xfrm xmlns:a="http://schemas.openxmlformats.org/drawingml/2006/main">
            <a:off x="723900" y="38385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5" name="">
            <a:extLst xmlns:a="http://schemas.openxmlformats.org/drawingml/2006/main">
              <a:ext uri="{FF2B5EF4-FFF2-40B4-BE49-F238E27FC236}">
                <a16:creationId xmlns:a16="http://schemas.microsoft.com/office/drawing/2014/main" id="{281947BF-F214-45BE-843D-21BD81AE11C1}"/>
              </a:ext>
            </a:extLst>
          </p:cNvPr>
          <p:cNvSpPr>
            <a:spLocks xmlns:a="http://schemas.openxmlformats.org/drawingml/2006/main" noGrp="1"/>
          </p:cNvSpPr>
          <p:nvPr/>
        </p:nvSpPr>
        <p:spPr>
          <a:xfrm xmlns:a="http://schemas.openxmlformats.org/drawingml/2006/main">
            <a:off x="1476375" y="3810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川島  現場協力者</a:t>
            </a:r>
          </a:p>
        </p:txBody>
      </p:sp>
      <p:sp>
        <p:nvSpPr>
          <p:cNvPr id="16" name="">
            <a:extLst xmlns:a="http://schemas.openxmlformats.org/drawingml/2006/main">
              <a:ext uri="{FF2B5EF4-FFF2-40B4-BE49-F238E27FC236}">
                <a16:creationId xmlns:a16="http://schemas.microsoft.com/office/drawing/2014/main" id="{8A98D604-AF94-479F-87C3-D5BF826BC0FD}"/>
              </a:ext>
            </a:extLst>
          </p:cNvPr>
          <p:cNvSpPr>
            <a:spLocks xmlns:a="http://schemas.openxmlformats.org/drawingml/2006/main" noGrp="1"/>
          </p:cNvSpPr>
          <p:nvPr/>
        </p:nvSpPr>
        <p:spPr>
          <a:xfrm xmlns:a="http://schemas.openxmlformats.org/drawingml/2006/main">
            <a:off x="4638675" y="38100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ベーカリー経営者。撮影テストの現場提供と、撮影先の拡大に協力。</a:t>
            </a:r>
          </a:p>
        </p:txBody>
      </p:sp>
      <p:sp>
        <p:nvSpPr>
          <p:cNvPr id="17" name="">
            <a:extLst xmlns:a="http://schemas.openxmlformats.org/drawingml/2006/main">
              <a:ext uri="{FF2B5EF4-FFF2-40B4-BE49-F238E27FC236}">
                <a16:creationId xmlns:a16="http://schemas.microsoft.com/office/drawing/2014/main" id="{913CE8A7-7E4E-4AC0-82AB-E852C4159C47}"/>
              </a:ext>
            </a:extLst>
          </p:cNvPr>
          <p:cNvSpPr>
            <a:spLocks xmlns:a="http://schemas.openxmlformats.org/drawingml/2006/main" noGrp="1"/>
          </p:cNvSpPr>
          <p:nvPr/>
        </p:nvSpPr>
        <p:spPr>
          <a:xfrm xmlns:a="http://schemas.openxmlformats.org/drawingml/2006/main">
            <a:off x="723900" y="4619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95C6030-7A31-4AFC-9716-787452A8F22A}"/>
              </a:ext>
            </a:extLst>
          </p:cNvPr>
          <p:cNvSpPr>
            <a:spLocks xmlns:a="http://schemas.openxmlformats.org/drawingml/2006/main" noGrp="1"/>
          </p:cNvSpPr>
          <p:nvPr/>
        </p:nvSpPr>
        <p:spPr>
          <a:xfrm xmlns:a="http://schemas.openxmlformats.org/drawingml/2006/main">
            <a:off x="723900" y="48101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04</a:t>
            </a:r>
          </a:p>
        </p:txBody>
      </p:sp>
      <p:sp>
        <p:nvSpPr>
          <p:cNvPr id="19" name="">
            <a:extLst xmlns:a="http://schemas.openxmlformats.org/drawingml/2006/main">
              <a:ext uri="{FF2B5EF4-FFF2-40B4-BE49-F238E27FC236}">
                <a16:creationId xmlns:a16="http://schemas.microsoft.com/office/drawing/2014/main" id="{8D6C1116-126E-4980-ACE4-A261E71B8BEB}"/>
              </a:ext>
            </a:extLst>
          </p:cNvPr>
          <p:cNvSpPr>
            <a:spLocks xmlns:a="http://schemas.openxmlformats.org/drawingml/2006/main" noGrp="1"/>
          </p:cNvSpPr>
          <p:nvPr/>
        </p:nvSpPr>
        <p:spPr>
          <a:xfrm xmlns:a="http://schemas.openxmlformats.org/drawingml/2006/main">
            <a:off x="1476375" y="47815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大崎  事業支援</a:t>
            </a:r>
          </a:p>
        </p:txBody>
      </p:sp>
      <p:sp>
        <p:nvSpPr>
          <p:cNvPr id="20" name="">
            <a:extLst xmlns:a="http://schemas.openxmlformats.org/drawingml/2006/main">
              <a:ext uri="{FF2B5EF4-FFF2-40B4-BE49-F238E27FC236}">
                <a16:creationId xmlns:a16="http://schemas.microsoft.com/office/drawing/2014/main" id="{4FBA5A94-0F33-4B00-A020-F6F40DB56EED}"/>
              </a:ext>
            </a:extLst>
          </p:cNvPr>
          <p:cNvSpPr>
            <a:spLocks xmlns:a="http://schemas.openxmlformats.org/drawingml/2006/main" noGrp="1"/>
          </p:cNvSpPr>
          <p:nvPr/>
        </p:nvSpPr>
        <p:spPr>
          <a:xfrm xmlns:a="http://schemas.openxmlformats.org/drawingml/2006/main">
            <a:off x="4638675" y="47815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契約・合意書の確認、会社立ち上げの助言、小売・製造のネットワークを通じた現場開拓。</a:t>
            </a:r>
          </a:p>
        </p:txBody>
      </p:sp>
      <p:sp>
        <p:nvSpPr>
          <p:cNvPr id="21" name="">
            <a:extLst xmlns:a="http://schemas.openxmlformats.org/drawingml/2006/main">
              <a:ext uri="{FF2B5EF4-FFF2-40B4-BE49-F238E27FC236}">
                <a16:creationId xmlns:a16="http://schemas.microsoft.com/office/drawing/2014/main" id="{14893633-97F0-4F27-BC8C-599C04A612BC}"/>
              </a:ext>
            </a:extLst>
          </p:cNvPr>
          <p:cNvSpPr>
            <a:spLocks xmlns:a="http://schemas.openxmlformats.org/drawingml/2006/main" noGrp="1"/>
          </p:cNvSpPr>
          <p:nvPr/>
        </p:nvSpPr>
        <p:spPr>
          <a:xfrm xmlns:a="http://schemas.openxmlformats.org/drawingml/2006/main">
            <a:off x="723900" y="55911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89225618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55E8A-0680-443F-92FC-18D88F2DB92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395907-218A-4F89-B538-8C1A067656C0}"/>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ECONOMICS</a:t>
            </a:r>
          </a:p>
        </p:txBody>
      </p:sp>
      <p:sp>
        <p:nvSpPr>
          <p:cNvPr id="3" name="">
            <a:extLst xmlns:a="http://schemas.openxmlformats.org/drawingml/2006/main">
              <a:ext uri="{FF2B5EF4-FFF2-40B4-BE49-F238E27FC236}">
                <a16:creationId xmlns:a16="http://schemas.microsoft.com/office/drawing/2014/main" id="{154B93B7-E4FC-4C4D-92A0-A3264609B243}"/>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1時間あたりの収益構造</a:t>
            </a:r>
          </a:p>
        </p:txBody>
      </p:sp>
      <p:sp>
        <p:nvSpPr>
          <p:cNvPr id="4" name="">
            <a:extLst xmlns:a="http://schemas.openxmlformats.org/drawingml/2006/main">
              <a:ext uri="{FF2B5EF4-FFF2-40B4-BE49-F238E27FC236}">
                <a16:creationId xmlns:a16="http://schemas.microsoft.com/office/drawing/2014/main" id="{83A97840-040B-48DD-A882-A775930AD143}"/>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E653F9-7FD0-43F4-B966-B7D03A29119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graphicFrame>
        <p:nvGraphicFramePr>
          <p:cNvPr id="16" name=""/>
          <p:cNvGraphicFramePr/>
          <p:nvPr/>
        </p:nvGraphicFramePr>
        <p:xfrm>
          <a:off xmlns:a="http://schemas.openxmlformats.org/drawingml/2006/main" x="723900" y="1952625"/>
          <a:ext xmlns:a="http://schemas.openxmlformats.org/drawingml/2006/main" cx="10572750" cy="3143250"/>
        </p:xfrm>
        <a:graphic xmlns:a="http://schemas.openxmlformats.org/drawingml/2006/main">
          <a:graphicData uri="http://schemas.openxmlformats.org/drawingml/2006/table">
            <a:tbl>
              <a:tblPr/>
              <a:tblGrid>
                <a:gridCol w="3524250"/>
                <a:gridCol w="4095750"/>
                <a:gridCol w="29527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計算</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23875">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前提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現場への還元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販売単価の50%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RootLensの取り分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8,000円/月 ÷ 110時間</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35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7" name="">
            <a:extLst xmlns:a="http://schemas.openxmlformats.org/drawingml/2006/main">
              <a:ext uri="{FF2B5EF4-FFF2-40B4-BE49-F238E27FC236}">
                <a16:creationId xmlns:a16="http://schemas.microsoft.com/office/drawing/2014/main" id="{D646644A-2891-483B-A91C-CD59DE6F7B0E}"/>
              </a:ext>
            </a:extLst>
          </p:cNvPr>
          <p:cNvSpPr>
            <a:spLocks xmlns:a="http://schemas.openxmlformats.org/drawingml/2006/main" noGrp="1"/>
          </p:cNvSpPr>
          <p:nvPr/>
        </p:nvSpPr>
        <p:spPr>
          <a:xfrm xmlns:a="http://schemas.openxmlformats.org/drawingml/2006/main">
            <a:off x="723900" y="538162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前提：デバイス8万円、10か月償却、1台あたり月110時間稼働。</a:t>
            </a:r>
          </a:p>
        </p:txBody>
      </p:sp>
      <p:sp>
        <p:nvSpPr>
          <p:cNvPr id="8" name="">
            <a:extLst xmlns:a="http://schemas.openxmlformats.org/drawingml/2006/main">
              <a:ext uri="{FF2B5EF4-FFF2-40B4-BE49-F238E27FC236}">
                <a16:creationId xmlns:a16="http://schemas.microsoft.com/office/drawing/2014/main" id="{609C1DE7-2BD6-4568-9594-C895000F7455}"/>
              </a:ext>
            </a:extLst>
          </p:cNvPr>
          <p:cNvSpPr>
            <a:spLocks xmlns:a="http://schemas.openxmlformats.org/drawingml/2006/main" noGrp="1"/>
          </p:cNvSpPr>
          <p:nvPr/>
        </p:nvSpPr>
        <p:spPr>
          <a:xfrm xmlns:a="http://schemas.openxmlformats.org/drawingml/2006/main">
            <a:off x="723900" y="574357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現場運用、人件費、法務、破損・紛失、転送費は含めていない。</a:t>
            </a:r>
          </a:p>
        </p:txBody>
      </p:sp>
      <p:sp>
        <p:nvSpPr>
          <p:cNvPr id="9" name="">
            <a:extLst xmlns:a="http://schemas.openxmlformats.org/drawingml/2006/main">
              <a:ext uri="{FF2B5EF4-FFF2-40B4-BE49-F238E27FC236}">
                <a16:creationId xmlns:a16="http://schemas.microsoft.com/office/drawing/2014/main" id="{CC4A3F41-E327-4A06-BA7B-E0499FB2A4DD}"/>
              </a:ext>
            </a:extLst>
          </p:cNvPr>
          <p:cNvSpPr>
            <a:spLocks xmlns:a="http://schemas.openxmlformats.org/drawingml/2006/main" noGrp="1"/>
          </p:cNvSpPr>
          <p:nvPr/>
        </p:nvSpPr>
        <p:spPr>
          <a:xfrm xmlns:a="http://schemas.openxmlformats.org/drawingml/2006/main">
            <a:off x="9220200" y="538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625" b="1">
                <a:solidFill>
                  <a:srgbClr val="315C78"/>
                </a:solidFill>
                <a:latin typeface="Hiragino Sans"/>
                <a:ea typeface="Hiragino Sans"/>
                <a:cs typeface="Hiragino Sans"/>
              </a:defRPr>
            </a:pPr>
            <a:r>
              <a:rPr sz="2625" b="1">
                <a:solidFill>
                  <a:srgbClr val="315C78"/>
                </a:solidFill>
                <a:latin typeface="Hiragino Sans"/>
                <a:ea typeface="Hiragino Sans"/>
                <a:cs typeface="Hiragino Sans"/>
              </a:rPr>
              <a:t>45.5%</a:t>
            </a:r>
          </a:p>
        </p:txBody>
      </p:sp>
      <p:sp>
        <p:nvSpPr>
          <p:cNvPr id="10" name="">
            <a:extLst xmlns:a="http://schemas.openxmlformats.org/drawingml/2006/main">
              <a:ext uri="{FF2B5EF4-FFF2-40B4-BE49-F238E27FC236}">
                <a16:creationId xmlns:a16="http://schemas.microsoft.com/office/drawing/2014/main" id="{9822EF88-F12B-40A4-A42D-0CEF460E6E83}"/>
              </a:ext>
            </a:extLst>
          </p:cNvPr>
          <p:cNvSpPr>
            <a:spLocks xmlns:a="http://schemas.openxmlformats.org/drawingml/2006/main" noGrp="1"/>
          </p:cNvSpPr>
          <p:nvPr/>
        </p:nvSpPr>
        <p:spPr>
          <a:xfrm xmlns:a="http://schemas.openxmlformats.org/drawingml/2006/main">
            <a:off x="8810625" y="5867400"/>
            <a:ext cx="2219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流通総額に対する償却後比率</a:t>
            </a:r>
          </a:p>
        </p:txBody>
      </p:sp>
    </p:spTree>
    <p:extLst>
      <p:ext uri="{BB962C8B-B14F-4D97-AF65-F5344CB8AC3E}">
        <p14:creationId xmlns:p14="http://schemas.microsoft.com/office/powerpoint/2010/main" val="182736874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5ECC52-4BBA-42DB-870E-30BE0DBFDF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F25954-0F39-4EE3-B697-09FF0375E5BA}"/>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ECONOMICS</a:t>
            </a:r>
          </a:p>
        </p:txBody>
      </p:sp>
      <p:sp>
        <p:nvSpPr>
          <p:cNvPr id="3" name="">
            <a:extLst xmlns:a="http://schemas.openxmlformats.org/drawingml/2006/main">
              <a:ext uri="{FF2B5EF4-FFF2-40B4-BE49-F238E27FC236}">
                <a16:creationId xmlns:a16="http://schemas.microsoft.com/office/drawing/2014/main" id="{49151568-DDC6-4797-BDEA-5D1C67A45E37}"/>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収集規模別の試算</a:t>
            </a:r>
          </a:p>
        </p:txBody>
      </p:sp>
      <p:sp>
        <p:nvSpPr>
          <p:cNvPr id="4" name="">
            <a:extLst xmlns:a="http://schemas.openxmlformats.org/drawingml/2006/main">
              <a:ext uri="{FF2B5EF4-FFF2-40B4-BE49-F238E27FC236}">
                <a16:creationId xmlns:a16="http://schemas.microsoft.com/office/drawing/2014/main" id="{0C49B942-4995-49E6-AD83-014AA8FE355A}"/>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53EAFA-4C0E-475E-A93F-862926CBCF5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graphicFrame>
        <p:nvGraphicFramePr>
          <p:cNvPr id="14" name=""/>
          <p:cNvGraphicFramePr/>
          <p:nvPr/>
        </p:nvGraphicFramePr>
        <p:xfrm>
          <a:off xmlns:a="http://schemas.openxmlformats.org/drawingml/2006/main" x="723900" y="19240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RootLens取り分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E872A10-6A88-4F71-8A0F-86F7A3C254D7}"/>
              </a:ext>
            </a:extLst>
          </p:cNvPr>
          <p:cNvSpPr>
            <a:spLocks xmlns:a="http://schemas.openxmlformats.org/drawingml/2006/main" noGrp="1"/>
          </p:cNvSpPr>
          <p:nvPr/>
        </p:nvSpPr>
        <p:spPr>
          <a:xfrm xmlns:a="http://schemas.openxmlformats.org/drawingml/2006/main">
            <a:off x="723900" y="56197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月10,000時間を12か月継続した場合、流通総額は1.92億円、償却後は約8,726万円。</a:t>
            </a:r>
          </a:p>
        </p:txBody>
      </p:sp>
      <p:sp>
        <p:nvSpPr>
          <p:cNvPr id="8" name="">
            <a:extLst xmlns:a="http://schemas.openxmlformats.org/drawingml/2006/main">
              <a:ext uri="{FF2B5EF4-FFF2-40B4-BE49-F238E27FC236}">
                <a16:creationId xmlns:a16="http://schemas.microsoft.com/office/drawing/2014/main" id="{D2D06798-E6AE-4FCB-BED9-B11A41C55811}"/>
              </a:ext>
            </a:extLst>
          </p:cNvPr>
          <p:cNvSpPr>
            <a:spLocks xmlns:a="http://schemas.openxmlformats.org/drawingml/2006/main" noGrp="1"/>
          </p:cNvSpPr>
          <p:nvPr/>
        </p:nvSpPr>
        <p:spPr>
          <a:xfrm xmlns:a="http://schemas.openxmlformats.org/drawingml/2006/main">
            <a:off x="723900" y="60293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同一データの複数回販売は、この基準試算に含めていない。</a:t>
            </a:r>
          </a:p>
        </p:txBody>
      </p:sp>
    </p:spTree>
    <p:extLst>
      <p:ext uri="{BB962C8B-B14F-4D97-AF65-F5344CB8AC3E}">
        <p14:creationId xmlns:p14="http://schemas.microsoft.com/office/powerpoint/2010/main" val="9478457"/>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ACAA0F-8BD4-4116-9852-352955DEF9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EF1B31-DEB1-4439-8E69-5AA4DE646969}"/>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VALIDATION</a:t>
            </a:r>
          </a:p>
        </p:txBody>
      </p:sp>
      <p:sp>
        <p:nvSpPr>
          <p:cNvPr id="3" name="">
            <a:extLst xmlns:a="http://schemas.openxmlformats.org/drawingml/2006/main">
              <a:ext uri="{FF2B5EF4-FFF2-40B4-BE49-F238E27FC236}">
                <a16:creationId xmlns:a16="http://schemas.microsoft.com/office/drawing/2014/main" id="{808A1084-5BC5-4D81-8F89-4A666BAB932B}"/>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規模を拡大する際に検証すること</a:t>
            </a:r>
          </a:p>
        </p:txBody>
      </p:sp>
      <p:sp>
        <p:nvSpPr>
          <p:cNvPr id="4" name="">
            <a:extLst xmlns:a="http://schemas.openxmlformats.org/drawingml/2006/main">
              <a:ext uri="{FF2B5EF4-FFF2-40B4-BE49-F238E27FC236}">
                <a16:creationId xmlns:a16="http://schemas.microsoft.com/office/drawing/2014/main" id="{2B9315E6-B776-481D-9823-D169555E7DCD}"/>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9A0AE4-3515-4F70-AC29-C93913BF07A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6" name="">
            <a:extLst xmlns:a="http://schemas.openxmlformats.org/drawingml/2006/main">
              <a:ext uri="{FF2B5EF4-FFF2-40B4-BE49-F238E27FC236}">
                <a16:creationId xmlns:a16="http://schemas.microsoft.com/office/drawing/2014/main" id="{05D9B3A2-FA8D-428F-AB0C-FB4297317612}"/>
              </a:ext>
            </a:extLst>
          </p:cNvPr>
          <p:cNvSpPr>
            <a:spLocks xmlns:a="http://schemas.openxmlformats.org/drawingml/2006/main" noGrp="1"/>
          </p:cNvSpPr>
          <p:nvPr/>
        </p:nvSpPr>
        <p:spPr>
          <a:xfrm xmlns:a="http://schemas.openxmlformats.org/drawingml/2006/main">
            <a:off x="723900" y="20288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24AF59C1-6377-4EDA-839F-B8AB53524260}"/>
              </a:ext>
            </a:extLst>
          </p:cNvPr>
          <p:cNvSpPr>
            <a:spLocks xmlns:a="http://schemas.openxmlformats.org/drawingml/2006/main" noGrp="1"/>
          </p:cNvSpPr>
          <p:nvPr/>
        </p:nvSpPr>
        <p:spPr>
          <a:xfrm xmlns:a="http://schemas.openxmlformats.org/drawingml/2006/main">
            <a:off x="1476375" y="2000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現場開拓の速度</a:t>
            </a:r>
          </a:p>
        </p:txBody>
      </p:sp>
      <p:sp>
        <p:nvSpPr>
          <p:cNvPr id="8" name="">
            <a:extLst xmlns:a="http://schemas.openxmlformats.org/drawingml/2006/main">
              <a:ext uri="{FF2B5EF4-FFF2-40B4-BE49-F238E27FC236}">
                <a16:creationId xmlns:a16="http://schemas.microsoft.com/office/drawing/2014/main" id="{2C809D97-6377-4CA3-866B-AE70E548D0C8}"/>
              </a:ext>
            </a:extLst>
          </p:cNvPr>
          <p:cNvSpPr>
            <a:spLocks xmlns:a="http://schemas.openxmlformats.org/drawingml/2006/main" noGrp="1"/>
          </p:cNvSpPr>
          <p:nvPr/>
        </p:nvSpPr>
        <p:spPr>
          <a:xfrm xmlns:a="http://schemas.openxmlformats.org/drawingml/2006/main">
            <a:off x="4191000" y="20002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最初の現場より、次の現場を短い期間で獲得できるか。</a:t>
            </a:r>
          </a:p>
        </p:txBody>
      </p:sp>
      <p:sp>
        <p:nvSpPr>
          <p:cNvPr id="9" name="">
            <a:extLst xmlns:a="http://schemas.openxmlformats.org/drawingml/2006/main">
              <a:ext uri="{FF2B5EF4-FFF2-40B4-BE49-F238E27FC236}">
                <a16:creationId xmlns:a16="http://schemas.microsoft.com/office/drawing/2014/main" id="{D730E50F-5CF5-47A0-B676-27D6EDE1608D}"/>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7EB236-14AA-4EDA-88BB-AAB274079195}"/>
              </a:ext>
            </a:extLst>
          </p:cNvPr>
          <p:cNvSpPr>
            <a:spLocks xmlns:a="http://schemas.openxmlformats.org/drawingml/2006/main" noGrp="1"/>
          </p:cNvSpPr>
          <p:nvPr/>
        </p:nvSpPr>
        <p:spPr>
          <a:xfrm xmlns:a="http://schemas.openxmlformats.org/drawingml/2006/main">
            <a:off x="723900" y="31337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1" name="">
            <a:extLst xmlns:a="http://schemas.openxmlformats.org/drawingml/2006/main">
              <a:ext uri="{FF2B5EF4-FFF2-40B4-BE49-F238E27FC236}">
                <a16:creationId xmlns:a16="http://schemas.microsoft.com/office/drawing/2014/main" id="{BCBFD0AD-414E-4C95-B00E-A3311A79F501}"/>
              </a:ext>
            </a:extLst>
          </p:cNvPr>
          <p:cNvSpPr>
            <a:spLocks xmlns:a="http://schemas.openxmlformats.org/drawingml/2006/main" noGrp="1"/>
          </p:cNvSpPr>
          <p:nvPr/>
        </p:nvSpPr>
        <p:spPr>
          <a:xfrm xmlns:a="http://schemas.openxmlformats.org/drawingml/2006/main">
            <a:off x="1476375" y="3105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現場運用の負担</a:t>
            </a:r>
          </a:p>
        </p:txBody>
      </p:sp>
      <p:sp>
        <p:nvSpPr>
          <p:cNvPr id="12" name="">
            <a:extLst xmlns:a="http://schemas.openxmlformats.org/drawingml/2006/main">
              <a:ext uri="{FF2B5EF4-FFF2-40B4-BE49-F238E27FC236}">
                <a16:creationId xmlns:a16="http://schemas.microsoft.com/office/drawing/2014/main" id="{1ACACB7F-F5DE-4384-9D29-5E10753D963C}"/>
              </a:ext>
            </a:extLst>
          </p:cNvPr>
          <p:cNvSpPr>
            <a:spLocks xmlns:a="http://schemas.openxmlformats.org/drawingml/2006/main" noGrp="1"/>
          </p:cNvSpPr>
          <p:nvPr/>
        </p:nvSpPr>
        <p:spPr>
          <a:xfrm xmlns:a="http://schemas.openxmlformats.org/drawingml/2006/main">
            <a:off x="4191000" y="31051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機材の配布、説明、回収、トラブル対応が店舗数に比例して増えるか。</a:t>
            </a:r>
          </a:p>
        </p:txBody>
      </p:sp>
      <p:sp>
        <p:nvSpPr>
          <p:cNvPr id="13" name="">
            <a:extLst xmlns:a="http://schemas.openxmlformats.org/drawingml/2006/main">
              <a:ext uri="{FF2B5EF4-FFF2-40B4-BE49-F238E27FC236}">
                <a16:creationId xmlns:a16="http://schemas.microsoft.com/office/drawing/2014/main" id="{5B1428B1-0C93-43A1-B01E-28818C31B494}"/>
              </a:ext>
            </a:extLst>
          </p:cNvPr>
          <p:cNvSpPr>
            <a:spLocks xmlns:a="http://schemas.openxmlformats.org/drawingml/2006/main" noGrp="1"/>
          </p:cNvSpPr>
          <p:nvPr/>
        </p:nvSpPr>
        <p:spPr>
          <a:xfrm xmlns:a="http://schemas.openxmlformats.org/drawingml/2006/main">
            <a:off x="723900" y="40100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03E46D-A009-4491-AF0C-E26F3440308E}"/>
              </a:ext>
            </a:extLst>
          </p:cNvPr>
          <p:cNvSpPr>
            <a:spLocks xmlns:a="http://schemas.openxmlformats.org/drawingml/2006/main" noGrp="1"/>
          </p:cNvSpPr>
          <p:nvPr/>
        </p:nvSpPr>
        <p:spPr>
          <a:xfrm xmlns:a="http://schemas.openxmlformats.org/drawingml/2006/main">
            <a:off x="723900" y="4238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5" name="">
            <a:extLst xmlns:a="http://schemas.openxmlformats.org/drawingml/2006/main">
              <a:ext uri="{FF2B5EF4-FFF2-40B4-BE49-F238E27FC236}">
                <a16:creationId xmlns:a16="http://schemas.microsoft.com/office/drawing/2014/main" id="{99A99D46-83AA-4E9D-8AB6-F1944121E307}"/>
              </a:ext>
            </a:extLst>
          </p:cNvPr>
          <p:cNvSpPr>
            <a:spLocks xmlns:a="http://schemas.openxmlformats.org/drawingml/2006/main" noGrp="1"/>
          </p:cNvSpPr>
          <p:nvPr/>
        </p:nvSpPr>
        <p:spPr>
          <a:xfrm xmlns:a="http://schemas.openxmlformats.org/drawingml/2006/main">
            <a:off x="1476375" y="42100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買い手の受入規模</a:t>
            </a:r>
          </a:p>
        </p:txBody>
      </p:sp>
      <p:sp>
        <p:nvSpPr>
          <p:cNvPr id="16" name="">
            <a:extLst xmlns:a="http://schemas.openxmlformats.org/drawingml/2006/main">
              <a:ext uri="{FF2B5EF4-FFF2-40B4-BE49-F238E27FC236}">
                <a16:creationId xmlns:a16="http://schemas.microsoft.com/office/drawing/2014/main" id="{86B81DE3-7C4A-435F-83BE-F612DA7706FD}"/>
              </a:ext>
            </a:extLst>
          </p:cNvPr>
          <p:cNvSpPr>
            <a:spLocks xmlns:a="http://schemas.openxmlformats.org/drawingml/2006/main" noGrp="1"/>
          </p:cNvSpPr>
          <p:nvPr/>
        </p:nvSpPr>
        <p:spPr>
          <a:xfrm xmlns:a="http://schemas.openxmlformats.org/drawingml/2006/main">
            <a:off x="4191000" y="42100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月1,000時間、10,000時間を継続して販売できる販路と仕様を作れるか。</a:t>
            </a:r>
          </a:p>
        </p:txBody>
      </p:sp>
      <p:sp>
        <p:nvSpPr>
          <p:cNvPr id="17" name="">
            <a:extLst xmlns:a="http://schemas.openxmlformats.org/drawingml/2006/main">
              <a:ext uri="{FF2B5EF4-FFF2-40B4-BE49-F238E27FC236}">
                <a16:creationId xmlns:a16="http://schemas.microsoft.com/office/drawing/2014/main" id="{561AB5CD-6073-4037-ADC0-BB0B6612E37C}"/>
              </a:ext>
            </a:extLst>
          </p:cNvPr>
          <p:cNvSpPr>
            <a:spLocks xmlns:a="http://schemas.openxmlformats.org/drawingml/2006/main" noGrp="1"/>
          </p:cNvSpPr>
          <p:nvPr/>
        </p:nvSpPr>
        <p:spPr>
          <a:xfrm xmlns:a="http://schemas.openxmlformats.org/drawingml/2006/main">
            <a:off x="723900" y="51149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2E72DDC-C9EB-43A2-A8CB-5D3FC6FF9416}"/>
              </a:ext>
            </a:extLst>
          </p:cNvPr>
          <p:cNvSpPr>
            <a:spLocks xmlns:a="http://schemas.openxmlformats.org/drawingml/2006/main" noGrp="1"/>
          </p:cNvSpPr>
          <p:nvPr/>
        </p:nvSpPr>
        <p:spPr>
          <a:xfrm xmlns:a="http://schemas.openxmlformats.org/drawingml/2006/main">
            <a:off x="723900" y="56388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デバイス費より、現場運用と販売能力がユニットエコノミクスを決める。</a:t>
            </a:r>
          </a:p>
        </p:txBody>
      </p:sp>
    </p:spTree>
    <p:extLst>
      <p:ext uri="{BB962C8B-B14F-4D97-AF65-F5344CB8AC3E}">
        <p14:creationId xmlns:p14="http://schemas.microsoft.com/office/powerpoint/2010/main" val="1097643097"/>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AFFDCC8-E586-4728-8836-C7E2DEB7D6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8C4BAA-E5A5-4FB7-BDF1-211FEFC004BC}"/>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LONG-TERM VIEW</a:t>
            </a:r>
          </a:p>
        </p:txBody>
      </p:sp>
      <p:sp>
        <p:nvSpPr>
          <p:cNvPr id="3" name="">
            <a:extLst xmlns:a="http://schemas.openxmlformats.org/drawingml/2006/main">
              <a:ext uri="{FF2B5EF4-FFF2-40B4-BE49-F238E27FC236}">
                <a16:creationId xmlns:a16="http://schemas.microsoft.com/office/drawing/2014/main" id="{3A2091FA-F920-4F83-A3F6-D2B94A552630}"/>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現時点で見えている事業の拡張経路</a:t>
            </a:r>
          </a:p>
        </p:txBody>
      </p:sp>
      <p:sp>
        <p:nvSpPr>
          <p:cNvPr id="4" name="">
            <a:extLst xmlns:a="http://schemas.openxmlformats.org/drawingml/2006/main">
              <a:ext uri="{FF2B5EF4-FFF2-40B4-BE49-F238E27FC236}">
                <a16:creationId xmlns:a16="http://schemas.microsoft.com/office/drawing/2014/main" id="{9D7061C6-E55C-4D65-8C22-F6AFA84760B6}"/>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64EEEB-E396-4447-8161-2247BFC177B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6" name="">
            <a:extLst xmlns:a="http://schemas.openxmlformats.org/drawingml/2006/main">
              <a:ext uri="{FF2B5EF4-FFF2-40B4-BE49-F238E27FC236}">
                <a16:creationId xmlns:a16="http://schemas.microsoft.com/office/drawing/2014/main" id="{A13D0F5C-7513-4B72-AB23-8D8B2A401810}"/>
              </a:ext>
            </a:extLst>
          </p:cNvPr>
          <p:cNvSpPr>
            <a:spLocks xmlns:a="http://schemas.openxmlformats.org/drawingml/2006/main" noGrp="1"/>
          </p:cNvSpPr>
          <p:nvPr/>
        </p:nvSpPr>
        <p:spPr>
          <a:xfrm xmlns:a="http://schemas.openxmlformats.org/drawingml/2006/main">
            <a:off x="7239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7" name="">
            <a:extLst xmlns:a="http://schemas.openxmlformats.org/drawingml/2006/main">
              <a:ext uri="{FF2B5EF4-FFF2-40B4-BE49-F238E27FC236}">
                <a16:creationId xmlns:a16="http://schemas.microsoft.com/office/drawing/2014/main" id="{796E544D-7D39-4F56-8E53-B8F0360A19D7}"/>
              </a:ext>
            </a:extLst>
          </p:cNvPr>
          <p:cNvSpPr>
            <a:spLocks xmlns:a="http://schemas.openxmlformats.org/drawingml/2006/main" noGrp="1"/>
          </p:cNvSpPr>
          <p:nvPr/>
        </p:nvSpPr>
        <p:spPr>
          <a:xfrm xmlns:a="http://schemas.openxmlformats.org/drawingml/2006/main">
            <a:off x="723900" y="2428875"/>
            <a:ext cx="2286000" cy="200025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8" name="">
            <a:extLst xmlns:a="http://schemas.openxmlformats.org/drawingml/2006/main">
              <a:ext uri="{FF2B5EF4-FFF2-40B4-BE49-F238E27FC236}">
                <a16:creationId xmlns:a16="http://schemas.microsoft.com/office/drawing/2014/main" id="{40B85BB5-3629-4133-8D0F-430E4CA03B72}"/>
              </a:ext>
            </a:extLst>
          </p:cNvPr>
          <p:cNvSpPr>
            <a:spLocks xmlns:a="http://schemas.openxmlformats.org/drawingml/2006/main" noGrp="1"/>
          </p:cNvSpPr>
          <p:nvPr/>
        </p:nvSpPr>
        <p:spPr>
          <a:xfrm xmlns:a="http://schemas.openxmlformats.org/drawingml/2006/main">
            <a:off x="9334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現場データを収集・販売</a:t>
            </a:r>
          </a:p>
        </p:txBody>
      </p:sp>
      <p:sp>
        <p:nvSpPr>
          <p:cNvPr id="9" name="">
            <a:extLst xmlns:a="http://schemas.openxmlformats.org/drawingml/2006/main">
              <a:ext uri="{FF2B5EF4-FFF2-40B4-BE49-F238E27FC236}">
                <a16:creationId xmlns:a16="http://schemas.microsoft.com/office/drawing/2014/main" id="{2A3412A8-4D40-4B19-817D-393925CEB787}"/>
              </a:ext>
            </a:extLst>
          </p:cNvPr>
          <p:cNvSpPr>
            <a:spLocks xmlns:a="http://schemas.openxmlformats.org/drawingml/2006/main" noGrp="1"/>
          </p:cNvSpPr>
          <p:nvPr/>
        </p:nvSpPr>
        <p:spPr>
          <a:xfrm xmlns:a="http://schemas.openxmlformats.org/drawingml/2006/main">
            <a:off x="9334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現場との関係、合意フロー、作業データを蓄積</a:t>
            </a:r>
          </a:p>
        </p:txBody>
      </p:sp>
      <p:sp>
        <p:nvSpPr>
          <p:cNvPr id="10" name="">
            <a:extLst xmlns:a="http://schemas.openxmlformats.org/drawingml/2006/main">
              <a:ext uri="{FF2B5EF4-FFF2-40B4-BE49-F238E27FC236}">
                <a16:creationId xmlns:a16="http://schemas.microsoft.com/office/drawing/2014/main" id="{FC463547-8B49-43C4-A76F-FE4AD7CA85B2}"/>
              </a:ext>
            </a:extLst>
          </p:cNvPr>
          <p:cNvSpPr>
            <a:spLocks xmlns:a="http://schemas.openxmlformats.org/drawingml/2006/main" noGrp="1"/>
          </p:cNvSpPr>
          <p:nvPr/>
        </p:nvSpPr>
        <p:spPr>
          <a:xfrm xmlns:a="http://schemas.openxmlformats.org/drawingml/2006/main">
            <a:off x="30099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04ABF2-EEF8-4C36-9EA0-D00B46505CC5}"/>
              </a:ext>
            </a:extLst>
          </p:cNvPr>
          <p:cNvSpPr>
            <a:spLocks xmlns:a="http://schemas.openxmlformats.org/drawingml/2006/main" noGrp="1"/>
          </p:cNvSpPr>
          <p:nvPr/>
        </p:nvSpPr>
        <p:spPr>
          <a:xfrm xmlns:a="http://schemas.openxmlformats.org/drawingml/2006/main">
            <a:off x="34861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可能性 1</a:t>
            </a:r>
          </a:p>
        </p:txBody>
      </p:sp>
      <p:sp>
        <p:nvSpPr>
          <p:cNvPr id="12" name="">
            <a:extLst xmlns:a="http://schemas.openxmlformats.org/drawingml/2006/main">
              <a:ext uri="{FF2B5EF4-FFF2-40B4-BE49-F238E27FC236}">
                <a16:creationId xmlns:a16="http://schemas.microsoft.com/office/drawing/2014/main" id="{BD44463C-114F-4090-ACB6-40C345FBD549}"/>
              </a:ext>
            </a:extLst>
          </p:cNvPr>
          <p:cNvSpPr>
            <a:spLocks xmlns:a="http://schemas.openxmlformats.org/drawingml/2006/main" noGrp="1"/>
          </p:cNvSpPr>
          <p:nvPr/>
        </p:nvSpPr>
        <p:spPr>
          <a:xfrm xmlns:a="http://schemas.openxmlformats.org/drawingml/2006/main">
            <a:off x="34861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DDFD7D7E-7400-4CC3-9131-AE7E3D9BA519}"/>
              </a:ext>
            </a:extLst>
          </p:cNvPr>
          <p:cNvSpPr>
            <a:spLocks xmlns:a="http://schemas.openxmlformats.org/drawingml/2006/main" noGrp="1"/>
          </p:cNvSpPr>
          <p:nvPr/>
        </p:nvSpPr>
        <p:spPr>
          <a:xfrm xmlns:a="http://schemas.openxmlformats.org/drawingml/2006/main">
            <a:off x="36957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撮影デバイス</a:t>
            </a:r>
          </a:p>
        </p:txBody>
      </p:sp>
      <p:sp>
        <p:nvSpPr>
          <p:cNvPr id="14" name="">
            <a:extLst xmlns:a="http://schemas.openxmlformats.org/drawingml/2006/main">
              <a:ext uri="{FF2B5EF4-FFF2-40B4-BE49-F238E27FC236}">
                <a16:creationId xmlns:a16="http://schemas.microsoft.com/office/drawing/2014/main" id="{3A130C58-1DFA-40FA-A8B6-11A544BE584E}"/>
              </a:ext>
            </a:extLst>
          </p:cNvPr>
          <p:cNvSpPr>
            <a:spLocks xmlns:a="http://schemas.openxmlformats.org/drawingml/2006/main" noGrp="1"/>
          </p:cNvSpPr>
          <p:nvPr/>
        </p:nvSpPr>
        <p:spPr>
          <a:xfrm xmlns:a="http://schemas.openxmlformats.org/drawingml/2006/main">
            <a:off x="36957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現場の負担を減らす機材を開発し、販売も検討</a:t>
            </a:r>
          </a:p>
        </p:txBody>
      </p:sp>
      <p:sp>
        <p:nvSpPr>
          <p:cNvPr id="15" name="">
            <a:extLst xmlns:a="http://schemas.openxmlformats.org/drawingml/2006/main">
              <a:ext uri="{FF2B5EF4-FFF2-40B4-BE49-F238E27FC236}">
                <a16:creationId xmlns:a16="http://schemas.microsoft.com/office/drawing/2014/main" id="{90E8EFD5-845C-4386-86F8-4DA45A9E8CFB}"/>
              </a:ext>
            </a:extLst>
          </p:cNvPr>
          <p:cNvSpPr>
            <a:spLocks xmlns:a="http://schemas.openxmlformats.org/drawingml/2006/main" noGrp="1"/>
          </p:cNvSpPr>
          <p:nvPr/>
        </p:nvSpPr>
        <p:spPr>
          <a:xfrm xmlns:a="http://schemas.openxmlformats.org/drawingml/2006/main">
            <a:off x="577215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9A0EC6-4F83-420D-A9E6-C214271F3B7F}"/>
              </a:ext>
            </a:extLst>
          </p:cNvPr>
          <p:cNvSpPr>
            <a:spLocks xmlns:a="http://schemas.openxmlformats.org/drawingml/2006/main" noGrp="1"/>
          </p:cNvSpPr>
          <p:nvPr/>
        </p:nvSpPr>
        <p:spPr>
          <a:xfrm xmlns:a="http://schemas.openxmlformats.org/drawingml/2006/main">
            <a:off x="62484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可能性 2</a:t>
            </a:r>
          </a:p>
        </p:txBody>
      </p:sp>
      <p:sp>
        <p:nvSpPr>
          <p:cNvPr id="17" name="">
            <a:extLst xmlns:a="http://schemas.openxmlformats.org/drawingml/2006/main">
              <a:ext uri="{FF2B5EF4-FFF2-40B4-BE49-F238E27FC236}">
                <a16:creationId xmlns:a16="http://schemas.microsoft.com/office/drawing/2014/main" id="{56A10986-BE88-49A7-9C7F-CE559AAC3EF2}"/>
              </a:ext>
            </a:extLst>
          </p:cNvPr>
          <p:cNvSpPr>
            <a:spLocks xmlns:a="http://schemas.openxmlformats.org/drawingml/2006/main" noGrp="1"/>
          </p:cNvSpPr>
          <p:nvPr/>
        </p:nvSpPr>
        <p:spPr>
          <a:xfrm xmlns:a="http://schemas.openxmlformats.org/drawingml/2006/main">
            <a:off x="624840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96A13464-5EB8-46EA-9480-B531E2161060}"/>
              </a:ext>
            </a:extLst>
          </p:cNvPr>
          <p:cNvSpPr>
            <a:spLocks xmlns:a="http://schemas.openxmlformats.org/drawingml/2006/main" noGrp="1"/>
          </p:cNvSpPr>
          <p:nvPr/>
        </p:nvSpPr>
        <p:spPr>
          <a:xfrm xmlns:a="http://schemas.openxmlformats.org/drawingml/2006/main">
            <a:off x="64579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実証現場の提供</a:t>
            </a:r>
          </a:p>
        </p:txBody>
      </p:sp>
      <p:sp>
        <p:nvSpPr>
          <p:cNvPr id="19" name="">
            <a:extLst xmlns:a="http://schemas.openxmlformats.org/drawingml/2006/main">
              <a:ext uri="{FF2B5EF4-FFF2-40B4-BE49-F238E27FC236}">
                <a16:creationId xmlns:a16="http://schemas.microsoft.com/office/drawing/2014/main" id="{5A3D01E4-7525-49D3-9EFD-49D988D95622}"/>
              </a:ext>
            </a:extLst>
          </p:cNvPr>
          <p:cNvSpPr>
            <a:spLocks xmlns:a="http://schemas.openxmlformats.org/drawingml/2006/main" noGrp="1"/>
          </p:cNvSpPr>
          <p:nvPr/>
        </p:nvSpPr>
        <p:spPr>
          <a:xfrm xmlns:a="http://schemas.openxmlformats.org/drawingml/2006/main">
            <a:off x="64579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ロボット企業や研究機関と現場をつなぐ</a:t>
            </a:r>
          </a:p>
        </p:txBody>
      </p:sp>
      <p:sp>
        <p:nvSpPr>
          <p:cNvPr id="20" name="">
            <a:extLst xmlns:a="http://schemas.openxmlformats.org/drawingml/2006/main">
              <a:ext uri="{FF2B5EF4-FFF2-40B4-BE49-F238E27FC236}">
                <a16:creationId xmlns:a16="http://schemas.microsoft.com/office/drawing/2014/main" id="{3D7D727A-A161-45DF-87EB-72CCDD043660}"/>
              </a:ext>
            </a:extLst>
          </p:cNvPr>
          <p:cNvSpPr>
            <a:spLocks xmlns:a="http://schemas.openxmlformats.org/drawingml/2006/main" noGrp="1"/>
          </p:cNvSpPr>
          <p:nvPr/>
        </p:nvSpPr>
        <p:spPr>
          <a:xfrm xmlns:a="http://schemas.openxmlformats.org/drawingml/2006/main">
            <a:off x="85344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585C183-A08E-445B-BD09-DB408B79842C}"/>
              </a:ext>
            </a:extLst>
          </p:cNvPr>
          <p:cNvSpPr>
            <a:spLocks xmlns:a="http://schemas.openxmlformats.org/drawingml/2006/main" noGrp="1"/>
          </p:cNvSpPr>
          <p:nvPr/>
        </p:nvSpPr>
        <p:spPr>
          <a:xfrm xmlns:a="http://schemas.openxmlformats.org/drawingml/2006/main">
            <a:off x="90106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目指す姿</a:t>
            </a:r>
          </a:p>
        </p:txBody>
      </p:sp>
      <p:sp>
        <p:nvSpPr>
          <p:cNvPr id="22" name="">
            <a:extLst xmlns:a="http://schemas.openxmlformats.org/drawingml/2006/main">
              <a:ext uri="{FF2B5EF4-FFF2-40B4-BE49-F238E27FC236}">
                <a16:creationId xmlns:a16="http://schemas.microsoft.com/office/drawing/2014/main" id="{2D15FDF2-F922-4D32-9804-1BE0EA9E7E20}"/>
              </a:ext>
            </a:extLst>
          </p:cNvPr>
          <p:cNvSpPr>
            <a:spLocks xmlns:a="http://schemas.openxmlformats.org/drawingml/2006/main" noGrp="1"/>
          </p:cNvSpPr>
          <p:nvPr/>
        </p:nvSpPr>
        <p:spPr>
          <a:xfrm xmlns:a="http://schemas.openxmlformats.org/drawingml/2006/main">
            <a:off x="90106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E5318665-4A7E-4051-9906-EAEEEB09DD03}"/>
              </a:ext>
            </a:extLst>
          </p:cNvPr>
          <p:cNvSpPr>
            <a:spLocks xmlns:a="http://schemas.openxmlformats.org/drawingml/2006/main" noGrp="1"/>
          </p:cNvSpPr>
          <p:nvPr/>
        </p:nvSpPr>
        <p:spPr>
          <a:xfrm xmlns:a="http://schemas.openxmlformats.org/drawingml/2006/main">
            <a:off x="92202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ロボットの現場統合</a:t>
            </a:r>
          </a:p>
        </p:txBody>
      </p:sp>
      <p:sp>
        <p:nvSpPr>
          <p:cNvPr id="24" name="">
            <a:extLst xmlns:a="http://schemas.openxmlformats.org/drawingml/2006/main">
              <a:ext uri="{FF2B5EF4-FFF2-40B4-BE49-F238E27FC236}">
                <a16:creationId xmlns:a16="http://schemas.microsoft.com/office/drawing/2014/main" id="{AA3E5831-62E6-4B49-BCC8-02DE706CCE7E}"/>
              </a:ext>
            </a:extLst>
          </p:cNvPr>
          <p:cNvSpPr>
            <a:spLocks xmlns:a="http://schemas.openxmlformats.org/drawingml/2006/main" noGrp="1"/>
          </p:cNvSpPr>
          <p:nvPr/>
        </p:nvSpPr>
        <p:spPr>
          <a:xfrm xmlns:a="http://schemas.openxmlformats.org/drawingml/2006/main">
            <a:off x="92202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蓄積したデータと現場知識を使い、自ら導入する</a:t>
            </a:r>
          </a:p>
        </p:txBody>
      </p:sp>
      <p:sp>
        <p:nvSpPr>
          <p:cNvPr id="25" name="">
            <a:extLst xmlns:a="http://schemas.openxmlformats.org/drawingml/2006/main">
              <a:ext uri="{FF2B5EF4-FFF2-40B4-BE49-F238E27FC236}">
                <a16:creationId xmlns:a16="http://schemas.microsoft.com/office/drawing/2014/main" id="{D0A72D9D-39BF-4A8F-A1FA-C2E57348BAA1}"/>
              </a:ext>
            </a:extLst>
          </p:cNvPr>
          <p:cNvSpPr>
            <a:spLocks xmlns:a="http://schemas.openxmlformats.org/drawingml/2006/main" noGrp="1"/>
          </p:cNvSpPr>
          <p:nvPr/>
        </p:nvSpPr>
        <p:spPr>
          <a:xfrm xmlns:a="http://schemas.openxmlformats.org/drawingml/2006/main">
            <a:off x="723900" y="5000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9149D24-B674-4092-8CB4-48E6EA075FC7}"/>
              </a:ext>
            </a:extLst>
          </p:cNvPr>
          <p:cNvSpPr>
            <a:spLocks xmlns:a="http://schemas.openxmlformats.org/drawingml/2006/main" noGrp="1"/>
          </p:cNvSpPr>
          <p:nvPr/>
        </p:nvSpPr>
        <p:spPr>
          <a:xfrm xmlns:a="http://schemas.openxmlformats.org/drawingml/2006/main">
            <a:off x="723900" y="536257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直近以外は、現在見えている可能性を並べたものであり、実行時期を定めた計画ではない。</a:t>
            </a:r>
          </a:p>
        </p:txBody>
      </p:sp>
    </p:spTree>
    <p:extLst>
      <p:ext uri="{BB962C8B-B14F-4D97-AF65-F5344CB8AC3E}">
        <p14:creationId xmlns:p14="http://schemas.microsoft.com/office/powerpoint/2010/main" val="151848337"/>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7AFFB3E-E0F4-4A93-B096-694EC15FAC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F71F5E-6ECF-4D3F-8DE6-E80D67996C0F}"/>
              </a:ext>
            </a:extLst>
          </p:cNvPr>
          <p:cNvSpPr>
            <a:spLocks xmlns:a="http://schemas.openxmlformats.org/drawingml/2006/main" noGrp="1"/>
          </p:cNvSpPr>
          <p:nvPr/>
        </p:nvSpPr>
        <p:spPr>
          <a:xfrm xmlns:a="http://schemas.openxmlformats.org/drawingml/2006/main">
            <a:off x="666750" y="342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315C78"/>
                </a:solidFill>
                <a:latin typeface="Hiragino Sans"/>
                <a:ea typeface="Hiragino Sans"/>
                <a:cs typeface="Hiragino Sans"/>
              </a:defRPr>
            </a:pPr>
            <a:r>
              <a:rPr sz="900" b="1">
                <a:solidFill>
                  <a:srgbClr val="315C78"/>
                </a:solidFill>
                <a:latin typeface="Hiragino Sans"/>
                <a:ea typeface="Hiragino Sans"/>
                <a:cs typeface="Hiragino Sans"/>
              </a:rPr>
              <a:t>ROOTLENS  /  NEAR TERM</a:t>
            </a:r>
          </a:p>
        </p:txBody>
      </p:sp>
      <p:sp>
        <p:nvSpPr>
          <p:cNvPr id="3" name="">
            <a:extLst xmlns:a="http://schemas.openxmlformats.org/drawingml/2006/main">
              <a:ext uri="{FF2B5EF4-FFF2-40B4-BE49-F238E27FC236}">
                <a16:creationId xmlns:a16="http://schemas.microsoft.com/office/drawing/2014/main" id="{6EA63F14-EF9C-4650-8A60-BDBFCB1FAB4C}"/>
              </a:ext>
            </a:extLst>
          </p:cNvPr>
          <p:cNvSpPr>
            <a:spLocks xmlns:a="http://schemas.openxmlformats.org/drawingml/2006/main" noGrp="1"/>
          </p:cNvSpPr>
          <p:nvPr/>
        </p:nvSpPr>
        <p:spPr>
          <a:xfrm xmlns:a="http://schemas.openxmlformats.org/drawingml/2006/main">
            <a:off x="666750" y="7524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5191B"/>
                </a:solidFill>
                <a:latin typeface="Hiragino Sans"/>
                <a:ea typeface="Hiragino Sans"/>
                <a:cs typeface="Hiragino Sans"/>
              </a:defRPr>
            </a:pPr>
            <a:r>
              <a:rPr sz="2700" b="1">
                <a:solidFill>
                  <a:srgbClr val="15191B"/>
                </a:solidFill>
                <a:latin typeface="Hiragino Sans"/>
                <a:ea typeface="Hiragino Sans"/>
                <a:cs typeface="Hiragino Sans"/>
              </a:rPr>
              <a:t>直近3か月の目標</a:t>
            </a:r>
          </a:p>
        </p:txBody>
      </p:sp>
      <p:sp>
        <p:nvSpPr>
          <p:cNvPr id="4" name="">
            <a:extLst xmlns:a="http://schemas.openxmlformats.org/drawingml/2006/main">
              <a:ext uri="{FF2B5EF4-FFF2-40B4-BE49-F238E27FC236}">
                <a16:creationId xmlns:a16="http://schemas.microsoft.com/office/drawing/2014/main" id="{696CAE60-B020-4BE3-8FA0-446FBF31226F}"/>
              </a:ext>
            </a:extLst>
          </p:cNvPr>
          <p:cNvSpPr>
            <a:spLocks xmlns:a="http://schemas.openxmlformats.org/drawingml/2006/main" noGrp="1"/>
          </p:cNvSpPr>
          <p:nvPr/>
        </p:nvSpPr>
        <p:spPr>
          <a:xfrm xmlns:a="http://schemas.openxmlformats.org/drawingml/2006/main">
            <a:off x="666750" y="14859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D81C35-0CD4-4051-B21F-C9879AC37CD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6" name="">
            <a:extLst xmlns:a="http://schemas.openxmlformats.org/drawingml/2006/main">
              <a:ext uri="{FF2B5EF4-FFF2-40B4-BE49-F238E27FC236}">
                <a16:creationId xmlns:a16="http://schemas.microsoft.com/office/drawing/2014/main" id="{2B3D48AB-EB95-4599-AD2E-E02F1F7D1B6B}"/>
              </a:ext>
            </a:extLst>
          </p:cNvPr>
          <p:cNvSpPr>
            <a:spLocks xmlns:a="http://schemas.openxmlformats.org/drawingml/2006/main" noGrp="1"/>
          </p:cNvSpPr>
          <p:nvPr/>
        </p:nvSpPr>
        <p:spPr>
          <a:xfrm xmlns:a="http://schemas.openxmlformats.org/drawingml/2006/main">
            <a:off x="723900" y="200977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10月</a:t>
            </a:r>
          </a:p>
        </p:txBody>
      </p:sp>
      <p:sp>
        <p:nvSpPr>
          <p:cNvPr id="7" name="">
            <a:extLst xmlns:a="http://schemas.openxmlformats.org/drawingml/2006/main">
              <a:ext uri="{FF2B5EF4-FFF2-40B4-BE49-F238E27FC236}">
                <a16:creationId xmlns:a16="http://schemas.microsoft.com/office/drawing/2014/main" id="{D9A70E0E-4670-4982-BE91-C7BC8896472C}"/>
              </a:ext>
            </a:extLst>
          </p:cNvPr>
          <p:cNvSpPr>
            <a:spLocks xmlns:a="http://schemas.openxmlformats.org/drawingml/2006/main" noGrp="1"/>
          </p:cNvSpPr>
          <p:nvPr/>
        </p:nvSpPr>
        <p:spPr>
          <a:xfrm xmlns:a="http://schemas.openxmlformats.org/drawingml/2006/main">
            <a:off x="2333625" y="20097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a:t>
            </a:r>
          </a:p>
        </p:txBody>
      </p:sp>
      <p:sp>
        <p:nvSpPr>
          <p:cNvPr id="8" name="">
            <a:extLst xmlns:a="http://schemas.openxmlformats.org/drawingml/2006/main">
              <a:ext uri="{FF2B5EF4-FFF2-40B4-BE49-F238E27FC236}">
                <a16:creationId xmlns:a16="http://schemas.microsoft.com/office/drawing/2014/main" id="{3ED00642-EC50-432C-800B-E40330CEE7A7}"/>
              </a:ext>
            </a:extLst>
          </p:cNvPr>
          <p:cNvSpPr>
            <a:spLocks xmlns:a="http://schemas.openxmlformats.org/drawingml/2006/main" noGrp="1"/>
          </p:cNvSpPr>
          <p:nvPr/>
        </p:nvSpPr>
        <p:spPr>
          <a:xfrm xmlns:a="http://schemas.openxmlformats.org/drawingml/2006/main">
            <a:off x="5810250" y="19907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Nextremerとの合意と格納開始。海外販売先へ再度提供を打診する。</a:t>
            </a:r>
          </a:p>
        </p:txBody>
      </p:sp>
      <p:sp>
        <p:nvSpPr>
          <p:cNvPr id="9" name="">
            <a:extLst xmlns:a="http://schemas.openxmlformats.org/drawingml/2006/main">
              <a:ext uri="{FF2B5EF4-FFF2-40B4-BE49-F238E27FC236}">
                <a16:creationId xmlns:a16="http://schemas.microsoft.com/office/drawing/2014/main" id="{A4198979-942D-4FA8-8BD5-60F285F2F879}"/>
              </a:ext>
            </a:extLst>
          </p:cNvPr>
          <p:cNvSpPr>
            <a:spLocks xmlns:a="http://schemas.openxmlformats.org/drawingml/2006/main" noGrp="1"/>
          </p:cNvSpPr>
          <p:nvPr/>
        </p:nvSpPr>
        <p:spPr>
          <a:xfrm xmlns:a="http://schemas.openxmlformats.org/drawingml/2006/main">
            <a:off x="723900" y="29432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49224E-467F-434D-9DCF-241CDA22258F}"/>
              </a:ext>
            </a:extLst>
          </p:cNvPr>
          <p:cNvSpPr>
            <a:spLocks xmlns:a="http://schemas.openxmlformats.org/drawingml/2006/main" noGrp="1"/>
          </p:cNvSpPr>
          <p:nvPr/>
        </p:nvSpPr>
        <p:spPr>
          <a:xfrm xmlns:a="http://schemas.openxmlformats.org/drawingml/2006/main">
            <a:off x="723900" y="33147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2AED6446-327F-4D09-A93F-6012A283F218}"/>
              </a:ext>
            </a:extLst>
          </p:cNvPr>
          <p:cNvSpPr>
            <a:spLocks xmlns:a="http://schemas.openxmlformats.org/drawingml/2006/main" noGrp="1"/>
          </p:cNvSpPr>
          <p:nvPr/>
        </p:nvSpPr>
        <p:spPr>
          <a:xfrm xmlns:a="http://schemas.openxmlformats.org/drawingml/2006/main">
            <a:off x="2333625" y="33147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月間500時間を維持</a:t>
            </a:r>
          </a:p>
        </p:txBody>
      </p:sp>
      <p:sp>
        <p:nvSpPr>
          <p:cNvPr id="12" name="">
            <a:extLst xmlns:a="http://schemas.openxmlformats.org/drawingml/2006/main">
              <a:ext uri="{FF2B5EF4-FFF2-40B4-BE49-F238E27FC236}">
                <a16:creationId xmlns:a16="http://schemas.microsoft.com/office/drawing/2014/main" id="{0678F685-029B-4059-A03D-D0350F819FC9}"/>
              </a:ext>
            </a:extLst>
          </p:cNvPr>
          <p:cNvSpPr>
            <a:spLocks xmlns:a="http://schemas.openxmlformats.org/drawingml/2006/main" noGrp="1"/>
          </p:cNvSpPr>
          <p:nvPr/>
        </p:nvSpPr>
        <p:spPr>
          <a:xfrm xmlns:a="http://schemas.openxmlformats.org/drawingml/2006/main">
            <a:off x="5810250" y="32956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撮影現場を訪問し、運用負担を洗い出す。合意とデータ取扱いを法務確認する。</a:t>
            </a:r>
          </a:p>
        </p:txBody>
      </p:sp>
      <p:sp>
        <p:nvSpPr>
          <p:cNvPr id="13" name="">
            <a:extLst xmlns:a="http://schemas.openxmlformats.org/drawingml/2006/main">
              <a:ext uri="{FF2B5EF4-FFF2-40B4-BE49-F238E27FC236}">
                <a16:creationId xmlns:a16="http://schemas.microsoft.com/office/drawing/2014/main" id="{F9C9A23E-0644-41A9-BB4A-DBC740953BF2}"/>
              </a:ext>
            </a:extLst>
          </p:cNvPr>
          <p:cNvSpPr>
            <a:spLocks xmlns:a="http://schemas.openxmlformats.org/drawingml/2006/main" noGrp="1"/>
          </p:cNvSpPr>
          <p:nvPr/>
        </p:nvSpPr>
        <p:spPr>
          <a:xfrm xmlns:a="http://schemas.openxmlformats.org/drawingml/2006/main">
            <a:off x="723900" y="42481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86B83C-CF7E-4AA6-8900-5139A60CDA56}"/>
              </a:ext>
            </a:extLst>
          </p:cNvPr>
          <p:cNvSpPr>
            <a:spLocks xmlns:a="http://schemas.openxmlformats.org/drawingml/2006/main" noGrp="1"/>
          </p:cNvSpPr>
          <p:nvPr/>
        </p:nvSpPr>
        <p:spPr>
          <a:xfrm xmlns:a="http://schemas.openxmlformats.org/drawingml/2006/main">
            <a:off x="723900" y="46196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12月</a:t>
            </a:r>
          </a:p>
        </p:txBody>
      </p:sp>
      <p:sp>
        <p:nvSpPr>
          <p:cNvPr id="15" name="">
            <a:extLst xmlns:a="http://schemas.openxmlformats.org/drawingml/2006/main">
              <a:ext uri="{FF2B5EF4-FFF2-40B4-BE49-F238E27FC236}">
                <a16:creationId xmlns:a16="http://schemas.microsoft.com/office/drawing/2014/main" id="{AD2CC717-2569-4D39-BF8C-6F7B656F7BEA}"/>
              </a:ext>
            </a:extLst>
          </p:cNvPr>
          <p:cNvSpPr>
            <a:spLocks xmlns:a="http://schemas.openxmlformats.org/drawingml/2006/main" noGrp="1"/>
          </p:cNvSpPr>
          <p:nvPr/>
        </p:nvSpPr>
        <p:spPr>
          <a:xfrm xmlns:a="http://schemas.openxmlformats.org/drawingml/2006/main">
            <a:off x="2333625" y="4619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月間1,000時間</a:t>
            </a:r>
          </a:p>
        </p:txBody>
      </p:sp>
      <p:sp>
        <p:nvSpPr>
          <p:cNvPr id="16" name="">
            <a:extLst xmlns:a="http://schemas.openxmlformats.org/drawingml/2006/main">
              <a:ext uri="{FF2B5EF4-FFF2-40B4-BE49-F238E27FC236}">
                <a16:creationId xmlns:a16="http://schemas.microsoft.com/office/drawing/2014/main" id="{A2404580-E963-49B0-8E36-8D6F721E75FF}"/>
              </a:ext>
            </a:extLst>
          </p:cNvPr>
          <p:cNvSpPr>
            <a:spLocks xmlns:a="http://schemas.openxmlformats.org/drawingml/2006/main" noGrp="1"/>
          </p:cNvSpPr>
          <p:nvPr/>
        </p:nvSpPr>
        <p:spPr>
          <a:xfrm xmlns:a="http://schemas.openxmlformats.org/drawingml/2006/main">
            <a:off x="5810250" y="460057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飲食・小売を中心に撮影先を増やし、販売先との商談条件を満たす規模へ近づける。</a:t>
            </a:r>
          </a:p>
        </p:txBody>
      </p:sp>
      <p:sp>
        <p:nvSpPr>
          <p:cNvPr id="17" name="">
            <a:extLst xmlns:a="http://schemas.openxmlformats.org/drawingml/2006/main">
              <a:ext uri="{FF2B5EF4-FFF2-40B4-BE49-F238E27FC236}">
                <a16:creationId xmlns:a16="http://schemas.microsoft.com/office/drawing/2014/main" id="{E6F75D6A-D2F6-4C01-AE35-56326799ABEF}"/>
              </a:ext>
            </a:extLst>
          </p:cNvPr>
          <p:cNvSpPr>
            <a:spLocks xmlns:a="http://schemas.openxmlformats.org/drawingml/2006/main" noGrp="1"/>
          </p:cNvSpPr>
          <p:nvPr/>
        </p:nvSpPr>
        <p:spPr>
          <a:xfrm xmlns:a="http://schemas.openxmlformats.org/drawingml/2006/main">
            <a:off x="723900" y="5553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B9E6DA-46EF-451F-A729-654E616E817C}"/>
              </a:ext>
            </a:extLst>
          </p:cNvPr>
          <p:cNvSpPr>
            <a:spLocks xmlns:a="http://schemas.openxmlformats.org/drawingml/2006/main" noGrp="1"/>
          </p:cNvSpPr>
          <p:nvPr/>
        </p:nvSpPr>
        <p:spPr>
          <a:xfrm xmlns:a="http://schemas.openxmlformats.org/drawingml/2006/main">
            <a:off x="723900" y="5924550"/>
            <a:ext cx="10572750" cy="400050"/>
          </a:xfrm>
          <a:prstGeom xmlns:a="http://schemas.openxmlformats.org/drawingml/2006/main" prst="rect">
            <a:avLst/>
          </a:prstGeom>
          <a:solidFill xmlns:a="http://schemas.openxmlformats.org/drawingml/2006/main">
            <a:srgbClr val="DCE8E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57DFE17-9875-4B46-8E7E-30861C48D9EF}"/>
              </a:ext>
            </a:extLst>
          </p:cNvPr>
          <p:cNvSpPr>
            <a:spLocks xmlns:a="http://schemas.openxmlformats.org/drawingml/2006/main" noGrp="1"/>
          </p:cNvSpPr>
          <p:nvPr/>
        </p:nvSpPr>
        <p:spPr>
          <a:xfrm xmlns:a="http://schemas.openxmlformats.org/drawingml/2006/main">
            <a:off x="933450" y="6010275"/>
            <a:ext cx="10153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まず、継続して収集できる現場運用と、販売先が扱える供給規模を作る。</a:t>
            </a:r>
          </a:p>
        </p:txBody>
      </p:sp>
    </p:spTree>
    <p:extLst>
      <p:ext uri="{BB962C8B-B14F-4D97-AF65-F5344CB8AC3E}">
        <p14:creationId xmlns:p14="http://schemas.microsoft.com/office/powerpoint/2010/main" val="1885788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2026-09-14T21:26:21.1010000Z</dcterms:created>
  <dcterms:modified xsi:type="dcterms:W3CDTF">2026-09-14T21:26:21.1010000Z</dcterms:modified>
</coreProperties>
</file>
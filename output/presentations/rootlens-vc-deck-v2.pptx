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b4cf4e514e4b95" /><Relationship Type="http://schemas.openxmlformats.org/officeDocument/2006/relationships/extended-properties" Target="/docProps/app.xml" Id="Rcc6060e22d23407f" /><Relationship Type="http://schemas.openxmlformats.org/officeDocument/2006/relationships/officeDocument" Target="/ppt/presentation.xml" Id="Rda6fc86cf94b416d" /></Relationships>
</file>

<file path=ppt/presentation.xml><?xml version="1.0" encoding="utf-8"?>
<p:presentation xmlns:p="http://schemas.openxmlformats.org/presentationml/2006/main">
  <p:sldMasterIdLst>
    <p:sldMasterId xmlns:r="http://schemas.openxmlformats.org/officeDocument/2006/relationships" id="2147483648" r:id="Rea80c41d84994e86"/>
  </p:sldMasterIdLst>
  <p:notesMasterIdLst>
    <p:notesMasterId xmlns:r="http://schemas.openxmlformats.org/officeDocument/2006/relationships" r:id="Rd3edf65e7a7740d7"/>
  </p:notesMasterIdLst>
  <p:sldIdLst>
    <p:sldId xmlns:r="http://schemas.openxmlformats.org/officeDocument/2006/relationships" id="256" r:id="Rc4af25b6bee04297"/>
    <p:sldId xmlns:r="http://schemas.openxmlformats.org/officeDocument/2006/relationships" id="257" r:id="R07fc69a92dca4827"/>
    <p:sldId xmlns:r="http://schemas.openxmlformats.org/officeDocument/2006/relationships" id="258" r:id="Rff85eb65eacb469a"/>
    <p:sldId xmlns:r="http://schemas.openxmlformats.org/officeDocument/2006/relationships" id="259" r:id="R2294a41194bd47f0"/>
    <p:sldId xmlns:r="http://schemas.openxmlformats.org/officeDocument/2006/relationships" id="260" r:id="Rd70696281f314b44"/>
    <p:sldId xmlns:r="http://schemas.openxmlformats.org/officeDocument/2006/relationships" id="261" r:id="Rb756bb32adb044eb"/>
    <p:sldId xmlns:r="http://schemas.openxmlformats.org/officeDocument/2006/relationships" id="262" r:id="Rd9059eff18154748"/>
    <p:sldId xmlns:r="http://schemas.openxmlformats.org/officeDocument/2006/relationships" id="263" r:id="Ra035112981fe499d"/>
    <p:sldId xmlns:r="http://schemas.openxmlformats.org/officeDocument/2006/relationships" id="264" r:id="R6c5dccf1eca049e8"/>
    <p:sldId xmlns:r="http://schemas.openxmlformats.org/officeDocument/2006/relationships" id="265" r:id="R383fc905c8f84568"/>
    <p:sldId xmlns:r="http://schemas.openxmlformats.org/officeDocument/2006/relationships" id="266" r:id="Ra0bee2f3c023416c"/>
    <p:sldId xmlns:r="http://schemas.openxmlformats.org/officeDocument/2006/relationships" id="267" r:id="R615ecfddc25347a5"/>
    <p:sldId xmlns:r="http://schemas.openxmlformats.org/officeDocument/2006/relationships" id="268" r:id="R491cc35913c24bb9"/>
    <p:sldId xmlns:r="http://schemas.openxmlformats.org/officeDocument/2006/relationships" id="269" r:id="R9f9d7253ba0a4856"/>
    <p:sldId xmlns:r="http://schemas.openxmlformats.org/officeDocument/2006/relationships" id="270" r:id="R8f3f7aacfce54a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c9d81de9744429" /><Relationship Type="http://schemas.openxmlformats.org/officeDocument/2006/relationships/slideMaster" Target="/ppt/slideMasters/slideMaster1.xml" Id="Rea80c41d84994e86" /><Relationship Type="http://schemas.openxmlformats.org/officeDocument/2006/relationships/notesMaster" Target="/ppt/notesMasters/notesMaster1.xml" Id="Rd3edf65e7a7740d7" /><Relationship Type="http://schemas.openxmlformats.org/officeDocument/2006/relationships/presProps" Target="/ppt/presProps.xml" Id="R80be9184025147e8" /><Relationship Type="http://schemas.openxmlformats.org/officeDocument/2006/relationships/tableStyles" Target="/ppt/tableStyles.xml" Id="R1f654ea4a42749ac" /><Relationship Type="http://schemas.openxmlformats.org/officeDocument/2006/relationships/slide" Target="/ppt/slides/slide1.xml" Id="Rc4af25b6bee04297" /><Relationship Type="http://schemas.openxmlformats.org/officeDocument/2006/relationships/slide" Target="/ppt/slides/slide2.xml" Id="R07fc69a92dca4827" /><Relationship Type="http://schemas.openxmlformats.org/officeDocument/2006/relationships/slide" Target="/ppt/slides/slide3.xml" Id="Rff85eb65eacb469a" /><Relationship Type="http://schemas.openxmlformats.org/officeDocument/2006/relationships/slide" Target="/ppt/slides/slide4.xml" Id="R2294a41194bd47f0" /><Relationship Type="http://schemas.openxmlformats.org/officeDocument/2006/relationships/slide" Target="/ppt/slides/slide5.xml" Id="Rd70696281f314b44" /><Relationship Type="http://schemas.openxmlformats.org/officeDocument/2006/relationships/slide" Target="/ppt/slides/slide6.xml" Id="Rb756bb32adb044eb" /><Relationship Type="http://schemas.openxmlformats.org/officeDocument/2006/relationships/slide" Target="/ppt/slides/slide7.xml" Id="Rd9059eff18154748" /><Relationship Type="http://schemas.openxmlformats.org/officeDocument/2006/relationships/slide" Target="/ppt/slides/slide8.xml" Id="Ra035112981fe499d" /><Relationship Type="http://schemas.openxmlformats.org/officeDocument/2006/relationships/slide" Target="/ppt/slides/slide9.xml" Id="R6c5dccf1eca049e8" /><Relationship Type="http://schemas.openxmlformats.org/officeDocument/2006/relationships/slide" Target="/ppt/slides/slide10.xml" Id="R383fc905c8f84568" /><Relationship Type="http://schemas.openxmlformats.org/officeDocument/2006/relationships/slide" Target="/ppt/slides/slide11.xml" Id="Ra0bee2f3c023416c" /><Relationship Type="http://schemas.openxmlformats.org/officeDocument/2006/relationships/slide" Target="/ppt/slides/slide12.xml" Id="R615ecfddc25347a5" /><Relationship Type="http://schemas.openxmlformats.org/officeDocument/2006/relationships/slide" Target="/ppt/slides/slide13.xml" Id="R491cc35913c24bb9" /><Relationship Type="http://schemas.openxmlformats.org/officeDocument/2006/relationships/slide" Target="/ppt/slides/slide14.xml" Id="R9f9d7253ba0a4856" /><Relationship Type="http://schemas.openxmlformats.org/officeDocument/2006/relationships/slide" Target="/ppt/slides/slide15.xml" Id="R8f3f7aacfce54a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d8a685aefa4e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860e9a5f68407b" /><Relationship Type="http://schemas.openxmlformats.org/officeDocument/2006/relationships/notesMaster" Target="/ppt/notesMasters/notesMaster1.xml" Id="R5410050d44e146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6bc77f16bf4205" /><Relationship Type="http://schemas.openxmlformats.org/officeDocument/2006/relationships/notesMaster" Target="/ppt/notesMasters/notesMaster1.xml" Id="R793bfaf64a4d44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738408cb174874" /><Relationship Type="http://schemas.openxmlformats.org/officeDocument/2006/relationships/notesMaster" Target="/ppt/notesMasters/notesMaster1.xml" Id="Rd9070cd6d44944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fb9e23fd8643a2" /><Relationship Type="http://schemas.openxmlformats.org/officeDocument/2006/relationships/notesMaster" Target="/ppt/notesMasters/notesMaster1.xml" Id="R30df7d985af646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0dd26bdb304571" /><Relationship Type="http://schemas.openxmlformats.org/officeDocument/2006/relationships/notesMaster" Target="/ppt/notesMasters/notesMaster1.xml" Id="R418c93c0723544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527ac4f58a4be8" /><Relationship Type="http://schemas.openxmlformats.org/officeDocument/2006/relationships/notesMaster" Target="/ppt/notesMasters/notesMaster1.xml" Id="Ra863bc7c36c540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1cda196e8c4058" /><Relationship Type="http://schemas.openxmlformats.org/officeDocument/2006/relationships/notesMaster" Target="/ppt/notesMasters/notesMaster1.xml" Id="R64ced237f3df49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cad7e1da8c4802" /><Relationship Type="http://schemas.openxmlformats.org/officeDocument/2006/relationships/notesMaster" Target="/ppt/notesMasters/notesMaster1.xml" Id="R2bed8d43ff9548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97bfcba3b94210" /><Relationship Type="http://schemas.openxmlformats.org/officeDocument/2006/relationships/notesMaster" Target="/ppt/notesMasters/notesMaster1.xml" Id="R943b5f9a511249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c37c03cc2d4f46" /><Relationship Type="http://schemas.openxmlformats.org/officeDocument/2006/relationships/notesMaster" Target="/ppt/notesMasters/notesMaster1.xml" Id="R69de8fd2c19e41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a5c1d6a4474352" /><Relationship Type="http://schemas.openxmlformats.org/officeDocument/2006/relationships/notesMaster" Target="/ppt/notesMasters/notesMaster1.xml" Id="Ra8072d39e9b541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1ad8caebdd94fd9" /><Relationship Type="http://schemas.openxmlformats.org/officeDocument/2006/relationships/notesMaster" Target="/ppt/notesMasters/notesMaster1.xml" Id="R8676fa11e9154f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01a103d508488e" /><Relationship Type="http://schemas.openxmlformats.org/officeDocument/2006/relationships/notesMaster" Target="/ppt/notesMasters/notesMaster1.xml" Id="R676b8d004a46439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dce7a5b12a94857" /><Relationship Type="http://schemas.openxmlformats.org/officeDocument/2006/relationships/notesMaster" Target="/ppt/notesMasters/notesMaster1.xml" Id="Rf0b477d56abe438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42c653f059e4c50" /><Relationship Type="http://schemas.openxmlformats.org/officeDocument/2006/relationships/notesMaster" Target="/ppt/notesMasters/notesMaster1.xml" Id="R55cf331cf66f41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RootLensは、現場で人間が行っている作業のデータ収集から事業を始めています。この資料では、現在行っていることと、その先に何を見ているかを分けて話します。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の業界を、特定タスクのロボットから現場まで一体で作る垂直統合型と、各レイヤーを横断して提供する水平統合型に分けて見ています。これは厳密な分類ではなく、私たちが自社の位置を考えるための見取り図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れは現在の実績ではなく、私たちの業界仮説です。ロボットが現場で稼働すれば、その稼働自体がデータ収集になります。そのため長期的には、データ収集を含む改善ループを自社で持つ企業が強いと考え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企業を最終形と考えているわけではありません。現時点で複数業種の現場へ入れる方法として、データ収集が最も実行しやすく、その過程で将来の現場統合に必要な情報と関係が残ると考え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構造が、現場データ収集を入口にする理由の中心です。現場統合層だけでなく、上流のデータ収集層も現場と直接接します。上流の企業が将来の顧客となる現場へ先に入れるという、フィジカルAI特有の構造だ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撮影先と販売先の両面を開拓する事業です。現在は現場側が先行しています。海外の販売先との会話では、データの内容以前に、継続してまとまった時間を供給できるかが重要でした。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現場側では、約30件への営業と、ベーカリーでの実撮影まで進みました。カフェチェーンとスーパーマーケットは、まだ契約済みや撮影済みではありません。現在進んでいる話として分けて説明します。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先については、需要の有無よりも、私たちが供給できる規模が商談上の課題になっています。海外8社とはサンプルのやり取りまで進みましたが、契約実績はまだありません。国内ではNextremerと実際の運用フローを詰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回撮影ではヘルメット型の構成を使いました。その後、帽子型を試し、現在はスマートグラスによる撮影も導入しています。ベーカリーでは、メガネ型に変えたことで『これならつけてもいい』という反応が増えました。デバイスの快適性は撮影先の拡大に直結する課題だと分かりま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現在はこの4名で活動しています。共同創業者の二人に加えて、最初の現場で出会った川島さんと、小売・製造業界のネットワークと経営管理経験を持つ大崎さんに協力してもらっています。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を1時間1,600円、その半分を現場へ還元する前提です。1台が月110時間動く場合、デバイス償却は1時間あたり約73円です。ここまでは機材だけを見た試算で、現場運用の人件費などはまだ含め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集時間に比例してデバイス台数も増えるため、機材費の比率は大きく変わりません。ただし、運用人員が同じ比率で増えるかはまだ分かっていません。また、同じデータを複数回販売できる可能性はありますが、この表には入れ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の数字で問題が見えにくいのはデバイス費です。実際に事業の採算を決めるのは、現場を増やす営業と運用の人件費、そして収集したデータを継続して売れるかだと考えています。ここを今後の収集拡大の中で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ここから先はロードマップではありません。今の時点で、データ収集を入口にするとどこまで進める可能性が見えるかを示しています。環境や技術、収集したデータによって進み方は変わります。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直近では、長期構想よりも収集規模と運用の検証を優先します。10月に500時間、12月に1,000時間を目標とし、同時に販売先が必要とする条件と、現場運用にかかる実際の負担を確認します。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cb174a13b942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8bd4e7363a49bf" /><Relationship Type="http://schemas.openxmlformats.org/officeDocument/2006/relationships/slideLayout" Target="/ppt/slideLayouts/slideLayout1.xml" Id="R1ebb799a7e1645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bb799a7e1645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08e04fa8fc4ebc" /><Relationship Type="http://schemas.openxmlformats.org/officeDocument/2006/relationships/notesSlide" Target="/ppt/notesSlides/notesSlide1.xml" Id="R8ce26f8dedf94f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389e0856154772" /><Relationship Type="http://schemas.openxmlformats.org/officeDocument/2006/relationships/notesSlide" Target="/ppt/notesSlides/notesSlide2.xml" Id="R1e3c0482d48142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4582ed431b34a6c" /><Relationship Type="http://schemas.openxmlformats.org/officeDocument/2006/relationships/notesSlide" Target="/ppt/notesSlides/notesSlide3.xml" Id="R0aebafe4dae047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1cd61b66a44095" /><Relationship Type="http://schemas.openxmlformats.org/officeDocument/2006/relationships/notesSlide" Target="/ppt/notesSlides/notesSlide4.xml" Id="Rf69385ece6024b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cc961555104e7a" /><Relationship Type="http://schemas.openxmlformats.org/officeDocument/2006/relationships/notesSlide" Target="/ppt/notesSlides/notesSlide5.xml" Id="Rb3c90c187fa14d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8c96ed4dfb4871" /><Relationship Type="http://schemas.openxmlformats.org/officeDocument/2006/relationships/notesSlide" Target="/ppt/notesSlides/notesSlide6.xml" Id="R7e9f6abaf23742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9d98b2e664456c" /><Relationship Type="http://schemas.openxmlformats.org/officeDocument/2006/relationships/notesSlide" Target="/ppt/notesSlides/notesSlide7.xml" Id="R30ab5cbef36947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9479779d954992" /><Relationship Type="http://schemas.openxmlformats.org/officeDocument/2006/relationships/notesSlide" Target="/ppt/notesSlides/notesSlide8.xml" Id="R6282e4a0793747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e91c37c441e4e1c" /><Relationship Type="http://schemas.openxmlformats.org/officeDocument/2006/relationships/image" Target="/ppt/media/image.jpeg" Id="Re5d486dc1d004208" /><Relationship Type="http://schemas.openxmlformats.org/officeDocument/2006/relationships/image" Target="/ppt/media/image2.jpeg" Id="R763e53fb4b2344cc" /><Relationship Type="http://schemas.openxmlformats.org/officeDocument/2006/relationships/image" Target="/ppt/media/image3.jpeg" Id="R68bd29758e784756" /><Relationship Type="http://schemas.openxmlformats.org/officeDocument/2006/relationships/notesSlide" Target="/ppt/notesSlides/notesSlide9.xml" Id="R320bef2794bc47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36f0afb021b4164" /><Relationship Type="http://schemas.openxmlformats.org/officeDocument/2006/relationships/notesSlide" Target="/ppt/notesSlides/notesSlide10.xml" Id="Rb7dacb426c2d45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4d8637b6054dba" /><Relationship Type="http://schemas.openxmlformats.org/officeDocument/2006/relationships/notesSlide" Target="/ppt/notesSlides/notesSlide11.xml" Id="R5837f3b283c540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72ab54a105b44da" /><Relationship Type="http://schemas.openxmlformats.org/officeDocument/2006/relationships/notesSlide" Target="/ppt/notesSlides/notesSlide12.xml" Id="Rfaf629f81f854c3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2e7400a98774751" /><Relationship Type="http://schemas.openxmlformats.org/officeDocument/2006/relationships/notesSlide" Target="/ppt/notesSlides/notesSlide13.xml" Id="R1ccc3bef11e4472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121284647fd4114" /><Relationship Type="http://schemas.openxmlformats.org/officeDocument/2006/relationships/notesSlide" Target="/ppt/notesSlides/notesSlide14.xml" Id="R3a2ad72c63e346b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2db5b88b4354594" /><Relationship Type="http://schemas.openxmlformats.org/officeDocument/2006/relationships/notesSlide" Target="/ppt/notesSlides/notesSlide15.xml" Id="Rf8dde50033044f98"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855ECA-F5CC-4B7A-AD18-4241942E641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37ABB7-9496-4999-A6C6-A976F23683B3}"/>
              </a:ext>
            </a:extLst>
          </p:cNvPr>
          <p:cNvSpPr>
            <a:spLocks xmlns:a="http://schemas.openxmlformats.org/drawingml/2006/main" noGrp="1"/>
          </p:cNvSpPr>
          <p:nvPr/>
        </p:nvSpPr>
        <p:spPr>
          <a:xfrm xmlns:a="http://schemas.openxmlformats.org/drawingml/2006/main">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2119E5E9-F154-4169-83AD-114590883593}"/>
              </a:ext>
            </a:extLst>
          </p:cNvPr>
          <p:cNvSpPr>
            <a:spLocks xmlns:a="http://schemas.openxmlformats.org/drawingml/2006/main" noGrp="1"/>
          </p:cNvSpPr>
          <p:nvPr/>
        </p:nvSpPr>
        <p:spPr>
          <a:xfrm xmlns:a="http://schemas.openxmlformats.org/drawingml/2006/main">
            <a:off x="666750" y="2543175"/>
            <a:ext cx="9334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200" b="1">
                <a:solidFill>
                  <a:srgbClr val="15191B"/>
                </a:solidFill>
                <a:latin typeface="Hiragino Sans"/>
                <a:ea typeface="Hiragino Sans"/>
                <a:cs typeface="Hiragino Sans"/>
              </a:defRPr>
            </a:pPr>
            <a:r>
              <a:rPr sz="4200" b="1">
                <a:solidFill>
                  <a:srgbClr val="15191B"/>
                </a:solidFill>
                <a:latin typeface="Hiragino Sans"/>
                <a:ea typeface="Hiragino Sans"/>
                <a:cs typeface="Hiragino Sans"/>
              </a:rPr>
              <a:t>現場データ収集から始める</a:t>
            </a:r>
          </a:p>
          <a:p xmlns:a="http://schemas.openxmlformats.org/drawingml/2006/main">
            <a:pPr algn="l">
              <a:defRPr sz="4200" b="1">
                <a:solidFill>
                  <a:srgbClr val="15191B"/>
                </a:solidFill>
                <a:latin typeface="Hiragino Sans"/>
                <a:ea typeface="Hiragino Sans"/>
                <a:cs typeface="Hiragino Sans"/>
              </a:defRPr>
            </a:pPr>
            <a:r>
              <a:rPr sz="4200" b="1">
                <a:solidFill>
                  <a:srgbClr val="15191B"/>
                </a:solidFill>
                <a:latin typeface="Hiragino Sans"/>
                <a:ea typeface="Hiragino Sans"/>
                <a:cs typeface="Hiragino Sans"/>
              </a:rPr>
              <a:t>フィジカルAI企業</a:t>
            </a:r>
          </a:p>
        </p:txBody>
      </p:sp>
      <p:sp>
        <p:nvSpPr>
          <p:cNvPr id="4" name="">
            <a:extLst xmlns:a="http://schemas.openxmlformats.org/drawingml/2006/main">
              <a:ext uri="{FF2B5EF4-FFF2-40B4-BE49-F238E27FC236}">
                <a16:creationId xmlns:a16="http://schemas.microsoft.com/office/drawing/2014/main" id="{CC172144-CB09-405D-9677-9AF1A4E463FE}"/>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92C65B1-D3C6-4F2F-8BB5-E5BDBC1E7E7A}"/>
              </a:ext>
            </a:extLst>
          </p:cNvPr>
          <p:cNvSpPr>
            <a:spLocks xmlns:a="http://schemas.openxmlformats.org/drawingml/2006/main" noGrp="1"/>
          </p:cNvSpPr>
          <p:nvPr/>
        </p:nvSpPr>
        <p:spPr>
          <a:xfrm xmlns:a="http://schemas.openxmlformats.org/drawingml/2006/main">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4CD69ABB-7B11-4EAF-B244-D1A5E4856E2C}"/>
              </a:ext>
            </a:extLst>
          </p:cNvPr>
          <p:cNvSpPr>
            <a:spLocks xmlns:a="http://schemas.openxmlformats.org/drawingml/2006/main" noGrp="1"/>
          </p:cNvSpPr>
          <p:nvPr/>
        </p:nvSpPr>
        <p:spPr>
          <a:xfrm xmlns:a="http://schemas.openxmlformats.org/drawingml/2006/main">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866592143"/>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A067801-43AE-412D-9294-4F168648CD1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5A6250-E933-4329-943E-9B5F2E632525}"/>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B0228815-C043-4E30-852A-5993B2BCADC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7FED1D-EF28-479E-902C-95BBF118F3EB}"/>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BEDACC7B-A05F-4298-ADDF-0BBE9AFDDD03}"/>
              </a:ext>
            </a:extLst>
          </p:cNvPr>
          <p:cNvSpPr>
            <a:spLocks xmlns:a="http://schemas.openxmlformats.org/drawingml/2006/main" noGrp="1"/>
          </p:cNvSpPr>
          <p:nvPr/>
        </p:nvSpPr>
        <p:spPr>
          <a:xfrm xmlns:a="http://schemas.openxmlformats.org/drawingml/2006/main">
            <a:off x="723900" y="195262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13861C9D-9A3B-40FF-9C32-28E28D63D6A2}"/>
              </a:ext>
            </a:extLst>
          </p:cNvPr>
          <p:cNvSpPr>
            <a:spLocks xmlns:a="http://schemas.openxmlformats.org/drawingml/2006/main" noGrp="1"/>
          </p:cNvSpPr>
          <p:nvPr/>
        </p:nvSpPr>
        <p:spPr>
          <a:xfrm xmlns:a="http://schemas.openxmlformats.org/drawingml/2006/main">
            <a:off x="723900" y="2428875"/>
            <a:ext cx="2571750" cy="32385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8666AC6-55F8-4513-A3C0-A90D67753626}"/>
              </a:ext>
            </a:extLst>
          </p:cNvPr>
          <p:cNvSpPr>
            <a:spLocks xmlns:a="http://schemas.openxmlformats.org/drawingml/2006/main" noGrp="1"/>
          </p:cNvSpPr>
          <p:nvPr/>
        </p:nvSpPr>
        <p:spPr>
          <a:xfrm xmlns:a="http://schemas.openxmlformats.org/drawingml/2006/main">
            <a:off x="981075" y="2695575"/>
            <a:ext cx="2057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Hiragino Sans"/>
                <a:ea typeface="Hiragino Sans"/>
                <a:cs typeface="Hiragino Sans"/>
              </a:defRPr>
            </a:pPr>
            <a:r>
              <a:rPr sz="1350" b="1">
                <a:solidFill>
                  <a:srgbClr val="FFFFFF"/>
                </a:solidFill>
                <a:latin typeface="Hiragino Sans"/>
                <a:ea typeface="Hiragino Sans"/>
                <a:cs typeface="Hiragino Sans"/>
              </a:rPr>
              <a:t>特定の業種・タスク</a:t>
            </a:r>
          </a:p>
        </p:txBody>
      </p:sp>
      <p:sp>
        <p:nvSpPr>
          <p:cNvPr id="8" name="">
            <a:extLst xmlns:a="http://schemas.openxmlformats.org/drawingml/2006/main">
              <a:ext uri="{FF2B5EF4-FFF2-40B4-BE49-F238E27FC236}">
                <a16:creationId xmlns:a16="http://schemas.microsoft.com/office/drawing/2014/main" id="{EC67B686-9906-4E48-BA7F-3BAA4AF75085}"/>
              </a:ext>
            </a:extLst>
          </p:cNvPr>
          <p:cNvSpPr>
            <a:spLocks xmlns:a="http://schemas.openxmlformats.org/drawingml/2006/main" noGrp="1"/>
          </p:cNvSpPr>
          <p:nvPr/>
        </p:nvSpPr>
        <p:spPr>
          <a:xfrm xmlns:a="http://schemas.openxmlformats.org/drawingml/2006/main">
            <a:off x="1000125" y="3257550"/>
            <a:ext cx="2000250" cy="9525"/>
          </a:xfrm>
          <a:prstGeom xmlns:a="http://schemas.openxmlformats.org/drawingml/2006/main" prst="rect">
            <a:avLst/>
          </a:prstGeom>
          <a:solidFill xmlns:a="http://schemas.openxmlformats.org/drawingml/2006/main">
            <a:srgbClr val="6F7D8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20FBB67-68DF-4402-B384-A54DC8CEAFC1}"/>
              </a:ext>
            </a:extLst>
          </p:cNvPr>
          <p:cNvSpPr>
            <a:spLocks xmlns:a="http://schemas.openxmlformats.org/drawingml/2006/main" noGrp="1"/>
          </p:cNvSpPr>
          <p:nvPr/>
        </p:nvSpPr>
        <p:spPr>
          <a:xfrm xmlns:a="http://schemas.openxmlformats.org/drawingml/2006/main">
            <a:off x="1066800" y="3533775"/>
            <a:ext cx="1866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Hiragino Sans"/>
                <a:ea typeface="Hiragino Sans"/>
                <a:cs typeface="Hiragino Sans"/>
              </a:defRPr>
            </a:pPr>
            <a:r>
              <a:rPr sz="1425" b="1">
                <a:solidFill>
                  <a:srgbClr val="FFFFFF"/>
                </a:solidFill>
                <a:latin typeface="Hiragino Sans"/>
                <a:ea typeface="Hiragino Sans"/>
                <a:cs typeface="Hiragino Sans"/>
              </a:rPr>
              <a:t>モデル</a:t>
            </a:r>
          </a:p>
        </p:txBody>
      </p:sp>
      <p:sp>
        <p:nvSpPr>
          <p:cNvPr id="10" name="">
            <a:extLst xmlns:a="http://schemas.openxmlformats.org/drawingml/2006/main">
              <a:ext uri="{FF2B5EF4-FFF2-40B4-BE49-F238E27FC236}">
                <a16:creationId xmlns:a16="http://schemas.microsoft.com/office/drawing/2014/main" id="{FE9FFB46-7715-4427-8954-7DDD6624C315}"/>
              </a:ext>
            </a:extLst>
          </p:cNvPr>
          <p:cNvSpPr>
            <a:spLocks xmlns:a="http://schemas.openxmlformats.org/drawingml/2006/main" noGrp="1"/>
          </p:cNvSpPr>
          <p:nvPr/>
        </p:nvSpPr>
        <p:spPr>
          <a:xfrm xmlns:a="http://schemas.openxmlformats.org/drawingml/2006/main">
            <a:off x="1066800" y="4076700"/>
            <a:ext cx="1866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Hiragino Sans"/>
                <a:ea typeface="Hiragino Sans"/>
                <a:cs typeface="Hiragino Sans"/>
              </a:defRPr>
            </a:pPr>
            <a:r>
              <a:rPr sz="1425" b="1">
                <a:solidFill>
                  <a:srgbClr val="FFFFFF"/>
                </a:solidFill>
                <a:latin typeface="Hiragino Sans"/>
                <a:ea typeface="Hiragino Sans"/>
                <a:cs typeface="Hiragino Sans"/>
              </a:rPr>
              <a:t>ハードウェア</a:t>
            </a:r>
          </a:p>
        </p:txBody>
      </p:sp>
      <p:sp>
        <p:nvSpPr>
          <p:cNvPr id="11" name="">
            <a:extLst xmlns:a="http://schemas.openxmlformats.org/drawingml/2006/main">
              <a:ext uri="{FF2B5EF4-FFF2-40B4-BE49-F238E27FC236}">
                <a16:creationId xmlns:a16="http://schemas.microsoft.com/office/drawing/2014/main" id="{03A506A0-3485-4230-8F6F-586E16FEC274}"/>
              </a:ext>
            </a:extLst>
          </p:cNvPr>
          <p:cNvSpPr>
            <a:spLocks xmlns:a="http://schemas.openxmlformats.org/drawingml/2006/main" noGrp="1"/>
          </p:cNvSpPr>
          <p:nvPr/>
        </p:nvSpPr>
        <p:spPr>
          <a:xfrm xmlns:a="http://schemas.openxmlformats.org/drawingml/2006/main">
            <a:off x="1066800" y="4619625"/>
            <a:ext cx="1866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Hiragino Sans"/>
                <a:ea typeface="Hiragino Sans"/>
                <a:cs typeface="Hiragino Sans"/>
              </a:defRPr>
            </a:pPr>
            <a:r>
              <a:rPr sz="1425" b="1">
                <a:solidFill>
                  <a:srgbClr val="FFFFFF"/>
                </a:solidFill>
                <a:latin typeface="Hiragino Sans"/>
                <a:ea typeface="Hiragino Sans"/>
                <a:cs typeface="Hiragino Sans"/>
              </a:rPr>
              <a:t>現場統合</a:t>
            </a:r>
          </a:p>
        </p:txBody>
      </p:sp>
      <p:sp>
        <p:nvSpPr>
          <p:cNvPr id="12" name="">
            <a:extLst xmlns:a="http://schemas.openxmlformats.org/drawingml/2006/main">
              <a:ext uri="{FF2B5EF4-FFF2-40B4-BE49-F238E27FC236}">
                <a16:creationId xmlns:a16="http://schemas.microsoft.com/office/drawing/2014/main" id="{D225486A-0BFE-457E-A49E-D1AD0E1EF20D}"/>
              </a:ext>
            </a:extLst>
          </p:cNvPr>
          <p:cNvSpPr>
            <a:spLocks xmlns:a="http://schemas.openxmlformats.org/drawingml/2006/main" noGrp="1"/>
          </p:cNvSpPr>
          <p:nvPr/>
        </p:nvSpPr>
        <p:spPr>
          <a:xfrm xmlns:a="http://schemas.openxmlformats.org/drawingml/2006/main">
            <a:off x="981075" y="5229225"/>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CED6DA"/>
                </a:solidFill>
                <a:latin typeface="Hiragino Sans"/>
                <a:ea typeface="Hiragino Sans"/>
                <a:cs typeface="Hiragino Sans"/>
              </a:defRPr>
            </a:pPr>
            <a:r>
              <a:rPr sz="1125" b="0">
                <a:solidFill>
                  <a:srgbClr val="CED6DA"/>
                </a:solidFill>
                <a:latin typeface="Hiragino Sans"/>
                <a:ea typeface="Hiragino Sans"/>
                <a:cs typeface="Hiragino Sans"/>
              </a:rPr>
              <a:t>一社の開発ループとして持つ</a:t>
            </a:r>
          </a:p>
        </p:txBody>
      </p:sp>
      <p:sp>
        <p:nvSpPr>
          <p:cNvPr id="13" name="">
            <a:extLst xmlns:a="http://schemas.openxmlformats.org/drawingml/2006/main">
              <a:ext uri="{FF2B5EF4-FFF2-40B4-BE49-F238E27FC236}">
                <a16:creationId xmlns:a16="http://schemas.microsoft.com/office/drawing/2014/main" id="{15BF8472-DB5F-4CC3-90B2-D9E4557C2AE6}"/>
              </a:ext>
            </a:extLst>
          </p:cNvPr>
          <p:cNvSpPr>
            <a:spLocks xmlns:a="http://schemas.openxmlformats.org/drawingml/2006/main" noGrp="1"/>
          </p:cNvSpPr>
          <p:nvPr/>
        </p:nvSpPr>
        <p:spPr>
          <a:xfrm xmlns:a="http://schemas.openxmlformats.org/drawingml/2006/main">
            <a:off x="4000500" y="195262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水平統合型</a:t>
            </a:r>
          </a:p>
        </p:txBody>
      </p:sp>
      <p:sp>
        <p:nvSpPr>
          <p:cNvPr id="14" name="">
            <a:extLst xmlns:a="http://schemas.openxmlformats.org/drawingml/2006/main">
              <a:ext uri="{FF2B5EF4-FFF2-40B4-BE49-F238E27FC236}">
                <a16:creationId xmlns:a16="http://schemas.microsoft.com/office/drawing/2014/main" id="{F6843C72-3AE6-49FE-81E7-ADAD92662177}"/>
              </a:ext>
            </a:extLst>
          </p:cNvPr>
          <p:cNvSpPr>
            <a:spLocks xmlns:a="http://schemas.openxmlformats.org/drawingml/2006/main" noGrp="1"/>
          </p:cNvSpPr>
          <p:nvPr/>
        </p:nvSpPr>
        <p:spPr>
          <a:xfrm xmlns:a="http://schemas.openxmlformats.org/drawingml/2006/main">
            <a:off x="4000500" y="2428875"/>
            <a:ext cx="7239000" cy="647700"/>
          </a:xfrm>
          <a:prstGeom xmlns:a="http://schemas.openxmlformats.org/drawingml/2006/main" prst="rect">
            <a:avLst/>
          </a:prstGeom>
          <a:solidFill xmlns:a="http://schemas.openxmlformats.org/drawingml/2006/main">
            <a:srgbClr val="DCE8E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A7D808F4-C27F-426E-B0F6-CE4CD4ED985F}"/>
              </a:ext>
            </a:extLst>
          </p:cNvPr>
          <p:cNvSpPr>
            <a:spLocks xmlns:a="http://schemas.openxmlformats.org/drawingml/2006/main" noGrp="1"/>
          </p:cNvSpPr>
          <p:nvPr/>
        </p:nvSpPr>
        <p:spPr>
          <a:xfrm xmlns:a="http://schemas.openxmlformats.org/drawingml/2006/main">
            <a:off x="4248150" y="25908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データ収集・加工</a:t>
            </a:r>
          </a:p>
        </p:txBody>
      </p:sp>
      <p:sp>
        <p:nvSpPr>
          <p:cNvPr id="16" name="">
            <a:extLst xmlns:a="http://schemas.openxmlformats.org/drawingml/2006/main">
              <a:ext uri="{FF2B5EF4-FFF2-40B4-BE49-F238E27FC236}">
                <a16:creationId xmlns:a16="http://schemas.microsoft.com/office/drawing/2014/main" id="{45F854E1-2F32-4D9E-AB97-F6D1CE70BA6E}"/>
              </a:ext>
            </a:extLst>
          </p:cNvPr>
          <p:cNvSpPr>
            <a:spLocks xmlns:a="http://schemas.openxmlformats.org/drawingml/2006/main" noGrp="1"/>
          </p:cNvSpPr>
          <p:nvPr/>
        </p:nvSpPr>
        <p:spPr>
          <a:xfrm xmlns:a="http://schemas.openxmlformats.org/drawingml/2006/main">
            <a:off x="7239000" y="25908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人間の作業、テレオペレーション、合成データ</a:t>
            </a:r>
          </a:p>
        </p:txBody>
      </p:sp>
      <p:sp>
        <p:nvSpPr>
          <p:cNvPr id="17" name="">
            <a:extLst xmlns:a="http://schemas.openxmlformats.org/drawingml/2006/main">
              <a:ext uri="{FF2B5EF4-FFF2-40B4-BE49-F238E27FC236}">
                <a16:creationId xmlns:a16="http://schemas.microsoft.com/office/drawing/2014/main" id="{FF748AF9-C175-4451-9028-E4B89494CE33}"/>
              </a:ext>
            </a:extLst>
          </p:cNvPr>
          <p:cNvSpPr>
            <a:spLocks xmlns:a="http://schemas.openxmlformats.org/drawingml/2006/main" noGrp="1"/>
          </p:cNvSpPr>
          <p:nvPr/>
        </p:nvSpPr>
        <p:spPr>
          <a:xfrm xmlns:a="http://schemas.openxmlformats.org/drawingml/2006/main">
            <a:off x="4000500" y="3238500"/>
            <a:ext cx="72390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9888527E-785E-4843-A3E5-C6A5B336CEF5}"/>
              </a:ext>
            </a:extLst>
          </p:cNvPr>
          <p:cNvSpPr>
            <a:spLocks xmlns:a="http://schemas.openxmlformats.org/drawingml/2006/main" noGrp="1"/>
          </p:cNvSpPr>
          <p:nvPr/>
        </p:nvSpPr>
        <p:spPr>
          <a:xfrm xmlns:a="http://schemas.openxmlformats.org/drawingml/2006/main">
            <a:off x="4248150" y="34004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基盤モデル・シミュレーション</a:t>
            </a:r>
          </a:p>
        </p:txBody>
      </p:sp>
      <p:sp>
        <p:nvSpPr>
          <p:cNvPr id="19" name="">
            <a:extLst xmlns:a="http://schemas.openxmlformats.org/drawingml/2006/main">
              <a:ext uri="{FF2B5EF4-FFF2-40B4-BE49-F238E27FC236}">
                <a16:creationId xmlns:a16="http://schemas.microsoft.com/office/drawing/2014/main" id="{DAB859BA-11A1-4B4E-912A-E8D8B7CDACCF}"/>
              </a:ext>
            </a:extLst>
          </p:cNvPr>
          <p:cNvSpPr>
            <a:spLocks xmlns:a="http://schemas.openxmlformats.org/drawingml/2006/main" noGrp="1"/>
          </p:cNvSpPr>
          <p:nvPr/>
        </p:nvSpPr>
        <p:spPr>
          <a:xfrm xmlns:a="http://schemas.openxmlformats.org/drawingml/2006/main">
            <a:off x="7239000" y="340042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学習基盤、デジタルツイン、Real2Sim</a:t>
            </a:r>
          </a:p>
        </p:txBody>
      </p:sp>
      <p:sp>
        <p:nvSpPr>
          <p:cNvPr id="20" name="">
            <a:extLst xmlns:a="http://schemas.openxmlformats.org/drawingml/2006/main">
              <a:ext uri="{FF2B5EF4-FFF2-40B4-BE49-F238E27FC236}">
                <a16:creationId xmlns:a16="http://schemas.microsoft.com/office/drawing/2014/main" id="{2A3A69A3-4FBD-4719-AD68-F07F597474F4}"/>
              </a:ext>
            </a:extLst>
          </p:cNvPr>
          <p:cNvSpPr>
            <a:spLocks xmlns:a="http://schemas.openxmlformats.org/drawingml/2006/main" noGrp="1"/>
          </p:cNvSpPr>
          <p:nvPr/>
        </p:nvSpPr>
        <p:spPr>
          <a:xfrm xmlns:a="http://schemas.openxmlformats.org/drawingml/2006/main">
            <a:off x="4000500" y="4048125"/>
            <a:ext cx="72390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7FB8163B-A4D4-44A4-8CF8-978BA6D13842}"/>
              </a:ext>
            </a:extLst>
          </p:cNvPr>
          <p:cNvSpPr>
            <a:spLocks xmlns:a="http://schemas.openxmlformats.org/drawingml/2006/main" noGrp="1"/>
          </p:cNvSpPr>
          <p:nvPr/>
        </p:nvSpPr>
        <p:spPr>
          <a:xfrm xmlns:a="http://schemas.openxmlformats.org/drawingml/2006/main">
            <a:off x="4248150" y="42100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ハードウェア</a:t>
            </a:r>
          </a:p>
        </p:txBody>
      </p:sp>
      <p:sp>
        <p:nvSpPr>
          <p:cNvPr id="22" name="">
            <a:extLst xmlns:a="http://schemas.openxmlformats.org/drawingml/2006/main">
              <a:ext uri="{FF2B5EF4-FFF2-40B4-BE49-F238E27FC236}">
                <a16:creationId xmlns:a16="http://schemas.microsoft.com/office/drawing/2014/main" id="{2BF6D7BD-00D8-4280-A885-73FC939E4CB3}"/>
              </a:ext>
            </a:extLst>
          </p:cNvPr>
          <p:cNvSpPr>
            <a:spLocks xmlns:a="http://schemas.openxmlformats.org/drawingml/2006/main" noGrp="1"/>
          </p:cNvSpPr>
          <p:nvPr/>
        </p:nvSpPr>
        <p:spPr>
          <a:xfrm xmlns:a="http://schemas.openxmlformats.org/drawingml/2006/main">
            <a:off x="7239000" y="42100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ロボット本体、センサー、周辺機器</a:t>
            </a:r>
          </a:p>
        </p:txBody>
      </p:sp>
      <p:sp>
        <p:nvSpPr>
          <p:cNvPr id="23" name="">
            <a:extLst xmlns:a="http://schemas.openxmlformats.org/drawingml/2006/main">
              <a:ext uri="{FF2B5EF4-FFF2-40B4-BE49-F238E27FC236}">
                <a16:creationId xmlns:a16="http://schemas.microsoft.com/office/drawing/2014/main" id="{6260F6A9-A3E4-4890-99D9-845F2C68FD89}"/>
              </a:ext>
            </a:extLst>
          </p:cNvPr>
          <p:cNvSpPr>
            <a:spLocks xmlns:a="http://schemas.openxmlformats.org/drawingml/2006/main" noGrp="1"/>
          </p:cNvSpPr>
          <p:nvPr/>
        </p:nvSpPr>
        <p:spPr>
          <a:xfrm xmlns:a="http://schemas.openxmlformats.org/drawingml/2006/main">
            <a:off x="4000500" y="4857750"/>
            <a:ext cx="72390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95B126D3-57B1-4B80-966C-A59723D9665E}"/>
              </a:ext>
            </a:extLst>
          </p:cNvPr>
          <p:cNvSpPr>
            <a:spLocks xmlns:a="http://schemas.openxmlformats.org/drawingml/2006/main" noGrp="1"/>
          </p:cNvSpPr>
          <p:nvPr/>
        </p:nvSpPr>
        <p:spPr>
          <a:xfrm xmlns:a="http://schemas.openxmlformats.org/drawingml/2006/main">
            <a:off x="4248150" y="501967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現場統合</a:t>
            </a:r>
          </a:p>
        </p:txBody>
      </p:sp>
      <p:sp>
        <p:nvSpPr>
          <p:cNvPr id="25" name="">
            <a:extLst xmlns:a="http://schemas.openxmlformats.org/drawingml/2006/main">
              <a:ext uri="{FF2B5EF4-FFF2-40B4-BE49-F238E27FC236}">
                <a16:creationId xmlns:a16="http://schemas.microsoft.com/office/drawing/2014/main" id="{4C9AB620-C233-4A3F-BC06-6B35301EC769}"/>
              </a:ext>
            </a:extLst>
          </p:cNvPr>
          <p:cNvSpPr>
            <a:spLocks xmlns:a="http://schemas.openxmlformats.org/drawingml/2006/main" noGrp="1"/>
          </p:cNvSpPr>
          <p:nvPr/>
        </p:nvSpPr>
        <p:spPr>
          <a:xfrm xmlns:a="http://schemas.openxmlformats.org/drawingml/2006/main">
            <a:off x="7239000" y="501967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既存ロボットやモデルを現場へ導入</a:t>
            </a:r>
          </a:p>
        </p:txBody>
      </p:sp>
      <p:sp>
        <p:nvSpPr>
          <p:cNvPr id="26" name="">
            <a:extLst xmlns:a="http://schemas.openxmlformats.org/drawingml/2006/main">
              <a:ext uri="{FF2B5EF4-FFF2-40B4-BE49-F238E27FC236}">
                <a16:creationId xmlns:a16="http://schemas.microsoft.com/office/drawing/2014/main" id="{AF5CB0DC-DBA4-4DD0-A9CB-E09281358915}"/>
              </a:ext>
            </a:extLst>
          </p:cNvPr>
          <p:cNvSpPr>
            <a:spLocks xmlns:a="http://schemas.openxmlformats.org/drawingml/2006/main" noGrp="1"/>
          </p:cNvSpPr>
          <p:nvPr/>
        </p:nvSpPr>
        <p:spPr>
          <a:xfrm xmlns:a="http://schemas.openxmlformats.org/drawingml/2006/main">
            <a:off x="4000500" y="585787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723451726"/>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01074D4-88F4-492D-BB10-FB54B6E29E6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421D87-F02D-4F86-80CD-288634B0D5DB}"/>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現場を含むフィードバックループ</a:t>
            </a:r>
          </a:p>
        </p:txBody>
      </p:sp>
      <p:sp>
        <p:nvSpPr>
          <p:cNvPr id="3" name="">
            <a:extLst xmlns:a="http://schemas.openxmlformats.org/drawingml/2006/main">
              <a:ext uri="{FF2B5EF4-FFF2-40B4-BE49-F238E27FC236}">
                <a16:creationId xmlns:a16="http://schemas.microsoft.com/office/drawing/2014/main" id="{1827D7CC-FD00-4746-99BF-94EC6EEC102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11449ED-49F1-4972-A445-56122C8954D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37CFF934-E7C4-4395-BD9C-7B3015E81E3A}"/>
              </a:ext>
            </a:extLst>
          </p:cNvPr>
          <p:cNvSpPr>
            <a:spLocks xmlns:a="http://schemas.openxmlformats.org/drawingml/2006/main" noGrp="1"/>
          </p:cNvSpPr>
          <p:nvPr/>
        </p:nvSpPr>
        <p:spPr>
          <a:xfrm xmlns:a="http://schemas.openxmlformats.org/drawingml/2006/main">
            <a:off x="723900" y="18859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現在考えていること</a:t>
            </a:r>
          </a:p>
        </p:txBody>
      </p:sp>
      <p:sp>
        <p:nvSpPr>
          <p:cNvPr id="6" name="">
            <a:extLst xmlns:a="http://schemas.openxmlformats.org/drawingml/2006/main">
              <a:ext uri="{FF2B5EF4-FFF2-40B4-BE49-F238E27FC236}">
                <a16:creationId xmlns:a16="http://schemas.microsoft.com/office/drawing/2014/main" id="{479CDA56-E2F3-476C-9B26-2F2D2D4A232D}"/>
              </a:ext>
            </a:extLst>
          </p:cNvPr>
          <p:cNvSpPr>
            <a:spLocks xmlns:a="http://schemas.openxmlformats.org/drawingml/2006/main" noGrp="1"/>
          </p:cNvSpPr>
          <p:nvPr/>
        </p:nvSpPr>
        <p:spPr>
          <a:xfrm xmlns:a="http://schemas.openxmlformats.org/drawingml/2006/main">
            <a:off x="723900" y="2324100"/>
            <a:ext cx="1019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モデル開発、ハードウェア開発、現場統合が一つのループになる企業が、</a:t>
            </a:r>
          </a:p>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ロボットを最も速く改善できる。</a:t>
            </a:r>
          </a:p>
        </p:txBody>
      </p:sp>
      <p:sp>
        <p:nvSpPr>
          <p:cNvPr id="7" name="">
            <a:extLst xmlns:a="http://schemas.openxmlformats.org/drawingml/2006/main">
              <a:ext uri="{FF2B5EF4-FFF2-40B4-BE49-F238E27FC236}">
                <a16:creationId xmlns:a16="http://schemas.microsoft.com/office/drawing/2014/main" id="{EB31716D-0378-4301-B126-011FED99FAD4}"/>
              </a:ext>
            </a:extLst>
          </p:cNvPr>
          <p:cNvSpPr>
            <a:spLocks xmlns:a="http://schemas.openxmlformats.org/drawingml/2006/main" noGrp="1"/>
          </p:cNvSpPr>
          <p:nvPr/>
        </p:nvSpPr>
        <p:spPr>
          <a:xfrm xmlns:a="http://schemas.openxmlformats.org/drawingml/2006/main">
            <a:off x="781050" y="3724275"/>
            <a:ext cx="2857500" cy="14192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8" name="">
            <a:extLst xmlns:a="http://schemas.openxmlformats.org/drawingml/2006/main">
              <a:ext uri="{FF2B5EF4-FFF2-40B4-BE49-F238E27FC236}">
                <a16:creationId xmlns:a16="http://schemas.microsoft.com/office/drawing/2014/main" id="{BD907887-FDC9-47E9-B7F1-972B0B3D2A2A}"/>
              </a:ext>
            </a:extLst>
          </p:cNvPr>
          <p:cNvSpPr>
            <a:spLocks xmlns:a="http://schemas.openxmlformats.org/drawingml/2006/main" noGrp="1"/>
          </p:cNvSpPr>
          <p:nvPr/>
        </p:nvSpPr>
        <p:spPr>
          <a:xfrm xmlns:a="http://schemas.openxmlformats.org/drawingml/2006/main">
            <a:off x="990600" y="39338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01</a:t>
            </a:r>
          </a:p>
        </p:txBody>
      </p:sp>
      <p:sp>
        <p:nvSpPr>
          <p:cNvPr id="9" name="">
            <a:extLst xmlns:a="http://schemas.openxmlformats.org/drawingml/2006/main">
              <a:ext uri="{FF2B5EF4-FFF2-40B4-BE49-F238E27FC236}">
                <a16:creationId xmlns:a16="http://schemas.microsoft.com/office/drawing/2014/main" id="{8E935A4F-5821-4BA9-A1E8-95FB12EE9405}"/>
              </a:ext>
            </a:extLst>
          </p:cNvPr>
          <p:cNvSpPr>
            <a:spLocks xmlns:a="http://schemas.openxmlformats.org/drawingml/2006/main" noGrp="1"/>
          </p:cNvSpPr>
          <p:nvPr/>
        </p:nvSpPr>
        <p:spPr>
          <a:xfrm xmlns:a="http://schemas.openxmlformats.org/drawingml/2006/main">
            <a:off x="990600" y="4305300"/>
            <a:ext cx="242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モデル開発</a:t>
            </a:r>
          </a:p>
        </p:txBody>
      </p:sp>
      <p:sp>
        <p:nvSpPr>
          <p:cNvPr id="10" name="">
            <a:extLst xmlns:a="http://schemas.openxmlformats.org/drawingml/2006/main">
              <a:ext uri="{FF2B5EF4-FFF2-40B4-BE49-F238E27FC236}">
                <a16:creationId xmlns:a16="http://schemas.microsoft.com/office/drawing/2014/main" id="{7A2135F8-7CEC-4A04-91B1-7C2541C1AACD}"/>
              </a:ext>
            </a:extLst>
          </p:cNvPr>
          <p:cNvSpPr>
            <a:spLocks xmlns:a="http://schemas.openxmlformats.org/drawingml/2006/main" noGrp="1"/>
          </p:cNvSpPr>
          <p:nvPr/>
        </p:nvSpPr>
        <p:spPr>
          <a:xfrm xmlns:a="http://schemas.openxmlformats.org/drawingml/2006/main">
            <a:off x="990600" y="469582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現場から戻ったデータで</a:t>
            </a:r>
          </a:p>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動作を改善する</a:t>
            </a:r>
          </a:p>
        </p:txBody>
      </p:sp>
      <p:sp>
        <p:nvSpPr>
          <p:cNvPr id="11" name="">
            <a:extLst xmlns:a="http://schemas.openxmlformats.org/drawingml/2006/main">
              <a:ext uri="{FF2B5EF4-FFF2-40B4-BE49-F238E27FC236}">
                <a16:creationId xmlns:a16="http://schemas.microsoft.com/office/drawing/2014/main" id="{173F5510-F64B-473D-8C06-32E1E6B8CC0D}"/>
              </a:ext>
            </a:extLst>
          </p:cNvPr>
          <p:cNvSpPr>
            <a:spLocks xmlns:a="http://schemas.openxmlformats.org/drawingml/2006/main" noGrp="1"/>
          </p:cNvSpPr>
          <p:nvPr/>
        </p:nvSpPr>
        <p:spPr>
          <a:xfrm xmlns:a="http://schemas.openxmlformats.org/drawingml/2006/main">
            <a:off x="4410075" y="3724275"/>
            <a:ext cx="2857500" cy="14192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33DFEF2E-1C7B-413E-AFB5-87313840978A}"/>
              </a:ext>
            </a:extLst>
          </p:cNvPr>
          <p:cNvSpPr>
            <a:spLocks xmlns:a="http://schemas.openxmlformats.org/drawingml/2006/main" noGrp="1"/>
          </p:cNvSpPr>
          <p:nvPr/>
        </p:nvSpPr>
        <p:spPr>
          <a:xfrm xmlns:a="http://schemas.openxmlformats.org/drawingml/2006/main">
            <a:off x="4619625" y="39338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02</a:t>
            </a:r>
          </a:p>
        </p:txBody>
      </p:sp>
      <p:sp>
        <p:nvSpPr>
          <p:cNvPr id="13" name="">
            <a:extLst xmlns:a="http://schemas.openxmlformats.org/drawingml/2006/main">
              <a:ext uri="{FF2B5EF4-FFF2-40B4-BE49-F238E27FC236}">
                <a16:creationId xmlns:a16="http://schemas.microsoft.com/office/drawing/2014/main" id="{12268612-B0A3-48BA-ADE9-D4E7FB54671E}"/>
              </a:ext>
            </a:extLst>
          </p:cNvPr>
          <p:cNvSpPr>
            <a:spLocks xmlns:a="http://schemas.openxmlformats.org/drawingml/2006/main" noGrp="1"/>
          </p:cNvSpPr>
          <p:nvPr/>
        </p:nvSpPr>
        <p:spPr>
          <a:xfrm xmlns:a="http://schemas.openxmlformats.org/drawingml/2006/main">
            <a:off x="4619625" y="4305300"/>
            <a:ext cx="242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ハードウェア開発</a:t>
            </a:r>
          </a:p>
        </p:txBody>
      </p:sp>
      <p:sp>
        <p:nvSpPr>
          <p:cNvPr id="14" name="">
            <a:extLst xmlns:a="http://schemas.openxmlformats.org/drawingml/2006/main">
              <a:ext uri="{FF2B5EF4-FFF2-40B4-BE49-F238E27FC236}">
                <a16:creationId xmlns:a16="http://schemas.microsoft.com/office/drawing/2014/main" id="{5CBC15E0-142F-4199-8CFD-7CA384E2C4BA}"/>
              </a:ext>
            </a:extLst>
          </p:cNvPr>
          <p:cNvSpPr>
            <a:spLocks xmlns:a="http://schemas.openxmlformats.org/drawingml/2006/main" noGrp="1"/>
          </p:cNvSpPr>
          <p:nvPr/>
        </p:nvSpPr>
        <p:spPr>
          <a:xfrm xmlns:a="http://schemas.openxmlformats.org/drawingml/2006/main">
            <a:off x="4619625" y="469582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現場で起きた問題を</a:t>
            </a:r>
          </a:p>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機体やセンサーへ戻す</a:t>
            </a:r>
          </a:p>
        </p:txBody>
      </p:sp>
      <p:sp>
        <p:nvSpPr>
          <p:cNvPr id="15" name="">
            <a:extLst xmlns:a="http://schemas.openxmlformats.org/drawingml/2006/main">
              <a:ext uri="{FF2B5EF4-FFF2-40B4-BE49-F238E27FC236}">
                <a16:creationId xmlns:a16="http://schemas.microsoft.com/office/drawing/2014/main" id="{B4659E4F-5123-4D32-BBBC-C00B4B4865A8}"/>
              </a:ext>
            </a:extLst>
          </p:cNvPr>
          <p:cNvSpPr>
            <a:spLocks xmlns:a="http://schemas.openxmlformats.org/drawingml/2006/main" noGrp="1"/>
          </p:cNvSpPr>
          <p:nvPr/>
        </p:nvSpPr>
        <p:spPr>
          <a:xfrm xmlns:a="http://schemas.openxmlformats.org/drawingml/2006/main">
            <a:off x="8039100" y="3724275"/>
            <a:ext cx="2857500" cy="1419225"/>
          </a:xfrm>
          <a:prstGeom xmlns:a="http://schemas.openxmlformats.org/drawingml/2006/main" prst="rect">
            <a:avLst/>
          </a:prstGeom>
          <a:solidFill xmlns:a="http://schemas.openxmlformats.org/drawingml/2006/main">
            <a:srgbClr val="DCE8E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79D1BD30-5076-4FFD-992D-001AF2B4F18E}"/>
              </a:ext>
            </a:extLst>
          </p:cNvPr>
          <p:cNvSpPr>
            <a:spLocks xmlns:a="http://schemas.openxmlformats.org/drawingml/2006/main" noGrp="1"/>
          </p:cNvSpPr>
          <p:nvPr/>
        </p:nvSpPr>
        <p:spPr>
          <a:xfrm xmlns:a="http://schemas.openxmlformats.org/drawingml/2006/main">
            <a:off x="8248650" y="39338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03</a:t>
            </a:r>
          </a:p>
        </p:txBody>
      </p:sp>
      <p:sp>
        <p:nvSpPr>
          <p:cNvPr id="17" name="">
            <a:extLst xmlns:a="http://schemas.openxmlformats.org/drawingml/2006/main">
              <a:ext uri="{FF2B5EF4-FFF2-40B4-BE49-F238E27FC236}">
                <a16:creationId xmlns:a16="http://schemas.microsoft.com/office/drawing/2014/main" id="{7495728D-5CFE-4C85-8A52-AAA55C1FE9ED}"/>
              </a:ext>
            </a:extLst>
          </p:cNvPr>
          <p:cNvSpPr>
            <a:spLocks xmlns:a="http://schemas.openxmlformats.org/drawingml/2006/main" noGrp="1"/>
          </p:cNvSpPr>
          <p:nvPr/>
        </p:nvSpPr>
        <p:spPr>
          <a:xfrm xmlns:a="http://schemas.openxmlformats.org/drawingml/2006/main">
            <a:off x="8248650" y="4305300"/>
            <a:ext cx="242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現場統合</a:t>
            </a:r>
          </a:p>
        </p:txBody>
      </p:sp>
      <p:sp>
        <p:nvSpPr>
          <p:cNvPr id="18" name="">
            <a:extLst xmlns:a="http://schemas.openxmlformats.org/drawingml/2006/main">
              <a:ext uri="{FF2B5EF4-FFF2-40B4-BE49-F238E27FC236}">
                <a16:creationId xmlns:a16="http://schemas.microsoft.com/office/drawing/2014/main" id="{B3A84B38-048A-47CC-B7AD-D907F80B4DC7}"/>
              </a:ext>
            </a:extLst>
          </p:cNvPr>
          <p:cNvSpPr>
            <a:spLocks xmlns:a="http://schemas.openxmlformats.org/drawingml/2006/main" noGrp="1"/>
          </p:cNvSpPr>
          <p:nvPr/>
        </p:nvSpPr>
        <p:spPr>
          <a:xfrm xmlns:a="http://schemas.openxmlformats.org/drawingml/2006/main">
            <a:off x="8248650" y="469582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実際の作業へ導入し</a:t>
            </a:r>
          </a:p>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新しいデータを得る</a:t>
            </a:r>
          </a:p>
        </p:txBody>
      </p:sp>
      <p:sp>
        <p:nvSpPr>
          <p:cNvPr id="19" name="">
            <a:extLst xmlns:a="http://schemas.openxmlformats.org/drawingml/2006/main">
              <a:ext uri="{FF2B5EF4-FFF2-40B4-BE49-F238E27FC236}">
                <a16:creationId xmlns:a16="http://schemas.microsoft.com/office/drawing/2014/main" id="{F93FFED1-317A-40DD-9B89-079590A16467}"/>
              </a:ext>
            </a:extLst>
          </p:cNvPr>
          <p:cNvSpPr>
            <a:spLocks xmlns:a="http://schemas.openxmlformats.org/drawingml/2006/main" noGrp="1"/>
          </p:cNvSpPr>
          <p:nvPr/>
        </p:nvSpPr>
        <p:spPr>
          <a:xfrm xmlns:a="http://schemas.openxmlformats.org/drawingml/2006/main">
            <a:off x="3638550" y="4429125"/>
            <a:ext cx="77152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EC3AC78-B684-4A61-8B1C-6736ACA59B12}"/>
              </a:ext>
            </a:extLst>
          </p:cNvPr>
          <p:cNvSpPr>
            <a:spLocks xmlns:a="http://schemas.openxmlformats.org/drawingml/2006/main" noGrp="1"/>
          </p:cNvSpPr>
          <p:nvPr/>
        </p:nvSpPr>
        <p:spPr>
          <a:xfrm xmlns:a="http://schemas.openxmlformats.org/drawingml/2006/main">
            <a:off x="7267575" y="4429125"/>
            <a:ext cx="77152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6C86E18-B301-488C-AA26-FDF40D382AB6}"/>
              </a:ext>
            </a:extLst>
          </p:cNvPr>
          <p:cNvSpPr>
            <a:spLocks xmlns:a="http://schemas.openxmlformats.org/drawingml/2006/main" noGrp="1"/>
          </p:cNvSpPr>
          <p:nvPr/>
        </p:nvSpPr>
        <p:spPr>
          <a:xfrm xmlns:a="http://schemas.openxmlformats.org/drawingml/2006/main">
            <a:off x="2209800" y="5334000"/>
            <a:ext cx="72580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49F7B4E-2B18-4119-A5F2-7FE77DC2E8BF}"/>
              </a:ext>
            </a:extLst>
          </p:cNvPr>
          <p:cNvSpPr>
            <a:spLocks xmlns:a="http://schemas.openxmlformats.org/drawingml/2006/main" noGrp="1"/>
          </p:cNvSpPr>
          <p:nvPr/>
        </p:nvSpPr>
        <p:spPr>
          <a:xfrm xmlns:a="http://schemas.openxmlformats.org/drawingml/2006/main">
            <a:off x="2209800" y="5143500"/>
            <a:ext cx="19050" cy="2095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878772A-AED7-42DE-B872-50A708828AFA}"/>
              </a:ext>
            </a:extLst>
          </p:cNvPr>
          <p:cNvSpPr>
            <a:spLocks xmlns:a="http://schemas.openxmlformats.org/drawingml/2006/main" noGrp="1"/>
          </p:cNvSpPr>
          <p:nvPr/>
        </p:nvSpPr>
        <p:spPr>
          <a:xfrm xmlns:a="http://schemas.openxmlformats.org/drawingml/2006/main">
            <a:off x="9448800" y="5143500"/>
            <a:ext cx="19050" cy="2095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703E326-C26F-403E-8A38-4556D4CD672D}"/>
              </a:ext>
            </a:extLst>
          </p:cNvPr>
          <p:cNvSpPr>
            <a:spLocks xmlns:a="http://schemas.openxmlformats.org/drawingml/2006/main" noGrp="1"/>
          </p:cNvSpPr>
          <p:nvPr/>
        </p:nvSpPr>
        <p:spPr>
          <a:xfrm xmlns:a="http://schemas.openxmlformats.org/drawingml/2006/main">
            <a:off x="4591050" y="5200650"/>
            <a:ext cx="2952750" cy="266700"/>
          </a:xfrm>
          <a:prstGeom xmlns:a="http://schemas.openxmlformats.org/drawingml/2006/main" prst="rect">
            <a:avLst/>
          </a:prstGeom>
          <a:solidFill xmlns:a="http://schemas.openxmlformats.org/drawingml/2006/main">
            <a:srgbClr val="F4F6F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D12EBAD-0C76-4D1A-8642-FB78A60E7D7C}"/>
              </a:ext>
            </a:extLst>
          </p:cNvPr>
          <p:cNvSpPr>
            <a:spLocks xmlns:a="http://schemas.openxmlformats.org/drawingml/2006/main" noGrp="1"/>
          </p:cNvSpPr>
          <p:nvPr/>
        </p:nvSpPr>
        <p:spPr>
          <a:xfrm xmlns:a="http://schemas.openxmlformats.org/drawingml/2006/main">
            <a:off x="4591050" y="5200650"/>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現場データがモデルへ戻る</a:t>
            </a:r>
          </a:p>
        </p:txBody>
      </p:sp>
      <p:sp>
        <p:nvSpPr>
          <p:cNvPr id="26" name="">
            <a:extLst xmlns:a="http://schemas.openxmlformats.org/drawingml/2006/main">
              <a:ext uri="{FF2B5EF4-FFF2-40B4-BE49-F238E27FC236}">
                <a16:creationId xmlns:a16="http://schemas.microsoft.com/office/drawing/2014/main" id="{A1FFB65A-B182-4698-88E9-DACCE1666BC3}"/>
              </a:ext>
            </a:extLst>
          </p:cNvPr>
          <p:cNvSpPr>
            <a:spLocks xmlns:a="http://schemas.openxmlformats.org/drawingml/2006/main" noGrp="1"/>
          </p:cNvSpPr>
          <p:nvPr/>
        </p:nvSpPr>
        <p:spPr>
          <a:xfrm xmlns:a="http://schemas.openxmlformats.org/drawingml/2006/main">
            <a:off x="723900" y="5638800"/>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データ収集は、将来このループの中へ取り込まれると見ている。</a:t>
            </a:r>
          </a:p>
        </p:txBody>
      </p:sp>
    </p:spTree>
    <p:extLst>
      <p:ext uri="{BB962C8B-B14F-4D97-AF65-F5344CB8AC3E}">
        <p14:creationId xmlns:p14="http://schemas.microsoft.com/office/powerpoint/2010/main" val="1743060477"/>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064611B-1CBD-4E56-AD6A-970BD3DA4E9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1FC977-6D37-4386-AE24-1610BBBBC175}"/>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データ収集を入口にする理由</a:t>
            </a:r>
          </a:p>
        </p:txBody>
      </p:sp>
      <p:sp>
        <p:nvSpPr>
          <p:cNvPr id="3" name="">
            <a:extLst xmlns:a="http://schemas.openxmlformats.org/drawingml/2006/main">
              <a:ext uri="{FF2B5EF4-FFF2-40B4-BE49-F238E27FC236}">
                <a16:creationId xmlns:a16="http://schemas.microsoft.com/office/drawing/2014/main" id="{3ED89BB4-D05D-4B4D-B694-86AFD29DA11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7048DC1-7571-4ACD-8F2D-E5FFDF4AF1C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18E2ADD9-5E92-443E-8A73-B98C56BAA309}"/>
              </a:ext>
            </a:extLst>
          </p:cNvPr>
          <p:cNvSpPr>
            <a:spLocks xmlns:a="http://schemas.openxmlformats.org/drawingml/2006/main" noGrp="1"/>
          </p:cNvSpPr>
          <p:nvPr/>
        </p:nvSpPr>
        <p:spPr>
          <a:xfrm xmlns:a="http://schemas.openxmlformats.org/drawingml/2006/main">
            <a:off x="723900" y="1952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01</a:t>
            </a:r>
          </a:p>
        </p:txBody>
      </p:sp>
      <p:sp>
        <p:nvSpPr>
          <p:cNvPr id="6" name="">
            <a:extLst xmlns:a="http://schemas.openxmlformats.org/drawingml/2006/main">
              <a:ext uri="{FF2B5EF4-FFF2-40B4-BE49-F238E27FC236}">
                <a16:creationId xmlns:a16="http://schemas.microsoft.com/office/drawing/2014/main" id="{4B84F205-96E6-48C0-80D1-7B693BCB6F75}"/>
              </a:ext>
            </a:extLst>
          </p:cNvPr>
          <p:cNvSpPr>
            <a:spLocks xmlns:a="http://schemas.openxmlformats.org/drawingml/2006/main" noGrp="1"/>
          </p:cNvSpPr>
          <p:nvPr/>
        </p:nvSpPr>
        <p:spPr>
          <a:xfrm xmlns:a="http://schemas.openxmlformats.org/drawingml/2006/main">
            <a:off x="1476375" y="19240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複数業種へ入れる</a:t>
            </a:r>
          </a:p>
        </p:txBody>
      </p:sp>
      <p:sp>
        <p:nvSpPr>
          <p:cNvPr id="7" name="">
            <a:extLst xmlns:a="http://schemas.openxmlformats.org/drawingml/2006/main">
              <a:ext uri="{FF2B5EF4-FFF2-40B4-BE49-F238E27FC236}">
                <a16:creationId xmlns:a16="http://schemas.microsoft.com/office/drawing/2014/main" id="{848FE96E-92D8-4629-8DFD-D914E0DDEDED}"/>
              </a:ext>
            </a:extLst>
          </p:cNvPr>
          <p:cNvSpPr>
            <a:spLocks xmlns:a="http://schemas.openxmlformats.org/drawingml/2006/main" noGrp="1"/>
          </p:cNvSpPr>
          <p:nvPr/>
        </p:nvSpPr>
        <p:spPr>
          <a:xfrm xmlns:a="http://schemas.openxmlformats.org/drawingml/2006/main">
            <a:off x="4191000" y="1924050"/>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人間の作業を撮影するため、ロボットの動作開発よりも業種を跨ぎやすい。</a:t>
            </a:r>
          </a:p>
        </p:txBody>
      </p:sp>
      <p:sp>
        <p:nvSpPr>
          <p:cNvPr id="8" name="">
            <a:extLst xmlns:a="http://schemas.openxmlformats.org/drawingml/2006/main">
              <a:ext uri="{FF2B5EF4-FFF2-40B4-BE49-F238E27FC236}">
                <a16:creationId xmlns:a16="http://schemas.microsoft.com/office/drawing/2014/main" id="{E0060046-6795-4DD2-82C7-149D7F7B7810}"/>
              </a:ext>
            </a:extLst>
          </p:cNvPr>
          <p:cNvSpPr>
            <a:spLocks xmlns:a="http://schemas.openxmlformats.org/drawingml/2006/main" noGrp="1"/>
          </p:cNvSpPr>
          <p:nvPr/>
        </p:nvSpPr>
        <p:spPr>
          <a:xfrm xmlns:a="http://schemas.openxmlformats.org/drawingml/2006/main">
            <a:off x="723900" y="28479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840FBD9-7152-4C0D-BDE8-F277F80713E1}"/>
              </a:ext>
            </a:extLst>
          </p:cNvPr>
          <p:cNvSpPr>
            <a:spLocks xmlns:a="http://schemas.openxmlformats.org/drawingml/2006/main" noGrp="1"/>
          </p:cNvSpPr>
          <p:nvPr/>
        </p:nvSpPr>
        <p:spPr>
          <a:xfrm xmlns:a="http://schemas.openxmlformats.org/drawingml/2006/main">
            <a:off x="723900" y="30480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02</a:t>
            </a:r>
          </a:p>
        </p:txBody>
      </p:sp>
      <p:sp>
        <p:nvSpPr>
          <p:cNvPr id="10" name="">
            <a:extLst xmlns:a="http://schemas.openxmlformats.org/drawingml/2006/main">
              <a:ext uri="{FF2B5EF4-FFF2-40B4-BE49-F238E27FC236}">
                <a16:creationId xmlns:a16="http://schemas.microsoft.com/office/drawing/2014/main" id="{07972C0D-ADFF-44B6-AD0F-2DB94F9EA0F0}"/>
              </a:ext>
            </a:extLst>
          </p:cNvPr>
          <p:cNvSpPr>
            <a:spLocks xmlns:a="http://schemas.openxmlformats.org/drawingml/2006/main" noGrp="1"/>
          </p:cNvSpPr>
          <p:nvPr/>
        </p:nvSpPr>
        <p:spPr>
          <a:xfrm xmlns:a="http://schemas.openxmlformats.org/drawingml/2006/main">
            <a:off x="1476375" y="30194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現場との関係ができる</a:t>
            </a:r>
          </a:p>
        </p:txBody>
      </p:sp>
      <p:sp>
        <p:nvSpPr>
          <p:cNvPr id="11" name="">
            <a:extLst xmlns:a="http://schemas.openxmlformats.org/drawingml/2006/main">
              <a:ext uri="{FF2B5EF4-FFF2-40B4-BE49-F238E27FC236}">
                <a16:creationId xmlns:a16="http://schemas.microsoft.com/office/drawing/2014/main" id="{AF1B0E13-3B98-422F-A15D-16D4D3834809}"/>
              </a:ext>
            </a:extLst>
          </p:cNvPr>
          <p:cNvSpPr>
            <a:spLocks xmlns:a="http://schemas.openxmlformats.org/drawingml/2006/main" noGrp="1"/>
          </p:cNvSpPr>
          <p:nvPr/>
        </p:nvSpPr>
        <p:spPr>
          <a:xfrm xmlns:a="http://schemas.openxmlformats.org/drawingml/2006/main">
            <a:off x="4191000" y="3019425"/>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撮影には、現場の許可、スタッフへの説明、プライバシー対応が必要になる。</a:t>
            </a:r>
          </a:p>
        </p:txBody>
      </p:sp>
      <p:sp>
        <p:nvSpPr>
          <p:cNvPr id="12" name="">
            <a:extLst xmlns:a="http://schemas.openxmlformats.org/drawingml/2006/main">
              <a:ext uri="{FF2B5EF4-FFF2-40B4-BE49-F238E27FC236}">
                <a16:creationId xmlns:a16="http://schemas.microsoft.com/office/drawing/2014/main" id="{EEEE7CCE-D03A-40EA-AB04-D0C15F1E647F}"/>
              </a:ext>
            </a:extLst>
          </p:cNvPr>
          <p:cNvSpPr>
            <a:spLocks xmlns:a="http://schemas.openxmlformats.org/drawingml/2006/main" noGrp="1"/>
          </p:cNvSpPr>
          <p:nvPr/>
        </p:nvSpPr>
        <p:spPr>
          <a:xfrm xmlns:a="http://schemas.openxmlformats.org/drawingml/2006/main">
            <a:off x="723900" y="39433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7B3C377-23E2-4B05-ACD0-18A8073720E2}"/>
              </a:ext>
            </a:extLst>
          </p:cNvPr>
          <p:cNvSpPr>
            <a:spLocks xmlns:a="http://schemas.openxmlformats.org/drawingml/2006/main" noGrp="1"/>
          </p:cNvSpPr>
          <p:nvPr/>
        </p:nvSpPr>
        <p:spPr>
          <a:xfrm xmlns:a="http://schemas.openxmlformats.org/drawingml/2006/main">
            <a:off x="723900" y="41433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03</a:t>
            </a:r>
          </a:p>
        </p:txBody>
      </p:sp>
      <p:sp>
        <p:nvSpPr>
          <p:cNvPr id="14" name="">
            <a:extLst xmlns:a="http://schemas.openxmlformats.org/drawingml/2006/main">
              <a:ext uri="{FF2B5EF4-FFF2-40B4-BE49-F238E27FC236}">
                <a16:creationId xmlns:a16="http://schemas.microsoft.com/office/drawing/2014/main" id="{176CA84A-91B4-46E8-BCB3-15C1A55F4F30}"/>
              </a:ext>
            </a:extLst>
          </p:cNvPr>
          <p:cNvSpPr>
            <a:spLocks xmlns:a="http://schemas.openxmlformats.org/drawingml/2006/main" noGrp="1"/>
          </p:cNvSpPr>
          <p:nvPr/>
        </p:nvSpPr>
        <p:spPr>
          <a:xfrm xmlns:a="http://schemas.openxmlformats.org/drawingml/2006/main">
            <a:off x="1476375" y="41148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既存作業を先に知れる</a:t>
            </a:r>
          </a:p>
        </p:txBody>
      </p:sp>
      <p:sp>
        <p:nvSpPr>
          <p:cNvPr id="15" name="">
            <a:extLst xmlns:a="http://schemas.openxmlformats.org/drawingml/2006/main">
              <a:ext uri="{FF2B5EF4-FFF2-40B4-BE49-F238E27FC236}">
                <a16:creationId xmlns:a16="http://schemas.microsoft.com/office/drawing/2014/main" id="{994A60DB-2196-4203-A3BA-544F8211C9EB}"/>
              </a:ext>
            </a:extLst>
          </p:cNvPr>
          <p:cNvSpPr>
            <a:spLocks xmlns:a="http://schemas.openxmlformats.org/drawingml/2006/main" noGrp="1"/>
          </p:cNvSpPr>
          <p:nvPr/>
        </p:nvSpPr>
        <p:spPr>
          <a:xfrm xmlns:a="http://schemas.openxmlformats.org/drawingml/2006/main">
            <a:off x="4191000" y="4114800"/>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ロボット導入前のワークフローを記録し、どの作業が導入対象になるかを考えられる。</a:t>
            </a:r>
          </a:p>
        </p:txBody>
      </p:sp>
      <p:sp>
        <p:nvSpPr>
          <p:cNvPr id="16" name="">
            <a:extLst xmlns:a="http://schemas.openxmlformats.org/drawingml/2006/main">
              <a:ext uri="{FF2B5EF4-FFF2-40B4-BE49-F238E27FC236}">
                <a16:creationId xmlns:a16="http://schemas.microsoft.com/office/drawing/2014/main" id="{EBC195D1-D025-45C3-BB84-58BEE15D874A}"/>
              </a:ext>
            </a:extLst>
          </p:cNvPr>
          <p:cNvSpPr>
            <a:spLocks xmlns:a="http://schemas.openxmlformats.org/drawingml/2006/main" noGrp="1"/>
          </p:cNvSpPr>
          <p:nvPr/>
        </p:nvSpPr>
        <p:spPr>
          <a:xfrm xmlns:a="http://schemas.openxmlformats.org/drawingml/2006/main">
            <a:off x="723900" y="50387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2599CCA-C298-487E-A64B-55F0C76E800C}"/>
              </a:ext>
            </a:extLst>
          </p:cNvPr>
          <p:cNvSpPr>
            <a:spLocks xmlns:a="http://schemas.openxmlformats.org/drawingml/2006/main" noGrp="1"/>
          </p:cNvSpPr>
          <p:nvPr/>
        </p:nvSpPr>
        <p:spPr>
          <a:xfrm xmlns:a="http://schemas.openxmlformats.org/drawingml/2006/main">
            <a:off x="723900" y="5486400"/>
            <a:ext cx="10572750" cy="581025"/>
          </a:xfrm>
          <a:prstGeom xmlns:a="http://schemas.openxmlformats.org/drawingml/2006/main" prst="rect">
            <a:avLst/>
          </a:prstGeom>
          <a:solidFill xmlns:a="http://schemas.openxmlformats.org/drawingml/2006/main">
            <a:srgbClr val="DCE8E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C95DDF0-98CA-4D7A-9E7C-47186ABA3A4F}"/>
              </a:ext>
            </a:extLst>
          </p:cNvPr>
          <p:cNvSpPr>
            <a:spLocks xmlns:a="http://schemas.openxmlformats.org/drawingml/2006/main" noGrp="1"/>
          </p:cNvSpPr>
          <p:nvPr/>
        </p:nvSpPr>
        <p:spPr>
          <a:xfrm xmlns:a="http://schemas.openxmlformats.org/drawingml/2006/main">
            <a:off x="952500" y="562927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今の技術で現場へ入り、将来の現場統合に必要な関係とデータを先に蓄積する。</a:t>
            </a:r>
          </a:p>
        </p:txBody>
      </p:sp>
    </p:spTree>
    <p:extLst>
      <p:ext uri="{BB962C8B-B14F-4D97-AF65-F5344CB8AC3E}">
        <p14:creationId xmlns:p14="http://schemas.microsoft.com/office/powerpoint/2010/main" val="313828796"/>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C9255D4-9198-4418-918C-30CD197DA8D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C29C71-8039-4EAE-8141-FE55A6FCC0C2}"/>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上流と現場が直接つながる構造</a:t>
            </a:r>
          </a:p>
        </p:txBody>
      </p:sp>
      <p:sp>
        <p:nvSpPr>
          <p:cNvPr id="3" name="">
            <a:extLst xmlns:a="http://schemas.openxmlformats.org/drawingml/2006/main">
              <a:ext uri="{FF2B5EF4-FFF2-40B4-BE49-F238E27FC236}">
                <a16:creationId xmlns:a16="http://schemas.microsoft.com/office/drawing/2014/main" id="{D91F04D6-1D3B-49F1-A6B0-8259C728013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6BB5DCE-4F08-4FD8-B0F4-92DC99A48E2B}"/>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17A47F9E-7E97-477C-BB72-17285D9F2250}"/>
              </a:ext>
            </a:extLst>
          </p:cNvPr>
          <p:cNvSpPr>
            <a:spLocks xmlns:a="http://schemas.openxmlformats.org/drawingml/2006/main" noGrp="1"/>
          </p:cNvSpPr>
          <p:nvPr/>
        </p:nvSpPr>
        <p:spPr>
          <a:xfrm xmlns:a="http://schemas.openxmlformats.org/drawingml/2006/main">
            <a:off x="857250" y="2057400"/>
            <a:ext cx="4000500" cy="581025"/>
          </a:xfrm>
          <a:prstGeom xmlns:a="http://schemas.openxmlformats.org/drawingml/2006/main" prst="rect">
            <a:avLst/>
          </a:prstGeom>
          <a:solidFill xmlns:a="http://schemas.openxmlformats.org/drawingml/2006/main">
            <a:srgbClr val="DCE8EF"/>
          </a:solidFill>
          <a:ln xmlns:a="http://schemas.openxmlformats.org/drawingml/2006/main" w="9525">
            <a:solidFill>
              <a:srgbClr val="AAB6BC"/>
            </a:solidFill>
          </a:ln>
        </p:spPr>
      </p:sp>
      <p:sp>
        <p:nvSpPr>
          <p:cNvPr id="6" name="">
            <a:extLst xmlns:a="http://schemas.openxmlformats.org/drawingml/2006/main">
              <a:ext uri="{FF2B5EF4-FFF2-40B4-BE49-F238E27FC236}">
                <a16:creationId xmlns:a16="http://schemas.microsoft.com/office/drawing/2014/main" id="{A0A07434-CA95-4902-BB8C-F8D0CF0EE286}"/>
              </a:ext>
            </a:extLst>
          </p:cNvPr>
          <p:cNvSpPr>
            <a:spLocks xmlns:a="http://schemas.openxmlformats.org/drawingml/2006/main" noGrp="1"/>
          </p:cNvSpPr>
          <p:nvPr/>
        </p:nvSpPr>
        <p:spPr>
          <a:xfrm xmlns:a="http://schemas.openxmlformats.org/drawingml/2006/main">
            <a:off x="1104900" y="220980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a:t>
            </a:r>
          </a:p>
        </p:txBody>
      </p:sp>
      <p:sp>
        <p:nvSpPr>
          <p:cNvPr id="7" name="">
            <a:extLst xmlns:a="http://schemas.openxmlformats.org/drawingml/2006/main">
              <a:ext uri="{FF2B5EF4-FFF2-40B4-BE49-F238E27FC236}">
                <a16:creationId xmlns:a16="http://schemas.microsoft.com/office/drawing/2014/main" id="{1D41AE4C-FAD3-4C08-89AC-09DBB2C8C9D3}"/>
              </a:ext>
            </a:extLst>
          </p:cNvPr>
          <p:cNvSpPr>
            <a:spLocks xmlns:a="http://schemas.openxmlformats.org/drawingml/2006/main" noGrp="1"/>
          </p:cNvSpPr>
          <p:nvPr/>
        </p:nvSpPr>
        <p:spPr>
          <a:xfrm xmlns:a="http://schemas.openxmlformats.org/drawingml/2006/main">
            <a:off x="857250" y="2895600"/>
            <a:ext cx="40005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8" name="">
            <a:extLst xmlns:a="http://schemas.openxmlformats.org/drawingml/2006/main">
              <a:ext uri="{FF2B5EF4-FFF2-40B4-BE49-F238E27FC236}">
                <a16:creationId xmlns:a16="http://schemas.microsoft.com/office/drawing/2014/main" id="{8E4B8C77-44D8-4C80-9D6A-DB4EABE27D74}"/>
              </a:ext>
            </a:extLst>
          </p:cNvPr>
          <p:cNvSpPr>
            <a:spLocks xmlns:a="http://schemas.openxmlformats.org/drawingml/2006/main" noGrp="1"/>
          </p:cNvSpPr>
          <p:nvPr/>
        </p:nvSpPr>
        <p:spPr>
          <a:xfrm xmlns:a="http://schemas.openxmlformats.org/drawingml/2006/main">
            <a:off x="1104900" y="304800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9B2A5A4A-275C-49F4-B3E1-D741399C1010}"/>
              </a:ext>
            </a:extLst>
          </p:cNvPr>
          <p:cNvSpPr>
            <a:spLocks xmlns:a="http://schemas.openxmlformats.org/drawingml/2006/main" noGrp="1"/>
          </p:cNvSpPr>
          <p:nvPr/>
        </p:nvSpPr>
        <p:spPr>
          <a:xfrm xmlns:a="http://schemas.openxmlformats.org/drawingml/2006/main">
            <a:off x="857250" y="3733800"/>
            <a:ext cx="40005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1CD00E23-06A9-4066-A801-DD774646534B}"/>
              </a:ext>
            </a:extLst>
          </p:cNvPr>
          <p:cNvSpPr>
            <a:spLocks xmlns:a="http://schemas.openxmlformats.org/drawingml/2006/main" noGrp="1"/>
          </p:cNvSpPr>
          <p:nvPr/>
        </p:nvSpPr>
        <p:spPr>
          <a:xfrm xmlns:a="http://schemas.openxmlformats.org/drawingml/2006/main">
            <a:off x="1104900" y="388620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a:t>
            </a:r>
          </a:p>
        </p:txBody>
      </p:sp>
      <p:sp>
        <p:nvSpPr>
          <p:cNvPr id="11" name="">
            <a:extLst xmlns:a="http://schemas.openxmlformats.org/drawingml/2006/main">
              <a:ext uri="{FF2B5EF4-FFF2-40B4-BE49-F238E27FC236}">
                <a16:creationId xmlns:a16="http://schemas.microsoft.com/office/drawing/2014/main" id="{FAC1806F-26F0-454F-BD68-DD5D6EABC988}"/>
              </a:ext>
            </a:extLst>
          </p:cNvPr>
          <p:cNvSpPr>
            <a:spLocks xmlns:a="http://schemas.openxmlformats.org/drawingml/2006/main" noGrp="1"/>
          </p:cNvSpPr>
          <p:nvPr/>
        </p:nvSpPr>
        <p:spPr>
          <a:xfrm xmlns:a="http://schemas.openxmlformats.org/drawingml/2006/main">
            <a:off x="857250" y="4572000"/>
            <a:ext cx="4000500" cy="581025"/>
          </a:xfrm>
          <a:prstGeom xmlns:a="http://schemas.openxmlformats.org/drawingml/2006/main" prst="rect">
            <a:avLst/>
          </a:prstGeom>
          <a:solidFill xmlns:a="http://schemas.openxmlformats.org/drawingml/2006/main">
            <a:srgbClr val="DCE8E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2FBE2C39-8E67-45CF-9E4A-6A91CED5EE3B}"/>
              </a:ext>
            </a:extLst>
          </p:cNvPr>
          <p:cNvSpPr>
            <a:spLocks xmlns:a="http://schemas.openxmlformats.org/drawingml/2006/main" noGrp="1"/>
          </p:cNvSpPr>
          <p:nvPr/>
        </p:nvSpPr>
        <p:spPr>
          <a:xfrm xmlns:a="http://schemas.openxmlformats.org/drawingml/2006/main">
            <a:off x="1104900" y="472440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a:t>
            </a:r>
          </a:p>
        </p:txBody>
      </p:sp>
      <p:sp>
        <p:nvSpPr>
          <p:cNvPr id="13" name="">
            <a:extLst xmlns:a="http://schemas.openxmlformats.org/drawingml/2006/main">
              <a:ext uri="{FF2B5EF4-FFF2-40B4-BE49-F238E27FC236}">
                <a16:creationId xmlns:a16="http://schemas.microsoft.com/office/drawing/2014/main" id="{3BA31B29-8232-4F1C-9D38-AD5D6E2E8CF9}"/>
              </a:ext>
            </a:extLst>
          </p:cNvPr>
          <p:cNvSpPr>
            <a:spLocks xmlns:a="http://schemas.openxmlformats.org/drawingml/2006/main" noGrp="1"/>
          </p:cNvSpPr>
          <p:nvPr/>
        </p:nvSpPr>
        <p:spPr>
          <a:xfrm xmlns:a="http://schemas.openxmlformats.org/drawingml/2006/main">
            <a:off x="8143875" y="2828925"/>
            <a:ext cx="2571750" cy="18478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6BE39CE-2B08-4866-A1DC-6A5FE3894107}"/>
              </a:ext>
            </a:extLst>
          </p:cNvPr>
          <p:cNvSpPr>
            <a:spLocks xmlns:a="http://schemas.openxmlformats.org/drawingml/2006/main" noGrp="1"/>
          </p:cNvSpPr>
          <p:nvPr/>
        </p:nvSpPr>
        <p:spPr>
          <a:xfrm xmlns:a="http://schemas.openxmlformats.org/drawingml/2006/main">
            <a:off x="8524875" y="3171825"/>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250" b="1">
                <a:solidFill>
                  <a:srgbClr val="FFFFFF"/>
                </a:solidFill>
                <a:latin typeface="Hiragino Sans"/>
                <a:ea typeface="Hiragino Sans"/>
                <a:cs typeface="Hiragino Sans"/>
              </a:defRPr>
            </a:pPr>
            <a:r>
              <a:rPr sz="2250" b="1">
                <a:solidFill>
                  <a:srgbClr val="FFFFFF"/>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4D838AAF-CB1F-4120-8A46-B00FD48EA48B}"/>
              </a:ext>
            </a:extLst>
          </p:cNvPr>
          <p:cNvSpPr>
            <a:spLocks xmlns:a="http://schemas.openxmlformats.org/drawingml/2006/main" noGrp="1"/>
          </p:cNvSpPr>
          <p:nvPr/>
        </p:nvSpPr>
        <p:spPr>
          <a:xfrm xmlns:a="http://schemas.openxmlformats.org/drawingml/2006/main">
            <a:off x="8420100" y="3895725"/>
            <a:ext cx="2019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D6DDE0"/>
                </a:solidFill>
                <a:latin typeface="Hiragino Sans"/>
                <a:ea typeface="Hiragino Sans"/>
                <a:cs typeface="Hiragino Sans"/>
              </a:defRPr>
            </a:pPr>
            <a:r>
              <a:rPr sz="1275" b="0">
                <a:solidFill>
                  <a:srgbClr val="D6DDE0"/>
                </a:solidFill>
                <a:latin typeface="Hiragino Sans"/>
                <a:ea typeface="Hiragino Sans"/>
                <a:cs typeface="Hiragino Sans"/>
              </a:rPr>
              <a:t>飲食・小売・製造・配送など</a:t>
            </a:r>
          </a:p>
        </p:txBody>
      </p:sp>
      <p:sp>
        <p:nvSpPr>
          <p:cNvPr id="16" name="">
            <a:extLst xmlns:a="http://schemas.openxmlformats.org/drawingml/2006/main">
              <a:ext uri="{FF2B5EF4-FFF2-40B4-BE49-F238E27FC236}">
                <a16:creationId xmlns:a16="http://schemas.microsoft.com/office/drawing/2014/main" id="{7A29259A-1C42-4D5A-98B8-09D736C196DC}"/>
              </a:ext>
            </a:extLst>
          </p:cNvPr>
          <p:cNvSpPr>
            <a:spLocks xmlns:a="http://schemas.openxmlformats.org/drawingml/2006/main" noGrp="1"/>
          </p:cNvSpPr>
          <p:nvPr/>
        </p:nvSpPr>
        <p:spPr>
          <a:xfrm xmlns:a="http://schemas.openxmlformats.org/drawingml/2006/main">
            <a:off x="4857750" y="2333625"/>
            <a:ext cx="328612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3E483C9-9261-41ED-B1C0-CC13E1464AFE}"/>
              </a:ext>
            </a:extLst>
          </p:cNvPr>
          <p:cNvSpPr>
            <a:spLocks xmlns:a="http://schemas.openxmlformats.org/drawingml/2006/main" noGrp="1"/>
          </p:cNvSpPr>
          <p:nvPr/>
        </p:nvSpPr>
        <p:spPr>
          <a:xfrm xmlns:a="http://schemas.openxmlformats.org/drawingml/2006/main">
            <a:off x="4857750" y="4848225"/>
            <a:ext cx="328612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1EE987F-F07C-4197-BF16-6F06DF67DEBD}"/>
              </a:ext>
            </a:extLst>
          </p:cNvPr>
          <p:cNvSpPr>
            <a:spLocks xmlns:a="http://schemas.openxmlformats.org/drawingml/2006/main" noGrp="1"/>
          </p:cNvSpPr>
          <p:nvPr/>
        </p:nvSpPr>
        <p:spPr>
          <a:xfrm xmlns:a="http://schemas.openxmlformats.org/drawingml/2006/main">
            <a:off x="5524500" y="20097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撮影のために直接入る</a:t>
            </a:r>
          </a:p>
        </p:txBody>
      </p:sp>
      <p:sp>
        <p:nvSpPr>
          <p:cNvPr id="19" name="">
            <a:extLst xmlns:a="http://schemas.openxmlformats.org/drawingml/2006/main">
              <a:ext uri="{FF2B5EF4-FFF2-40B4-BE49-F238E27FC236}">
                <a16:creationId xmlns:a16="http://schemas.microsoft.com/office/drawing/2014/main" id="{2E471247-ADC5-48B7-89CD-61F447F51378}"/>
              </a:ext>
            </a:extLst>
          </p:cNvPr>
          <p:cNvSpPr>
            <a:spLocks xmlns:a="http://schemas.openxmlformats.org/drawingml/2006/main" noGrp="1"/>
          </p:cNvSpPr>
          <p:nvPr/>
        </p:nvSpPr>
        <p:spPr>
          <a:xfrm xmlns:a="http://schemas.openxmlformats.org/drawingml/2006/main">
            <a:off x="5524500" y="49530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ロボットを導入する</a:t>
            </a:r>
          </a:p>
        </p:txBody>
      </p:sp>
      <p:sp>
        <p:nvSpPr>
          <p:cNvPr id="20" name="">
            <a:extLst xmlns:a="http://schemas.openxmlformats.org/drawingml/2006/main">
              <a:ext uri="{FF2B5EF4-FFF2-40B4-BE49-F238E27FC236}">
                <a16:creationId xmlns:a16="http://schemas.microsoft.com/office/drawing/2014/main" id="{2F56EE81-1DFE-4860-95D1-094562512EBC}"/>
              </a:ext>
            </a:extLst>
          </p:cNvPr>
          <p:cNvSpPr>
            <a:spLocks xmlns:a="http://schemas.openxmlformats.org/drawingml/2006/main" noGrp="1"/>
          </p:cNvSpPr>
          <p:nvPr/>
        </p:nvSpPr>
        <p:spPr>
          <a:xfrm xmlns:a="http://schemas.openxmlformats.org/drawingml/2006/main">
            <a:off x="857250" y="5800725"/>
            <a:ext cx="971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一般には離れている上流と最下流が、現実世界のデータを通じて直接つながる。</a:t>
            </a:r>
          </a:p>
        </p:txBody>
      </p:sp>
    </p:spTree>
    <p:extLst>
      <p:ext uri="{BB962C8B-B14F-4D97-AF65-F5344CB8AC3E}">
        <p14:creationId xmlns:p14="http://schemas.microsoft.com/office/powerpoint/2010/main" val="239757302"/>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382E1F3-B00F-4931-A0E1-0DB89777AFF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30D8B7-AF56-4933-A135-586A6725D02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事業の構造</a:t>
            </a:r>
          </a:p>
        </p:txBody>
      </p:sp>
      <p:sp>
        <p:nvSpPr>
          <p:cNvPr id="3" name="">
            <a:extLst xmlns:a="http://schemas.openxmlformats.org/drawingml/2006/main">
              <a:ext uri="{FF2B5EF4-FFF2-40B4-BE49-F238E27FC236}">
                <a16:creationId xmlns:a16="http://schemas.microsoft.com/office/drawing/2014/main" id="{83CAFD8F-416A-4AF9-A25D-CD785E5D7D6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AF1B0AF-27BA-447C-983C-9756ECA6E28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6F08B637-A08F-42FC-BEF9-CBC85C63BB0B}"/>
              </a:ext>
            </a:extLst>
          </p:cNvPr>
          <p:cNvSpPr>
            <a:spLocks xmlns:a="http://schemas.openxmlformats.org/drawingml/2006/main" noGrp="1"/>
          </p:cNvSpPr>
          <p:nvPr/>
        </p:nvSpPr>
        <p:spPr>
          <a:xfrm xmlns:a="http://schemas.openxmlformats.org/drawingml/2006/main">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597D23F5-D4B2-4422-A610-9C4D19226244}"/>
              </a:ext>
            </a:extLst>
          </p:cNvPr>
          <p:cNvSpPr>
            <a:spLocks xmlns:a="http://schemas.openxmlformats.org/drawingml/2006/main" noGrp="1"/>
          </p:cNvSpPr>
          <p:nvPr/>
        </p:nvSpPr>
        <p:spPr>
          <a:xfrm xmlns:a="http://schemas.openxmlformats.org/drawingml/2006/main">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FB8E0669-4F86-407D-9601-1AAEE657CF4B}"/>
              </a:ext>
            </a:extLst>
          </p:cNvPr>
          <p:cNvSpPr>
            <a:spLocks xmlns:a="http://schemas.openxmlformats.org/drawingml/2006/main" noGrp="1"/>
          </p:cNvSpPr>
          <p:nvPr/>
        </p:nvSpPr>
        <p:spPr>
          <a:xfrm xmlns:a="http://schemas.openxmlformats.org/drawingml/2006/main">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8E88ED5A-37EF-4554-8C0A-A1DD2DD6291C}"/>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295604DD-4BC9-4027-A8D0-7D658778C6A7}"/>
              </a:ext>
            </a:extLst>
          </p:cNvPr>
          <p:cNvSpPr>
            <a:spLocks xmlns:a="http://schemas.openxmlformats.org/drawingml/2006/main" noGrp="1"/>
          </p:cNvSpPr>
          <p:nvPr/>
        </p:nvSpPr>
        <p:spPr>
          <a:xfrm xmlns:a="http://schemas.openxmlformats.org/drawingml/2006/main">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52009545-4244-4931-AC19-C9C4B0C6E286}"/>
              </a:ext>
            </a:extLst>
          </p:cNvPr>
          <p:cNvSpPr>
            <a:spLocks xmlns:a="http://schemas.openxmlformats.org/drawingml/2006/main" noGrp="1"/>
          </p:cNvSpPr>
          <p:nvPr/>
        </p:nvSpPr>
        <p:spPr>
          <a:xfrm xmlns:a="http://schemas.openxmlformats.org/drawingml/2006/main">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9804D010-8A36-4C9D-935D-54C8444AB532}"/>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38AB693-A25C-47D6-8AA0-9001337DF53D}"/>
              </a:ext>
            </a:extLst>
          </p:cNvPr>
          <p:cNvSpPr>
            <a:spLocks xmlns:a="http://schemas.openxmlformats.org/drawingml/2006/main" noGrp="1"/>
          </p:cNvSpPr>
          <p:nvPr/>
        </p:nvSpPr>
        <p:spPr>
          <a:xfrm xmlns:a="http://schemas.openxmlformats.org/drawingml/2006/main">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1377253D-2D3A-4844-B397-7FDD0B2947CA}"/>
              </a:ext>
            </a:extLst>
          </p:cNvPr>
          <p:cNvSpPr>
            <a:spLocks xmlns:a="http://schemas.openxmlformats.org/drawingml/2006/main" noGrp="1"/>
          </p:cNvSpPr>
          <p:nvPr/>
        </p:nvSpPr>
        <p:spPr>
          <a:xfrm xmlns:a="http://schemas.openxmlformats.org/drawingml/2006/main">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D6DDE0"/>
                </a:solidFill>
                <a:latin typeface="Hiragino Sans"/>
                <a:ea typeface="Hiragino Sans"/>
                <a:cs typeface="Hiragino Sans"/>
              </a:defRPr>
            </a:pPr>
            <a:r>
              <a:rPr sz="1350" b="0">
                <a:solidFill>
                  <a:srgbClr val="D6DDE0"/>
                </a:solidFill>
                <a:latin typeface="Hiragino Sans"/>
                <a:ea typeface="Hiragino Sans"/>
                <a:cs typeface="Hiragino Sans"/>
              </a:rPr>
              <a:t>現場運用</a:t>
            </a:r>
          </a:p>
          <a:p xmlns:a="http://schemas.openxmlformats.org/drawingml/2006/main">
            <a:pPr algn="ctr">
              <a:defRPr sz="1350" b="0">
                <a:solidFill>
                  <a:srgbClr val="D6DDE0"/>
                </a:solidFill>
                <a:latin typeface="Hiragino Sans"/>
                <a:ea typeface="Hiragino Sans"/>
                <a:cs typeface="Hiragino Sans"/>
              </a:defRPr>
            </a:pPr>
            <a:r>
              <a:rPr sz="1350" b="0">
                <a:solidFill>
                  <a:srgbClr val="D6DDE0"/>
                </a:solidFill>
                <a:latin typeface="Hiragino Sans"/>
                <a:ea typeface="Hiragino Sans"/>
                <a:cs typeface="Hiragino Sans"/>
              </a:rPr>
              <a:t>データ品質</a:t>
            </a:r>
          </a:p>
          <a:p xmlns:a="http://schemas.openxmlformats.org/drawingml/2006/main">
            <a:pPr algn="ctr">
              <a:defRPr sz="1350" b="0">
                <a:solidFill>
                  <a:srgbClr val="D6DDE0"/>
                </a:solidFill>
                <a:latin typeface="Hiragino Sans"/>
                <a:ea typeface="Hiragino Sans"/>
                <a:cs typeface="Hiragino Sans"/>
              </a:defRPr>
            </a:pPr>
            <a:r>
              <a:rPr sz="1350" b="0">
                <a:solidFill>
                  <a:srgbClr val="D6DDE0"/>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ADBA7DD6-944B-4B6A-9C03-260C86F0BDC4}"/>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9FA7C194-C999-4CB9-9186-340E041E738F}"/>
              </a:ext>
            </a:extLst>
          </p:cNvPr>
          <p:cNvSpPr>
            <a:spLocks xmlns:a="http://schemas.openxmlformats.org/drawingml/2006/main" noGrp="1"/>
          </p:cNvSpPr>
          <p:nvPr/>
        </p:nvSpPr>
        <p:spPr>
          <a:xfrm xmlns:a="http://schemas.openxmlformats.org/drawingml/2006/main">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A579B9E6-37B6-40AA-AAE2-57F7CCA8E6EE}"/>
              </a:ext>
            </a:extLst>
          </p:cNvPr>
          <p:cNvSpPr>
            <a:spLocks xmlns:a="http://schemas.openxmlformats.org/drawingml/2006/main" noGrp="1"/>
          </p:cNvSpPr>
          <p:nvPr/>
        </p:nvSpPr>
        <p:spPr>
          <a:xfrm xmlns:a="http://schemas.openxmlformats.org/drawingml/2006/main">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97E18432-8218-41A2-8386-01F6AB26A8C4}"/>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1035702-65DD-492E-BB72-EFAE77AB295B}"/>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817CBE6-CCE6-4EAA-905D-C1B825E5CB8D}"/>
              </a:ext>
            </a:extLst>
          </p:cNvPr>
          <p:cNvSpPr>
            <a:spLocks xmlns:a="http://schemas.openxmlformats.org/drawingml/2006/main" noGrp="1"/>
          </p:cNvSpPr>
          <p:nvPr/>
        </p:nvSpPr>
        <p:spPr>
          <a:xfrm xmlns:a="http://schemas.openxmlformats.org/drawingml/2006/main">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1DCDBBB8-2276-4A78-94E8-B0EF8677A99F}"/>
              </a:ext>
            </a:extLst>
          </p:cNvPr>
          <p:cNvSpPr>
            <a:spLocks xmlns:a="http://schemas.openxmlformats.org/drawingml/2006/main" noGrp="1"/>
          </p:cNvSpPr>
          <p:nvPr/>
        </p:nvSpPr>
        <p:spPr>
          <a:xfrm xmlns:a="http://schemas.openxmlformats.org/drawingml/2006/main">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04606118-582E-4336-BFF7-5C92DB33F2CB}"/>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25E226D-60FE-4F1D-9F56-F1AC9234CF24}"/>
              </a:ext>
            </a:extLst>
          </p:cNvPr>
          <p:cNvSpPr>
            <a:spLocks xmlns:a="http://schemas.openxmlformats.org/drawingml/2006/main" noGrp="1"/>
          </p:cNvSpPr>
          <p:nvPr/>
        </p:nvSpPr>
        <p:spPr>
          <a:xfrm xmlns:a="http://schemas.openxmlformats.org/drawingml/2006/main">
            <a:off x="723900" y="51530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現在は現場開拓が先行している。販売側では、一定の収集規模に達することが商談を進める条件になっている。</a:t>
            </a:r>
          </a:p>
        </p:txBody>
      </p:sp>
    </p:spTree>
    <p:extLst>
      <p:ext uri="{BB962C8B-B14F-4D97-AF65-F5344CB8AC3E}">
        <p14:creationId xmlns:p14="http://schemas.microsoft.com/office/powerpoint/2010/main" val="195873070"/>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4F88202-2EAE-46FA-80B1-9370E83A57C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28C520-3365-42B6-B6F4-34A8B1F7158C}"/>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現在の現場開拓</a:t>
            </a:r>
          </a:p>
        </p:txBody>
      </p:sp>
      <p:sp>
        <p:nvSpPr>
          <p:cNvPr id="3" name="">
            <a:extLst xmlns:a="http://schemas.openxmlformats.org/drawingml/2006/main">
              <a:ext uri="{FF2B5EF4-FFF2-40B4-BE49-F238E27FC236}">
                <a16:creationId xmlns:a16="http://schemas.microsoft.com/office/drawing/2014/main" id="{D81DEE57-994D-4099-8960-FFB6A6B44C1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8801B80-3277-40E9-964A-1C83C1C9BAC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D5A88A06-155B-4FAC-B40B-DA9D1BF2DDA2}"/>
              </a:ext>
            </a:extLst>
          </p:cNvPr>
          <p:cNvSpPr>
            <a:spLocks xmlns:a="http://schemas.openxmlformats.org/drawingml/2006/main" noGrp="1"/>
          </p:cNvSpPr>
          <p:nvPr/>
        </p:nvSpPr>
        <p:spPr>
          <a:xfrm xmlns:a="http://schemas.openxmlformats.org/drawingml/2006/main">
            <a:off x="723900" y="19431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01</a:t>
            </a:r>
          </a:p>
        </p:txBody>
      </p:sp>
      <p:sp>
        <p:nvSpPr>
          <p:cNvPr id="6" name="">
            <a:extLst xmlns:a="http://schemas.openxmlformats.org/drawingml/2006/main">
              <a:ext uri="{FF2B5EF4-FFF2-40B4-BE49-F238E27FC236}">
                <a16:creationId xmlns:a16="http://schemas.microsoft.com/office/drawing/2014/main" id="{0837F39F-DA06-4128-A4A8-6BFBED6C618D}"/>
              </a:ext>
            </a:extLst>
          </p:cNvPr>
          <p:cNvSpPr>
            <a:spLocks xmlns:a="http://schemas.openxmlformats.org/drawingml/2006/main" noGrp="1"/>
          </p:cNvSpPr>
          <p:nvPr/>
        </p:nvSpPr>
        <p:spPr>
          <a:xfrm xmlns:a="http://schemas.openxmlformats.org/drawingml/2006/main">
            <a:off x="1476375" y="19145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飛び込み営業</a:t>
            </a:r>
          </a:p>
        </p:txBody>
      </p:sp>
      <p:sp>
        <p:nvSpPr>
          <p:cNvPr id="7" name="">
            <a:extLst xmlns:a="http://schemas.openxmlformats.org/drawingml/2006/main">
              <a:ext uri="{FF2B5EF4-FFF2-40B4-BE49-F238E27FC236}">
                <a16:creationId xmlns:a16="http://schemas.microsoft.com/office/drawing/2014/main" id="{85C20842-17EA-4D45-91B3-346254783714}"/>
              </a:ext>
            </a:extLst>
          </p:cNvPr>
          <p:cNvSpPr>
            <a:spLocks xmlns:a="http://schemas.openxmlformats.org/drawingml/2006/main" noGrp="1"/>
          </p:cNvSpPr>
          <p:nvPr/>
        </p:nvSpPr>
        <p:spPr>
          <a:xfrm xmlns:a="http://schemas.openxmlformats.org/drawingml/2006/main">
            <a:off x="4191000" y="1914525"/>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約30件の現場へ訪問した。</a:t>
            </a:r>
          </a:p>
        </p:txBody>
      </p:sp>
      <p:sp>
        <p:nvSpPr>
          <p:cNvPr id="8" name="">
            <a:extLst xmlns:a="http://schemas.openxmlformats.org/drawingml/2006/main">
              <a:ext uri="{FF2B5EF4-FFF2-40B4-BE49-F238E27FC236}">
                <a16:creationId xmlns:a16="http://schemas.microsoft.com/office/drawing/2014/main" id="{8AB3D778-7192-478E-B15E-897E73A18A14}"/>
              </a:ext>
            </a:extLst>
          </p:cNvPr>
          <p:cNvSpPr>
            <a:spLocks xmlns:a="http://schemas.openxmlformats.org/drawingml/2006/main" noGrp="1"/>
          </p:cNvSpPr>
          <p:nvPr/>
        </p:nvSpPr>
        <p:spPr>
          <a:xfrm xmlns:a="http://schemas.openxmlformats.org/drawingml/2006/main">
            <a:off x="723900" y="2667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9EE38F3-F1E0-45FB-9D32-BCB8B9F07791}"/>
              </a:ext>
            </a:extLst>
          </p:cNvPr>
          <p:cNvSpPr>
            <a:spLocks xmlns:a="http://schemas.openxmlformats.org/drawingml/2006/main" noGrp="1"/>
          </p:cNvSpPr>
          <p:nvPr/>
        </p:nvSpPr>
        <p:spPr>
          <a:xfrm xmlns:a="http://schemas.openxmlformats.org/drawingml/2006/main">
            <a:off x="723900" y="28575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02</a:t>
            </a:r>
          </a:p>
        </p:txBody>
      </p:sp>
      <p:sp>
        <p:nvSpPr>
          <p:cNvPr id="10" name="">
            <a:extLst xmlns:a="http://schemas.openxmlformats.org/drawingml/2006/main">
              <a:ext uri="{FF2B5EF4-FFF2-40B4-BE49-F238E27FC236}">
                <a16:creationId xmlns:a16="http://schemas.microsoft.com/office/drawing/2014/main" id="{C6F0D792-06F8-43BA-A5F3-DDBD43B32957}"/>
              </a:ext>
            </a:extLst>
          </p:cNvPr>
          <p:cNvSpPr>
            <a:spLocks xmlns:a="http://schemas.openxmlformats.org/drawingml/2006/main" noGrp="1"/>
          </p:cNvSpPr>
          <p:nvPr/>
        </p:nvSpPr>
        <p:spPr>
          <a:xfrm xmlns:a="http://schemas.openxmlformats.org/drawingml/2006/main">
            <a:off x="1476375" y="28289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ベーカリー</a:t>
            </a:r>
          </a:p>
        </p:txBody>
      </p:sp>
      <p:sp>
        <p:nvSpPr>
          <p:cNvPr id="11" name="">
            <a:extLst xmlns:a="http://schemas.openxmlformats.org/drawingml/2006/main">
              <a:ext uri="{FF2B5EF4-FFF2-40B4-BE49-F238E27FC236}">
                <a16:creationId xmlns:a16="http://schemas.microsoft.com/office/drawing/2014/main" id="{E178253F-3AA0-4D9E-8FAF-CC7D3C99A732}"/>
              </a:ext>
            </a:extLst>
          </p:cNvPr>
          <p:cNvSpPr>
            <a:spLocks xmlns:a="http://schemas.openxmlformats.org/drawingml/2006/main" noGrp="1"/>
          </p:cNvSpPr>
          <p:nvPr/>
        </p:nvSpPr>
        <p:spPr>
          <a:xfrm xmlns:a="http://schemas.openxmlformats.org/drawingml/2006/main">
            <a:off x="4191000" y="2828925"/>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店舗の許可を得て装着テストを行い、合計約50時間を収集した。</a:t>
            </a:r>
          </a:p>
        </p:txBody>
      </p:sp>
      <p:sp>
        <p:nvSpPr>
          <p:cNvPr id="12" name="">
            <a:extLst xmlns:a="http://schemas.openxmlformats.org/drawingml/2006/main">
              <a:ext uri="{FF2B5EF4-FFF2-40B4-BE49-F238E27FC236}">
                <a16:creationId xmlns:a16="http://schemas.microsoft.com/office/drawing/2014/main" id="{E3843A65-3FC2-400A-BF60-45A753D8C1E2}"/>
              </a:ext>
            </a:extLst>
          </p:cNvPr>
          <p:cNvSpPr>
            <a:spLocks xmlns:a="http://schemas.openxmlformats.org/drawingml/2006/main" noGrp="1"/>
          </p:cNvSpPr>
          <p:nvPr/>
        </p:nvSpPr>
        <p:spPr>
          <a:xfrm xmlns:a="http://schemas.openxmlformats.org/drawingml/2006/main">
            <a:off x="723900" y="35814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7C6B313-AEDF-4CA4-9A76-CEA7497E6EC0}"/>
              </a:ext>
            </a:extLst>
          </p:cNvPr>
          <p:cNvSpPr>
            <a:spLocks xmlns:a="http://schemas.openxmlformats.org/drawingml/2006/main" noGrp="1"/>
          </p:cNvSpPr>
          <p:nvPr/>
        </p:nvSpPr>
        <p:spPr>
          <a:xfrm xmlns:a="http://schemas.openxmlformats.org/drawingml/2006/main">
            <a:off x="723900" y="37719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03</a:t>
            </a:r>
          </a:p>
        </p:txBody>
      </p:sp>
      <p:sp>
        <p:nvSpPr>
          <p:cNvPr id="14" name="">
            <a:extLst xmlns:a="http://schemas.openxmlformats.org/drawingml/2006/main">
              <a:ext uri="{FF2B5EF4-FFF2-40B4-BE49-F238E27FC236}">
                <a16:creationId xmlns:a16="http://schemas.microsoft.com/office/drawing/2014/main" id="{23332A76-019B-4328-B307-59BEF7EA631A}"/>
              </a:ext>
            </a:extLst>
          </p:cNvPr>
          <p:cNvSpPr>
            <a:spLocks xmlns:a="http://schemas.openxmlformats.org/drawingml/2006/main" noGrp="1"/>
          </p:cNvSpPr>
          <p:nvPr/>
        </p:nvSpPr>
        <p:spPr>
          <a:xfrm xmlns:a="http://schemas.openxmlformats.org/drawingml/2006/main">
            <a:off x="1476375" y="37433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カフェチェーン</a:t>
            </a:r>
          </a:p>
        </p:txBody>
      </p:sp>
      <p:sp>
        <p:nvSpPr>
          <p:cNvPr id="15" name="">
            <a:extLst xmlns:a="http://schemas.openxmlformats.org/drawingml/2006/main">
              <a:ext uri="{FF2B5EF4-FFF2-40B4-BE49-F238E27FC236}">
                <a16:creationId xmlns:a16="http://schemas.microsoft.com/office/drawing/2014/main" id="{E666C966-E571-4886-B630-E3B8A88C9064}"/>
              </a:ext>
            </a:extLst>
          </p:cNvPr>
          <p:cNvSpPr>
            <a:spLocks xmlns:a="http://schemas.openxmlformats.org/drawingml/2006/main" noGrp="1"/>
          </p:cNvSpPr>
          <p:nvPr/>
        </p:nvSpPr>
        <p:spPr>
          <a:xfrm xmlns:a="http://schemas.openxmlformats.org/drawingml/2006/main">
            <a:off x="4191000" y="3743325"/>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SNS経由で接触した神戸の一社と、撮影合意の手続きを進めている。</a:t>
            </a:r>
          </a:p>
        </p:txBody>
      </p:sp>
      <p:sp>
        <p:nvSpPr>
          <p:cNvPr id="16" name="">
            <a:extLst xmlns:a="http://schemas.openxmlformats.org/drawingml/2006/main">
              <a:ext uri="{FF2B5EF4-FFF2-40B4-BE49-F238E27FC236}">
                <a16:creationId xmlns:a16="http://schemas.microsoft.com/office/drawing/2014/main" id="{164A32A4-1BFD-4A15-A03A-C1FAB453F9B0}"/>
              </a:ext>
            </a:extLst>
          </p:cNvPr>
          <p:cNvSpPr>
            <a:spLocks xmlns:a="http://schemas.openxmlformats.org/drawingml/2006/main" noGrp="1"/>
          </p:cNvSpPr>
          <p:nvPr/>
        </p:nvSpPr>
        <p:spPr>
          <a:xfrm xmlns:a="http://schemas.openxmlformats.org/drawingml/2006/main">
            <a:off x="723900" y="44958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7943701-A0C3-494A-977F-EEB4D9D25A5A}"/>
              </a:ext>
            </a:extLst>
          </p:cNvPr>
          <p:cNvSpPr>
            <a:spLocks xmlns:a="http://schemas.openxmlformats.org/drawingml/2006/main" noGrp="1"/>
          </p:cNvSpPr>
          <p:nvPr/>
        </p:nvSpPr>
        <p:spPr>
          <a:xfrm xmlns:a="http://schemas.openxmlformats.org/drawingml/2006/main">
            <a:off x="723900" y="4686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04</a:t>
            </a:r>
          </a:p>
        </p:txBody>
      </p:sp>
      <p:sp>
        <p:nvSpPr>
          <p:cNvPr id="18" name="">
            <a:extLst xmlns:a="http://schemas.openxmlformats.org/drawingml/2006/main">
              <a:ext uri="{FF2B5EF4-FFF2-40B4-BE49-F238E27FC236}">
                <a16:creationId xmlns:a16="http://schemas.microsoft.com/office/drawing/2014/main" id="{C70EA69B-394F-4F96-AF02-02CA91AD76CD}"/>
              </a:ext>
            </a:extLst>
          </p:cNvPr>
          <p:cNvSpPr>
            <a:spLocks xmlns:a="http://schemas.openxmlformats.org/drawingml/2006/main" noGrp="1"/>
          </p:cNvSpPr>
          <p:nvPr/>
        </p:nvSpPr>
        <p:spPr>
          <a:xfrm xmlns:a="http://schemas.openxmlformats.org/drawingml/2006/main">
            <a:off x="1476375" y="465772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スーパーマーケット</a:t>
            </a:r>
          </a:p>
        </p:txBody>
      </p:sp>
      <p:sp>
        <p:nvSpPr>
          <p:cNvPr id="19" name="">
            <a:extLst xmlns:a="http://schemas.openxmlformats.org/drawingml/2006/main">
              <a:ext uri="{FF2B5EF4-FFF2-40B4-BE49-F238E27FC236}">
                <a16:creationId xmlns:a16="http://schemas.microsoft.com/office/drawing/2014/main" id="{FC6F19D4-92B5-4683-BEB6-99F8F9608792}"/>
              </a:ext>
            </a:extLst>
          </p:cNvPr>
          <p:cNvSpPr>
            <a:spLocks xmlns:a="http://schemas.openxmlformats.org/drawingml/2006/main" noGrp="1"/>
          </p:cNvSpPr>
          <p:nvPr/>
        </p:nvSpPr>
        <p:spPr>
          <a:xfrm xmlns:a="http://schemas.openxmlformats.org/drawingml/2006/main">
            <a:off x="4191000" y="4657725"/>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紹介を通じて関西の一社と接触し、9月17日にオフィスで説明する予定。</a:t>
            </a:r>
          </a:p>
        </p:txBody>
      </p:sp>
      <p:sp>
        <p:nvSpPr>
          <p:cNvPr id="20" name="">
            <a:extLst xmlns:a="http://schemas.openxmlformats.org/drawingml/2006/main">
              <a:ext uri="{FF2B5EF4-FFF2-40B4-BE49-F238E27FC236}">
                <a16:creationId xmlns:a16="http://schemas.microsoft.com/office/drawing/2014/main" id="{3DD272FA-1ECB-4B4F-B7D0-9F2F10F4B0BD}"/>
              </a:ext>
            </a:extLst>
          </p:cNvPr>
          <p:cNvSpPr>
            <a:spLocks xmlns:a="http://schemas.openxmlformats.org/drawingml/2006/main" noGrp="1"/>
          </p:cNvSpPr>
          <p:nvPr/>
        </p:nvSpPr>
        <p:spPr>
          <a:xfrm xmlns:a="http://schemas.openxmlformats.org/drawingml/2006/main">
            <a:off x="723900" y="5410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BE365E4-9649-4672-B7D2-D553338F2C75}"/>
              </a:ext>
            </a:extLst>
          </p:cNvPr>
          <p:cNvSpPr>
            <a:spLocks xmlns:a="http://schemas.openxmlformats.org/drawingml/2006/main" noGrp="1"/>
          </p:cNvSpPr>
          <p:nvPr/>
        </p:nvSpPr>
        <p:spPr>
          <a:xfrm xmlns:a="http://schemas.openxmlformats.org/drawingml/2006/main">
            <a:off x="723900" y="58293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完了した撮影と、合意・商談中の案件を分けて記載。</a:t>
            </a:r>
          </a:p>
        </p:txBody>
      </p:sp>
    </p:spTree>
    <p:extLst>
      <p:ext uri="{BB962C8B-B14F-4D97-AF65-F5344CB8AC3E}">
        <p14:creationId xmlns:p14="http://schemas.microsoft.com/office/powerpoint/2010/main" val="637927239"/>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8E85CC0-06C2-4DD7-8D1B-256D5D82D53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EF65F5-21D8-462E-A9A4-C086E84D95E3}"/>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販売先開拓</a:t>
            </a:r>
          </a:p>
        </p:txBody>
      </p:sp>
      <p:sp>
        <p:nvSpPr>
          <p:cNvPr id="3" name="">
            <a:extLst xmlns:a="http://schemas.openxmlformats.org/drawingml/2006/main">
              <a:ext uri="{FF2B5EF4-FFF2-40B4-BE49-F238E27FC236}">
                <a16:creationId xmlns:a16="http://schemas.microsoft.com/office/drawing/2014/main" id="{31269F54-41BD-4746-BC64-8BFE2408E7C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C77B549-D659-4587-BCD2-1827F9F5947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3CDD39C0-861A-409E-B499-531799F8447A}"/>
              </a:ext>
            </a:extLst>
          </p:cNvPr>
          <p:cNvSpPr>
            <a:spLocks xmlns:a="http://schemas.openxmlformats.org/drawingml/2006/main" noGrp="1"/>
          </p:cNvSpPr>
          <p:nvPr/>
        </p:nvSpPr>
        <p:spPr>
          <a:xfrm xmlns:a="http://schemas.openxmlformats.org/drawingml/2006/main">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C0F6FC29-C084-43F6-8E1F-29921337A3F7}"/>
              </a:ext>
            </a:extLst>
          </p:cNvPr>
          <p:cNvSpPr>
            <a:spLocks xmlns:a="http://schemas.openxmlformats.org/drawingml/2006/main" noGrp="1"/>
          </p:cNvSpPr>
          <p:nvPr/>
        </p:nvSpPr>
        <p:spPr>
          <a:xfrm xmlns:a="http://schemas.openxmlformats.org/drawingml/2006/main">
            <a:off x="723900" y="2409825"/>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8社と連絡し、ベーカリーのサンプルデータを送付した。</a:t>
            </a:r>
          </a:p>
        </p:txBody>
      </p:sp>
      <p:sp>
        <p:nvSpPr>
          <p:cNvPr id="7" name="">
            <a:extLst xmlns:a="http://schemas.openxmlformats.org/drawingml/2006/main">
              <a:ext uri="{FF2B5EF4-FFF2-40B4-BE49-F238E27FC236}">
                <a16:creationId xmlns:a16="http://schemas.microsoft.com/office/drawing/2014/main" id="{D8CCEE1E-481F-420B-A7C0-6D302E9A1418}"/>
              </a:ext>
            </a:extLst>
          </p:cNvPr>
          <p:cNvSpPr>
            <a:spLocks xmlns:a="http://schemas.openxmlformats.org/drawingml/2006/main" noGrp="1"/>
          </p:cNvSpPr>
          <p:nvPr/>
        </p:nvSpPr>
        <p:spPr>
          <a:xfrm xmlns:a="http://schemas.openxmlformats.org/drawingml/2006/main">
            <a:off x="723900" y="2943225"/>
            <a:ext cx="1000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合意には至っていない。現在の収集規模が小さく、優先度が上がらなかった。</a:t>
            </a:r>
          </a:p>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商談を進める目安として、月間1,000時間程度の供給規模を聞いている。</a:t>
            </a:r>
          </a:p>
        </p:txBody>
      </p:sp>
      <p:sp>
        <p:nvSpPr>
          <p:cNvPr id="8" name="">
            <a:extLst xmlns:a="http://schemas.openxmlformats.org/drawingml/2006/main">
              <a:ext uri="{FF2B5EF4-FFF2-40B4-BE49-F238E27FC236}">
                <a16:creationId xmlns:a16="http://schemas.microsoft.com/office/drawing/2014/main" id="{5F8F9D00-ED61-400C-824B-59B74D3C9E30}"/>
              </a:ext>
            </a:extLst>
          </p:cNvPr>
          <p:cNvSpPr>
            <a:spLocks xmlns:a="http://schemas.openxmlformats.org/drawingml/2006/main" noGrp="1"/>
          </p:cNvSpPr>
          <p:nvPr/>
        </p:nvSpPr>
        <p:spPr>
          <a:xfrm xmlns:a="http://schemas.openxmlformats.org/drawingml/2006/main">
            <a:off x="723900" y="39433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BC1D307-1793-437C-99F3-8F2BBB580967}"/>
              </a:ext>
            </a:extLst>
          </p:cNvPr>
          <p:cNvSpPr>
            <a:spLocks xmlns:a="http://schemas.openxmlformats.org/drawingml/2006/main" noGrp="1"/>
          </p:cNvSpPr>
          <p:nvPr/>
        </p:nvSpPr>
        <p:spPr>
          <a:xfrm xmlns:a="http://schemas.openxmlformats.org/drawingml/2006/main">
            <a:off x="723900" y="42672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a:t>
            </a:r>
          </a:p>
        </p:txBody>
      </p:sp>
      <p:sp>
        <p:nvSpPr>
          <p:cNvPr id="10" name="">
            <a:extLst xmlns:a="http://schemas.openxmlformats.org/drawingml/2006/main">
              <a:ext uri="{FF2B5EF4-FFF2-40B4-BE49-F238E27FC236}">
                <a16:creationId xmlns:a16="http://schemas.microsoft.com/office/drawing/2014/main" id="{E47DC377-1F62-4968-8C5B-064AD38CD8EE}"/>
              </a:ext>
            </a:extLst>
          </p:cNvPr>
          <p:cNvSpPr>
            <a:spLocks xmlns:a="http://schemas.openxmlformats.org/drawingml/2006/main" noGrp="1"/>
          </p:cNvSpPr>
          <p:nvPr/>
        </p:nvSpPr>
        <p:spPr>
          <a:xfrm xmlns:a="http://schemas.openxmlformats.org/drawingml/2006/main">
            <a:off x="723900" y="4724400"/>
            <a:ext cx="1000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Nextremerのデータ加工・販売サービスへの掲載を調整している。</a:t>
            </a:r>
          </a:p>
        </p:txBody>
      </p:sp>
      <p:sp>
        <p:nvSpPr>
          <p:cNvPr id="11" name="">
            <a:extLst xmlns:a="http://schemas.openxmlformats.org/drawingml/2006/main">
              <a:ext uri="{FF2B5EF4-FFF2-40B4-BE49-F238E27FC236}">
                <a16:creationId xmlns:a16="http://schemas.microsoft.com/office/drawing/2014/main" id="{ACE11252-FEBD-4EAF-A512-9FE20DA9B270}"/>
              </a:ext>
            </a:extLst>
          </p:cNvPr>
          <p:cNvSpPr>
            <a:spLocks xmlns:a="http://schemas.openxmlformats.org/drawingml/2006/main" noGrp="1"/>
          </p:cNvSpPr>
          <p:nvPr/>
        </p:nvSpPr>
        <p:spPr>
          <a:xfrm xmlns:a="http://schemas.openxmlformats.org/drawingml/2006/main">
            <a:off x="723900" y="52578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現場合意の取り方とデータ取扱フローを擦り合わせている。</a:t>
            </a:r>
          </a:p>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データ加工、プライバシー処理、ストレージを自社だけで抱えない形を検討している。</a:t>
            </a:r>
          </a:p>
        </p:txBody>
      </p:sp>
    </p:spTree>
    <p:extLst>
      <p:ext uri="{BB962C8B-B14F-4D97-AF65-F5344CB8AC3E}">
        <p14:creationId xmlns:p14="http://schemas.microsoft.com/office/powerpoint/2010/main" val="915711030"/>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E91C1F4-4575-43B2-9886-3C73276D663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DAF5AC-3B78-4E3C-8BE7-D9D8E4266CC3}"/>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撮影デバイスの変遷</a:t>
            </a:r>
          </a:p>
        </p:txBody>
      </p:sp>
      <p:sp>
        <p:nvSpPr>
          <p:cNvPr id="3" name="">
            <a:extLst xmlns:a="http://schemas.openxmlformats.org/drawingml/2006/main">
              <a:ext uri="{FF2B5EF4-FFF2-40B4-BE49-F238E27FC236}">
                <a16:creationId xmlns:a16="http://schemas.microsoft.com/office/drawing/2014/main" id="{C9AF22D0-BA32-45E2-824C-6100A7C275F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229237-DF87-486A-B29A-369BB08892C7}"/>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5d486dc1d004208"/>
          <a:srcRect xmlns:a="http://schemas.openxmlformats.org/drawingml/2006/main" l="0" t="21875" r="0" b="21875"/>
          <a:stretch xmlns:a="http://schemas.openxmlformats.org/drawingml/2006/main">
            <a:fillRect l="0" t="0" r="0" b="0"/>
          </a:stretch>
        </p:blipFill>
        <p:spPr>
          <a:xfrm xmlns:a="http://schemas.openxmlformats.org/drawingml/2006/main">
            <a:off x="723900" y="1952625"/>
            <a:ext cx="3238500" cy="2428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B0E7DF9-5BC0-4214-B8D1-515307BCC090}"/>
              </a:ext>
            </a:extLst>
          </p:cNvPr>
          <p:cNvSpPr>
            <a:spLocks xmlns:a="http://schemas.openxmlformats.org/drawingml/2006/main" noGrp="1"/>
          </p:cNvSpPr>
          <p:nvPr/>
        </p:nvSpPr>
        <p:spPr>
          <a:xfrm xmlns:a="http://schemas.openxmlformats.org/drawingml/2006/main">
            <a:off x="723900" y="46291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01</a:t>
            </a:r>
          </a:p>
        </p:txBody>
      </p:sp>
      <p:sp>
        <p:nvSpPr>
          <p:cNvPr id="7" name="">
            <a:extLst xmlns:a="http://schemas.openxmlformats.org/drawingml/2006/main">
              <a:ext uri="{FF2B5EF4-FFF2-40B4-BE49-F238E27FC236}">
                <a16:creationId xmlns:a16="http://schemas.microsoft.com/office/drawing/2014/main" id="{EA5B5FD4-7DAD-45BA-B80E-06DDC5C206B6}"/>
              </a:ext>
            </a:extLst>
          </p:cNvPr>
          <p:cNvSpPr>
            <a:spLocks xmlns:a="http://schemas.openxmlformats.org/drawingml/2006/main" noGrp="1"/>
          </p:cNvSpPr>
          <p:nvPr/>
        </p:nvSpPr>
        <p:spPr>
          <a:xfrm xmlns:a="http://schemas.openxmlformats.org/drawingml/2006/main">
            <a:off x="1181100" y="4591050"/>
            <a:ext cx="2781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初回撮影  ヘルメット</a:t>
            </a:r>
          </a:p>
        </p:txBody>
      </p:sp>
      <p:sp>
        <p:nvSpPr>
          <p:cNvPr id="8" name="">
            <a:extLst xmlns:a="http://schemas.openxmlformats.org/drawingml/2006/main">
              <a:ext uri="{FF2B5EF4-FFF2-40B4-BE49-F238E27FC236}">
                <a16:creationId xmlns:a16="http://schemas.microsoft.com/office/drawing/2014/main" id="{56125DE7-1931-4B32-A9C9-C9FEA61180D9}"/>
              </a:ext>
            </a:extLst>
          </p:cNvPr>
          <p:cNvSpPr>
            <a:spLocks xmlns:a="http://schemas.openxmlformats.org/drawingml/2006/main" noGrp="1"/>
          </p:cNvSpPr>
          <p:nvPr/>
        </p:nvSpPr>
        <p:spPr>
          <a:xfrm xmlns:a="http://schemas.openxmlformats.org/drawingml/2006/main">
            <a:off x="1181100" y="5000625"/>
            <a:ext cx="2781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装着して撮影できることを確認</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63e53fb4b2344cc"/>
          <a:srcRect xmlns:a="http://schemas.openxmlformats.org/drawingml/2006/main" l="9333" t="0" r="9333" b="0"/>
          <a:stretch xmlns:a="http://schemas.openxmlformats.org/drawingml/2006/main">
            <a:fillRect l="0" t="0" r="0" b="0"/>
          </a:stretch>
        </p:blipFill>
        <p:spPr>
          <a:xfrm xmlns:a="http://schemas.openxmlformats.org/drawingml/2006/main">
            <a:off x="4314825" y="1952625"/>
            <a:ext cx="3238500" cy="24288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DC8FDB0-AFE6-4BF0-8D29-48BED9DF9179}"/>
              </a:ext>
            </a:extLst>
          </p:cNvPr>
          <p:cNvSpPr>
            <a:spLocks xmlns:a="http://schemas.openxmlformats.org/drawingml/2006/main" noGrp="1"/>
          </p:cNvSpPr>
          <p:nvPr/>
        </p:nvSpPr>
        <p:spPr>
          <a:xfrm xmlns:a="http://schemas.openxmlformats.org/drawingml/2006/main">
            <a:off x="4314825" y="46291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02</a:t>
            </a:r>
          </a:p>
        </p:txBody>
      </p:sp>
      <p:sp>
        <p:nvSpPr>
          <p:cNvPr id="11" name="">
            <a:extLst xmlns:a="http://schemas.openxmlformats.org/drawingml/2006/main">
              <a:ext uri="{FF2B5EF4-FFF2-40B4-BE49-F238E27FC236}">
                <a16:creationId xmlns:a16="http://schemas.microsoft.com/office/drawing/2014/main" id="{33A852EA-DE53-4A81-9594-88B8D071E720}"/>
              </a:ext>
            </a:extLst>
          </p:cNvPr>
          <p:cNvSpPr>
            <a:spLocks xmlns:a="http://schemas.openxmlformats.org/drawingml/2006/main" noGrp="1"/>
          </p:cNvSpPr>
          <p:nvPr/>
        </p:nvSpPr>
        <p:spPr>
          <a:xfrm xmlns:a="http://schemas.openxmlformats.org/drawingml/2006/main">
            <a:off x="4772025" y="4591050"/>
            <a:ext cx="2781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帽子型</a:t>
            </a:r>
          </a:p>
        </p:txBody>
      </p:sp>
      <p:sp>
        <p:nvSpPr>
          <p:cNvPr id="12" name="">
            <a:extLst xmlns:a="http://schemas.openxmlformats.org/drawingml/2006/main">
              <a:ext uri="{FF2B5EF4-FFF2-40B4-BE49-F238E27FC236}">
                <a16:creationId xmlns:a16="http://schemas.microsoft.com/office/drawing/2014/main" id="{DCB34CD1-A386-4B29-B0F1-41F9AA7083DC}"/>
              </a:ext>
            </a:extLst>
          </p:cNvPr>
          <p:cNvSpPr>
            <a:spLocks xmlns:a="http://schemas.openxmlformats.org/drawingml/2006/main" noGrp="1"/>
          </p:cNvSpPr>
          <p:nvPr/>
        </p:nvSpPr>
        <p:spPr>
          <a:xfrm xmlns:a="http://schemas.openxmlformats.org/drawingml/2006/main">
            <a:off x="4772025" y="5000625"/>
            <a:ext cx="2781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重量バランスと装着感を改善</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8bd29758e784756"/>
          <a:srcRect xmlns:a="http://schemas.openxmlformats.org/drawingml/2006/main" l="0" t="2730" r="0" b="2730"/>
          <a:stretch xmlns:a="http://schemas.openxmlformats.org/drawingml/2006/main">
            <a:fillRect l="0" t="0" r="0" b="0"/>
          </a:stretch>
        </p:blipFill>
        <p:spPr>
          <a:xfrm xmlns:a="http://schemas.openxmlformats.org/drawingml/2006/main">
            <a:off x="7905750" y="1952625"/>
            <a:ext cx="3238500" cy="24288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9AD8CDBD-E7C4-4F5B-9063-E04AD3D3769A}"/>
              </a:ext>
            </a:extLst>
          </p:cNvPr>
          <p:cNvSpPr>
            <a:spLocks xmlns:a="http://schemas.openxmlformats.org/drawingml/2006/main" noGrp="1"/>
          </p:cNvSpPr>
          <p:nvPr/>
        </p:nvSpPr>
        <p:spPr>
          <a:xfrm xmlns:a="http://schemas.openxmlformats.org/drawingml/2006/main">
            <a:off x="7905750" y="46291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03</a:t>
            </a:r>
          </a:p>
        </p:txBody>
      </p:sp>
      <p:sp>
        <p:nvSpPr>
          <p:cNvPr id="15" name="">
            <a:extLst xmlns:a="http://schemas.openxmlformats.org/drawingml/2006/main">
              <a:ext uri="{FF2B5EF4-FFF2-40B4-BE49-F238E27FC236}">
                <a16:creationId xmlns:a16="http://schemas.microsoft.com/office/drawing/2014/main" id="{175D1CE1-2EBC-4E9D-B9C1-770388984785}"/>
              </a:ext>
            </a:extLst>
          </p:cNvPr>
          <p:cNvSpPr>
            <a:spLocks xmlns:a="http://schemas.openxmlformats.org/drawingml/2006/main" noGrp="1"/>
          </p:cNvSpPr>
          <p:nvPr/>
        </p:nvSpPr>
        <p:spPr>
          <a:xfrm xmlns:a="http://schemas.openxmlformats.org/drawingml/2006/main">
            <a:off x="8362950" y="4591050"/>
            <a:ext cx="2781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メガネ型</a:t>
            </a:r>
          </a:p>
        </p:txBody>
      </p:sp>
      <p:sp>
        <p:nvSpPr>
          <p:cNvPr id="16" name="">
            <a:extLst xmlns:a="http://schemas.openxmlformats.org/drawingml/2006/main">
              <a:ext uri="{FF2B5EF4-FFF2-40B4-BE49-F238E27FC236}">
                <a16:creationId xmlns:a16="http://schemas.microsoft.com/office/drawing/2014/main" id="{A4AF965D-872B-45C0-8917-740317E25DEF}"/>
              </a:ext>
            </a:extLst>
          </p:cNvPr>
          <p:cNvSpPr>
            <a:spLocks xmlns:a="http://schemas.openxmlformats.org/drawingml/2006/main" noGrp="1"/>
          </p:cNvSpPr>
          <p:nvPr/>
        </p:nvSpPr>
        <p:spPr>
          <a:xfrm xmlns:a="http://schemas.openxmlformats.org/drawingml/2006/main">
            <a:off x="8362950" y="5000625"/>
            <a:ext cx="2781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0767AD54-2137-4420-A205-F4874A3524FC}"/>
              </a:ext>
            </a:extLst>
          </p:cNvPr>
          <p:cNvSpPr>
            <a:spLocks xmlns:a="http://schemas.openxmlformats.org/drawingml/2006/main" noGrp="1"/>
          </p:cNvSpPr>
          <p:nvPr/>
        </p:nvSpPr>
        <p:spPr>
          <a:xfrm xmlns:a="http://schemas.openxmlformats.org/drawingml/2006/main">
            <a:off x="723900" y="5762625"/>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E54A032-1D3D-4178-BDC0-2778AFFC7D51}"/>
              </a:ext>
            </a:extLst>
          </p:cNvPr>
          <p:cNvSpPr>
            <a:spLocks xmlns:a="http://schemas.openxmlformats.org/drawingml/2006/main" noGrp="1"/>
          </p:cNvSpPr>
          <p:nvPr/>
        </p:nvSpPr>
        <p:spPr>
          <a:xfrm xmlns:a="http://schemas.openxmlformats.org/drawingml/2006/main">
            <a:off x="723900" y="5943600"/>
            <a:ext cx="1042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現場での反応から、撮影品質だけでなく、作業者の負担が現場拡大を左右すると分かった。</a:t>
            </a:r>
          </a:p>
        </p:txBody>
      </p:sp>
    </p:spTree>
    <p:extLst>
      <p:ext uri="{BB962C8B-B14F-4D97-AF65-F5344CB8AC3E}">
        <p14:creationId xmlns:p14="http://schemas.microsoft.com/office/powerpoint/2010/main" val="704413042"/>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B5A6B84-BB24-4314-AC74-AE5D983C064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3B5F41-C471-43AA-8B19-B290504AAEE4}"/>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現在のチーム</a:t>
            </a:r>
          </a:p>
        </p:txBody>
      </p:sp>
      <p:sp>
        <p:nvSpPr>
          <p:cNvPr id="3" name="">
            <a:extLst xmlns:a="http://schemas.openxmlformats.org/drawingml/2006/main">
              <a:ext uri="{FF2B5EF4-FFF2-40B4-BE49-F238E27FC236}">
                <a16:creationId xmlns:a16="http://schemas.microsoft.com/office/drawing/2014/main" id="{FDE28E80-7948-4AEE-A994-A2B1CD82E40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1E8BCE-7A30-4F26-9E6A-6951CD00297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7F63A84B-590F-4E64-85B3-6F72726CEAF2}"/>
              </a:ext>
            </a:extLst>
          </p:cNvPr>
          <p:cNvSpPr>
            <a:spLocks xmlns:a="http://schemas.openxmlformats.org/drawingml/2006/main" noGrp="1"/>
          </p:cNvSpPr>
          <p:nvPr/>
        </p:nvSpPr>
        <p:spPr>
          <a:xfrm xmlns:a="http://schemas.openxmlformats.org/drawingml/2006/main">
            <a:off x="723900" y="18954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01</a:t>
            </a:r>
          </a:p>
        </p:txBody>
      </p:sp>
      <p:sp>
        <p:nvSpPr>
          <p:cNvPr id="6" name="">
            <a:extLst xmlns:a="http://schemas.openxmlformats.org/drawingml/2006/main">
              <a:ext uri="{FF2B5EF4-FFF2-40B4-BE49-F238E27FC236}">
                <a16:creationId xmlns:a16="http://schemas.microsoft.com/office/drawing/2014/main" id="{293E485E-2CDE-4558-BBEC-4692A8114FE6}"/>
              </a:ext>
            </a:extLst>
          </p:cNvPr>
          <p:cNvSpPr>
            <a:spLocks xmlns:a="http://schemas.openxmlformats.org/drawingml/2006/main" noGrp="1"/>
          </p:cNvSpPr>
          <p:nvPr/>
        </p:nvSpPr>
        <p:spPr>
          <a:xfrm xmlns:a="http://schemas.openxmlformats.org/drawingml/2006/main">
            <a:off x="1476375" y="18669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森  共同創業者</a:t>
            </a:r>
          </a:p>
        </p:txBody>
      </p:sp>
      <p:sp>
        <p:nvSpPr>
          <p:cNvPr id="7" name="">
            <a:extLst xmlns:a="http://schemas.openxmlformats.org/drawingml/2006/main">
              <a:ext uri="{FF2B5EF4-FFF2-40B4-BE49-F238E27FC236}">
                <a16:creationId xmlns:a16="http://schemas.microsoft.com/office/drawing/2014/main" id="{E8892496-82A0-47CC-8C36-6DEBCA31C5E8}"/>
              </a:ext>
            </a:extLst>
          </p:cNvPr>
          <p:cNvSpPr>
            <a:spLocks xmlns:a="http://schemas.openxmlformats.org/drawingml/2006/main" noGrp="1"/>
          </p:cNvSpPr>
          <p:nvPr/>
        </p:nvSpPr>
        <p:spPr>
          <a:xfrm xmlns:a="http://schemas.openxmlformats.org/drawingml/2006/main">
            <a:off x="4638675" y="186690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現場開拓、販売先開拓、撮影デバイスの設計・開発、事業全体の推進。</a:t>
            </a:r>
          </a:p>
        </p:txBody>
      </p:sp>
      <p:sp>
        <p:nvSpPr>
          <p:cNvPr id="8" name="">
            <a:extLst xmlns:a="http://schemas.openxmlformats.org/drawingml/2006/main">
              <a:ext uri="{FF2B5EF4-FFF2-40B4-BE49-F238E27FC236}">
                <a16:creationId xmlns:a16="http://schemas.microsoft.com/office/drawing/2014/main" id="{B0A95842-0FE6-453F-8E6C-A1D0BB2E5F91}"/>
              </a:ext>
            </a:extLst>
          </p:cNvPr>
          <p:cNvSpPr>
            <a:spLocks xmlns:a="http://schemas.openxmlformats.org/drawingml/2006/main" noGrp="1"/>
          </p:cNvSpPr>
          <p:nvPr/>
        </p:nvSpPr>
        <p:spPr>
          <a:xfrm xmlns:a="http://schemas.openxmlformats.org/drawingml/2006/main">
            <a:off x="723900" y="26765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178DF44-B13B-4754-A4F2-855452F5C578}"/>
              </a:ext>
            </a:extLst>
          </p:cNvPr>
          <p:cNvSpPr>
            <a:spLocks xmlns:a="http://schemas.openxmlformats.org/drawingml/2006/main" noGrp="1"/>
          </p:cNvSpPr>
          <p:nvPr/>
        </p:nvSpPr>
        <p:spPr>
          <a:xfrm xmlns:a="http://schemas.openxmlformats.org/drawingml/2006/main">
            <a:off x="723900" y="28670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02</a:t>
            </a:r>
          </a:p>
        </p:txBody>
      </p:sp>
      <p:sp>
        <p:nvSpPr>
          <p:cNvPr id="10" name="">
            <a:extLst xmlns:a="http://schemas.openxmlformats.org/drawingml/2006/main">
              <a:ext uri="{FF2B5EF4-FFF2-40B4-BE49-F238E27FC236}">
                <a16:creationId xmlns:a16="http://schemas.microsoft.com/office/drawing/2014/main" id="{B99E5987-E105-418E-8BAE-CFB1D36D5F3E}"/>
              </a:ext>
            </a:extLst>
          </p:cNvPr>
          <p:cNvSpPr>
            <a:spLocks xmlns:a="http://schemas.openxmlformats.org/drawingml/2006/main" noGrp="1"/>
          </p:cNvSpPr>
          <p:nvPr/>
        </p:nvSpPr>
        <p:spPr>
          <a:xfrm xmlns:a="http://schemas.openxmlformats.org/drawingml/2006/main">
            <a:off x="1476375" y="283845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河野  共同創業者</a:t>
            </a:r>
          </a:p>
        </p:txBody>
      </p:sp>
      <p:sp>
        <p:nvSpPr>
          <p:cNvPr id="11" name="">
            <a:extLst xmlns:a="http://schemas.openxmlformats.org/drawingml/2006/main">
              <a:ext uri="{FF2B5EF4-FFF2-40B4-BE49-F238E27FC236}">
                <a16:creationId xmlns:a16="http://schemas.microsoft.com/office/drawing/2014/main" id="{ED1AE216-D4E3-47A0-9741-B24555CCF25E}"/>
              </a:ext>
            </a:extLst>
          </p:cNvPr>
          <p:cNvSpPr>
            <a:spLocks xmlns:a="http://schemas.openxmlformats.org/drawingml/2006/main" noGrp="1"/>
          </p:cNvSpPr>
          <p:nvPr/>
        </p:nvSpPr>
        <p:spPr>
          <a:xfrm xmlns:a="http://schemas.openxmlformats.org/drawingml/2006/main">
            <a:off x="4638675" y="283845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神戸大学大学院情報学研究科。シミュレーション領域を研究しながら事業へ参画。</a:t>
            </a:r>
          </a:p>
        </p:txBody>
      </p:sp>
      <p:sp>
        <p:nvSpPr>
          <p:cNvPr id="12" name="">
            <a:extLst xmlns:a="http://schemas.openxmlformats.org/drawingml/2006/main">
              <a:ext uri="{FF2B5EF4-FFF2-40B4-BE49-F238E27FC236}">
                <a16:creationId xmlns:a16="http://schemas.microsoft.com/office/drawing/2014/main" id="{4BBEB636-3CFB-4713-B1EF-F39817296D0C}"/>
              </a:ext>
            </a:extLst>
          </p:cNvPr>
          <p:cNvSpPr>
            <a:spLocks xmlns:a="http://schemas.openxmlformats.org/drawingml/2006/main" noGrp="1"/>
          </p:cNvSpPr>
          <p:nvPr/>
        </p:nvSpPr>
        <p:spPr>
          <a:xfrm xmlns:a="http://schemas.openxmlformats.org/drawingml/2006/main">
            <a:off x="723900" y="36480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6724698-94AF-45C7-B909-871DBC804546}"/>
              </a:ext>
            </a:extLst>
          </p:cNvPr>
          <p:cNvSpPr>
            <a:spLocks xmlns:a="http://schemas.openxmlformats.org/drawingml/2006/main" noGrp="1"/>
          </p:cNvSpPr>
          <p:nvPr/>
        </p:nvSpPr>
        <p:spPr>
          <a:xfrm xmlns:a="http://schemas.openxmlformats.org/drawingml/2006/main">
            <a:off x="723900" y="38385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03</a:t>
            </a:r>
          </a:p>
        </p:txBody>
      </p:sp>
      <p:sp>
        <p:nvSpPr>
          <p:cNvPr id="14" name="">
            <a:extLst xmlns:a="http://schemas.openxmlformats.org/drawingml/2006/main">
              <a:ext uri="{FF2B5EF4-FFF2-40B4-BE49-F238E27FC236}">
                <a16:creationId xmlns:a16="http://schemas.microsoft.com/office/drawing/2014/main" id="{501C949A-CF4F-48AE-8347-E885E4293B0B}"/>
              </a:ext>
            </a:extLst>
          </p:cNvPr>
          <p:cNvSpPr>
            <a:spLocks xmlns:a="http://schemas.openxmlformats.org/drawingml/2006/main" noGrp="1"/>
          </p:cNvSpPr>
          <p:nvPr/>
        </p:nvSpPr>
        <p:spPr>
          <a:xfrm xmlns:a="http://schemas.openxmlformats.org/drawingml/2006/main">
            <a:off x="1476375" y="38100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川島  現場協力者</a:t>
            </a:r>
          </a:p>
        </p:txBody>
      </p:sp>
      <p:sp>
        <p:nvSpPr>
          <p:cNvPr id="15" name="">
            <a:extLst xmlns:a="http://schemas.openxmlformats.org/drawingml/2006/main">
              <a:ext uri="{FF2B5EF4-FFF2-40B4-BE49-F238E27FC236}">
                <a16:creationId xmlns:a16="http://schemas.microsoft.com/office/drawing/2014/main" id="{DCDD854E-A4B1-4D4F-9061-5EEA04F69FD5}"/>
              </a:ext>
            </a:extLst>
          </p:cNvPr>
          <p:cNvSpPr>
            <a:spLocks xmlns:a="http://schemas.openxmlformats.org/drawingml/2006/main" noGrp="1"/>
          </p:cNvSpPr>
          <p:nvPr/>
        </p:nvSpPr>
        <p:spPr>
          <a:xfrm xmlns:a="http://schemas.openxmlformats.org/drawingml/2006/main">
            <a:off x="4638675" y="381000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ベーカリー経営者。撮影テストの現場提供と、撮影先の拡大に協力。</a:t>
            </a:r>
          </a:p>
        </p:txBody>
      </p:sp>
      <p:sp>
        <p:nvSpPr>
          <p:cNvPr id="16" name="">
            <a:extLst xmlns:a="http://schemas.openxmlformats.org/drawingml/2006/main">
              <a:ext uri="{FF2B5EF4-FFF2-40B4-BE49-F238E27FC236}">
                <a16:creationId xmlns:a16="http://schemas.microsoft.com/office/drawing/2014/main" id="{721E2938-0781-4E18-A0B4-325770BB5F41}"/>
              </a:ext>
            </a:extLst>
          </p:cNvPr>
          <p:cNvSpPr>
            <a:spLocks xmlns:a="http://schemas.openxmlformats.org/drawingml/2006/main" noGrp="1"/>
          </p:cNvSpPr>
          <p:nvPr/>
        </p:nvSpPr>
        <p:spPr>
          <a:xfrm xmlns:a="http://schemas.openxmlformats.org/drawingml/2006/main">
            <a:off x="723900" y="4619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7E6D457-F130-4BBC-AF08-F96E68612152}"/>
              </a:ext>
            </a:extLst>
          </p:cNvPr>
          <p:cNvSpPr>
            <a:spLocks xmlns:a="http://schemas.openxmlformats.org/drawingml/2006/main" noGrp="1"/>
          </p:cNvSpPr>
          <p:nvPr/>
        </p:nvSpPr>
        <p:spPr>
          <a:xfrm xmlns:a="http://schemas.openxmlformats.org/drawingml/2006/main">
            <a:off x="723900" y="48101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04</a:t>
            </a:r>
          </a:p>
        </p:txBody>
      </p:sp>
      <p:sp>
        <p:nvSpPr>
          <p:cNvPr id="18" name="">
            <a:extLst xmlns:a="http://schemas.openxmlformats.org/drawingml/2006/main">
              <a:ext uri="{FF2B5EF4-FFF2-40B4-BE49-F238E27FC236}">
                <a16:creationId xmlns:a16="http://schemas.microsoft.com/office/drawing/2014/main" id="{ACF2354E-FF51-4EB0-8915-3F98FF10E9C8}"/>
              </a:ext>
            </a:extLst>
          </p:cNvPr>
          <p:cNvSpPr>
            <a:spLocks xmlns:a="http://schemas.openxmlformats.org/drawingml/2006/main" noGrp="1"/>
          </p:cNvSpPr>
          <p:nvPr/>
        </p:nvSpPr>
        <p:spPr>
          <a:xfrm xmlns:a="http://schemas.openxmlformats.org/drawingml/2006/main">
            <a:off x="1476375" y="478155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大崎  事業支援</a:t>
            </a:r>
          </a:p>
        </p:txBody>
      </p:sp>
      <p:sp>
        <p:nvSpPr>
          <p:cNvPr id="19" name="">
            <a:extLst xmlns:a="http://schemas.openxmlformats.org/drawingml/2006/main">
              <a:ext uri="{FF2B5EF4-FFF2-40B4-BE49-F238E27FC236}">
                <a16:creationId xmlns:a16="http://schemas.microsoft.com/office/drawing/2014/main" id="{ADF24A50-D703-4870-B7A6-52A2C1B2DD68}"/>
              </a:ext>
            </a:extLst>
          </p:cNvPr>
          <p:cNvSpPr>
            <a:spLocks xmlns:a="http://schemas.openxmlformats.org/drawingml/2006/main" noGrp="1"/>
          </p:cNvSpPr>
          <p:nvPr/>
        </p:nvSpPr>
        <p:spPr>
          <a:xfrm xmlns:a="http://schemas.openxmlformats.org/drawingml/2006/main">
            <a:off x="4638675" y="478155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契約・合意書の確認、会社立ち上げの助言、小売・製造のネットワークを通じた現場開拓。</a:t>
            </a:r>
          </a:p>
        </p:txBody>
      </p:sp>
      <p:sp>
        <p:nvSpPr>
          <p:cNvPr id="20" name="">
            <a:extLst xmlns:a="http://schemas.openxmlformats.org/drawingml/2006/main">
              <a:ext uri="{FF2B5EF4-FFF2-40B4-BE49-F238E27FC236}">
                <a16:creationId xmlns:a16="http://schemas.microsoft.com/office/drawing/2014/main" id="{A6E7D3DD-A821-4ED6-9158-8707EABFF227}"/>
              </a:ext>
            </a:extLst>
          </p:cNvPr>
          <p:cNvSpPr>
            <a:spLocks xmlns:a="http://schemas.openxmlformats.org/drawingml/2006/main" noGrp="1"/>
          </p:cNvSpPr>
          <p:nvPr/>
        </p:nvSpPr>
        <p:spPr>
          <a:xfrm xmlns:a="http://schemas.openxmlformats.org/drawingml/2006/main">
            <a:off x="723900" y="55911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25750845"/>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DBE8A78-8DE8-4CCC-89A8-E695AC23C4B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E2CEFA-50D8-42DC-9841-6377A6AC9FC8}"/>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1時間あたりの収益構造</a:t>
            </a:r>
          </a:p>
        </p:txBody>
      </p:sp>
      <p:sp>
        <p:nvSpPr>
          <p:cNvPr id="3" name="">
            <a:extLst xmlns:a="http://schemas.openxmlformats.org/drawingml/2006/main">
              <a:ext uri="{FF2B5EF4-FFF2-40B4-BE49-F238E27FC236}">
                <a16:creationId xmlns:a16="http://schemas.microsoft.com/office/drawing/2014/main" id="{61A95455-0F98-46D0-89A2-D4FA2FD4AD4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2D1FED-5DFF-4DA4-A18C-79F34D8A0BD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graphicFrame>
        <p:nvGraphicFramePr>
          <p:cNvPr id="14" name=""/>
          <p:cNvGraphicFramePr/>
          <p:nvPr/>
        </p:nvGraphicFramePr>
        <p:xfrm>
          <a:off xmlns:a="http://schemas.openxmlformats.org/drawingml/2006/main" x="723900" y="1952625"/>
          <a:ext xmlns:a="http://schemas.openxmlformats.org/drawingml/2006/main" cx="10572750" cy="3143250"/>
        </p:xfrm>
        <a:graphic xmlns:a="http://schemas.openxmlformats.org/drawingml/2006/main">
          <a:graphicData uri="http://schemas.openxmlformats.org/drawingml/2006/table">
            <a:tbl>
              <a:tblPr/>
              <a:tblGrid>
                <a:gridCol w="3524250"/>
                <a:gridCol w="4095750"/>
                <a:gridCol w="29527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計算</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23875">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前提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350" b="0">
                          <a:solidFill>
                            <a:srgbClr val="15191B"/>
                          </a:solidFill>
                          <a:latin typeface="Hiragino Sans"/>
                          <a:ea typeface="Hiragino Sans"/>
                          <a:cs typeface="Hiragino Sans"/>
                        </a:rPr>
                        <a:t>現場への還元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販売単価の50%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350" b="0">
                          <a:solidFill>
                            <a:srgbClr val="15191B"/>
                          </a:solidFill>
                          <a:latin typeface="Hiragino Sans"/>
                          <a:ea typeface="Hiragino Sans"/>
                          <a:cs typeface="Hiragino Sans"/>
                        </a:rPr>
                        <a:t>RootLensの取り分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8,000円/月 ÷ 110時間</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35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9DFC44D7-6C4D-43BE-AD48-8FB4ABBBCDDC}"/>
              </a:ext>
            </a:extLst>
          </p:cNvPr>
          <p:cNvSpPr>
            <a:spLocks xmlns:a="http://schemas.openxmlformats.org/drawingml/2006/main" noGrp="1"/>
          </p:cNvSpPr>
          <p:nvPr/>
        </p:nvSpPr>
        <p:spPr>
          <a:xfrm xmlns:a="http://schemas.openxmlformats.org/drawingml/2006/main">
            <a:off x="723900" y="5381625"/>
            <a:ext cx="819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前提：デバイス8万円、10か月償却、1台あたり月110時間稼働。</a:t>
            </a:r>
          </a:p>
        </p:txBody>
      </p:sp>
      <p:sp>
        <p:nvSpPr>
          <p:cNvPr id="7" name="">
            <a:extLst xmlns:a="http://schemas.openxmlformats.org/drawingml/2006/main">
              <a:ext uri="{FF2B5EF4-FFF2-40B4-BE49-F238E27FC236}">
                <a16:creationId xmlns:a16="http://schemas.microsoft.com/office/drawing/2014/main" id="{8A6892EE-E1AD-4C6D-ACEA-94DBAD912E9F}"/>
              </a:ext>
            </a:extLst>
          </p:cNvPr>
          <p:cNvSpPr>
            <a:spLocks xmlns:a="http://schemas.openxmlformats.org/drawingml/2006/main" noGrp="1"/>
          </p:cNvSpPr>
          <p:nvPr/>
        </p:nvSpPr>
        <p:spPr>
          <a:xfrm xmlns:a="http://schemas.openxmlformats.org/drawingml/2006/main">
            <a:off x="723900" y="5743575"/>
            <a:ext cx="819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現場運用、人件費、法務、破損・紛失、転送費は含めていない。</a:t>
            </a:r>
          </a:p>
        </p:txBody>
      </p:sp>
      <p:sp>
        <p:nvSpPr>
          <p:cNvPr id="8" name="">
            <a:extLst xmlns:a="http://schemas.openxmlformats.org/drawingml/2006/main">
              <a:ext uri="{FF2B5EF4-FFF2-40B4-BE49-F238E27FC236}">
                <a16:creationId xmlns:a16="http://schemas.microsoft.com/office/drawing/2014/main" id="{1373DB60-560C-4762-A3C8-AF25AE8F709E}"/>
              </a:ext>
            </a:extLst>
          </p:cNvPr>
          <p:cNvSpPr>
            <a:spLocks xmlns:a="http://schemas.openxmlformats.org/drawingml/2006/main" noGrp="1"/>
          </p:cNvSpPr>
          <p:nvPr/>
        </p:nvSpPr>
        <p:spPr>
          <a:xfrm xmlns:a="http://schemas.openxmlformats.org/drawingml/2006/main">
            <a:off x="9220200" y="538162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625" b="1">
                <a:solidFill>
                  <a:srgbClr val="315C78"/>
                </a:solidFill>
                <a:latin typeface="Hiragino Sans"/>
                <a:ea typeface="Hiragino Sans"/>
                <a:cs typeface="Hiragino Sans"/>
              </a:defRPr>
            </a:pPr>
            <a:r>
              <a:rPr sz="2625" b="1">
                <a:solidFill>
                  <a:srgbClr val="315C78"/>
                </a:solidFill>
                <a:latin typeface="Hiragino Sans"/>
                <a:ea typeface="Hiragino Sans"/>
                <a:cs typeface="Hiragino Sans"/>
              </a:rPr>
              <a:t>45.5%</a:t>
            </a:r>
          </a:p>
        </p:txBody>
      </p:sp>
      <p:sp>
        <p:nvSpPr>
          <p:cNvPr id="9" name="">
            <a:extLst xmlns:a="http://schemas.openxmlformats.org/drawingml/2006/main">
              <a:ext uri="{FF2B5EF4-FFF2-40B4-BE49-F238E27FC236}">
                <a16:creationId xmlns:a16="http://schemas.microsoft.com/office/drawing/2014/main" id="{002FE920-5F7C-4EC3-BD0D-B254C645EA7E}"/>
              </a:ext>
            </a:extLst>
          </p:cNvPr>
          <p:cNvSpPr>
            <a:spLocks xmlns:a="http://schemas.openxmlformats.org/drawingml/2006/main" noGrp="1"/>
          </p:cNvSpPr>
          <p:nvPr/>
        </p:nvSpPr>
        <p:spPr>
          <a:xfrm xmlns:a="http://schemas.openxmlformats.org/drawingml/2006/main">
            <a:off x="8810625" y="5867400"/>
            <a:ext cx="2219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050" b="0">
                <a:solidFill>
                  <a:srgbClr val="58646A"/>
                </a:solidFill>
                <a:latin typeface="Hiragino Sans"/>
                <a:ea typeface="Hiragino Sans"/>
                <a:cs typeface="Hiragino Sans"/>
              </a:defRPr>
            </a:pPr>
            <a:r>
              <a:rPr sz="1050" b="0">
                <a:solidFill>
                  <a:srgbClr val="58646A"/>
                </a:solidFill>
                <a:latin typeface="Hiragino Sans"/>
                <a:ea typeface="Hiragino Sans"/>
                <a:cs typeface="Hiragino Sans"/>
              </a:rPr>
              <a:t>流通総額に対する償却後比率</a:t>
            </a:r>
          </a:p>
        </p:txBody>
      </p:sp>
    </p:spTree>
    <p:extLst>
      <p:ext uri="{BB962C8B-B14F-4D97-AF65-F5344CB8AC3E}">
        <p14:creationId xmlns:p14="http://schemas.microsoft.com/office/powerpoint/2010/main" val="654299420"/>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9E6562-3270-48AC-8055-010F5CCCF4E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EC7ADB-7231-4609-AAE7-A7D9F504CD84}"/>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収集規模別の試算</a:t>
            </a:r>
          </a:p>
        </p:txBody>
      </p:sp>
      <p:sp>
        <p:nvSpPr>
          <p:cNvPr id="3" name="">
            <a:extLst xmlns:a="http://schemas.openxmlformats.org/drawingml/2006/main">
              <a:ext uri="{FF2B5EF4-FFF2-40B4-BE49-F238E27FC236}">
                <a16:creationId xmlns:a16="http://schemas.microsoft.com/office/drawing/2014/main" id="{290D114A-70B6-4168-BCEF-693BDA04ABE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CC42F16-B6D2-4E3F-9EC3-2D0253166C41}"/>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graphicFrame>
        <p:nvGraphicFramePr>
          <p:cNvPr id="12" name=""/>
          <p:cNvGraphicFramePr/>
          <p:nvPr/>
        </p:nvGraphicFramePr>
        <p:xfrm>
          <a:off xmlns:a="http://schemas.openxmlformats.org/drawingml/2006/main" x="723900" y="19240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RootLens取り分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C4FA6A6-670C-4768-83E3-DA94BD255E58}"/>
              </a:ext>
            </a:extLst>
          </p:cNvPr>
          <p:cNvSpPr>
            <a:spLocks xmlns:a="http://schemas.openxmlformats.org/drawingml/2006/main" noGrp="1"/>
          </p:cNvSpPr>
          <p:nvPr/>
        </p:nvSpPr>
        <p:spPr>
          <a:xfrm xmlns:a="http://schemas.openxmlformats.org/drawingml/2006/main">
            <a:off x="723900" y="561975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月10,000時間を12か月継続した場合、流通総額は1.92億円、償却後は約8,726万円。</a:t>
            </a:r>
          </a:p>
        </p:txBody>
      </p:sp>
      <p:sp>
        <p:nvSpPr>
          <p:cNvPr id="7" name="">
            <a:extLst xmlns:a="http://schemas.openxmlformats.org/drawingml/2006/main">
              <a:ext uri="{FF2B5EF4-FFF2-40B4-BE49-F238E27FC236}">
                <a16:creationId xmlns:a16="http://schemas.microsoft.com/office/drawing/2014/main" id="{4A29C605-5702-44EC-9703-C1A7EFD67A32}"/>
              </a:ext>
            </a:extLst>
          </p:cNvPr>
          <p:cNvSpPr>
            <a:spLocks xmlns:a="http://schemas.openxmlformats.org/drawingml/2006/main" noGrp="1"/>
          </p:cNvSpPr>
          <p:nvPr/>
        </p:nvSpPr>
        <p:spPr>
          <a:xfrm xmlns:a="http://schemas.openxmlformats.org/drawingml/2006/main">
            <a:off x="723900" y="60293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同一データの複数回販売は、この基準試算に含めていない。</a:t>
            </a:r>
          </a:p>
        </p:txBody>
      </p:sp>
    </p:spTree>
    <p:extLst>
      <p:ext uri="{BB962C8B-B14F-4D97-AF65-F5344CB8AC3E}">
        <p14:creationId xmlns:p14="http://schemas.microsoft.com/office/powerpoint/2010/main" val="2007621536"/>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BE6EA5B-039D-43E8-B737-753D42DDB13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9810CD-022F-43C6-A820-F2F44F380597}"/>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規模を拡大する際に検証すること</a:t>
            </a:r>
          </a:p>
        </p:txBody>
      </p:sp>
      <p:sp>
        <p:nvSpPr>
          <p:cNvPr id="3" name="">
            <a:extLst xmlns:a="http://schemas.openxmlformats.org/drawingml/2006/main">
              <a:ext uri="{FF2B5EF4-FFF2-40B4-BE49-F238E27FC236}">
                <a16:creationId xmlns:a16="http://schemas.microsoft.com/office/drawing/2014/main" id="{F8B61D88-AAC2-455D-9EBF-BDBF8A20E93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B84347A-6640-410A-ADDC-110B3153A07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3E42354B-86B8-4471-BD81-F012942F530D}"/>
              </a:ext>
            </a:extLst>
          </p:cNvPr>
          <p:cNvSpPr>
            <a:spLocks xmlns:a="http://schemas.openxmlformats.org/drawingml/2006/main" noGrp="1"/>
          </p:cNvSpPr>
          <p:nvPr/>
        </p:nvSpPr>
        <p:spPr>
          <a:xfrm xmlns:a="http://schemas.openxmlformats.org/drawingml/2006/main">
            <a:off x="723900" y="20288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01</a:t>
            </a:r>
          </a:p>
        </p:txBody>
      </p:sp>
      <p:sp>
        <p:nvSpPr>
          <p:cNvPr id="6" name="">
            <a:extLst xmlns:a="http://schemas.openxmlformats.org/drawingml/2006/main">
              <a:ext uri="{FF2B5EF4-FFF2-40B4-BE49-F238E27FC236}">
                <a16:creationId xmlns:a16="http://schemas.microsoft.com/office/drawing/2014/main" id="{3AB3A0A5-5B5A-4C39-B968-1EE8AAEC14FE}"/>
              </a:ext>
            </a:extLst>
          </p:cNvPr>
          <p:cNvSpPr>
            <a:spLocks xmlns:a="http://schemas.openxmlformats.org/drawingml/2006/main" noGrp="1"/>
          </p:cNvSpPr>
          <p:nvPr/>
        </p:nvSpPr>
        <p:spPr>
          <a:xfrm xmlns:a="http://schemas.openxmlformats.org/drawingml/2006/main">
            <a:off x="1476375" y="2000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現場開拓の速度</a:t>
            </a:r>
          </a:p>
        </p:txBody>
      </p:sp>
      <p:sp>
        <p:nvSpPr>
          <p:cNvPr id="7" name="">
            <a:extLst xmlns:a="http://schemas.openxmlformats.org/drawingml/2006/main">
              <a:ext uri="{FF2B5EF4-FFF2-40B4-BE49-F238E27FC236}">
                <a16:creationId xmlns:a16="http://schemas.microsoft.com/office/drawing/2014/main" id="{1656C2A2-5281-4327-B970-E847F033826A}"/>
              </a:ext>
            </a:extLst>
          </p:cNvPr>
          <p:cNvSpPr>
            <a:spLocks xmlns:a="http://schemas.openxmlformats.org/drawingml/2006/main" noGrp="1"/>
          </p:cNvSpPr>
          <p:nvPr/>
        </p:nvSpPr>
        <p:spPr>
          <a:xfrm xmlns:a="http://schemas.openxmlformats.org/drawingml/2006/main">
            <a:off x="4191000" y="2000250"/>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最初の現場より、次の現場を短い期間で獲得できるか。</a:t>
            </a:r>
          </a:p>
        </p:txBody>
      </p:sp>
      <p:sp>
        <p:nvSpPr>
          <p:cNvPr id="8" name="">
            <a:extLst xmlns:a="http://schemas.openxmlformats.org/drawingml/2006/main">
              <a:ext uri="{FF2B5EF4-FFF2-40B4-BE49-F238E27FC236}">
                <a16:creationId xmlns:a16="http://schemas.microsoft.com/office/drawing/2014/main" id="{29FA18E6-8EDF-4BB6-8EFF-B76B8A7212F3}"/>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0DDEA42-3839-428D-A99D-1025462FDD3B}"/>
              </a:ext>
            </a:extLst>
          </p:cNvPr>
          <p:cNvSpPr>
            <a:spLocks xmlns:a="http://schemas.openxmlformats.org/drawingml/2006/main" noGrp="1"/>
          </p:cNvSpPr>
          <p:nvPr/>
        </p:nvSpPr>
        <p:spPr>
          <a:xfrm xmlns:a="http://schemas.openxmlformats.org/drawingml/2006/main">
            <a:off x="723900" y="31337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02</a:t>
            </a:r>
          </a:p>
        </p:txBody>
      </p:sp>
      <p:sp>
        <p:nvSpPr>
          <p:cNvPr id="10" name="">
            <a:extLst xmlns:a="http://schemas.openxmlformats.org/drawingml/2006/main">
              <a:ext uri="{FF2B5EF4-FFF2-40B4-BE49-F238E27FC236}">
                <a16:creationId xmlns:a16="http://schemas.microsoft.com/office/drawing/2014/main" id="{94A27B78-3306-41D5-A48C-721394FBCC20}"/>
              </a:ext>
            </a:extLst>
          </p:cNvPr>
          <p:cNvSpPr>
            <a:spLocks xmlns:a="http://schemas.openxmlformats.org/drawingml/2006/main" noGrp="1"/>
          </p:cNvSpPr>
          <p:nvPr/>
        </p:nvSpPr>
        <p:spPr>
          <a:xfrm xmlns:a="http://schemas.openxmlformats.org/drawingml/2006/main">
            <a:off x="1476375" y="31051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現場運用の負担</a:t>
            </a:r>
          </a:p>
        </p:txBody>
      </p:sp>
      <p:sp>
        <p:nvSpPr>
          <p:cNvPr id="11" name="">
            <a:extLst xmlns:a="http://schemas.openxmlformats.org/drawingml/2006/main">
              <a:ext uri="{FF2B5EF4-FFF2-40B4-BE49-F238E27FC236}">
                <a16:creationId xmlns:a16="http://schemas.microsoft.com/office/drawing/2014/main" id="{C58DE443-33F0-4E73-B4DA-92190980A241}"/>
              </a:ext>
            </a:extLst>
          </p:cNvPr>
          <p:cNvSpPr>
            <a:spLocks xmlns:a="http://schemas.openxmlformats.org/drawingml/2006/main" noGrp="1"/>
          </p:cNvSpPr>
          <p:nvPr/>
        </p:nvSpPr>
        <p:spPr>
          <a:xfrm xmlns:a="http://schemas.openxmlformats.org/drawingml/2006/main">
            <a:off x="4191000" y="3105150"/>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機材の配布、説明、回収、トラブル対応が店舗数に比例して増えるか。</a:t>
            </a:r>
          </a:p>
        </p:txBody>
      </p:sp>
      <p:sp>
        <p:nvSpPr>
          <p:cNvPr id="12" name="">
            <a:extLst xmlns:a="http://schemas.openxmlformats.org/drawingml/2006/main">
              <a:ext uri="{FF2B5EF4-FFF2-40B4-BE49-F238E27FC236}">
                <a16:creationId xmlns:a16="http://schemas.microsoft.com/office/drawing/2014/main" id="{6C47298E-69C1-4ED3-ACB2-241798E2B87D}"/>
              </a:ext>
            </a:extLst>
          </p:cNvPr>
          <p:cNvSpPr>
            <a:spLocks xmlns:a="http://schemas.openxmlformats.org/drawingml/2006/main" noGrp="1"/>
          </p:cNvSpPr>
          <p:nvPr/>
        </p:nvSpPr>
        <p:spPr>
          <a:xfrm xmlns:a="http://schemas.openxmlformats.org/drawingml/2006/main">
            <a:off x="723900" y="40100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9BEE40D-ED79-4615-9C45-8D166E059713}"/>
              </a:ext>
            </a:extLst>
          </p:cNvPr>
          <p:cNvSpPr>
            <a:spLocks xmlns:a="http://schemas.openxmlformats.org/drawingml/2006/main" noGrp="1"/>
          </p:cNvSpPr>
          <p:nvPr/>
        </p:nvSpPr>
        <p:spPr>
          <a:xfrm xmlns:a="http://schemas.openxmlformats.org/drawingml/2006/main">
            <a:off x="723900" y="4238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03</a:t>
            </a:r>
          </a:p>
        </p:txBody>
      </p:sp>
      <p:sp>
        <p:nvSpPr>
          <p:cNvPr id="14" name="">
            <a:extLst xmlns:a="http://schemas.openxmlformats.org/drawingml/2006/main">
              <a:ext uri="{FF2B5EF4-FFF2-40B4-BE49-F238E27FC236}">
                <a16:creationId xmlns:a16="http://schemas.microsoft.com/office/drawing/2014/main" id="{79153EDC-3C07-4A70-AFAA-CF86426DFC4D}"/>
              </a:ext>
            </a:extLst>
          </p:cNvPr>
          <p:cNvSpPr>
            <a:spLocks xmlns:a="http://schemas.openxmlformats.org/drawingml/2006/main" noGrp="1"/>
          </p:cNvSpPr>
          <p:nvPr/>
        </p:nvSpPr>
        <p:spPr>
          <a:xfrm xmlns:a="http://schemas.openxmlformats.org/drawingml/2006/main">
            <a:off x="1476375" y="42100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買い手の受入規模</a:t>
            </a:r>
          </a:p>
        </p:txBody>
      </p:sp>
      <p:sp>
        <p:nvSpPr>
          <p:cNvPr id="15" name="">
            <a:extLst xmlns:a="http://schemas.openxmlformats.org/drawingml/2006/main">
              <a:ext uri="{FF2B5EF4-FFF2-40B4-BE49-F238E27FC236}">
                <a16:creationId xmlns:a16="http://schemas.microsoft.com/office/drawing/2014/main" id="{33A8091D-BEF8-4C27-B7FA-19F1E8DCB0CD}"/>
              </a:ext>
            </a:extLst>
          </p:cNvPr>
          <p:cNvSpPr>
            <a:spLocks xmlns:a="http://schemas.openxmlformats.org/drawingml/2006/main" noGrp="1"/>
          </p:cNvSpPr>
          <p:nvPr/>
        </p:nvSpPr>
        <p:spPr>
          <a:xfrm xmlns:a="http://schemas.openxmlformats.org/drawingml/2006/main">
            <a:off x="4191000" y="4210050"/>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月1,000時間、10,000時間を継続して販売できる販路と仕様を作れるか。</a:t>
            </a:r>
          </a:p>
        </p:txBody>
      </p:sp>
      <p:sp>
        <p:nvSpPr>
          <p:cNvPr id="16" name="">
            <a:extLst xmlns:a="http://schemas.openxmlformats.org/drawingml/2006/main">
              <a:ext uri="{FF2B5EF4-FFF2-40B4-BE49-F238E27FC236}">
                <a16:creationId xmlns:a16="http://schemas.microsoft.com/office/drawing/2014/main" id="{4B4FEF09-F739-41B0-B10A-00964166DFD2}"/>
              </a:ext>
            </a:extLst>
          </p:cNvPr>
          <p:cNvSpPr>
            <a:spLocks xmlns:a="http://schemas.openxmlformats.org/drawingml/2006/main" noGrp="1"/>
          </p:cNvSpPr>
          <p:nvPr/>
        </p:nvSpPr>
        <p:spPr>
          <a:xfrm xmlns:a="http://schemas.openxmlformats.org/drawingml/2006/main">
            <a:off x="723900" y="51149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1C1168E-F038-4112-BD7B-A1C068A13634}"/>
              </a:ext>
            </a:extLst>
          </p:cNvPr>
          <p:cNvSpPr>
            <a:spLocks xmlns:a="http://schemas.openxmlformats.org/drawingml/2006/main" noGrp="1"/>
          </p:cNvSpPr>
          <p:nvPr/>
        </p:nvSpPr>
        <p:spPr>
          <a:xfrm xmlns:a="http://schemas.openxmlformats.org/drawingml/2006/main">
            <a:off x="723900" y="563880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デバイス費より、現場運用と販売能力がユニットエコノミクスを決める。</a:t>
            </a:r>
          </a:p>
        </p:txBody>
      </p:sp>
    </p:spTree>
    <p:extLst>
      <p:ext uri="{BB962C8B-B14F-4D97-AF65-F5344CB8AC3E}">
        <p14:creationId xmlns:p14="http://schemas.microsoft.com/office/powerpoint/2010/main" val="1234450992"/>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7F6D146-FF83-4C29-8A90-FB3B629C48F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EECF34-3837-4822-BFDE-53AB230EEE5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現時点で見えている事業の拡張経路</a:t>
            </a:r>
          </a:p>
        </p:txBody>
      </p:sp>
      <p:sp>
        <p:nvSpPr>
          <p:cNvPr id="3" name="">
            <a:extLst xmlns:a="http://schemas.openxmlformats.org/drawingml/2006/main">
              <a:ext uri="{FF2B5EF4-FFF2-40B4-BE49-F238E27FC236}">
                <a16:creationId xmlns:a16="http://schemas.microsoft.com/office/drawing/2014/main" id="{B63488FA-E7AB-43BA-B7C2-1D758B8D7F1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7A1508-D4D0-43D1-97CF-5E14B00375A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2F02DA57-6CDA-43C6-8065-B5EB62B96F9D}"/>
              </a:ext>
            </a:extLst>
          </p:cNvPr>
          <p:cNvSpPr>
            <a:spLocks xmlns:a="http://schemas.openxmlformats.org/drawingml/2006/main" noGrp="1"/>
          </p:cNvSpPr>
          <p:nvPr/>
        </p:nvSpPr>
        <p:spPr>
          <a:xfrm xmlns:a="http://schemas.openxmlformats.org/drawingml/2006/main">
            <a:off x="72390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6" name="">
            <a:extLst xmlns:a="http://schemas.openxmlformats.org/drawingml/2006/main">
              <a:ext uri="{FF2B5EF4-FFF2-40B4-BE49-F238E27FC236}">
                <a16:creationId xmlns:a16="http://schemas.microsoft.com/office/drawing/2014/main" id="{C3722340-A089-430D-B277-B7951933D0BE}"/>
              </a:ext>
            </a:extLst>
          </p:cNvPr>
          <p:cNvSpPr>
            <a:spLocks xmlns:a="http://schemas.openxmlformats.org/drawingml/2006/main" noGrp="1"/>
          </p:cNvSpPr>
          <p:nvPr/>
        </p:nvSpPr>
        <p:spPr>
          <a:xfrm xmlns:a="http://schemas.openxmlformats.org/drawingml/2006/main">
            <a:off x="723900" y="2428875"/>
            <a:ext cx="2286000" cy="2000250"/>
          </a:xfrm>
          <a:prstGeom xmlns:a="http://schemas.openxmlformats.org/drawingml/2006/main" prst="rect">
            <a:avLst/>
          </a:prstGeom>
          <a:solidFill xmlns:a="http://schemas.openxmlformats.org/drawingml/2006/main">
            <a:srgbClr val="DCE8EF"/>
          </a:solidFill>
          <a:ln xmlns:a="http://schemas.openxmlformats.org/drawingml/2006/main" w="9525">
            <a:solidFill>
              <a:srgbClr val="AAB6BC"/>
            </a:solidFill>
          </a:ln>
        </p:spPr>
      </p:sp>
      <p:sp>
        <p:nvSpPr>
          <p:cNvPr id="7" name="">
            <a:extLst xmlns:a="http://schemas.openxmlformats.org/drawingml/2006/main">
              <a:ext uri="{FF2B5EF4-FFF2-40B4-BE49-F238E27FC236}">
                <a16:creationId xmlns:a16="http://schemas.microsoft.com/office/drawing/2014/main" id="{5F386610-F7CE-4F7C-ACF5-B44880F3937B}"/>
              </a:ext>
            </a:extLst>
          </p:cNvPr>
          <p:cNvSpPr>
            <a:spLocks xmlns:a="http://schemas.openxmlformats.org/drawingml/2006/main" noGrp="1"/>
          </p:cNvSpPr>
          <p:nvPr/>
        </p:nvSpPr>
        <p:spPr>
          <a:xfrm xmlns:a="http://schemas.openxmlformats.org/drawingml/2006/main">
            <a:off x="93345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現場データを収集・販売</a:t>
            </a:r>
          </a:p>
        </p:txBody>
      </p:sp>
      <p:sp>
        <p:nvSpPr>
          <p:cNvPr id="8" name="">
            <a:extLst xmlns:a="http://schemas.openxmlformats.org/drawingml/2006/main">
              <a:ext uri="{FF2B5EF4-FFF2-40B4-BE49-F238E27FC236}">
                <a16:creationId xmlns:a16="http://schemas.microsoft.com/office/drawing/2014/main" id="{B307A452-E288-4A0A-86FD-3B2FD5E761D4}"/>
              </a:ext>
            </a:extLst>
          </p:cNvPr>
          <p:cNvSpPr>
            <a:spLocks xmlns:a="http://schemas.openxmlformats.org/drawingml/2006/main" noGrp="1"/>
          </p:cNvSpPr>
          <p:nvPr/>
        </p:nvSpPr>
        <p:spPr>
          <a:xfrm xmlns:a="http://schemas.openxmlformats.org/drawingml/2006/main">
            <a:off x="93345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現場との関係、合意フロー、作業データを蓄積</a:t>
            </a:r>
          </a:p>
        </p:txBody>
      </p:sp>
      <p:sp>
        <p:nvSpPr>
          <p:cNvPr id="9" name="">
            <a:extLst xmlns:a="http://schemas.openxmlformats.org/drawingml/2006/main">
              <a:ext uri="{FF2B5EF4-FFF2-40B4-BE49-F238E27FC236}">
                <a16:creationId xmlns:a16="http://schemas.microsoft.com/office/drawing/2014/main" id="{D5C454A7-4F0E-442A-8BB2-ADA92A0EC016}"/>
              </a:ext>
            </a:extLst>
          </p:cNvPr>
          <p:cNvSpPr>
            <a:spLocks xmlns:a="http://schemas.openxmlformats.org/drawingml/2006/main" noGrp="1"/>
          </p:cNvSpPr>
          <p:nvPr/>
        </p:nvSpPr>
        <p:spPr>
          <a:xfrm xmlns:a="http://schemas.openxmlformats.org/drawingml/2006/main">
            <a:off x="3009900" y="3419475"/>
            <a:ext cx="476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5AA4F5B-CE89-4833-BF6F-47B68618E40B}"/>
              </a:ext>
            </a:extLst>
          </p:cNvPr>
          <p:cNvSpPr>
            <a:spLocks xmlns:a="http://schemas.openxmlformats.org/drawingml/2006/main" noGrp="1"/>
          </p:cNvSpPr>
          <p:nvPr/>
        </p:nvSpPr>
        <p:spPr>
          <a:xfrm xmlns:a="http://schemas.openxmlformats.org/drawingml/2006/main">
            <a:off x="348615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可能性 1</a:t>
            </a:r>
          </a:p>
        </p:txBody>
      </p:sp>
      <p:sp>
        <p:nvSpPr>
          <p:cNvPr id="11" name="">
            <a:extLst xmlns:a="http://schemas.openxmlformats.org/drawingml/2006/main">
              <a:ext uri="{FF2B5EF4-FFF2-40B4-BE49-F238E27FC236}">
                <a16:creationId xmlns:a16="http://schemas.microsoft.com/office/drawing/2014/main" id="{EDC9649F-1877-41A4-9762-8B9EFAAD601A}"/>
              </a:ext>
            </a:extLst>
          </p:cNvPr>
          <p:cNvSpPr>
            <a:spLocks xmlns:a="http://schemas.openxmlformats.org/drawingml/2006/main" noGrp="1"/>
          </p:cNvSpPr>
          <p:nvPr/>
        </p:nvSpPr>
        <p:spPr>
          <a:xfrm xmlns:a="http://schemas.openxmlformats.org/drawingml/2006/main">
            <a:off x="3486150" y="2428875"/>
            <a:ext cx="2286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6BE2C90C-64D2-4869-BAF0-8A99B970D3EB}"/>
              </a:ext>
            </a:extLst>
          </p:cNvPr>
          <p:cNvSpPr>
            <a:spLocks xmlns:a="http://schemas.openxmlformats.org/drawingml/2006/main" noGrp="1"/>
          </p:cNvSpPr>
          <p:nvPr/>
        </p:nvSpPr>
        <p:spPr>
          <a:xfrm xmlns:a="http://schemas.openxmlformats.org/drawingml/2006/main">
            <a:off x="369570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撮影デバイス</a:t>
            </a:r>
          </a:p>
        </p:txBody>
      </p:sp>
      <p:sp>
        <p:nvSpPr>
          <p:cNvPr id="13" name="">
            <a:extLst xmlns:a="http://schemas.openxmlformats.org/drawingml/2006/main">
              <a:ext uri="{FF2B5EF4-FFF2-40B4-BE49-F238E27FC236}">
                <a16:creationId xmlns:a16="http://schemas.microsoft.com/office/drawing/2014/main" id="{CA1DA0A9-C206-4C3B-9EB3-13333BAF3BFC}"/>
              </a:ext>
            </a:extLst>
          </p:cNvPr>
          <p:cNvSpPr>
            <a:spLocks xmlns:a="http://schemas.openxmlformats.org/drawingml/2006/main" noGrp="1"/>
          </p:cNvSpPr>
          <p:nvPr/>
        </p:nvSpPr>
        <p:spPr>
          <a:xfrm xmlns:a="http://schemas.openxmlformats.org/drawingml/2006/main">
            <a:off x="369570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現場の負担を減らす機材を開発し、販売も検討</a:t>
            </a:r>
          </a:p>
        </p:txBody>
      </p:sp>
      <p:sp>
        <p:nvSpPr>
          <p:cNvPr id="14" name="">
            <a:extLst xmlns:a="http://schemas.openxmlformats.org/drawingml/2006/main">
              <a:ext uri="{FF2B5EF4-FFF2-40B4-BE49-F238E27FC236}">
                <a16:creationId xmlns:a16="http://schemas.microsoft.com/office/drawing/2014/main" id="{9E4EA2E6-DFA0-40E9-BD82-724C6BA39759}"/>
              </a:ext>
            </a:extLst>
          </p:cNvPr>
          <p:cNvSpPr>
            <a:spLocks xmlns:a="http://schemas.openxmlformats.org/drawingml/2006/main" noGrp="1"/>
          </p:cNvSpPr>
          <p:nvPr/>
        </p:nvSpPr>
        <p:spPr>
          <a:xfrm xmlns:a="http://schemas.openxmlformats.org/drawingml/2006/main">
            <a:off x="5772150" y="3419475"/>
            <a:ext cx="476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0DD9904-EAED-41C8-80AC-0866F1DBC0DF}"/>
              </a:ext>
            </a:extLst>
          </p:cNvPr>
          <p:cNvSpPr>
            <a:spLocks xmlns:a="http://schemas.openxmlformats.org/drawingml/2006/main" noGrp="1"/>
          </p:cNvSpPr>
          <p:nvPr/>
        </p:nvSpPr>
        <p:spPr>
          <a:xfrm xmlns:a="http://schemas.openxmlformats.org/drawingml/2006/main">
            <a:off x="624840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可能性 2</a:t>
            </a:r>
          </a:p>
        </p:txBody>
      </p:sp>
      <p:sp>
        <p:nvSpPr>
          <p:cNvPr id="16" name="">
            <a:extLst xmlns:a="http://schemas.openxmlformats.org/drawingml/2006/main">
              <a:ext uri="{FF2B5EF4-FFF2-40B4-BE49-F238E27FC236}">
                <a16:creationId xmlns:a16="http://schemas.microsoft.com/office/drawing/2014/main" id="{D4867F66-3EB9-48BE-967D-6E8E9C08C79C}"/>
              </a:ext>
            </a:extLst>
          </p:cNvPr>
          <p:cNvSpPr>
            <a:spLocks xmlns:a="http://schemas.openxmlformats.org/drawingml/2006/main" noGrp="1"/>
          </p:cNvSpPr>
          <p:nvPr/>
        </p:nvSpPr>
        <p:spPr>
          <a:xfrm xmlns:a="http://schemas.openxmlformats.org/drawingml/2006/main">
            <a:off x="6248400" y="2428875"/>
            <a:ext cx="2286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8897E3F6-11DF-4AFC-91E8-7975B5CD0179}"/>
              </a:ext>
            </a:extLst>
          </p:cNvPr>
          <p:cNvSpPr>
            <a:spLocks xmlns:a="http://schemas.openxmlformats.org/drawingml/2006/main" noGrp="1"/>
          </p:cNvSpPr>
          <p:nvPr/>
        </p:nvSpPr>
        <p:spPr>
          <a:xfrm xmlns:a="http://schemas.openxmlformats.org/drawingml/2006/main">
            <a:off x="645795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実証現場の提供</a:t>
            </a:r>
          </a:p>
        </p:txBody>
      </p:sp>
      <p:sp>
        <p:nvSpPr>
          <p:cNvPr id="18" name="">
            <a:extLst xmlns:a="http://schemas.openxmlformats.org/drawingml/2006/main">
              <a:ext uri="{FF2B5EF4-FFF2-40B4-BE49-F238E27FC236}">
                <a16:creationId xmlns:a16="http://schemas.microsoft.com/office/drawing/2014/main" id="{B0A2EB14-62D2-46D5-A169-BAF5E3DCEE74}"/>
              </a:ext>
            </a:extLst>
          </p:cNvPr>
          <p:cNvSpPr>
            <a:spLocks xmlns:a="http://schemas.openxmlformats.org/drawingml/2006/main" noGrp="1"/>
          </p:cNvSpPr>
          <p:nvPr/>
        </p:nvSpPr>
        <p:spPr>
          <a:xfrm xmlns:a="http://schemas.openxmlformats.org/drawingml/2006/main">
            <a:off x="645795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ロボット企業や研究機関と現場をつなぐ</a:t>
            </a:r>
          </a:p>
        </p:txBody>
      </p:sp>
      <p:sp>
        <p:nvSpPr>
          <p:cNvPr id="19" name="">
            <a:extLst xmlns:a="http://schemas.openxmlformats.org/drawingml/2006/main">
              <a:ext uri="{FF2B5EF4-FFF2-40B4-BE49-F238E27FC236}">
                <a16:creationId xmlns:a16="http://schemas.microsoft.com/office/drawing/2014/main" id="{BAE5EB3B-FB44-4F8B-AEBB-00E4A9E51051}"/>
              </a:ext>
            </a:extLst>
          </p:cNvPr>
          <p:cNvSpPr>
            <a:spLocks xmlns:a="http://schemas.openxmlformats.org/drawingml/2006/main" noGrp="1"/>
          </p:cNvSpPr>
          <p:nvPr/>
        </p:nvSpPr>
        <p:spPr>
          <a:xfrm xmlns:a="http://schemas.openxmlformats.org/drawingml/2006/main">
            <a:off x="8534400" y="3419475"/>
            <a:ext cx="476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200D14E-B2E4-48E3-8CCE-C56845D102CD}"/>
              </a:ext>
            </a:extLst>
          </p:cNvPr>
          <p:cNvSpPr>
            <a:spLocks xmlns:a="http://schemas.openxmlformats.org/drawingml/2006/main" noGrp="1"/>
          </p:cNvSpPr>
          <p:nvPr/>
        </p:nvSpPr>
        <p:spPr>
          <a:xfrm xmlns:a="http://schemas.openxmlformats.org/drawingml/2006/main">
            <a:off x="9010650" y="203835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目指す姿</a:t>
            </a:r>
          </a:p>
        </p:txBody>
      </p:sp>
      <p:sp>
        <p:nvSpPr>
          <p:cNvPr id="21" name="">
            <a:extLst xmlns:a="http://schemas.openxmlformats.org/drawingml/2006/main">
              <a:ext uri="{FF2B5EF4-FFF2-40B4-BE49-F238E27FC236}">
                <a16:creationId xmlns:a16="http://schemas.microsoft.com/office/drawing/2014/main" id="{00214B48-806D-4443-9805-0CEF6B0E6880}"/>
              </a:ext>
            </a:extLst>
          </p:cNvPr>
          <p:cNvSpPr>
            <a:spLocks xmlns:a="http://schemas.openxmlformats.org/drawingml/2006/main" noGrp="1"/>
          </p:cNvSpPr>
          <p:nvPr/>
        </p:nvSpPr>
        <p:spPr>
          <a:xfrm xmlns:a="http://schemas.openxmlformats.org/drawingml/2006/main">
            <a:off x="9010650" y="2428875"/>
            <a:ext cx="2286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2" name="">
            <a:extLst xmlns:a="http://schemas.openxmlformats.org/drawingml/2006/main">
              <a:ext uri="{FF2B5EF4-FFF2-40B4-BE49-F238E27FC236}">
                <a16:creationId xmlns:a16="http://schemas.microsoft.com/office/drawing/2014/main" id="{4524FB54-7A18-41B5-B5C8-4CBDACB3C766}"/>
              </a:ext>
            </a:extLst>
          </p:cNvPr>
          <p:cNvSpPr>
            <a:spLocks xmlns:a="http://schemas.openxmlformats.org/drawingml/2006/main" noGrp="1"/>
          </p:cNvSpPr>
          <p:nvPr/>
        </p:nvSpPr>
        <p:spPr>
          <a:xfrm xmlns:a="http://schemas.openxmlformats.org/drawingml/2006/main">
            <a:off x="9220200" y="2714625"/>
            <a:ext cx="1866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ロボットの現場統合</a:t>
            </a:r>
          </a:p>
        </p:txBody>
      </p:sp>
      <p:sp>
        <p:nvSpPr>
          <p:cNvPr id="23" name="">
            <a:extLst xmlns:a="http://schemas.openxmlformats.org/drawingml/2006/main">
              <a:ext uri="{FF2B5EF4-FFF2-40B4-BE49-F238E27FC236}">
                <a16:creationId xmlns:a16="http://schemas.microsoft.com/office/drawing/2014/main" id="{0062D33A-CBEA-42F9-A2D4-4C7044BA932F}"/>
              </a:ext>
            </a:extLst>
          </p:cNvPr>
          <p:cNvSpPr>
            <a:spLocks xmlns:a="http://schemas.openxmlformats.org/drawingml/2006/main" noGrp="1"/>
          </p:cNvSpPr>
          <p:nvPr/>
        </p:nvSpPr>
        <p:spPr>
          <a:xfrm xmlns:a="http://schemas.openxmlformats.org/drawingml/2006/main">
            <a:off x="9220200" y="3524250"/>
            <a:ext cx="1866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蓄積したデータと現場知識を使い、自ら導入する</a:t>
            </a:r>
          </a:p>
        </p:txBody>
      </p:sp>
      <p:sp>
        <p:nvSpPr>
          <p:cNvPr id="24" name="">
            <a:extLst xmlns:a="http://schemas.openxmlformats.org/drawingml/2006/main">
              <a:ext uri="{FF2B5EF4-FFF2-40B4-BE49-F238E27FC236}">
                <a16:creationId xmlns:a16="http://schemas.microsoft.com/office/drawing/2014/main" id="{3563ABA9-B142-48DF-B66C-DE23800122CC}"/>
              </a:ext>
            </a:extLst>
          </p:cNvPr>
          <p:cNvSpPr>
            <a:spLocks xmlns:a="http://schemas.openxmlformats.org/drawingml/2006/main" noGrp="1"/>
          </p:cNvSpPr>
          <p:nvPr/>
        </p:nvSpPr>
        <p:spPr>
          <a:xfrm xmlns:a="http://schemas.openxmlformats.org/drawingml/2006/main">
            <a:off x="723900" y="5000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61D6EFB-2F73-4CC6-A0E2-5BE50A88C25E}"/>
              </a:ext>
            </a:extLst>
          </p:cNvPr>
          <p:cNvSpPr>
            <a:spLocks xmlns:a="http://schemas.openxmlformats.org/drawingml/2006/main" noGrp="1"/>
          </p:cNvSpPr>
          <p:nvPr/>
        </p:nvSpPr>
        <p:spPr>
          <a:xfrm xmlns:a="http://schemas.openxmlformats.org/drawingml/2006/main">
            <a:off x="723900" y="5362575"/>
            <a:ext cx="10382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直近以外は、現在見えている可能性を並べたものであり、実行時期を定めた計画ではない。</a:t>
            </a:r>
          </a:p>
        </p:txBody>
      </p:sp>
    </p:spTree>
    <p:extLst>
      <p:ext uri="{BB962C8B-B14F-4D97-AF65-F5344CB8AC3E}">
        <p14:creationId xmlns:p14="http://schemas.microsoft.com/office/powerpoint/2010/main" val="1124923129"/>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B7C4180-2216-467C-BEE2-A1899172457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C97FA6-65CA-4355-992F-4080891D4F0D}"/>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直近3か月の目標</a:t>
            </a:r>
          </a:p>
        </p:txBody>
      </p:sp>
      <p:sp>
        <p:nvSpPr>
          <p:cNvPr id="3" name="">
            <a:extLst xmlns:a="http://schemas.openxmlformats.org/drawingml/2006/main">
              <a:ext uri="{FF2B5EF4-FFF2-40B4-BE49-F238E27FC236}">
                <a16:creationId xmlns:a16="http://schemas.microsoft.com/office/drawing/2014/main" id="{83BDF53D-57AD-4192-B21B-23BDE938657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45F333-080E-468E-97F7-7CE03A1BFF7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AA45F59D-F710-4F2F-BB6D-F8FE788B9CEA}"/>
              </a:ext>
            </a:extLst>
          </p:cNvPr>
          <p:cNvSpPr>
            <a:spLocks xmlns:a="http://schemas.openxmlformats.org/drawingml/2006/main" noGrp="1"/>
          </p:cNvSpPr>
          <p:nvPr/>
        </p:nvSpPr>
        <p:spPr>
          <a:xfrm xmlns:a="http://schemas.openxmlformats.org/drawingml/2006/main">
            <a:off x="723900" y="200977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10月</a:t>
            </a:r>
          </a:p>
        </p:txBody>
      </p:sp>
      <p:sp>
        <p:nvSpPr>
          <p:cNvPr id="6" name="">
            <a:extLst xmlns:a="http://schemas.openxmlformats.org/drawingml/2006/main">
              <a:ext uri="{FF2B5EF4-FFF2-40B4-BE49-F238E27FC236}">
                <a16:creationId xmlns:a16="http://schemas.microsoft.com/office/drawing/2014/main" id="{EA5A1BB4-9AB8-41FE-9479-BB0A2466B6CB}"/>
              </a:ext>
            </a:extLst>
          </p:cNvPr>
          <p:cNvSpPr>
            <a:spLocks xmlns:a="http://schemas.openxmlformats.org/drawingml/2006/main" noGrp="1"/>
          </p:cNvSpPr>
          <p:nvPr/>
        </p:nvSpPr>
        <p:spPr>
          <a:xfrm xmlns:a="http://schemas.openxmlformats.org/drawingml/2006/main">
            <a:off x="2333625" y="200977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月間500時間</a:t>
            </a:r>
          </a:p>
        </p:txBody>
      </p:sp>
      <p:sp>
        <p:nvSpPr>
          <p:cNvPr id="7" name="">
            <a:extLst xmlns:a="http://schemas.openxmlformats.org/drawingml/2006/main">
              <a:ext uri="{FF2B5EF4-FFF2-40B4-BE49-F238E27FC236}">
                <a16:creationId xmlns:a16="http://schemas.microsoft.com/office/drawing/2014/main" id="{D0D25DFA-0EB5-439E-8175-718DC2404A2A}"/>
              </a:ext>
            </a:extLst>
          </p:cNvPr>
          <p:cNvSpPr>
            <a:spLocks xmlns:a="http://schemas.openxmlformats.org/drawingml/2006/main" noGrp="1"/>
          </p:cNvSpPr>
          <p:nvPr/>
        </p:nvSpPr>
        <p:spPr>
          <a:xfrm xmlns:a="http://schemas.openxmlformats.org/drawingml/2006/main">
            <a:off x="5810250" y="1990725"/>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Nextremerとの合意と格納開始。海外販売先へ再度提供を打診する。</a:t>
            </a:r>
          </a:p>
        </p:txBody>
      </p:sp>
      <p:sp>
        <p:nvSpPr>
          <p:cNvPr id="8" name="">
            <a:extLst xmlns:a="http://schemas.openxmlformats.org/drawingml/2006/main">
              <a:ext uri="{FF2B5EF4-FFF2-40B4-BE49-F238E27FC236}">
                <a16:creationId xmlns:a16="http://schemas.microsoft.com/office/drawing/2014/main" id="{03E86CCD-CC6D-40D2-801A-F55EE37B6963}"/>
              </a:ext>
            </a:extLst>
          </p:cNvPr>
          <p:cNvSpPr>
            <a:spLocks xmlns:a="http://schemas.openxmlformats.org/drawingml/2006/main" noGrp="1"/>
          </p:cNvSpPr>
          <p:nvPr/>
        </p:nvSpPr>
        <p:spPr>
          <a:xfrm xmlns:a="http://schemas.openxmlformats.org/drawingml/2006/main">
            <a:off x="723900" y="29432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F4E257E-781D-4AD6-816B-1E59D50290B6}"/>
              </a:ext>
            </a:extLst>
          </p:cNvPr>
          <p:cNvSpPr>
            <a:spLocks xmlns:a="http://schemas.openxmlformats.org/drawingml/2006/main" noGrp="1"/>
          </p:cNvSpPr>
          <p:nvPr/>
        </p:nvSpPr>
        <p:spPr>
          <a:xfrm xmlns:a="http://schemas.openxmlformats.org/drawingml/2006/main">
            <a:off x="723900" y="331470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11月</a:t>
            </a:r>
          </a:p>
        </p:txBody>
      </p:sp>
      <p:sp>
        <p:nvSpPr>
          <p:cNvPr id="10" name="">
            <a:extLst xmlns:a="http://schemas.openxmlformats.org/drawingml/2006/main">
              <a:ext uri="{FF2B5EF4-FFF2-40B4-BE49-F238E27FC236}">
                <a16:creationId xmlns:a16="http://schemas.microsoft.com/office/drawing/2014/main" id="{66EAFA22-ECA2-4DEB-9ACD-12892669CD00}"/>
              </a:ext>
            </a:extLst>
          </p:cNvPr>
          <p:cNvSpPr>
            <a:spLocks xmlns:a="http://schemas.openxmlformats.org/drawingml/2006/main" noGrp="1"/>
          </p:cNvSpPr>
          <p:nvPr/>
        </p:nvSpPr>
        <p:spPr>
          <a:xfrm xmlns:a="http://schemas.openxmlformats.org/drawingml/2006/main">
            <a:off x="2333625" y="33147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月間500時間を維持</a:t>
            </a:r>
          </a:p>
        </p:txBody>
      </p:sp>
      <p:sp>
        <p:nvSpPr>
          <p:cNvPr id="11" name="">
            <a:extLst xmlns:a="http://schemas.openxmlformats.org/drawingml/2006/main">
              <a:ext uri="{FF2B5EF4-FFF2-40B4-BE49-F238E27FC236}">
                <a16:creationId xmlns:a16="http://schemas.microsoft.com/office/drawing/2014/main" id="{C642F634-31ED-427F-A345-E872D7191F2A}"/>
              </a:ext>
            </a:extLst>
          </p:cNvPr>
          <p:cNvSpPr>
            <a:spLocks xmlns:a="http://schemas.openxmlformats.org/drawingml/2006/main" noGrp="1"/>
          </p:cNvSpPr>
          <p:nvPr/>
        </p:nvSpPr>
        <p:spPr>
          <a:xfrm xmlns:a="http://schemas.openxmlformats.org/drawingml/2006/main">
            <a:off x="5810250" y="3295650"/>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撮影現場を訪問し、運用負担を洗い出す。合意とデータ取扱いを法務確認する。</a:t>
            </a:r>
          </a:p>
        </p:txBody>
      </p:sp>
      <p:sp>
        <p:nvSpPr>
          <p:cNvPr id="12" name="">
            <a:extLst xmlns:a="http://schemas.openxmlformats.org/drawingml/2006/main">
              <a:ext uri="{FF2B5EF4-FFF2-40B4-BE49-F238E27FC236}">
                <a16:creationId xmlns:a16="http://schemas.microsoft.com/office/drawing/2014/main" id="{4A2BFB99-1B43-4471-B186-F11642B00EF0}"/>
              </a:ext>
            </a:extLst>
          </p:cNvPr>
          <p:cNvSpPr>
            <a:spLocks xmlns:a="http://schemas.openxmlformats.org/drawingml/2006/main" noGrp="1"/>
          </p:cNvSpPr>
          <p:nvPr/>
        </p:nvSpPr>
        <p:spPr>
          <a:xfrm xmlns:a="http://schemas.openxmlformats.org/drawingml/2006/main">
            <a:off x="723900" y="42481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F8124D4-9E5E-45E1-A4BB-CA03CDEACC2D}"/>
              </a:ext>
            </a:extLst>
          </p:cNvPr>
          <p:cNvSpPr>
            <a:spLocks xmlns:a="http://schemas.openxmlformats.org/drawingml/2006/main" noGrp="1"/>
          </p:cNvSpPr>
          <p:nvPr/>
        </p:nvSpPr>
        <p:spPr>
          <a:xfrm xmlns:a="http://schemas.openxmlformats.org/drawingml/2006/main">
            <a:off x="723900" y="4619625"/>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15C78"/>
                </a:solidFill>
                <a:latin typeface="Hiragino Sans"/>
                <a:ea typeface="Hiragino Sans"/>
                <a:cs typeface="Hiragino Sans"/>
              </a:defRPr>
            </a:pPr>
            <a:r>
              <a:rPr sz="1800" b="1">
                <a:solidFill>
                  <a:srgbClr val="315C78"/>
                </a:solidFill>
                <a:latin typeface="Hiragino Sans"/>
                <a:ea typeface="Hiragino Sans"/>
                <a:cs typeface="Hiragino Sans"/>
              </a:rPr>
              <a:t>12月</a:t>
            </a:r>
          </a:p>
        </p:txBody>
      </p:sp>
      <p:sp>
        <p:nvSpPr>
          <p:cNvPr id="14" name="">
            <a:extLst xmlns:a="http://schemas.openxmlformats.org/drawingml/2006/main">
              <a:ext uri="{FF2B5EF4-FFF2-40B4-BE49-F238E27FC236}">
                <a16:creationId xmlns:a16="http://schemas.microsoft.com/office/drawing/2014/main" id="{E1C432BD-35A9-4FAA-9689-53F0BEF6528F}"/>
              </a:ext>
            </a:extLst>
          </p:cNvPr>
          <p:cNvSpPr>
            <a:spLocks xmlns:a="http://schemas.openxmlformats.org/drawingml/2006/main" noGrp="1"/>
          </p:cNvSpPr>
          <p:nvPr/>
        </p:nvSpPr>
        <p:spPr>
          <a:xfrm xmlns:a="http://schemas.openxmlformats.org/drawingml/2006/main">
            <a:off x="2333625" y="46196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月間1,000時間</a:t>
            </a:r>
          </a:p>
        </p:txBody>
      </p:sp>
      <p:sp>
        <p:nvSpPr>
          <p:cNvPr id="15" name="">
            <a:extLst xmlns:a="http://schemas.openxmlformats.org/drawingml/2006/main">
              <a:ext uri="{FF2B5EF4-FFF2-40B4-BE49-F238E27FC236}">
                <a16:creationId xmlns:a16="http://schemas.microsoft.com/office/drawing/2014/main" id="{03995238-373A-43DD-8B3A-22D8C7235AAB}"/>
              </a:ext>
            </a:extLst>
          </p:cNvPr>
          <p:cNvSpPr>
            <a:spLocks xmlns:a="http://schemas.openxmlformats.org/drawingml/2006/main" noGrp="1"/>
          </p:cNvSpPr>
          <p:nvPr/>
        </p:nvSpPr>
        <p:spPr>
          <a:xfrm xmlns:a="http://schemas.openxmlformats.org/drawingml/2006/main">
            <a:off x="5810250" y="4600575"/>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飲食・小売を中心に撮影先を増やし、販売先との商談条件を満たす規模へ近づける。</a:t>
            </a:r>
          </a:p>
        </p:txBody>
      </p:sp>
      <p:sp>
        <p:nvSpPr>
          <p:cNvPr id="16" name="">
            <a:extLst xmlns:a="http://schemas.openxmlformats.org/drawingml/2006/main">
              <a:ext uri="{FF2B5EF4-FFF2-40B4-BE49-F238E27FC236}">
                <a16:creationId xmlns:a16="http://schemas.microsoft.com/office/drawing/2014/main" id="{5C47B5B0-A186-468B-BFD7-B6F082D4F1FF}"/>
              </a:ext>
            </a:extLst>
          </p:cNvPr>
          <p:cNvSpPr>
            <a:spLocks xmlns:a="http://schemas.openxmlformats.org/drawingml/2006/main" noGrp="1"/>
          </p:cNvSpPr>
          <p:nvPr/>
        </p:nvSpPr>
        <p:spPr>
          <a:xfrm xmlns:a="http://schemas.openxmlformats.org/drawingml/2006/main">
            <a:off x="723900" y="55530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7461BBA-58A7-4ECB-9CBF-615265F07F89}"/>
              </a:ext>
            </a:extLst>
          </p:cNvPr>
          <p:cNvSpPr>
            <a:spLocks xmlns:a="http://schemas.openxmlformats.org/drawingml/2006/main" noGrp="1"/>
          </p:cNvSpPr>
          <p:nvPr/>
        </p:nvSpPr>
        <p:spPr>
          <a:xfrm xmlns:a="http://schemas.openxmlformats.org/drawingml/2006/main">
            <a:off x="723900" y="5924550"/>
            <a:ext cx="10572750" cy="400050"/>
          </a:xfrm>
          <a:prstGeom xmlns:a="http://schemas.openxmlformats.org/drawingml/2006/main" prst="rect">
            <a:avLst/>
          </a:prstGeom>
          <a:solidFill xmlns:a="http://schemas.openxmlformats.org/drawingml/2006/main">
            <a:srgbClr val="DCE8E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14534F1-81EC-40F3-B114-007D3F6F76A9}"/>
              </a:ext>
            </a:extLst>
          </p:cNvPr>
          <p:cNvSpPr>
            <a:spLocks xmlns:a="http://schemas.openxmlformats.org/drawingml/2006/main" noGrp="1"/>
          </p:cNvSpPr>
          <p:nvPr/>
        </p:nvSpPr>
        <p:spPr>
          <a:xfrm xmlns:a="http://schemas.openxmlformats.org/drawingml/2006/main">
            <a:off x="933450" y="6010275"/>
            <a:ext cx="10153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まず、継続して収集できる現場運用と、販売先が扱える供給規模を作る。</a:t>
            </a:r>
          </a:p>
        </p:txBody>
      </p:sp>
    </p:spTree>
    <p:extLst>
      <p:ext uri="{BB962C8B-B14F-4D97-AF65-F5344CB8AC3E}">
        <p14:creationId xmlns:p14="http://schemas.microsoft.com/office/powerpoint/2010/main" val="17478458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2026-09-14T21:28:08.8790000Z</dcterms:created>
  <dcterms:modified xsi:type="dcterms:W3CDTF">2026-09-14T21:28:08.8790000Z</dcterms:modified>
</coreProperties>
</file>
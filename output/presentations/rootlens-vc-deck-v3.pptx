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b48e22fc634340" /><Relationship Type="http://schemas.openxmlformats.org/officeDocument/2006/relationships/extended-properties" Target="/docProps/app.xml" Id="R5fc54ca5d6e04d5f" /><Relationship Type="http://schemas.openxmlformats.org/officeDocument/2006/relationships/officeDocument" Target="/ppt/presentation.xml" Id="R101b49d8e9924391" /></Relationships>
</file>

<file path=ppt/presentation.xml><?xml version="1.0" encoding="utf-8"?>
<p:presentation xmlns:p="http://schemas.openxmlformats.org/presentationml/2006/main">
  <p:sldMasterIdLst>
    <p:sldMasterId xmlns:r="http://schemas.openxmlformats.org/officeDocument/2006/relationships" id="2147483648" r:id="Rf013553fd6cc4b58"/>
  </p:sldMasterIdLst>
  <p:notesMasterIdLst>
    <p:notesMasterId xmlns:r="http://schemas.openxmlformats.org/officeDocument/2006/relationships" r:id="R945614fcb54f479e"/>
  </p:notesMasterIdLst>
  <p:sldIdLst>
    <p:sldId xmlns:r="http://schemas.openxmlformats.org/officeDocument/2006/relationships" id="256" r:id="R5d02c7c342da48b6"/>
    <p:sldId xmlns:r="http://schemas.openxmlformats.org/officeDocument/2006/relationships" id="257" r:id="Rf44d102541244710"/>
    <p:sldId xmlns:r="http://schemas.openxmlformats.org/officeDocument/2006/relationships" id="258" r:id="Rd23a6f78f61a4f8a"/>
    <p:sldId xmlns:r="http://schemas.openxmlformats.org/officeDocument/2006/relationships" id="259" r:id="Re87ed94fdc7f4c51"/>
    <p:sldId xmlns:r="http://schemas.openxmlformats.org/officeDocument/2006/relationships" id="260" r:id="R465fae8f90cf4dee"/>
    <p:sldId xmlns:r="http://schemas.openxmlformats.org/officeDocument/2006/relationships" id="261" r:id="R6fb55943d37f4775"/>
    <p:sldId xmlns:r="http://schemas.openxmlformats.org/officeDocument/2006/relationships" id="262" r:id="R957927556b214155"/>
    <p:sldId xmlns:r="http://schemas.openxmlformats.org/officeDocument/2006/relationships" id="263" r:id="Rea2e6bdd9f594470"/>
    <p:sldId xmlns:r="http://schemas.openxmlformats.org/officeDocument/2006/relationships" id="264" r:id="Rff5ae688a5d54f00"/>
    <p:sldId xmlns:r="http://schemas.openxmlformats.org/officeDocument/2006/relationships" id="265" r:id="R3ca3429403f34b8f"/>
    <p:sldId xmlns:r="http://schemas.openxmlformats.org/officeDocument/2006/relationships" id="266" r:id="R3f543486c5004bfb"/>
    <p:sldId xmlns:r="http://schemas.openxmlformats.org/officeDocument/2006/relationships" id="267" r:id="Ra89021e125664081"/>
    <p:sldId xmlns:r="http://schemas.openxmlformats.org/officeDocument/2006/relationships" id="268" r:id="Reed916470f9c44a0"/>
    <p:sldId xmlns:r="http://schemas.openxmlformats.org/officeDocument/2006/relationships" id="269" r:id="Rca15d98907a446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d6f11deb56498a" /><Relationship Type="http://schemas.openxmlformats.org/officeDocument/2006/relationships/slideMaster" Target="/ppt/slideMasters/slideMaster1.xml" Id="Rf013553fd6cc4b58" /><Relationship Type="http://schemas.openxmlformats.org/officeDocument/2006/relationships/notesMaster" Target="/ppt/notesMasters/notesMaster1.xml" Id="R945614fcb54f479e" /><Relationship Type="http://schemas.openxmlformats.org/officeDocument/2006/relationships/presProps" Target="/ppt/presProps.xml" Id="Rba0ad909bc754566" /><Relationship Type="http://schemas.openxmlformats.org/officeDocument/2006/relationships/tableStyles" Target="/ppt/tableStyles.xml" Id="Rb0906b1ee4cc4089" /><Relationship Type="http://schemas.openxmlformats.org/officeDocument/2006/relationships/slide" Target="/ppt/slides/slide1.xml" Id="R5d02c7c342da48b6" /><Relationship Type="http://schemas.openxmlformats.org/officeDocument/2006/relationships/slide" Target="/ppt/slides/slide2.xml" Id="Rf44d102541244710" /><Relationship Type="http://schemas.openxmlformats.org/officeDocument/2006/relationships/slide" Target="/ppt/slides/slide3.xml" Id="Rd23a6f78f61a4f8a" /><Relationship Type="http://schemas.openxmlformats.org/officeDocument/2006/relationships/slide" Target="/ppt/slides/slide4.xml" Id="Re87ed94fdc7f4c51" /><Relationship Type="http://schemas.openxmlformats.org/officeDocument/2006/relationships/slide" Target="/ppt/slides/slide5.xml" Id="R465fae8f90cf4dee" /><Relationship Type="http://schemas.openxmlformats.org/officeDocument/2006/relationships/slide" Target="/ppt/slides/slide6.xml" Id="R6fb55943d37f4775" /><Relationship Type="http://schemas.openxmlformats.org/officeDocument/2006/relationships/slide" Target="/ppt/slides/slide7.xml" Id="R957927556b214155" /><Relationship Type="http://schemas.openxmlformats.org/officeDocument/2006/relationships/slide" Target="/ppt/slides/slide8.xml" Id="Rea2e6bdd9f594470" /><Relationship Type="http://schemas.openxmlformats.org/officeDocument/2006/relationships/slide" Target="/ppt/slides/slide9.xml" Id="Rff5ae688a5d54f00" /><Relationship Type="http://schemas.openxmlformats.org/officeDocument/2006/relationships/slide" Target="/ppt/slides/slide10.xml" Id="R3ca3429403f34b8f" /><Relationship Type="http://schemas.openxmlformats.org/officeDocument/2006/relationships/slide" Target="/ppt/slides/slide11.xml" Id="R3f543486c5004bfb" /><Relationship Type="http://schemas.openxmlformats.org/officeDocument/2006/relationships/slide" Target="/ppt/slides/slide12.xml" Id="Ra89021e125664081" /><Relationship Type="http://schemas.openxmlformats.org/officeDocument/2006/relationships/slide" Target="/ppt/slides/slide13.xml" Id="Reed916470f9c44a0" /><Relationship Type="http://schemas.openxmlformats.org/officeDocument/2006/relationships/slide" Target="/ppt/slides/slide14.xml" Id="Rca15d98907a446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1b6f1859b04d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7b05f97dee46e2" /><Relationship Type="http://schemas.openxmlformats.org/officeDocument/2006/relationships/notesMaster" Target="/ppt/notesMasters/notesMaster1.xml" Id="Rdc49e7d549cb43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dc4b81c91b4b32" /><Relationship Type="http://schemas.openxmlformats.org/officeDocument/2006/relationships/notesMaster" Target="/ppt/notesMasters/notesMaster1.xml" Id="R201306f1291847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76363b4f264e55" /><Relationship Type="http://schemas.openxmlformats.org/officeDocument/2006/relationships/notesMaster" Target="/ppt/notesMasters/notesMaster1.xml" Id="R4ef652eca86e42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64b5320b644d3b" /><Relationship Type="http://schemas.openxmlformats.org/officeDocument/2006/relationships/notesMaster" Target="/ppt/notesMasters/notesMaster1.xml" Id="R5e32343caa1c48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731e8cc3474ab3" /><Relationship Type="http://schemas.openxmlformats.org/officeDocument/2006/relationships/notesMaster" Target="/ppt/notesMasters/notesMaster1.xml" Id="R796515f6a0a24b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3884d5f68464f32" /><Relationship Type="http://schemas.openxmlformats.org/officeDocument/2006/relationships/notesMaster" Target="/ppt/notesMasters/notesMaster1.xml" Id="Rd71dd2c9412242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0269efbe264930" /><Relationship Type="http://schemas.openxmlformats.org/officeDocument/2006/relationships/notesMaster" Target="/ppt/notesMasters/notesMaster1.xml" Id="Re5082b497d4946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45a64ecb364460" /><Relationship Type="http://schemas.openxmlformats.org/officeDocument/2006/relationships/notesMaster" Target="/ppt/notesMasters/notesMaster1.xml" Id="Ra43dc8c5cf5e49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f1b7a5a66746d5" /><Relationship Type="http://schemas.openxmlformats.org/officeDocument/2006/relationships/notesMaster" Target="/ppt/notesMasters/notesMaster1.xml" Id="Rdf8b523d7b7d47d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8ea0e6585d4f93" /><Relationship Type="http://schemas.openxmlformats.org/officeDocument/2006/relationships/notesMaster" Target="/ppt/notesMasters/notesMaster1.xml" Id="Re0c584ec08e5484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862ff99ae10498b" /><Relationship Type="http://schemas.openxmlformats.org/officeDocument/2006/relationships/notesMaster" Target="/ppt/notesMasters/notesMaster1.xml" Id="R4918ea364fbb44b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c92511a54a849e5" /><Relationship Type="http://schemas.openxmlformats.org/officeDocument/2006/relationships/notesMaster" Target="/ppt/notesMasters/notesMaster1.xml" Id="R27bbf111aee94c2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51f11656abe4621" /><Relationship Type="http://schemas.openxmlformats.org/officeDocument/2006/relationships/notesMaster" Target="/ppt/notesMasters/notesMaster1.xml" Id="R05f527ed2b244ac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e44439aeb6a4cb0" /><Relationship Type="http://schemas.openxmlformats.org/officeDocument/2006/relationships/notesMaster" Target="/ppt/notesMasters/notesMaster1.xml" Id="R7025a4cf136547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RootLensは、現場で人間が行っている作業のデータ収集から事業を始めています。この資料では、現在行っていることと、その先に何を見ているかを分けて話します。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横方向は、企業が接続する業種や現場の広さです。縦方向は、その企業が担う技術レイヤーの広さです。特定タスクをモデルから現場統合まで持つ企業は縦に長く、データ収集など一つのレイヤーから多くの現場へ接続する企業は横に長くなります。データ収集層と現場統合層の両方が現場へ直接入ることも、この図に含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れは現在の実績ではなく、私たちの業界仮説です。ロボットが現場で稼働すれば、その稼働自体がデータ収集になります。そのため長期的には、データ収集を含む改善ループを自社で持つ企業が強いと考え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企業を最終形と考えているわけではありません。現時点で複数業種の現場へ入れる方法として、データ収集が最も実行しやすく、その過程で将来の現場統合に必要な情報と関係が残ると考え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撮影先と販売先の両面を開拓する事業です。現在は現場側が先行しています。海外の販売先との会話では、データの内容以前に、継続してまとまった時間を供給できるかが重要でした。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現場側では、約30件への営業と、ベーカリーでの実撮影まで進みました。カフェチェーンとスーパーマーケットは、まだ契約済みや撮影済みではありません。現在進んでいる話として分けて説明します。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先については、需要の有無よりも、私たちが供給できる規模が商談上の課題になっています。海外8社とはサンプルのやり取りまで進みましたが、契約実績はまだありません。国内ではNextremerと実際の運用フローを詰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回撮影ではヘルメット型の構成を使いました。その後、帽子型を試し、現在はスマートグラスによる撮影も導入しています。ベーカリーでは、メガネ型に変えたことで『これならつけてもいい』という反応が増えました。デバイスの快適性は撮影先の拡大に直結する課題だと分かりま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現在はこの4名で活動しています。共同創業者の二人に加えて、最初の現場で出会った川島さんと、小売・製造業界のネットワークと経営管理経験を持つ大崎さんに協力してもらっています。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を1時間1,600円、その半分を現場へ還元する前提です。1台が月110時間動く場合、デバイス償却は1時間あたり約73円です。ここまでは機材だけを見た試算で、現場運用の人件費などはまだ含め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収集時間に比例してデバイス台数も増えるため、機材費の比率は大きく変わりません。ただし、運用人員が同じ比率で増えるかはまだ分かっていません。また、同じデータを複数回販売できる可能性はありますが、この表には入れ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の数字で問題が見えにくいのはデバイス費です。実際に事業の採算を決めるのは、現場を増やす営業と運用の人件費、そして収集したデータを継続して売れるかだと考えています。ここを今後の収集拡大の中で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ここから先はロードマップではありません。今の時点で、データ収集を入口にするとどこまで進める可能性が見えるかを示しています。環境や技術、収集したデータによって進み方は変わります。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直近では、長期構想よりも収集規模と運用の検証を優先します。10月に500時間、12月に1,000時間を目標とし、同時に販売先が必要とする条件と、現場運用にかかる実際の負担を確認します。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925575e7b043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9b777548094526" /><Relationship Type="http://schemas.openxmlformats.org/officeDocument/2006/relationships/slideLayout" Target="/ppt/slideLayouts/slideLayout1.xml" Id="Rb8ed9ccca86a4d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8ed9ccca86a4d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de9410260f64873" /><Relationship Type="http://schemas.openxmlformats.org/officeDocument/2006/relationships/notesSlide" Target="/ppt/notesSlides/notesSlide1.xml" Id="Raaf53e982e7842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27b440d1b8f4a4b" /><Relationship Type="http://schemas.openxmlformats.org/officeDocument/2006/relationships/notesSlide" Target="/ppt/notesSlides/notesSlide2.xml" Id="R99faf9c9d46743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98c67c6a46b4391" /><Relationship Type="http://schemas.openxmlformats.org/officeDocument/2006/relationships/notesSlide" Target="/ppt/notesSlides/notesSlide3.xml" Id="R3bfd898de7404f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a789d4505164f42" /><Relationship Type="http://schemas.openxmlformats.org/officeDocument/2006/relationships/notesSlide" Target="/ppt/notesSlides/notesSlide4.xml" Id="Re12b3c845f8942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a37cf7f834d45b3" /><Relationship Type="http://schemas.openxmlformats.org/officeDocument/2006/relationships/notesSlide" Target="/ppt/notesSlides/notesSlide5.xml" Id="Rfbe887ee29c540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8a677e680cb4b7f" /><Relationship Type="http://schemas.openxmlformats.org/officeDocument/2006/relationships/notesSlide" Target="/ppt/notesSlides/notesSlide6.xml" Id="R7a097680045642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c78994788174fd3" /><Relationship Type="http://schemas.openxmlformats.org/officeDocument/2006/relationships/notesSlide" Target="/ppt/notesSlides/notesSlide7.xml" Id="R687dc7719d084b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1eca849b24c44a9" /><Relationship Type="http://schemas.openxmlformats.org/officeDocument/2006/relationships/image" Target="/ppt/media/image.jpeg" Id="R7f468e2365e44abf" /><Relationship Type="http://schemas.openxmlformats.org/officeDocument/2006/relationships/image" Target="/ppt/media/image2.jpeg" Id="R3f2fc0cc976e4e9f" /><Relationship Type="http://schemas.openxmlformats.org/officeDocument/2006/relationships/image" Target="/ppt/media/image3.jpeg" Id="Refa5981e6ec54f77" /><Relationship Type="http://schemas.openxmlformats.org/officeDocument/2006/relationships/notesSlide" Target="/ppt/notesSlides/notesSlide8.xml" Id="R77657b7c56f94a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751858a244a4bb5" /><Relationship Type="http://schemas.openxmlformats.org/officeDocument/2006/relationships/notesSlide" Target="/ppt/notesSlides/notesSlide9.xml" Id="R2e06593b05c349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61ee326354f437e" /><Relationship Type="http://schemas.openxmlformats.org/officeDocument/2006/relationships/notesSlide" Target="/ppt/notesSlides/notesSlide10.xml" Id="R40e5acdaf0784fd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fe1f54bbfe84a40" /><Relationship Type="http://schemas.openxmlformats.org/officeDocument/2006/relationships/notesSlide" Target="/ppt/notesSlides/notesSlide11.xml" Id="R46ac2d6bb18849d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3b689320f2a43c0" /><Relationship Type="http://schemas.openxmlformats.org/officeDocument/2006/relationships/notesSlide" Target="/ppt/notesSlides/notesSlide12.xml" Id="Rdfbde6d9a8a8481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e7263657df94060" /><Relationship Type="http://schemas.openxmlformats.org/officeDocument/2006/relationships/notesSlide" Target="/ppt/notesSlides/notesSlide13.xml" Id="R537a9ff0c6c54a5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b89cccf9d364325" /><Relationship Type="http://schemas.openxmlformats.org/officeDocument/2006/relationships/notesSlide" Target="/ppt/notesSlides/notesSlide14.xml" Id="R1d5816913dc04ea6"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5029350-5108-46A0-8EED-5A8F9B16B8C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720BEF-B282-45E0-9696-E479A03B512D}"/>
              </a:ext>
            </a:extLst>
          </p:cNvPr>
          <p:cNvSpPr>
            <a:spLocks xmlns:a="http://schemas.openxmlformats.org/drawingml/2006/main" noGrp="1"/>
          </p:cNvSpPr>
          <p:nvPr/>
        </p:nvSpPr>
        <p:spPr>
          <a:xfrm xmlns:a="http://schemas.openxmlformats.org/drawingml/2006/main">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D3D9499E-A1A3-447B-AAB7-1D7AC9F60E4D}"/>
              </a:ext>
            </a:extLst>
          </p:cNvPr>
          <p:cNvSpPr>
            <a:spLocks xmlns:a="http://schemas.openxmlformats.org/drawingml/2006/main" noGrp="1"/>
          </p:cNvSpPr>
          <p:nvPr/>
        </p:nvSpPr>
        <p:spPr>
          <a:xfrm xmlns:a="http://schemas.openxmlformats.org/drawingml/2006/main">
            <a:off x="666750" y="2543175"/>
            <a:ext cx="9334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200" b="1">
                <a:solidFill>
                  <a:srgbClr val="15191B"/>
                </a:solidFill>
                <a:latin typeface="Hiragino Sans"/>
                <a:ea typeface="Hiragino Sans"/>
                <a:cs typeface="Hiragino Sans"/>
              </a:defRPr>
            </a:pPr>
            <a:r>
              <a:rPr sz="4200" b="1">
                <a:solidFill>
                  <a:srgbClr val="15191B"/>
                </a:solidFill>
                <a:latin typeface="Hiragino Sans"/>
                <a:ea typeface="Hiragino Sans"/>
                <a:cs typeface="Hiragino Sans"/>
              </a:rPr>
              <a:t>現場データ収集から始める</a:t>
            </a:r>
          </a:p>
          <a:p xmlns:a="http://schemas.openxmlformats.org/drawingml/2006/main">
            <a:pPr algn="l">
              <a:defRPr sz="4200" b="1">
                <a:solidFill>
                  <a:srgbClr val="15191B"/>
                </a:solidFill>
                <a:latin typeface="Hiragino Sans"/>
                <a:ea typeface="Hiragino Sans"/>
                <a:cs typeface="Hiragino Sans"/>
              </a:defRPr>
            </a:pPr>
            <a:r>
              <a:rPr sz="4200" b="1">
                <a:solidFill>
                  <a:srgbClr val="15191B"/>
                </a:solidFill>
                <a:latin typeface="Hiragino Sans"/>
                <a:ea typeface="Hiragino Sans"/>
                <a:cs typeface="Hiragino Sans"/>
              </a:rPr>
              <a:t>フィジカルAI企業</a:t>
            </a:r>
          </a:p>
        </p:txBody>
      </p:sp>
      <p:sp>
        <p:nvSpPr>
          <p:cNvPr id="4" name="">
            <a:extLst xmlns:a="http://schemas.openxmlformats.org/drawingml/2006/main">
              <a:ext uri="{FF2B5EF4-FFF2-40B4-BE49-F238E27FC236}">
                <a16:creationId xmlns:a16="http://schemas.microsoft.com/office/drawing/2014/main" id="{0EE4009F-B9B4-4EAD-9A5C-E58531B45289}"/>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91030F6-0BF1-4443-9D8E-0BF8BDF49B14}"/>
              </a:ext>
            </a:extLst>
          </p:cNvPr>
          <p:cNvSpPr>
            <a:spLocks xmlns:a="http://schemas.openxmlformats.org/drawingml/2006/main" noGrp="1"/>
          </p:cNvSpPr>
          <p:nvPr/>
        </p:nvSpPr>
        <p:spPr>
          <a:xfrm xmlns:a="http://schemas.openxmlformats.org/drawingml/2006/main">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99C5EDF8-648F-4AA3-8296-5B887972E352}"/>
              </a:ext>
            </a:extLst>
          </p:cNvPr>
          <p:cNvSpPr>
            <a:spLocks xmlns:a="http://schemas.openxmlformats.org/drawingml/2006/main" noGrp="1"/>
          </p:cNvSpPr>
          <p:nvPr/>
        </p:nvSpPr>
        <p:spPr>
          <a:xfrm xmlns:a="http://schemas.openxmlformats.org/drawingml/2006/main">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1156250162"/>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BDFC1AE3-503C-4E03-BD46-88E1B4A2FF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4F42BA-1C24-4BF3-95BF-8E6A542E7B2E}"/>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1241F234-A18F-4A12-AC29-A75C7034807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DC7D35E-4BF2-4DBD-BBC0-A7B64C22B9A9}"/>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C995344F-7110-4B9F-B0A9-0A315F0988B8}"/>
              </a:ext>
            </a:extLst>
          </p:cNvPr>
          <p:cNvSpPr>
            <a:spLocks xmlns:a="http://schemas.openxmlformats.org/drawingml/2006/main" noGrp="1"/>
          </p:cNvSpPr>
          <p:nvPr/>
        </p:nvSpPr>
        <p:spPr>
          <a:xfrm xmlns:a="http://schemas.openxmlformats.org/drawingml/2006/main">
            <a:off x="723900" y="17621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 ＝ 接続する業種・現場の広さ　　縦幅 ＝ 担う技術レイヤーの広さ</a:t>
            </a:r>
          </a:p>
        </p:txBody>
      </p:sp>
      <p:sp>
        <p:nvSpPr>
          <p:cNvPr id="6" name="">
            <a:extLst xmlns:a="http://schemas.openxmlformats.org/drawingml/2006/main">
              <a:ext uri="{FF2B5EF4-FFF2-40B4-BE49-F238E27FC236}">
                <a16:creationId xmlns:a16="http://schemas.microsoft.com/office/drawing/2014/main" id="{D0A838CB-9F47-425A-BED0-5B9249C2751B}"/>
              </a:ext>
            </a:extLst>
          </p:cNvPr>
          <p:cNvSpPr>
            <a:spLocks xmlns:a="http://schemas.openxmlformats.org/drawingml/2006/main" noGrp="1"/>
          </p:cNvSpPr>
          <p:nvPr/>
        </p:nvSpPr>
        <p:spPr>
          <a:xfrm xmlns:a="http://schemas.openxmlformats.org/drawingml/2006/main">
            <a:off x="2266950" y="22098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7" name="">
            <a:extLst xmlns:a="http://schemas.openxmlformats.org/drawingml/2006/main">
              <a:ext uri="{FF2B5EF4-FFF2-40B4-BE49-F238E27FC236}">
                <a16:creationId xmlns:a16="http://schemas.microsoft.com/office/drawing/2014/main" id="{D41692F8-5E82-4888-BCA0-CD644174E67A}"/>
              </a:ext>
            </a:extLst>
          </p:cNvPr>
          <p:cNvSpPr>
            <a:spLocks xmlns:a="http://schemas.openxmlformats.org/drawingml/2006/main" noGrp="1"/>
          </p:cNvSpPr>
          <p:nvPr/>
        </p:nvSpPr>
        <p:spPr>
          <a:xfrm xmlns:a="http://schemas.openxmlformats.org/drawingml/2006/main">
            <a:off x="723900" y="23526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C625317A-9FA5-4813-962F-12CAE3B9B75F}"/>
              </a:ext>
            </a:extLst>
          </p:cNvPr>
          <p:cNvSpPr>
            <a:spLocks xmlns:a="http://schemas.openxmlformats.org/drawingml/2006/main" noGrp="1"/>
          </p:cNvSpPr>
          <p:nvPr/>
        </p:nvSpPr>
        <p:spPr>
          <a:xfrm xmlns:a="http://schemas.openxmlformats.org/drawingml/2006/main">
            <a:off x="2266950" y="28956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7AD801B7-41EA-4B84-9003-F0D80F737B23}"/>
              </a:ext>
            </a:extLst>
          </p:cNvPr>
          <p:cNvSpPr>
            <a:spLocks xmlns:a="http://schemas.openxmlformats.org/drawingml/2006/main" noGrp="1"/>
          </p:cNvSpPr>
          <p:nvPr/>
        </p:nvSpPr>
        <p:spPr>
          <a:xfrm xmlns:a="http://schemas.openxmlformats.org/drawingml/2006/main">
            <a:off x="723900" y="295275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0" name="">
            <a:extLst xmlns:a="http://schemas.openxmlformats.org/drawingml/2006/main">
              <a:ext uri="{FF2B5EF4-FFF2-40B4-BE49-F238E27FC236}">
                <a16:creationId xmlns:a16="http://schemas.microsoft.com/office/drawing/2014/main" id="{F9D962AD-4E0E-424D-88BD-D0E248B6C4CD}"/>
              </a:ext>
            </a:extLst>
          </p:cNvPr>
          <p:cNvSpPr>
            <a:spLocks xmlns:a="http://schemas.openxmlformats.org/drawingml/2006/main" noGrp="1"/>
          </p:cNvSpPr>
          <p:nvPr/>
        </p:nvSpPr>
        <p:spPr>
          <a:xfrm xmlns:a="http://schemas.openxmlformats.org/drawingml/2006/main">
            <a:off x="2266950" y="35814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1" name="">
            <a:extLst xmlns:a="http://schemas.openxmlformats.org/drawingml/2006/main">
              <a:ext uri="{FF2B5EF4-FFF2-40B4-BE49-F238E27FC236}">
                <a16:creationId xmlns:a16="http://schemas.microsoft.com/office/drawing/2014/main" id="{DB0772B6-3FA6-4C6A-A303-B68B3A628D1A}"/>
              </a:ext>
            </a:extLst>
          </p:cNvPr>
          <p:cNvSpPr>
            <a:spLocks xmlns:a="http://schemas.openxmlformats.org/drawingml/2006/main" noGrp="1"/>
          </p:cNvSpPr>
          <p:nvPr/>
        </p:nvSpPr>
        <p:spPr>
          <a:xfrm xmlns:a="http://schemas.openxmlformats.org/drawingml/2006/main">
            <a:off x="723900" y="37242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9E987E50-E077-4776-A381-76871F3C7312}"/>
              </a:ext>
            </a:extLst>
          </p:cNvPr>
          <p:cNvSpPr>
            <a:spLocks xmlns:a="http://schemas.openxmlformats.org/drawingml/2006/main" noGrp="1"/>
          </p:cNvSpPr>
          <p:nvPr/>
        </p:nvSpPr>
        <p:spPr>
          <a:xfrm xmlns:a="http://schemas.openxmlformats.org/drawingml/2006/main">
            <a:off x="2266950" y="42672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13" name="">
            <a:extLst xmlns:a="http://schemas.openxmlformats.org/drawingml/2006/main">
              <a:ext uri="{FF2B5EF4-FFF2-40B4-BE49-F238E27FC236}">
                <a16:creationId xmlns:a16="http://schemas.microsoft.com/office/drawing/2014/main" id="{88233BF6-FFDA-4A1A-B915-D51AC4B78A8A}"/>
              </a:ext>
            </a:extLst>
          </p:cNvPr>
          <p:cNvSpPr>
            <a:spLocks xmlns:a="http://schemas.openxmlformats.org/drawingml/2006/main" noGrp="1"/>
          </p:cNvSpPr>
          <p:nvPr/>
        </p:nvSpPr>
        <p:spPr>
          <a:xfrm xmlns:a="http://schemas.openxmlformats.org/drawingml/2006/main">
            <a:off x="723900" y="44100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719F08A9-9188-4E0B-A0EF-6AC16678C0A2}"/>
              </a:ext>
            </a:extLst>
          </p:cNvPr>
          <p:cNvSpPr>
            <a:spLocks xmlns:a="http://schemas.openxmlformats.org/drawingml/2006/main" noGrp="1"/>
          </p:cNvSpPr>
          <p:nvPr/>
        </p:nvSpPr>
        <p:spPr>
          <a:xfrm xmlns:a="http://schemas.openxmlformats.org/drawingml/2006/main">
            <a:off x="723900" y="525780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15" name="">
            <a:extLst xmlns:a="http://schemas.openxmlformats.org/drawingml/2006/main">
              <a:ext uri="{FF2B5EF4-FFF2-40B4-BE49-F238E27FC236}">
                <a16:creationId xmlns:a16="http://schemas.microsoft.com/office/drawing/2014/main" id="{C597C007-1762-4F25-BF5D-01507A99417D}"/>
              </a:ext>
            </a:extLst>
          </p:cNvPr>
          <p:cNvSpPr>
            <a:spLocks xmlns:a="http://schemas.openxmlformats.org/drawingml/2006/main" noGrp="1"/>
          </p:cNvSpPr>
          <p:nvPr/>
        </p:nvSpPr>
        <p:spPr>
          <a:xfrm xmlns:a="http://schemas.openxmlformats.org/drawingml/2006/main">
            <a:off x="22669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2F80FDE-6EAE-4581-909D-DE304756FF80}"/>
              </a:ext>
            </a:extLst>
          </p:cNvPr>
          <p:cNvSpPr>
            <a:spLocks xmlns:a="http://schemas.openxmlformats.org/drawingml/2006/main" noGrp="1"/>
          </p:cNvSpPr>
          <p:nvPr/>
        </p:nvSpPr>
        <p:spPr>
          <a:xfrm xmlns:a="http://schemas.openxmlformats.org/drawingml/2006/main">
            <a:off x="22669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飲食</a:t>
            </a:r>
          </a:p>
        </p:txBody>
      </p:sp>
      <p:sp>
        <p:nvSpPr>
          <p:cNvPr id="17" name="">
            <a:extLst xmlns:a="http://schemas.openxmlformats.org/drawingml/2006/main">
              <a:ext uri="{FF2B5EF4-FFF2-40B4-BE49-F238E27FC236}">
                <a16:creationId xmlns:a16="http://schemas.microsoft.com/office/drawing/2014/main" id="{B4CAD154-29A0-4C9B-B3C5-2055E98129CB}"/>
              </a:ext>
            </a:extLst>
          </p:cNvPr>
          <p:cNvSpPr>
            <a:spLocks xmlns:a="http://schemas.openxmlformats.org/drawingml/2006/main" noGrp="1"/>
          </p:cNvSpPr>
          <p:nvPr/>
        </p:nvSpPr>
        <p:spPr>
          <a:xfrm xmlns:a="http://schemas.openxmlformats.org/drawingml/2006/main">
            <a:off x="40386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48DBA97-434B-412B-B17E-79B64133B6FF}"/>
              </a:ext>
            </a:extLst>
          </p:cNvPr>
          <p:cNvSpPr>
            <a:spLocks xmlns:a="http://schemas.openxmlformats.org/drawingml/2006/main" noGrp="1"/>
          </p:cNvSpPr>
          <p:nvPr/>
        </p:nvSpPr>
        <p:spPr>
          <a:xfrm xmlns:a="http://schemas.openxmlformats.org/drawingml/2006/main">
            <a:off x="40386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小売</a:t>
            </a:r>
          </a:p>
        </p:txBody>
      </p:sp>
      <p:sp>
        <p:nvSpPr>
          <p:cNvPr id="19" name="">
            <a:extLst xmlns:a="http://schemas.openxmlformats.org/drawingml/2006/main">
              <a:ext uri="{FF2B5EF4-FFF2-40B4-BE49-F238E27FC236}">
                <a16:creationId xmlns:a16="http://schemas.microsoft.com/office/drawing/2014/main" id="{CAE880B6-5F0A-4CDE-930E-2B2BD648675E}"/>
              </a:ext>
            </a:extLst>
          </p:cNvPr>
          <p:cNvSpPr>
            <a:spLocks xmlns:a="http://schemas.openxmlformats.org/drawingml/2006/main" noGrp="1"/>
          </p:cNvSpPr>
          <p:nvPr/>
        </p:nvSpPr>
        <p:spPr>
          <a:xfrm xmlns:a="http://schemas.openxmlformats.org/drawingml/2006/main">
            <a:off x="58102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705E36D-11A2-47F7-9DF7-30423DBD2425}"/>
              </a:ext>
            </a:extLst>
          </p:cNvPr>
          <p:cNvSpPr>
            <a:spLocks xmlns:a="http://schemas.openxmlformats.org/drawingml/2006/main" noGrp="1"/>
          </p:cNvSpPr>
          <p:nvPr/>
        </p:nvSpPr>
        <p:spPr>
          <a:xfrm xmlns:a="http://schemas.openxmlformats.org/drawingml/2006/main">
            <a:off x="58102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製造</a:t>
            </a:r>
          </a:p>
        </p:txBody>
      </p:sp>
      <p:sp>
        <p:nvSpPr>
          <p:cNvPr id="21" name="">
            <a:extLst xmlns:a="http://schemas.openxmlformats.org/drawingml/2006/main">
              <a:ext uri="{FF2B5EF4-FFF2-40B4-BE49-F238E27FC236}">
                <a16:creationId xmlns:a16="http://schemas.microsoft.com/office/drawing/2014/main" id="{50B753AB-6599-4578-9F7E-3A199F609B4F}"/>
              </a:ext>
            </a:extLst>
          </p:cNvPr>
          <p:cNvSpPr>
            <a:spLocks xmlns:a="http://schemas.openxmlformats.org/drawingml/2006/main" noGrp="1"/>
          </p:cNvSpPr>
          <p:nvPr/>
        </p:nvSpPr>
        <p:spPr>
          <a:xfrm xmlns:a="http://schemas.openxmlformats.org/drawingml/2006/main">
            <a:off x="75819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E8F988E-DCAE-47AF-9DD7-DA3787CF87A5}"/>
              </a:ext>
            </a:extLst>
          </p:cNvPr>
          <p:cNvSpPr>
            <a:spLocks xmlns:a="http://schemas.openxmlformats.org/drawingml/2006/main" noGrp="1"/>
          </p:cNvSpPr>
          <p:nvPr/>
        </p:nvSpPr>
        <p:spPr>
          <a:xfrm xmlns:a="http://schemas.openxmlformats.org/drawingml/2006/main">
            <a:off x="75819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物流</a:t>
            </a:r>
          </a:p>
        </p:txBody>
      </p:sp>
      <p:sp>
        <p:nvSpPr>
          <p:cNvPr id="23" name="">
            <a:extLst xmlns:a="http://schemas.openxmlformats.org/drawingml/2006/main">
              <a:ext uri="{FF2B5EF4-FFF2-40B4-BE49-F238E27FC236}">
                <a16:creationId xmlns:a16="http://schemas.microsoft.com/office/drawing/2014/main" id="{439D97ED-87BB-465F-A427-27666A05F868}"/>
              </a:ext>
            </a:extLst>
          </p:cNvPr>
          <p:cNvSpPr>
            <a:spLocks xmlns:a="http://schemas.openxmlformats.org/drawingml/2006/main" noGrp="1"/>
          </p:cNvSpPr>
          <p:nvPr/>
        </p:nvSpPr>
        <p:spPr>
          <a:xfrm xmlns:a="http://schemas.openxmlformats.org/drawingml/2006/main">
            <a:off x="93535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CA6AB3A-4F1F-44DB-ACAC-11FAA830BF11}"/>
              </a:ext>
            </a:extLst>
          </p:cNvPr>
          <p:cNvSpPr>
            <a:spLocks xmlns:a="http://schemas.openxmlformats.org/drawingml/2006/main" noGrp="1"/>
          </p:cNvSpPr>
          <p:nvPr/>
        </p:nvSpPr>
        <p:spPr>
          <a:xfrm xmlns:a="http://schemas.openxmlformats.org/drawingml/2006/main">
            <a:off x="93535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ほか</a:t>
            </a:r>
          </a:p>
        </p:txBody>
      </p:sp>
      <p:sp>
        <p:nvSpPr>
          <p:cNvPr id="25" name="">
            <a:extLst xmlns:a="http://schemas.openxmlformats.org/drawingml/2006/main">
              <a:ext uri="{FF2B5EF4-FFF2-40B4-BE49-F238E27FC236}">
                <a16:creationId xmlns:a16="http://schemas.microsoft.com/office/drawing/2014/main" id="{1893F254-596F-40CB-A56D-D8C86C6FD69B}"/>
              </a:ext>
            </a:extLst>
          </p:cNvPr>
          <p:cNvSpPr>
            <a:spLocks xmlns:a="http://schemas.openxmlformats.org/drawingml/2006/main" noGrp="1"/>
          </p:cNvSpPr>
          <p:nvPr/>
        </p:nvSpPr>
        <p:spPr>
          <a:xfrm xmlns:a="http://schemas.openxmlformats.org/drawingml/2006/main">
            <a:off x="2619375" y="2962275"/>
            <a:ext cx="1981200" cy="17907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6" name="">
            <a:extLst xmlns:a="http://schemas.openxmlformats.org/drawingml/2006/main">
              <a:ext uri="{FF2B5EF4-FFF2-40B4-BE49-F238E27FC236}">
                <a16:creationId xmlns:a16="http://schemas.microsoft.com/office/drawing/2014/main" id="{4B0C2FFF-1365-4636-A1B0-B3398647369A}"/>
              </a:ext>
            </a:extLst>
          </p:cNvPr>
          <p:cNvSpPr>
            <a:spLocks xmlns:a="http://schemas.openxmlformats.org/drawingml/2006/main" noGrp="1"/>
          </p:cNvSpPr>
          <p:nvPr/>
        </p:nvSpPr>
        <p:spPr>
          <a:xfrm xmlns:a="http://schemas.openxmlformats.org/drawingml/2006/main">
            <a:off x="2819400" y="3105150"/>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27" name="">
            <a:extLst xmlns:a="http://schemas.openxmlformats.org/drawingml/2006/main">
              <a:ext uri="{FF2B5EF4-FFF2-40B4-BE49-F238E27FC236}">
                <a16:creationId xmlns:a16="http://schemas.microsoft.com/office/drawing/2014/main" id="{31005BA1-9DAA-4024-AAC6-BC461E07CDD2}"/>
              </a:ext>
            </a:extLst>
          </p:cNvPr>
          <p:cNvSpPr>
            <a:spLocks xmlns:a="http://schemas.openxmlformats.org/drawingml/2006/main" noGrp="1"/>
          </p:cNvSpPr>
          <p:nvPr/>
        </p:nvSpPr>
        <p:spPr>
          <a:xfrm xmlns:a="http://schemas.openxmlformats.org/drawingml/2006/main">
            <a:off x="2905125" y="3476625"/>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15191B"/>
                </a:solidFill>
                <a:latin typeface="Hiragino Sans"/>
                <a:ea typeface="Hiragino Sans"/>
                <a:cs typeface="Hiragino Sans"/>
              </a:defRPr>
            </a:pPr>
            <a:r>
              <a:rPr sz="1200" b="1">
                <a:solidFill>
                  <a:srgbClr val="15191B"/>
                </a:solidFill>
                <a:latin typeface="Hiragino Sans"/>
                <a:ea typeface="Hiragino Sans"/>
                <a:cs typeface="Hiragino Sans"/>
              </a:rPr>
              <a:t>モデル</a:t>
            </a:r>
          </a:p>
        </p:txBody>
      </p:sp>
      <p:sp>
        <p:nvSpPr>
          <p:cNvPr id="28" name="">
            <a:extLst xmlns:a="http://schemas.openxmlformats.org/drawingml/2006/main">
              <a:ext uri="{FF2B5EF4-FFF2-40B4-BE49-F238E27FC236}">
                <a16:creationId xmlns:a16="http://schemas.microsoft.com/office/drawing/2014/main" id="{AE928683-4077-4FE6-A43D-CC6820F70A3C}"/>
              </a:ext>
            </a:extLst>
          </p:cNvPr>
          <p:cNvSpPr>
            <a:spLocks xmlns:a="http://schemas.openxmlformats.org/drawingml/2006/main" noGrp="1"/>
          </p:cNvSpPr>
          <p:nvPr/>
        </p:nvSpPr>
        <p:spPr>
          <a:xfrm xmlns:a="http://schemas.openxmlformats.org/drawingml/2006/main">
            <a:off x="2905125" y="3924300"/>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15191B"/>
                </a:solidFill>
                <a:latin typeface="Hiragino Sans"/>
                <a:ea typeface="Hiragino Sans"/>
                <a:cs typeface="Hiragino Sans"/>
              </a:defRPr>
            </a:pPr>
            <a:r>
              <a:rPr sz="1200" b="1">
                <a:solidFill>
                  <a:srgbClr val="15191B"/>
                </a:solidFill>
                <a:latin typeface="Hiragino Sans"/>
                <a:ea typeface="Hiragino Sans"/>
                <a:cs typeface="Hiragino Sans"/>
              </a:rPr>
              <a:t>ハードウェア</a:t>
            </a:r>
          </a:p>
        </p:txBody>
      </p:sp>
      <p:sp>
        <p:nvSpPr>
          <p:cNvPr id="29" name="">
            <a:extLst xmlns:a="http://schemas.openxmlformats.org/drawingml/2006/main">
              <a:ext uri="{FF2B5EF4-FFF2-40B4-BE49-F238E27FC236}">
                <a16:creationId xmlns:a16="http://schemas.microsoft.com/office/drawing/2014/main" id="{FC1B1EFA-EFAF-4EB2-B476-3442041C9BCF}"/>
              </a:ext>
            </a:extLst>
          </p:cNvPr>
          <p:cNvSpPr>
            <a:spLocks xmlns:a="http://schemas.openxmlformats.org/drawingml/2006/main" noGrp="1"/>
          </p:cNvSpPr>
          <p:nvPr/>
        </p:nvSpPr>
        <p:spPr>
          <a:xfrm xmlns:a="http://schemas.openxmlformats.org/drawingml/2006/main">
            <a:off x="2905125" y="4371975"/>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15191B"/>
                </a:solidFill>
                <a:latin typeface="Hiragino Sans"/>
                <a:ea typeface="Hiragino Sans"/>
                <a:cs typeface="Hiragino Sans"/>
              </a:defRPr>
            </a:pPr>
            <a:r>
              <a:rPr sz="1200" b="1">
                <a:solidFill>
                  <a:srgbClr val="15191B"/>
                </a:solidFill>
                <a:latin typeface="Hiragino Sans"/>
                <a:ea typeface="Hiragino Sans"/>
                <a:cs typeface="Hiragino Sans"/>
              </a:rPr>
              <a:t>現場統合</a:t>
            </a:r>
          </a:p>
        </p:txBody>
      </p:sp>
      <p:sp>
        <p:nvSpPr>
          <p:cNvPr id="30" name="">
            <a:extLst xmlns:a="http://schemas.openxmlformats.org/drawingml/2006/main">
              <a:ext uri="{FF2B5EF4-FFF2-40B4-BE49-F238E27FC236}">
                <a16:creationId xmlns:a16="http://schemas.microsoft.com/office/drawing/2014/main" id="{D3D85E52-61E6-4D7D-85B2-E2FA30AAD367}"/>
              </a:ext>
            </a:extLst>
          </p:cNvPr>
          <p:cNvSpPr>
            <a:spLocks xmlns:a="http://schemas.openxmlformats.org/drawingml/2006/main" noGrp="1"/>
          </p:cNvSpPr>
          <p:nvPr/>
        </p:nvSpPr>
        <p:spPr>
          <a:xfrm xmlns:a="http://schemas.openxmlformats.org/drawingml/2006/main">
            <a:off x="5048250" y="2266950"/>
            <a:ext cx="5619750" cy="4381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1" name="">
            <a:extLst xmlns:a="http://schemas.openxmlformats.org/drawingml/2006/main">
              <a:ext uri="{FF2B5EF4-FFF2-40B4-BE49-F238E27FC236}">
                <a16:creationId xmlns:a16="http://schemas.microsoft.com/office/drawing/2014/main" id="{DA931204-12CB-4F4C-90D6-34F895F7C4D3}"/>
              </a:ext>
            </a:extLst>
          </p:cNvPr>
          <p:cNvSpPr>
            <a:spLocks xmlns:a="http://schemas.openxmlformats.org/drawingml/2006/main" noGrp="1"/>
          </p:cNvSpPr>
          <p:nvPr/>
        </p:nvSpPr>
        <p:spPr>
          <a:xfrm xmlns:a="http://schemas.openxmlformats.org/drawingml/2006/main">
            <a:off x="5219700" y="2371725"/>
            <a:ext cx="527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水平統合型：一つのレイヤーから多くの現場へ</a:t>
            </a:r>
          </a:p>
        </p:txBody>
      </p:sp>
      <p:sp>
        <p:nvSpPr>
          <p:cNvPr id="32" name="">
            <a:extLst xmlns:a="http://schemas.openxmlformats.org/drawingml/2006/main">
              <a:ext uri="{FF2B5EF4-FFF2-40B4-BE49-F238E27FC236}">
                <a16:creationId xmlns:a16="http://schemas.microsoft.com/office/drawing/2014/main" id="{94E94AA0-6ACE-45D9-830C-FEA4A759F161}"/>
              </a:ext>
            </a:extLst>
          </p:cNvPr>
          <p:cNvSpPr>
            <a:spLocks xmlns:a="http://schemas.openxmlformats.org/drawingml/2006/main" noGrp="1"/>
          </p:cNvSpPr>
          <p:nvPr/>
        </p:nvSpPr>
        <p:spPr>
          <a:xfrm xmlns:a="http://schemas.openxmlformats.org/drawingml/2006/main">
            <a:off x="10372725" y="2705100"/>
            <a:ext cx="19050" cy="24574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C26095F-A7CC-428E-96EF-33134D499A50}"/>
              </a:ext>
            </a:extLst>
          </p:cNvPr>
          <p:cNvSpPr>
            <a:spLocks xmlns:a="http://schemas.openxmlformats.org/drawingml/2006/main" noGrp="1"/>
          </p:cNvSpPr>
          <p:nvPr/>
        </p:nvSpPr>
        <p:spPr>
          <a:xfrm xmlns:a="http://schemas.openxmlformats.org/drawingml/2006/main">
            <a:off x="8401050" y="28003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撮影で現場へ入る</a:t>
            </a:r>
          </a:p>
        </p:txBody>
      </p:sp>
      <p:sp>
        <p:nvSpPr>
          <p:cNvPr id="34" name="">
            <a:extLst xmlns:a="http://schemas.openxmlformats.org/drawingml/2006/main">
              <a:ext uri="{FF2B5EF4-FFF2-40B4-BE49-F238E27FC236}">
                <a16:creationId xmlns:a16="http://schemas.microsoft.com/office/drawing/2014/main" id="{BEA913E8-D5B3-40F1-9840-7A808C5A4693}"/>
              </a:ext>
            </a:extLst>
          </p:cNvPr>
          <p:cNvSpPr>
            <a:spLocks xmlns:a="http://schemas.openxmlformats.org/drawingml/2006/main" noGrp="1"/>
          </p:cNvSpPr>
          <p:nvPr/>
        </p:nvSpPr>
        <p:spPr>
          <a:xfrm xmlns:a="http://schemas.openxmlformats.org/drawingml/2006/main">
            <a:off x="8401050" y="47625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導入で現場へ入る</a:t>
            </a:r>
          </a:p>
        </p:txBody>
      </p:sp>
      <p:sp>
        <p:nvSpPr>
          <p:cNvPr id="35" name="">
            <a:extLst xmlns:a="http://schemas.openxmlformats.org/drawingml/2006/main">
              <a:ext uri="{FF2B5EF4-FFF2-40B4-BE49-F238E27FC236}">
                <a16:creationId xmlns:a16="http://schemas.microsoft.com/office/drawing/2014/main" id="{75914CDF-2CB3-4ECD-826C-8A3905B2EA21}"/>
              </a:ext>
            </a:extLst>
          </p:cNvPr>
          <p:cNvSpPr>
            <a:spLocks xmlns:a="http://schemas.openxmlformats.org/drawingml/2006/main" noGrp="1"/>
          </p:cNvSpPr>
          <p:nvPr/>
        </p:nvSpPr>
        <p:spPr>
          <a:xfrm xmlns:a="http://schemas.openxmlformats.org/drawingml/2006/main">
            <a:off x="2266950" y="5886450"/>
            <a:ext cx="885825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33DCB97-F57B-45D0-BB58-B98D26DDB65E}"/>
              </a:ext>
            </a:extLst>
          </p:cNvPr>
          <p:cNvSpPr>
            <a:spLocks xmlns:a="http://schemas.openxmlformats.org/drawingml/2006/main" noGrp="1"/>
          </p:cNvSpPr>
          <p:nvPr/>
        </p:nvSpPr>
        <p:spPr>
          <a:xfrm xmlns:a="http://schemas.openxmlformats.org/drawingml/2006/main">
            <a:off x="2266950" y="59626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特定の現場</a:t>
            </a:r>
          </a:p>
        </p:txBody>
      </p:sp>
      <p:sp>
        <p:nvSpPr>
          <p:cNvPr id="37" name="">
            <a:extLst xmlns:a="http://schemas.openxmlformats.org/drawingml/2006/main">
              <a:ext uri="{FF2B5EF4-FFF2-40B4-BE49-F238E27FC236}">
                <a16:creationId xmlns:a16="http://schemas.microsoft.com/office/drawing/2014/main" id="{DDAFC2E1-F420-4755-9340-B3CAE4A1D0A0}"/>
              </a:ext>
            </a:extLst>
          </p:cNvPr>
          <p:cNvSpPr>
            <a:spLocks xmlns:a="http://schemas.openxmlformats.org/drawingml/2006/main" noGrp="1"/>
          </p:cNvSpPr>
          <p:nvPr/>
        </p:nvSpPr>
        <p:spPr>
          <a:xfrm xmlns:a="http://schemas.openxmlformats.org/drawingml/2006/main">
            <a:off x="8648700" y="59626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複数業種・多数の現場  →</a:t>
            </a:r>
          </a:p>
        </p:txBody>
      </p:sp>
    </p:spTree>
    <p:extLst>
      <p:ext uri="{BB962C8B-B14F-4D97-AF65-F5344CB8AC3E}">
        <p14:creationId xmlns:p14="http://schemas.microsoft.com/office/powerpoint/2010/main" val="648848534"/>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EE14EE24-1987-4EDF-B562-8807C860927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80476F-FD11-428C-86DD-9F39BD23D69A}"/>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現場を含むフィードバックループ</a:t>
            </a:r>
          </a:p>
        </p:txBody>
      </p:sp>
      <p:sp>
        <p:nvSpPr>
          <p:cNvPr id="3" name="">
            <a:extLst xmlns:a="http://schemas.openxmlformats.org/drawingml/2006/main">
              <a:ext uri="{FF2B5EF4-FFF2-40B4-BE49-F238E27FC236}">
                <a16:creationId xmlns:a16="http://schemas.microsoft.com/office/drawing/2014/main" id="{D73DE3D3-E883-4DB8-820C-547372C409F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07052ED-1488-4501-9919-6F5B66CE2CA8}"/>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2404AFB3-3234-4003-927D-5E71E5E12873}"/>
              </a:ext>
            </a:extLst>
          </p:cNvPr>
          <p:cNvSpPr>
            <a:spLocks xmlns:a="http://schemas.openxmlformats.org/drawingml/2006/main" noGrp="1"/>
          </p:cNvSpPr>
          <p:nvPr/>
        </p:nvSpPr>
        <p:spPr>
          <a:xfrm xmlns:a="http://schemas.openxmlformats.org/drawingml/2006/main">
            <a:off x="723900" y="17621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 ＝ 接続する業種・現場の広さ　　縦幅 ＝ 担う技術レイヤーの広さ</a:t>
            </a:r>
          </a:p>
        </p:txBody>
      </p:sp>
      <p:sp>
        <p:nvSpPr>
          <p:cNvPr id="6" name="">
            <a:extLst xmlns:a="http://schemas.openxmlformats.org/drawingml/2006/main">
              <a:ext uri="{FF2B5EF4-FFF2-40B4-BE49-F238E27FC236}">
                <a16:creationId xmlns:a16="http://schemas.microsoft.com/office/drawing/2014/main" id="{8DC0455B-1F77-4DF6-88B5-F0A6CA5E8C46}"/>
              </a:ext>
            </a:extLst>
          </p:cNvPr>
          <p:cNvSpPr>
            <a:spLocks xmlns:a="http://schemas.openxmlformats.org/drawingml/2006/main" noGrp="1"/>
          </p:cNvSpPr>
          <p:nvPr/>
        </p:nvSpPr>
        <p:spPr>
          <a:xfrm xmlns:a="http://schemas.openxmlformats.org/drawingml/2006/main">
            <a:off x="2266950" y="22098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7" name="">
            <a:extLst xmlns:a="http://schemas.openxmlformats.org/drawingml/2006/main">
              <a:ext uri="{FF2B5EF4-FFF2-40B4-BE49-F238E27FC236}">
                <a16:creationId xmlns:a16="http://schemas.microsoft.com/office/drawing/2014/main" id="{ADC432BC-398C-425D-B2B3-0F3B79780DAF}"/>
              </a:ext>
            </a:extLst>
          </p:cNvPr>
          <p:cNvSpPr>
            <a:spLocks xmlns:a="http://schemas.openxmlformats.org/drawingml/2006/main" noGrp="1"/>
          </p:cNvSpPr>
          <p:nvPr/>
        </p:nvSpPr>
        <p:spPr>
          <a:xfrm xmlns:a="http://schemas.openxmlformats.org/drawingml/2006/main">
            <a:off x="723900" y="23526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A39AEC5C-CB53-4845-93C1-050E6F0ACB4C}"/>
              </a:ext>
            </a:extLst>
          </p:cNvPr>
          <p:cNvSpPr>
            <a:spLocks xmlns:a="http://schemas.openxmlformats.org/drawingml/2006/main" noGrp="1"/>
          </p:cNvSpPr>
          <p:nvPr/>
        </p:nvSpPr>
        <p:spPr>
          <a:xfrm xmlns:a="http://schemas.openxmlformats.org/drawingml/2006/main">
            <a:off x="2266950" y="28956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A4A5A80C-CC94-4BC6-89DD-5CFAF128DF52}"/>
              </a:ext>
            </a:extLst>
          </p:cNvPr>
          <p:cNvSpPr>
            <a:spLocks xmlns:a="http://schemas.openxmlformats.org/drawingml/2006/main" noGrp="1"/>
          </p:cNvSpPr>
          <p:nvPr/>
        </p:nvSpPr>
        <p:spPr>
          <a:xfrm xmlns:a="http://schemas.openxmlformats.org/drawingml/2006/main">
            <a:off x="723900" y="295275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0" name="">
            <a:extLst xmlns:a="http://schemas.openxmlformats.org/drawingml/2006/main">
              <a:ext uri="{FF2B5EF4-FFF2-40B4-BE49-F238E27FC236}">
                <a16:creationId xmlns:a16="http://schemas.microsoft.com/office/drawing/2014/main" id="{E5AFD941-8DAB-491B-B053-8FF03D769A2E}"/>
              </a:ext>
            </a:extLst>
          </p:cNvPr>
          <p:cNvSpPr>
            <a:spLocks xmlns:a="http://schemas.openxmlformats.org/drawingml/2006/main" noGrp="1"/>
          </p:cNvSpPr>
          <p:nvPr/>
        </p:nvSpPr>
        <p:spPr>
          <a:xfrm xmlns:a="http://schemas.openxmlformats.org/drawingml/2006/main">
            <a:off x="2266950" y="35814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1" name="">
            <a:extLst xmlns:a="http://schemas.openxmlformats.org/drawingml/2006/main">
              <a:ext uri="{FF2B5EF4-FFF2-40B4-BE49-F238E27FC236}">
                <a16:creationId xmlns:a16="http://schemas.microsoft.com/office/drawing/2014/main" id="{BE18B643-2647-471F-8075-7CEF8103C93C}"/>
              </a:ext>
            </a:extLst>
          </p:cNvPr>
          <p:cNvSpPr>
            <a:spLocks xmlns:a="http://schemas.openxmlformats.org/drawingml/2006/main" noGrp="1"/>
          </p:cNvSpPr>
          <p:nvPr/>
        </p:nvSpPr>
        <p:spPr>
          <a:xfrm xmlns:a="http://schemas.openxmlformats.org/drawingml/2006/main">
            <a:off x="723900" y="37242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BDBBF18D-3F5C-486A-ACD2-36F7BDC4ACE5}"/>
              </a:ext>
            </a:extLst>
          </p:cNvPr>
          <p:cNvSpPr>
            <a:spLocks xmlns:a="http://schemas.openxmlformats.org/drawingml/2006/main" noGrp="1"/>
          </p:cNvSpPr>
          <p:nvPr/>
        </p:nvSpPr>
        <p:spPr>
          <a:xfrm xmlns:a="http://schemas.openxmlformats.org/drawingml/2006/main">
            <a:off x="2266950" y="42672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13" name="">
            <a:extLst xmlns:a="http://schemas.openxmlformats.org/drawingml/2006/main">
              <a:ext uri="{FF2B5EF4-FFF2-40B4-BE49-F238E27FC236}">
                <a16:creationId xmlns:a16="http://schemas.microsoft.com/office/drawing/2014/main" id="{0D7E2E22-797C-4C9E-8868-A9C8598BCB1B}"/>
              </a:ext>
            </a:extLst>
          </p:cNvPr>
          <p:cNvSpPr>
            <a:spLocks xmlns:a="http://schemas.openxmlformats.org/drawingml/2006/main" noGrp="1"/>
          </p:cNvSpPr>
          <p:nvPr/>
        </p:nvSpPr>
        <p:spPr>
          <a:xfrm xmlns:a="http://schemas.openxmlformats.org/drawingml/2006/main">
            <a:off x="723900" y="44100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399C21EB-CE49-44AC-AB06-EE25FDAB521B}"/>
              </a:ext>
            </a:extLst>
          </p:cNvPr>
          <p:cNvSpPr>
            <a:spLocks xmlns:a="http://schemas.openxmlformats.org/drawingml/2006/main" noGrp="1"/>
          </p:cNvSpPr>
          <p:nvPr/>
        </p:nvSpPr>
        <p:spPr>
          <a:xfrm xmlns:a="http://schemas.openxmlformats.org/drawingml/2006/main">
            <a:off x="723900" y="525780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15" name="">
            <a:extLst xmlns:a="http://schemas.openxmlformats.org/drawingml/2006/main">
              <a:ext uri="{FF2B5EF4-FFF2-40B4-BE49-F238E27FC236}">
                <a16:creationId xmlns:a16="http://schemas.microsoft.com/office/drawing/2014/main" id="{C6F0FBF5-3DC1-4511-86B0-01FD3B58E565}"/>
              </a:ext>
            </a:extLst>
          </p:cNvPr>
          <p:cNvSpPr>
            <a:spLocks xmlns:a="http://schemas.openxmlformats.org/drawingml/2006/main" noGrp="1"/>
          </p:cNvSpPr>
          <p:nvPr/>
        </p:nvSpPr>
        <p:spPr>
          <a:xfrm xmlns:a="http://schemas.openxmlformats.org/drawingml/2006/main">
            <a:off x="22669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B269DD1-D477-4C63-AD1A-AC90C94F2FD3}"/>
              </a:ext>
            </a:extLst>
          </p:cNvPr>
          <p:cNvSpPr>
            <a:spLocks xmlns:a="http://schemas.openxmlformats.org/drawingml/2006/main" noGrp="1"/>
          </p:cNvSpPr>
          <p:nvPr/>
        </p:nvSpPr>
        <p:spPr>
          <a:xfrm xmlns:a="http://schemas.openxmlformats.org/drawingml/2006/main">
            <a:off x="22669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飲食</a:t>
            </a:r>
          </a:p>
        </p:txBody>
      </p:sp>
      <p:sp>
        <p:nvSpPr>
          <p:cNvPr id="17" name="">
            <a:extLst xmlns:a="http://schemas.openxmlformats.org/drawingml/2006/main">
              <a:ext uri="{FF2B5EF4-FFF2-40B4-BE49-F238E27FC236}">
                <a16:creationId xmlns:a16="http://schemas.microsoft.com/office/drawing/2014/main" id="{9C5C5C9D-A8E8-4911-B1F9-6D9ECF0E142E}"/>
              </a:ext>
            </a:extLst>
          </p:cNvPr>
          <p:cNvSpPr>
            <a:spLocks xmlns:a="http://schemas.openxmlformats.org/drawingml/2006/main" noGrp="1"/>
          </p:cNvSpPr>
          <p:nvPr/>
        </p:nvSpPr>
        <p:spPr>
          <a:xfrm xmlns:a="http://schemas.openxmlformats.org/drawingml/2006/main">
            <a:off x="40386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9E7E480-E53D-4CD2-A10E-9B2EE0DDE0E0}"/>
              </a:ext>
            </a:extLst>
          </p:cNvPr>
          <p:cNvSpPr>
            <a:spLocks xmlns:a="http://schemas.openxmlformats.org/drawingml/2006/main" noGrp="1"/>
          </p:cNvSpPr>
          <p:nvPr/>
        </p:nvSpPr>
        <p:spPr>
          <a:xfrm xmlns:a="http://schemas.openxmlformats.org/drawingml/2006/main">
            <a:off x="40386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小売</a:t>
            </a:r>
          </a:p>
        </p:txBody>
      </p:sp>
      <p:sp>
        <p:nvSpPr>
          <p:cNvPr id="19" name="">
            <a:extLst xmlns:a="http://schemas.openxmlformats.org/drawingml/2006/main">
              <a:ext uri="{FF2B5EF4-FFF2-40B4-BE49-F238E27FC236}">
                <a16:creationId xmlns:a16="http://schemas.microsoft.com/office/drawing/2014/main" id="{B1689FA2-3475-46FD-B8B5-655804ECEF49}"/>
              </a:ext>
            </a:extLst>
          </p:cNvPr>
          <p:cNvSpPr>
            <a:spLocks xmlns:a="http://schemas.openxmlformats.org/drawingml/2006/main" noGrp="1"/>
          </p:cNvSpPr>
          <p:nvPr/>
        </p:nvSpPr>
        <p:spPr>
          <a:xfrm xmlns:a="http://schemas.openxmlformats.org/drawingml/2006/main">
            <a:off x="58102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020B9FD-B9EE-45B2-850F-AFEAE2873215}"/>
              </a:ext>
            </a:extLst>
          </p:cNvPr>
          <p:cNvSpPr>
            <a:spLocks xmlns:a="http://schemas.openxmlformats.org/drawingml/2006/main" noGrp="1"/>
          </p:cNvSpPr>
          <p:nvPr/>
        </p:nvSpPr>
        <p:spPr>
          <a:xfrm xmlns:a="http://schemas.openxmlformats.org/drawingml/2006/main">
            <a:off x="58102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製造</a:t>
            </a:r>
          </a:p>
        </p:txBody>
      </p:sp>
      <p:sp>
        <p:nvSpPr>
          <p:cNvPr id="21" name="">
            <a:extLst xmlns:a="http://schemas.openxmlformats.org/drawingml/2006/main">
              <a:ext uri="{FF2B5EF4-FFF2-40B4-BE49-F238E27FC236}">
                <a16:creationId xmlns:a16="http://schemas.microsoft.com/office/drawing/2014/main" id="{FFF64B7E-CF8C-4EC2-85D4-96E0C891F632}"/>
              </a:ext>
            </a:extLst>
          </p:cNvPr>
          <p:cNvSpPr>
            <a:spLocks xmlns:a="http://schemas.openxmlformats.org/drawingml/2006/main" noGrp="1"/>
          </p:cNvSpPr>
          <p:nvPr/>
        </p:nvSpPr>
        <p:spPr>
          <a:xfrm xmlns:a="http://schemas.openxmlformats.org/drawingml/2006/main">
            <a:off x="75819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96C527C-4406-4A3C-A541-3FB01660AFF8}"/>
              </a:ext>
            </a:extLst>
          </p:cNvPr>
          <p:cNvSpPr>
            <a:spLocks xmlns:a="http://schemas.openxmlformats.org/drawingml/2006/main" noGrp="1"/>
          </p:cNvSpPr>
          <p:nvPr/>
        </p:nvSpPr>
        <p:spPr>
          <a:xfrm xmlns:a="http://schemas.openxmlformats.org/drawingml/2006/main">
            <a:off x="75819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物流</a:t>
            </a:r>
          </a:p>
        </p:txBody>
      </p:sp>
      <p:sp>
        <p:nvSpPr>
          <p:cNvPr id="23" name="">
            <a:extLst xmlns:a="http://schemas.openxmlformats.org/drawingml/2006/main">
              <a:ext uri="{FF2B5EF4-FFF2-40B4-BE49-F238E27FC236}">
                <a16:creationId xmlns:a16="http://schemas.microsoft.com/office/drawing/2014/main" id="{BF1BB236-6254-4656-8838-65B9604C129F}"/>
              </a:ext>
            </a:extLst>
          </p:cNvPr>
          <p:cNvSpPr>
            <a:spLocks xmlns:a="http://schemas.openxmlformats.org/drawingml/2006/main" noGrp="1"/>
          </p:cNvSpPr>
          <p:nvPr/>
        </p:nvSpPr>
        <p:spPr>
          <a:xfrm xmlns:a="http://schemas.openxmlformats.org/drawingml/2006/main">
            <a:off x="93535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DDB47B4-6230-412D-891B-B1FABE4A9023}"/>
              </a:ext>
            </a:extLst>
          </p:cNvPr>
          <p:cNvSpPr>
            <a:spLocks xmlns:a="http://schemas.openxmlformats.org/drawingml/2006/main" noGrp="1"/>
          </p:cNvSpPr>
          <p:nvPr/>
        </p:nvSpPr>
        <p:spPr>
          <a:xfrm xmlns:a="http://schemas.openxmlformats.org/drawingml/2006/main">
            <a:off x="93535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ほか</a:t>
            </a:r>
          </a:p>
        </p:txBody>
      </p:sp>
      <p:sp>
        <p:nvSpPr>
          <p:cNvPr id="25" name="">
            <a:extLst xmlns:a="http://schemas.openxmlformats.org/drawingml/2006/main">
              <a:ext uri="{FF2B5EF4-FFF2-40B4-BE49-F238E27FC236}">
                <a16:creationId xmlns:a16="http://schemas.microsoft.com/office/drawing/2014/main" id="{A98C25FC-D162-4A10-96BE-ADD1ED098898}"/>
              </a:ext>
            </a:extLst>
          </p:cNvPr>
          <p:cNvSpPr>
            <a:spLocks xmlns:a="http://schemas.openxmlformats.org/drawingml/2006/main" noGrp="1"/>
          </p:cNvSpPr>
          <p:nvPr/>
        </p:nvSpPr>
        <p:spPr>
          <a:xfrm xmlns:a="http://schemas.openxmlformats.org/drawingml/2006/main">
            <a:off x="2619375" y="2962275"/>
            <a:ext cx="1981200" cy="17907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BDC7F812-427B-4696-A647-EE6A7F4AC9F5}"/>
              </a:ext>
            </a:extLst>
          </p:cNvPr>
          <p:cNvSpPr>
            <a:spLocks xmlns:a="http://schemas.openxmlformats.org/drawingml/2006/main" noGrp="1"/>
          </p:cNvSpPr>
          <p:nvPr/>
        </p:nvSpPr>
        <p:spPr>
          <a:xfrm xmlns:a="http://schemas.openxmlformats.org/drawingml/2006/main">
            <a:off x="2790825" y="3048000"/>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a:t>
            </a:r>
          </a:p>
        </p:txBody>
      </p:sp>
      <p:sp>
        <p:nvSpPr>
          <p:cNvPr id="27" name="">
            <a:extLst xmlns:a="http://schemas.openxmlformats.org/drawingml/2006/main">
              <a:ext uri="{FF2B5EF4-FFF2-40B4-BE49-F238E27FC236}">
                <a16:creationId xmlns:a16="http://schemas.microsoft.com/office/drawing/2014/main" id="{7E5770AD-BB71-4505-83B8-8486CBD54AE6}"/>
              </a:ext>
            </a:extLst>
          </p:cNvPr>
          <p:cNvSpPr>
            <a:spLocks xmlns:a="http://schemas.openxmlformats.org/drawingml/2006/main" noGrp="1"/>
          </p:cNvSpPr>
          <p:nvPr/>
        </p:nvSpPr>
        <p:spPr>
          <a:xfrm xmlns:a="http://schemas.openxmlformats.org/drawingml/2006/main">
            <a:off x="2790825" y="32861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現場データで改善</a:t>
            </a:r>
          </a:p>
        </p:txBody>
      </p:sp>
      <p:sp>
        <p:nvSpPr>
          <p:cNvPr id="28" name="">
            <a:extLst xmlns:a="http://schemas.openxmlformats.org/drawingml/2006/main">
              <a:ext uri="{FF2B5EF4-FFF2-40B4-BE49-F238E27FC236}">
                <a16:creationId xmlns:a16="http://schemas.microsoft.com/office/drawing/2014/main" id="{BB2E19F8-8FA4-4BD9-8F27-94E6659EA92C}"/>
              </a:ext>
            </a:extLst>
          </p:cNvPr>
          <p:cNvSpPr>
            <a:spLocks xmlns:a="http://schemas.openxmlformats.org/drawingml/2006/main" noGrp="1"/>
          </p:cNvSpPr>
          <p:nvPr/>
        </p:nvSpPr>
        <p:spPr>
          <a:xfrm xmlns:a="http://schemas.openxmlformats.org/drawingml/2006/main">
            <a:off x="2790825" y="36671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a:t>
            </a:r>
          </a:p>
        </p:txBody>
      </p:sp>
      <p:sp>
        <p:nvSpPr>
          <p:cNvPr id="29" name="">
            <a:extLst xmlns:a="http://schemas.openxmlformats.org/drawingml/2006/main">
              <a:ext uri="{FF2B5EF4-FFF2-40B4-BE49-F238E27FC236}">
                <a16:creationId xmlns:a16="http://schemas.microsoft.com/office/drawing/2014/main" id="{405E2B69-08F9-4050-A118-4A088BA71975}"/>
              </a:ext>
            </a:extLst>
          </p:cNvPr>
          <p:cNvSpPr>
            <a:spLocks xmlns:a="http://schemas.openxmlformats.org/drawingml/2006/main" noGrp="1"/>
          </p:cNvSpPr>
          <p:nvPr/>
        </p:nvSpPr>
        <p:spPr>
          <a:xfrm xmlns:a="http://schemas.openxmlformats.org/drawingml/2006/main">
            <a:off x="2790825" y="3905250"/>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機体・センサーへ反映</a:t>
            </a:r>
          </a:p>
        </p:txBody>
      </p:sp>
      <p:sp>
        <p:nvSpPr>
          <p:cNvPr id="30" name="">
            <a:extLst xmlns:a="http://schemas.openxmlformats.org/drawingml/2006/main">
              <a:ext uri="{FF2B5EF4-FFF2-40B4-BE49-F238E27FC236}">
                <a16:creationId xmlns:a16="http://schemas.microsoft.com/office/drawing/2014/main" id="{DC257115-0AA2-4E62-A4C6-A77D0549D2C0}"/>
              </a:ext>
            </a:extLst>
          </p:cNvPr>
          <p:cNvSpPr>
            <a:spLocks xmlns:a="http://schemas.openxmlformats.org/drawingml/2006/main" noGrp="1"/>
          </p:cNvSpPr>
          <p:nvPr/>
        </p:nvSpPr>
        <p:spPr>
          <a:xfrm xmlns:a="http://schemas.openxmlformats.org/drawingml/2006/main">
            <a:off x="2790825" y="4286250"/>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31" name="">
            <a:extLst xmlns:a="http://schemas.openxmlformats.org/drawingml/2006/main">
              <a:ext uri="{FF2B5EF4-FFF2-40B4-BE49-F238E27FC236}">
                <a16:creationId xmlns:a16="http://schemas.microsoft.com/office/drawing/2014/main" id="{C5EE6000-E4E3-4E3C-AEC4-117AD75AF092}"/>
              </a:ext>
            </a:extLst>
          </p:cNvPr>
          <p:cNvSpPr>
            <a:spLocks xmlns:a="http://schemas.openxmlformats.org/drawingml/2006/main" noGrp="1"/>
          </p:cNvSpPr>
          <p:nvPr/>
        </p:nvSpPr>
        <p:spPr>
          <a:xfrm xmlns:a="http://schemas.openxmlformats.org/drawingml/2006/main">
            <a:off x="2790825" y="452437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実作業へ導入</a:t>
            </a:r>
          </a:p>
        </p:txBody>
      </p:sp>
      <p:sp>
        <p:nvSpPr>
          <p:cNvPr id="32" name="">
            <a:extLst xmlns:a="http://schemas.openxmlformats.org/drawingml/2006/main">
              <a:ext uri="{FF2B5EF4-FFF2-40B4-BE49-F238E27FC236}">
                <a16:creationId xmlns:a16="http://schemas.microsoft.com/office/drawing/2014/main" id="{A57FA7A1-ECA5-4EE0-8404-C7CD19B05CF4}"/>
              </a:ext>
            </a:extLst>
          </p:cNvPr>
          <p:cNvSpPr>
            <a:spLocks xmlns:a="http://schemas.openxmlformats.org/drawingml/2006/main" noGrp="1"/>
          </p:cNvSpPr>
          <p:nvPr/>
        </p:nvSpPr>
        <p:spPr>
          <a:xfrm xmlns:a="http://schemas.openxmlformats.org/drawingml/2006/main">
            <a:off x="3448050" y="349567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a:t>
            </a:r>
          </a:p>
        </p:txBody>
      </p:sp>
      <p:sp>
        <p:nvSpPr>
          <p:cNvPr id="33" name="">
            <a:extLst xmlns:a="http://schemas.openxmlformats.org/drawingml/2006/main">
              <a:ext uri="{FF2B5EF4-FFF2-40B4-BE49-F238E27FC236}">
                <a16:creationId xmlns:a16="http://schemas.microsoft.com/office/drawing/2014/main" id="{9F5D65A8-C416-4830-8580-6A4693DC8A0F}"/>
              </a:ext>
            </a:extLst>
          </p:cNvPr>
          <p:cNvSpPr>
            <a:spLocks xmlns:a="http://schemas.openxmlformats.org/drawingml/2006/main" noGrp="1"/>
          </p:cNvSpPr>
          <p:nvPr/>
        </p:nvSpPr>
        <p:spPr>
          <a:xfrm xmlns:a="http://schemas.openxmlformats.org/drawingml/2006/main">
            <a:off x="3448050" y="41148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a:t>
            </a:r>
          </a:p>
        </p:txBody>
      </p:sp>
      <p:sp>
        <p:nvSpPr>
          <p:cNvPr id="34" name="">
            <a:extLst xmlns:a="http://schemas.openxmlformats.org/drawingml/2006/main">
              <a:ext uri="{FF2B5EF4-FFF2-40B4-BE49-F238E27FC236}">
                <a16:creationId xmlns:a16="http://schemas.microsoft.com/office/drawing/2014/main" id="{F75A6252-E3CA-4C68-9660-FBA0B25018D9}"/>
              </a:ext>
            </a:extLst>
          </p:cNvPr>
          <p:cNvSpPr>
            <a:spLocks xmlns:a="http://schemas.openxmlformats.org/drawingml/2006/main" noGrp="1"/>
          </p:cNvSpPr>
          <p:nvPr/>
        </p:nvSpPr>
        <p:spPr>
          <a:xfrm xmlns:a="http://schemas.openxmlformats.org/drawingml/2006/main">
            <a:off x="3600450" y="4752975"/>
            <a:ext cx="19050" cy="409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A32FADA2-845E-4999-A03F-38A5B19F6E96}"/>
              </a:ext>
            </a:extLst>
          </p:cNvPr>
          <p:cNvSpPr>
            <a:spLocks xmlns:a="http://schemas.openxmlformats.org/drawingml/2006/main" noGrp="1"/>
          </p:cNvSpPr>
          <p:nvPr/>
        </p:nvSpPr>
        <p:spPr>
          <a:xfrm xmlns:a="http://schemas.openxmlformats.org/drawingml/2006/main">
            <a:off x="3600450" y="5143500"/>
            <a:ext cx="63912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FDDF7FE2-709A-4F68-BC9F-0A8D939876D2}"/>
              </a:ext>
            </a:extLst>
          </p:cNvPr>
          <p:cNvSpPr>
            <a:spLocks xmlns:a="http://schemas.openxmlformats.org/drawingml/2006/main" noGrp="1"/>
          </p:cNvSpPr>
          <p:nvPr/>
        </p:nvSpPr>
        <p:spPr>
          <a:xfrm xmlns:a="http://schemas.openxmlformats.org/drawingml/2006/main">
            <a:off x="9972675" y="2657475"/>
            <a:ext cx="19050" cy="2505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DBE69C1E-3962-4168-AAFB-7AD209275F45}"/>
              </a:ext>
            </a:extLst>
          </p:cNvPr>
          <p:cNvSpPr>
            <a:spLocks xmlns:a="http://schemas.openxmlformats.org/drawingml/2006/main" noGrp="1"/>
          </p:cNvSpPr>
          <p:nvPr/>
        </p:nvSpPr>
        <p:spPr>
          <a:xfrm xmlns:a="http://schemas.openxmlformats.org/drawingml/2006/main">
            <a:off x="4600575" y="2657475"/>
            <a:ext cx="53911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6588AE3F-D28E-4EC9-97C9-3D3273048315}"/>
              </a:ext>
            </a:extLst>
          </p:cNvPr>
          <p:cNvSpPr>
            <a:spLocks xmlns:a="http://schemas.openxmlformats.org/drawingml/2006/main" noGrp="1"/>
          </p:cNvSpPr>
          <p:nvPr/>
        </p:nvSpPr>
        <p:spPr>
          <a:xfrm xmlns:a="http://schemas.openxmlformats.org/drawingml/2006/main">
            <a:off x="6600825" y="23812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現場で得たデータを戻す</a:t>
            </a:r>
          </a:p>
        </p:txBody>
      </p:sp>
      <p:sp>
        <p:nvSpPr>
          <p:cNvPr id="39" name="">
            <a:extLst xmlns:a="http://schemas.openxmlformats.org/drawingml/2006/main">
              <a:ext uri="{FF2B5EF4-FFF2-40B4-BE49-F238E27FC236}">
                <a16:creationId xmlns:a16="http://schemas.microsoft.com/office/drawing/2014/main" id="{F7EE6AB8-E6DF-4212-955A-583C0DB452C8}"/>
              </a:ext>
            </a:extLst>
          </p:cNvPr>
          <p:cNvSpPr>
            <a:spLocks xmlns:a="http://schemas.openxmlformats.org/drawingml/2006/main" noGrp="1"/>
          </p:cNvSpPr>
          <p:nvPr/>
        </p:nvSpPr>
        <p:spPr>
          <a:xfrm xmlns:a="http://schemas.openxmlformats.org/drawingml/2006/main">
            <a:off x="5048250" y="486727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現場で稼働</a:t>
            </a:r>
          </a:p>
        </p:txBody>
      </p:sp>
      <p:sp>
        <p:nvSpPr>
          <p:cNvPr id="40" name="">
            <a:extLst xmlns:a="http://schemas.openxmlformats.org/drawingml/2006/main">
              <a:ext uri="{FF2B5EF4-FFF2-40B4-BE49-F238E27FC236}">
                <a16:creationId xmlns:a16="http://schemas.microsoft.com/office/drawing/2014/main" id="{C8B53187-B0A5-44E0-B33B-ED2AF5720C69}"/>
              </a:ext>
            </a:extLst>
          </p:cNvPr>
          <p:cNvSpPr>
            <a:spLocks xmlns:a="http://schemas.openxmlformats.org/drawingml/2006/main" noGrp="1"/>
          </p:cNvSpPr>
          <p:nvPr/>
        </p:nvSpPr>
        <p:spPr>
          <a:xfrm xmlns:a="http://schemas.openxmlformats.org/drawingml/2006/main">
            <a:off x="2266950" y="5886450"/>
            <a:ext cx="885825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F3FE8221-5398-4EB2-BC59-7A55B8BC7B75}"/>
              </a:ext>
            </a:extLst>
          </p:cNvPr>
          <p:cNvSpPr>
            <a:spLocks xmlns:a="http://schemas.openxmlformats.org/drawingml/2006/main" noGrp="1"/>
          </p:cNvSpPr>
          <p:nvPr/>
        </p:nvSpPr>
        <p:spPr>
          <a:xfrm xmlns:a="http://schemas.openxmlformats.org/drawingml/2006/main">
            <a:off x="2266950" y="59626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特定の現場</a:t>
            </a:r>
          </a:p>
        </p:txBody>
      </p:sp>
      <p:sp>
        <p:nvSpPr>
          <p:cNvPr id="42" name="">
            <a:extLst xmlns:a="http://schemas.openxmlformats.org/drawingml/2006/main">
              <a:ext uri="{FF2B5EF4-FFF2-40B4-BE49-F238E27FC236}">
                <a16:creationId xmlns:a16="http://schemas.microsoft.com/office/drawing/2014/main" id="{A7CB0DC0-195D-4C74-A27A-3FAAB258C77B}"/>
              </a:ext>
            </a:extLst>
          </p:cNvPr>
          <p:cNvSpPr>
            <a:spLocks xmlns:a="http://schemas.openxmlformats.org/drawingml/2006/main" noGrp="1"/>
          </p:cNvSpPr>
          <p:nvPr/>
        </p:nvSpPr>
        <p:spPr>
          <a:xfrm xmlns:a="http://schemas.openxmlformats.org/drawingml/2006/main">
            <a:off x="8648700" y="59626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複数業種・多数の現場  →</a:t>
            </a:r>
          </a:p>
        </p:txBody>
      </p:sp>
    </p:spTree>
    <p:extLst>
      <p:ext uri="{BB962C8B-B14F-4D97-AF65-F5344CB8AC3E}">
        <p14:creationId xmlns:p14="http://schemas.microsoft.com/office/powerpoint/2010/main" val="210895581"/>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BE8A9BD-23D4-41BD-BB67-00AF4FE4763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1582AB8-41C9-45C7-BA5B-DFE4C4288130}"/>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現場データ収集という入口</a:t>
            </a:r>
          </a:p>
        </p:txBody>
      </p:sp>
      <p:sp>
        <p:nvSpPr>
          <p:cNvPr id="3" name="">
            <a:extLst xmlns:a="http://schemas.openxmlformats.org/drawingml/2006/main">
              <a:ext uri="{FF2B5EF4-FFF2-40B4-BE49-F238E27FC236}">
                <a16:creationId xmlns:a16="http://schemas.microsoft.com/office/drawing/2014/main" id="{D688C9F4-F0A5-49BE-9796-AD045AFF9F3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337667D-7617-4804-82D9-C8F5BFB1417A}"/>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FA80AC33-9543-4B2E-9607-3DE3F2932CA3}"/>
              </a:ext>
            </a:extLst>
          </p:cNvPr>
          <p:cNvSpPr>
            <a:spLocks xmlns:a="http://schemas.openxmlformats.org/drawingml/2006/main" noGrp="1"/>
          </p:cNvSpPr>
          <p:nvPr/>
        </p:nvSpPr>
        <p:spPr>
          <a:xfrm xmlns:a="http://schemas.openxmlformats.org/drawingml/2006/main">
            <a:off x="723900" y="19240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接続する現場</a:t>
            </a:r>
          </a:p>
        </p:txBody>
      </p:sp>
      <p:sp>
        <p:nvSpPr>
          <p:cNvPr id="6" name="">
            <a:extLst xmlns:a="http://schemas.openxmlformats.org/drawingml/2006/main">
              <a:ext uri="{FF2B5EF4-FFF2-40B4-BE49-F238E27FC236}">
                <a16:creationId xmlns:a16="http://schemas.microsoft.com/office/drawing/2014/main" id="{4E150C68-7C9A-4440-BB34-CA6CBFC42E3D}"/>
              </a:ext>
            </a:extLst>
          </p:cNvPr>
          <p:cNvSpPr>
            <a:spLocks xmlns:a="http://schemas.openxmlformats.org/drawingml/2006/main" noGrp="1"/>
          </p:cNvSpPr>
          <p:nvPr/>
        </p:nvSpPr>
        <p:spPr>
          <a:xfrm xmlns:a="http://schemas.openxmlformats.org/drawingml/2006/main">
            <a:off x="3810000" y="1924050"/>
            <a:ext cx="742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人間の作業を撮影するため、ロボットの動作開発よりも業種をまたぎやすい。</a:t>
            </a:r>
          </a:p>
        </p:txBody>
      </p:sp>
      <p:sp>
        <p:nvSpPr>
          <p:cNvPr id="7" name="">
            <a:extLst xmlns:a="http://schemas.openxmlformats.org/drawingml/2006/main">
              <a:ext uri="{FF2B5EF4-FFF2-40B4-BE49-F238E27FC236}">
                <a16:creationId xmlns:a16="http://schemas.microsoft.com/office/drawing/2014/main" id="{781211B6-650A-4C9A-A41E-E4BA90693506}"/>
              </a:ext>
            </a:extLst>
          </p:cNvPr>
          <p:cNvSpPr>
            <a:spLocks xmlns:a="http://schemas.openxmlformats.org/drawingml/2006/main" noGrp="1"/>
          </p:cNvSpPr>
          <p:nvPr/>
        </p:nvSpPr>
        <p:spPr>
          <a:xfrm xmlns:a="http://schemas.openxmlformats.org/drawingml/2006/main">
            <a:off x="723900" y="28479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48C9AF8-CBC2-482F-A4AD-A51221948CC1}"/>
              </a:ext>
            </a:extLst>
          </p:cNvPr>
          <p:cNvSpPr>
            <a:spLocks xmlns:a="http://schemas.openxmlformats.org/drawingml/2006/main" noGrp="1"/>
          </p:cNvSpPr>
          <p:nvPr/>
        </p:nvSpPr>
        <p:spPr>
          <a:xfrm xmlns:a="http://schemas.openxmlformats.org/drawingml/2006/main">
            <a:off x="723900" y="30194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現場へ入る手続き</a:t>
            </a:r>
          </a:p>
        </p:txBody>
      </p:sp>
      <p:sp>
        <p:nvSpPr>
          <p:cNvPr id="9" name="">
            <a:extLst xmlns:a="http://schemas.openxmlformats.org/drawingml/2006/main">
              <a:ext uri="{FF2B5EF4-FFF2-40B4-BE49-F238E27FC236}">
                <a16:creationId xmlns:a16="http://schemas.microsoft.com/office/drawing/2014/main" id="{19263B2F-A733-4149-8D74-232B16560A57}"/>
              </a:ext>
            </a:extLst>
          </p:cNvPr>
          <p:cNvSpPr>
            <a:spLocks xmlns:a="http://schemas.openxmlformats.org/drawingml/2006/main" noGrp="1"/>
          </p:cNvSpPr>
          <p:nvPr/>
        </p:nvSpPr>
        <p:spPr>
          <a:xfrm xmlns:a="http://schemas.openxmlformats.org/drawingml/2006/main">
            <a:off x="3810000" y="3019425"/>
            <a:ext cx="742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現場の許可、スタッフへの説明、プライバシー対応が必要になる。</a:t>
            </a:r>
          </a:p>
        </p:txBody>
      </p:sp>
      <p:sp>
        <p:nvSpPr>
          <p:cNvPr id="10" name="">
            <a:extLst xmlns:a="http://schemas.openxmlformats.org/drawingml/2006/main">
              <a:ext uri="{FF2B5EF4-FFF2-40B4-BE49-F238E27FC236}">
                <a16:creationId xmlns:a16="http://schemas.microsoft.com/office/drawing/2014/main" id="{DE04F319-B058-41C7-8E05-0FB94D77987B}"/>
              </a:ext>
            </a:extLst>
          </p:cNvPr>
          <p:cNvSpPr>
            <a:spLocks xmlns:a="http://schemas.openxmlformats.org/drawingml/2006/main" noGrp="1"/>
          </p:cNvSpPr>
          <p:nvPr/>
        </p:nvSpPr>
        <p:spPr>
          <a:xfrm xmlns:a="http://schemas.openxmlformats.org/drawingml/2006/main">
            <a:off x="723900" y="39433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EAE9BED-FB9B-4BF2-9261-E489D23B07C1}"/>
              </a:ext>
            </a:extLst>
          </p:cNvPr>
          <p:cNvSpPr>
            <a:spLocks xmlns:a="http://schemas.openxmlformats.org/drawingml/2006/main" noGrp="1"/>
          </p:cNvSpPr>
          <p:nvPr/>
        </p:nvSpPr>
        <p:spPr>
          <a:xfrm xmlns:a="http://schemas.openxmlformats.org/drawingml/2006/main">
            <a:off x="723900" y="411480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撮影後に残るもの</a:t>
            </a:r>
          </a:p>
        </p:txBody>
      </p:sp>
      <p:sp>
        <p:nvSpPr>
          <p:cNvPr id="12" name="">
            <a:extLst xmlns:a="http://schemas.openxmlformats.org/drawingml/2006/main">
              <a:ext uri="{FF2B5EF4-FFF2-40B4-BE49-F238E27FC236}">
                <a16:creationId xmlns:a16="http://schemas.microsoft.com/office/drawing/2014/main" id="{FFFBA5BE-DE9E-4CC1-962F-A213A997E5C4}"/>
              </a:ext>
            </a:extLst>
          </p:cNvPr>
          <p:cNvSpPr>
            <a:spLocks xmlns:a="http://schemas.openxmlformats.org/drawingml/2006/main" noGrp="1"/>
          </p:cNvSpPr>
          <p:nvPr/>
        </p:nvSpPr>
        <p:spPr>
          <a:xfrm xmlns:a="http://schemas.openxmlformats.org/drawingml/2006/main">
            <a:off x="3810000" y="4114800"/>
            <a:ext cx="742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ロボット導入前のワークフロー、現場との関係、継続撮影の運用知識。</a:t>
            </a:r>
          </a:p>
        </p:txBody>
      </p:sp>
      <p:sp>
        <p:nvSpPr>
          <p:cNvPr id="13" name="">
            <a:extLst xmlns:a="http://schemas.openxmlformats.org/drawingml/2006/main">
              <a:ext uri="{FF2B5EF4-FFF2-40B4-BE49-F238E27FC236}">
                <a16:creationId xmlns:a16="http://schemas.microsoft.com/office/drawing/2014/main" id="{DBFB11BC-FECE-430D-BAC3-1C04F8F331ED}"/>
              </a:ext>
            </a:extLst>
          </p:cNvPr>
          <p:cNvSpPr>
            <a:spLocks xmlns:a="http://schemas.openxmlformats.org/drawingml/2006/main" noGrp="1"/>
          </p:cNvSpPr>
          <p:nvPr/>
        </p:nvSpPr>
        <p:spPr>
          <a:xfrm xmlns:a="http://schemas.openxmlformats.org/drawingml/2006/main">
            <a:off x="723900" y="50387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1538733538"/>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FB72CEA-57BD-4880-9148-A68A9CAAF3F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4CE25DC-67B2-4D22-AB90-7259E22F33E9}"/>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事業の構造</a:t>
            </a:r>
          </a:p>
        </p:txBody>
      </p:sp>
      <p:sp>
        <p:nvSpPr>
          <p:cNvPr id="3" name="">
            <a:extLst xmlns:a="http://schemas.openxmlformats.org/drawingml/2006/main">
              <a:ext uri="{FF2B5EF4-FFF2-40B4-BE49-F238E27FC236}">
                <a16:creationId xmlns:a16="http://schemas.microsoft.com/office/drawing/2014/main" id="{B5A19EDE-D258-4701-83EC-9ED0D82B33D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A5CD4EA-FD98-4765-A971-61A9FD2887DB}"/>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4F7D47C7-0FCC-4A18-A69C-BB510C082A62}"/>
              </a:ext>
            </a:extLst>
          </p:cNvPr>
          <p:cNvSpPr>
            <a:spLocks xmlns:a="http://schemas.openxmlformats.org/drawingml/2006/main" noGrp="1"/>
          </p:cNvSpPr>
          <p:nvPr/>
        </p:nvSpPr>
        <p:spPr>
          <a:xfrm xmlns:a="http://schemas.openxmlformats.org/drawingml/2006/main">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51BA5D0A-BE83-4B75-92FF-57FE83BBCDEC}"/>
              </a:ext>
            </a:extLst>
          </p:cNvPr>
          <p:cNvSpPr>
            <a:spLocks xmlns:a="http://schemas.openxmlformats.org/drawingml/2006/main" noGrp="1"/>
          </p:cNvSpPr>
          <p:nvPr/>
        </p:nvSpPr>
        <p:spPr>
          <a:xfrm xmlns:a="http://schemas.openxmlformats.org/drawingml/2006/main">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836BBDE8-F901-4302-BF34-2D0B19EF2DDF}"/>
              </a:ext>
            </a:extLst>
          </p:cNvPr>
          <p:cNvSpPr>
            <a:spLocks xmlns:a="http://schemas.openxmlformats.org/drawingml/2006/main" noGrp="1"/>
          </p:cNvSpPr>
          <p:nvPr/>
        </p:nvSpPr>
        <p:spPr>
          <a:xfrm xmlns:a="http://schemas.openxmlformats.org/drawingml/2006/main">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731BE418-7E72-4901-A3A7-5DE8F9FEFC67}"/>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54470A34-5121-4C71-B825-F66C926C60D7}"/>
              </a:ext>
            </a:extLst>
          </p:cNvPr>
          <p:cNvSpPr>
            <a:spLocks xmlns:a="http://schemas.openxmlformats.org/drawingml/2006/main" noGrp="1"/>
          </p:cNvSpPr>
          <p:nvPr/>
        </p:nvSpPr>
        <p:spPr>
          <a:xfrm xmlns:a="http://schemas.openxmlformats.org/drawingml/2006/main">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9F5D6772-2E28-4B6B-85AF-C7D2D0A0AD78}"/>
              </a:ext>
            </a:extLst>
          </p:cNvPr>
          <p:cNvSpPr>
            <a:spLocks xmlns:a="http://schemas.openxmlformats.org/drawingml/2006/main" noGrp="1"/>
          </p:cNvSpPr>
          <p:nvPr/>
        </p:nvSpPr>
        <p:spPr>
          <a:xfrm xmlns:a="http://schemas.openxmlformats.org/drawingml/2006/main">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B1FB4DF0-617C-4024-8DC9-B339B8B5CD7F}"/>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AE05D0E-C5FB-4AE3-A2F8-966753541528}"/>
              </a:ext>
            </a:extLst>
          </p:cNvPr>
          <p:cNvSpPr>
            <a:spLocks xmlns:a="http://schemas.openxmlformats.org/drawingml/2006/main" noGrp="1"/>
          </p:cNvSpPr>
          <p:nvPr/>
        </p:nvSpPr>
        <p:spPr>
          <a:xfrm xmlns:a="http://schemas.openxmlformats.org/drawingml/2006/main">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E3B1DB1D-21BD-48CB-B935-659F8F77019B}"/>
              </a:ext>
            </a:extLst>
          </p:cNvPr>
          <p:cNvSpPr>
            <a:spLocks xmlns:a="http://schemas.openxmlformats.org/drawingml/2006/main" noGrp="1"/>
          </p:cNvSpPr>
          <p:nvPr/>
        </p:nvSpPr>
        <p:spPr>
          <a:xfrm xmlns:a="http://schemas.openxmlformats.org/drawingml/2006/main">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D6DDE0"/>
                </a:solidFill>
                <a:latin typeface="Hiragino Sans"/>
                <a:ea typeface="Hiragino Sans"/>
                <a:cs typeface="Hiragino Sans"/>
              </a:defRPr>
            </a:pPr>
            <a:r>
              <a:rPr sz="1350" b="0">
                <a:solidFill>
                  <a:srgbClr val="D6DDE0"/>
                </a:solidFill>
                <a:latin typeface="Hiragino Sans"/>
                <a:ea typeface="Hiragino Sans"/>
                <a:cs typeface="Hiragino Sans"/>
              </a:rPr>
              <a:t>現場運用</a:t>
            </a:r>
          </a:p>
          <a:p xmlns:a="http://schemas.openxmlformats.org/drawingml/2006/main">
            <a:pPr algn="ctr">
              <a:defRPr sz="1350" b="0">
                <a:solidFill>
                  <a:srgbClr val="D6DDE0"/>
                </a:solidFill>
                <a:latin typeface="Hiragino Sans"/>
                <a:ea typeface="Hiragino Sans"/>
                <a:cs typeface="Hiragino Sans"/>
              </a:defRPr>
            </a:pPr>
            <a:r>
              <a:rPr sz="1350" b="0">
                <a:solidFill>
                  <a:srgbClr val="D6DDE0"/>
                </a:solidFill>
                <a:latin typeface="Hiragino Sans"/>
                <a:ea typeface="Hiragino Sans"/>
                <a:cs typeface="Hiragino Sans"/>
              </a:rPr>
              <a:t>データ品質</a:t>
            </a:r>
          </a:p>
          <a:p xmlns:a="http://schemas.openxmlformats.org/drawingml/2006/main">
            <a:pPr algn="ctr">
              <a:defRPr sz="1350" b="0">
                <a:solidFill>
                  <a:srgbClr val="D6DDE0"/>
                </a:solidFill>
                <a:latin typeface="Hiragino Sans"/>
                <a:ea typeface="Hiragino Sans"/>
                <a:cs typeface="Hiragino Sans"/>
              </a:defRPr>
            </a:pPr>
            <a:r>
              <a:rPr sz="1350" b="0">
                <a:solidFill>
                  <a:srgbClr val="D6DDE0"/>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CC844B4A-641A-431C-B239-999C26E90089}"/>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DB0CF894-C5DC-454C-9426-72E7B4C1A91D}"/>
              </a:ext>
            </a:extLst>
          </p:cNvPr>
          <p:cNvSpPr>
            <a:spLocks xmlns:a="http://schemas.openxmlformats.org/drawingml/2006/main" noGrp="1"/>
          </p:cNvSpPr>
          <p:nvPr/>
        </p:nvSpPr>
        <p:spPr>
          <a:xfrm xmlns:a="http://schemas.openxmlformats.org/drawingml/2006/main">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EFDA430E-9242-49DA-AE9E-372852335D46}"/>
              </a:ext>
            </a:extLst>
          </p:cNvPr>
          <p:cNvSpPr>
            <a:spLocks xmlns:a="http://schemas.openxmlformats.org/drawingml/2006/main" noGrp="1"/>
          </p:cNvSpPr>
          <p:nvPr/>
        </p:nvSpPr>
        <p:spPr>
          <a:xfrm xmlns:a="http://schemas.openxmlformats.org/drawingml/2006/main">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2FD069AD-D96C-4FC9-9DFF-39AF7F020BF8}"/>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94ED139-CBC1-4A9A-B459-F8CB472A8DD3}"/>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CE38C4B-D502-444E-B55A-958BB09503DC}"/>
              </a:ext>
            </a:extLst>
          </p:cNvPr>
          <p:cNvSpPr>
            <a:spLocks xmlns:a="http://schemas.openxmlformats.org/drawingml/2006/main" noGrp="1"/>
          </p:cNvSpPr>
          <p:nvPr/>
        </p:nvSpPr>
        <p:spPr>
          <a:xfrm xmlns:a="http://schemas.openxmlformats.org/drawingml/2006/main">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EA7E2EA1-4975-4D74-8DCF-73D8FAD1265B}"/>
              </a:ext>
            </a:extLst>
          </p:cNvPr>
          <p:cNvSpPr>
            <a:spLocks xmlns:a="http://schemas.openxmlformats.org/drawingml/2006/main" noGrp="1"/>
          </p:cNvSpPr>
          <p:nvPr/>
        </p:nvSpPr>
        <p:spPr>
          <a:xfrm xmlns:a="http://schemas.openxmlformats.org/drawingml/2006/main">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93B7E54D-656D-47DD-A5CA-EB971A7A036D}"/>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6B087A1-8891-4CBF-B1BC-A4B0BA5F37AB}"/>
              </a:ext>
            </a:extLst>
          </p:cNvPr>
          <p:cNvSpPr>
            <a:spLocks xmlns:a="http://schemas.openxmlformats.org/drawingml/2006/main" noGrp="1"/>
          </p:cNvSpPr>
          <p:nvPr/>
        </p:nvSpPr>
        <p:spPr>
          <a:xfrm xmlns:a="http://schemas.openxmlformats.org/drawingml/2006/main">
            <a:off x="723900" y="515302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現在は現場開拓が先行している。販売側では、一定の収集規模に達することが商談を進める条件になっている。</a:t>
            </a:r>
          </a:p>
        </p:txBody>
      </p:sp>
    </p:spTree>
    <p:extLst>
      <p:ext uri="{BB962C8B-B14F-4D97-AF65-F5344CB8AC3E}">
        <p14:creationId xmlns:p14="http://schemas.microsoft.com/office/powerpoint/2010/main" val="2081062741"/>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1907933-DA0F-4ACE-A6E4-A26CA57D23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C74B20-4636-4FEB-A2F8-9C7514F508A0}"/>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現在の現場開拓</a:t>
            </a:r>
          </a:p>
        </p:txBody>
      </p:sp>
      <p:sp>
        <p:nvSpPr>
          <p:cNvPr id="3" name="">
            <a:extLst xmlns:a="http://schemas.openxmlformats.org/drawingml/2006/main">
              <a:ext uri="{FF2B5EF4-FFF2-40B4-BE49-F238E27FC236}">
                <a16:creationId xmlns:a16="http://schemas.microsoft.com/office/drawing/2014/main" id="{65D2FF77-5E87-4885-ABC9-91F0A70AD73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FC75E92-68B6-49FC-A346-D63258949AAD}"/>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6814718C-9CFD-4920-AFAB-741774692C32}"/>
              </a:ext>
            </a:extLst>
          </p:cNvPr>
          <p:cNvSpPr>
            <a:spLocks xmlns:a="http://schemas.openxmlformats.org/drawingml/2006/main" noGrp="1"/>
          </p:cNvSpPr>
          <p:nvPr/>
        </p:nvSpPr>
        <p:spPr>
          <a:xfrm xmlns:a="http://schemas.openxmlformats.org/drawingml/2006/main">
            <a:off x="723900" y="19145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訪問</a:t>
            </a:r>
          </a:p>
        </p:txBody>
      </p:sp>
      <p:sp>
        <p:nvSpPr>
          <p:cNvPr id="6" name="">
            <a:extLst xmlns:a="http://schemas.openxmlformats.org/drawingml/2006/main">
              <a:ext uri="{FF2B5EF4-FFF2-40B4-BE49-F238E27FC236}">
                <a16:creationId xmlns:a16="http://schemas.microsoft.com/office/drawing/2014/main" id="{B2F43658-3D99-440A-903C-2A936ACF7BC8}"/>
              </a:ext>
            </a:extLst>
          </p:cNvPr>
          <p:cNvSpPr>
            <a:spLocks xmlns:a="http://schemas.openxmlformats.org/drawingml/2006/main" noGrp="1"/>
          </p:cNvSpPr>
          <p:nvPr/>
        </p:nvSpPr>
        <p:spPr>
          <a:xfrm xmlns:a="http://schemas.openxmlformats.org/drawingml/2006/main">
            <a:off x="2857500" y="1914525"/>
            <a:ext cx="828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飛び込みで約30件の現場へ訪問した。</a:t>
            </a:r>
          </a:p>
        </p:txBody>
      </p:sp>
      <p:sp>
        <p:nvSpPr>
          <p:cNvPr id="7" name="">
            <a:extLst xmlns:a="http://schemas.openxmlformats.org/drawingml/2006/main">
              <a:ext uri="{FF2B5EF4-FFF2-40B4-BE49-F238E27FC236}">
                <a16:creationId xmlns:a16="http://schemas.microsoft.com/office/drawing/2014/main" id="{6A4CEC39-B0E2-442E-AFB8-0EA38F64B525}"/>
              </a:ext>
            </a:extLst>
          </p:cNvPr>
          <p:cNvSpPr>
            <a:spLocks xmlns:a="http://schemas.openxmlformats.org/drawingml/2006/main" noGrp="1"/>
          </p:cNvSpPr>
          <p:nvPr/>
        </p:nvSpPr>
        <p:spPr>
          <a:xfrm xmlns:a="http://schemas.openxmlformats.org/drawingml/2006/main">
            <a:off x="723900" y="2667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714C33-70B8-42AC-96A4-F217F5AD47FD}"/>
              </a:ext>
            </a:extLst>
          </p:cNvPr>
          <p:cNvSpPr>
            <a:spLocks xmlns:a="http://schemas.openxmlformats.org/drawingml/2006/main" noGrp="1"/>
          </p:cNvSpPr>
          <p:nvPr/>
        </p:nvSpPr>
        <p:spPr>
          <a:xfrm xmlns:a="http://schemas.openxmlformats.org/drawingml/2006/main">
            <a:off x="723900" y="28289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撮影済み</a:t>
            </a:r>
          </a:p>
        </p:txBody>
      </p:sp>
      <p:sp>
        <p:nvSpPr>
          <p:cNvPr id="9" name="">
            <a:extLst xmlns:a="http://schemas.openxmlformats.org/drawingml/2006/main">
              <a:ext uri="{FF2B5EF4-FFF2-40B4-BE49-F238E27FC236}">
                <a16:creationId xmlns:a16="http://schemas.microsoft.com/office/drawing/2014/main" id="{932B2995-B9A7-4996-AFF9-6EA866A8D5B9}"/>
              </a:ext>
            </a:extLst>
          </p:cNvPr>
          <p:cNvSpPr>
            <a:spLocks xmlns:a="http://schemas.openxmlformats.org/drawingml/2006/main" noGrp="1"/>
          </p:cNvSpPr>
          <p:nvPr/>
        </p:nvSpPr>
        <p:spPr>
          <a:xfrm xmlns:a="http://schemas.openxmlformats.org/drawingml/2006/main">
            <a:off x="2857500" y="2828925"/>
            <a:ext cx="828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ベーカリーで装着テストを行い、合計約50時間を収集した。</a:t>
            </a:r>
          </a:p>
        </p:txBody>
      </p:sp>
      <p:sp>
        <p:nvSpPr>
          <p:cNvPr id="10" name="">
            <a:extLst xmlns:a="http://schemas.openxmlformats.org/drawingml/2006/main">
              <a:ext uri="{FF2B5EF4-FFF2-40B4-BE49-F238E27FC236}">
                <a16:creationId xmlns:a16="http://schemas.microsoft.com/office/drawing/2014/main" id="{9716C6A4-0004-43FE-A604-F2B0F466BEDE}"/>
              </a:ext>
            </a:extLst>
          </p:cNvPr>
          <p:cNvSpPr>
            <a:spLocks xmlns:a="http://schemas.openxmlformats.org/drawingml/2006/main" noGrp="1"/>
          </p:cNvSpPr>
          <p:nvPr/>
        </p:nvSpPr>
        <p:spPr>
          <a:xfrm xmlns:a="http://schemas.openxmlformats.org/drawingml/2006/main">
            <a:off x="723900" y="35814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2A1C7D3-7458-4AAD-ABD0-6895B4E507B3}"/>
              </a:ext>
            </a:extLst>
          </p:cNvPr>
          <p:cNvSpPr>
            <a:spLocks xmlns:a="http://schemas.openxmlformats.org/drawingml/2006/main" noGrp="1"/>
          </p:cNvSpPr>
          <p:nvPr/>
        </p:nvSpPr>
        <p:spPr>
          <a:xfrm xmlns:a="http://schemas.openxmlformats.org/drawingml/2006/main">
            <a:off x="723900" y="37433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手続き中</a:t>
            </a:r>
          </a:p>
        </p:txBody>
      </p:sp>
      <p:sp>
        <p:nvSpPr>
          <p:cNvPr id="12" name="">
            <a:extLst xmlns:a="http://schemas.openxmlformats.org/drawingml/2006/main">
              <a:ext uri="{FF2B5EF4-FFF2-40B4-BE49-F238E27FC236}">
                <a16:creationId xmlns:a16="http://schemas.microsoft.com/office/drawing/2014/main" id="{DA7FDC0D-EF9C-480D-969D-F17526926C9B}"/>
              </a:ext>
            </a:extLst>
          </p:cNvPr>
          <p:cNvSpPr>
            <a:spLocks xmlns:a="http://schemas.openxmlformats.org/drawingml/2006/main" noGrp="1"/>
          </p:cNvSpPr>
          <p:nvPr/>
        </p:nvSpPr>
        <p:spPr>
          <a:xfrm xmlns:a="http://schemas.openxmlformats.org/drawingml/2006/main">
            <a:off x="2857500" y="3743325"/>
            <a:ext cx="828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SNS経由で接触した神戸のカフェチェーン一社と、撮影合意の手続きを進めている。</a:t>
            </a:r>
          </a:p>
        </p:txBody>
      </p:sp>
      <p:sp>
        <p:nvSpPr>
          <p:cNvPr id="13" name="">
            <a:extLst xmlns:a="http://schemas.openxmlformats.org/drawingml/2006/main">
              <a:ext uri="{FF2B5EF4-FFF2-40B4-BE49-F238E27FC236}">
                <a16:creationId xmlns:a16="http://schemas.microsoft.com/office/drawing/2014/main" id="{6EB52E90-BA97-4447-B585-D19EA9F184C3}"/>
              </a:ext>
            </a:extLst>
          </p:cNvPr>
          <p:cNvSpPr>
            <a:spLocks xmlns:a="http://schemas.openxmlformats.org/drawingml/2006/main" noGrp="1"/>
          </p:cNvSpPr>
          <p:nvPr/>
        </p:nvSpPr>
        <p:spPr>
          <a:xfrm xmlns:a="http://schemas.openxmlformats.org/drawingml/2006/main">
            <a:off x="723900" y="44958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79A3F83-4160-4B61-9E4E-623240526EAB}"/>
              </a:ext>
            </a:extLst>
          </p:cNvPr>
          <p:cNvSpPr>
            <a:spLocks xmlns:a="http://schemas.openxmlformats.org/drawingml/2006/main" noGrp="1"/>
          </p:cNvSpPr>
          <p:nvPr/>
        </p:nvSpPr>
        <p:spPr>
          <a:xfrm xmlns:a="http://schemas.openxmlformats.org/drawingml/2006/main">
            <a:off x="723900" y="46577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説明予定</a:t>
            </a:r>
          </a:p>
        </p:txBody>
      </p:sp>
      <p:sp>
        <p:nvSpPr>
          <p:cNvPr id="15" name="">
            <a:extLst xmlns:a="http://schemas.openxmlformats.org/drawingml/2006/main">
              <a:ext uri="{FF2B5EF4-FFF2-40B4-BE49-F238E27FC236}">
                <a16:creationId xmlns:a16="http://schemas.microsoft.com/office/drawing/2014/main" id="{4B67D95A-2D0D-42C1-8529-301DB24D5D71}"/>
              </a:ext>
            </a:extLst>
          </p:cNvPr>
          <p:cNvSpPr>
            <a:spLocks xmlns:a="http://schemas.openxmlformats.org/drawingml/2006/main" noGrp="1"/>
          </p:cNvSpPr>
          <p:nvPr/>
        </p:nvSpPr>
        <p:spPr>
          <a:xfrm xmlns:a="http://schemas.openxmlformats.org/drawingml/2006/main">
            <a:off x="2857500" y="4657725"/>
            <a:ext cx="828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紹介を通じて関西のスーパーマーケット一社と接触し、9月17日に説明する予定。</a:t>
            </a:r>
          </a:p>
        </p:txBody>
      </p:sp>
      <p:sp>
        <p:nvSpPr>
          <p:cNvPr id="16" name="">
            <a:extLst xmlns:a="http://schemas.openxmlformats.org/drawingml/2006/main">
              <a:ext uri="{FF2B5EF4-FFF2-40B4-BE49-F238E27FC236}">
                <a16:creationId xmlns:a16="http://schemas.microsoft.com/office/drawing/2014/main" id="{46435F2D-F556-4CAA-9BD4-6B2DDA1F0E6B}"/>
              </a:ext>
            </a:extLst>
          </p:cNvPr>
          <p:cNvSpPr>
            <a:spLocks xmlns:a="http://schemas.openxmlformats.org/drawingml/2006/main" noGrp="1"/>
          </p:cNvSpPr>
          <p:nvPr/>
        </p:nvSpPr>
        <p:spPr>
          <a:xfrm xmlns:a="http://schemas.openxmlformats.org/drawingml/2006/main">
            <a:off x="723900" y="5410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E81B99D-1B96-42AD-951E-9B01D81F2F02}"/>
              </a:ext>
            </a:extLst>
          </p:cNvPr>
          <p:cNvSpPr>
            <a:spLocks xmlns:a="http://schemas.openxmlformats.org/drawingml/2006/main" noGrp="1"/>
          </p:cNvSpPr>
          <p:nvPr/>
        </p:nvSpPr>
        <p:spPr>
          <a:xfrm xmlns:a="http://schemas.openxmlformats.org/drawingml/2006/main">
            <a:off x="723900" y="58293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完了した撮影と、合意・商談中の案件を分けて記載。</a:t>
            </a:r>
          </a:p>
        </p:txBody>
      </p:sp>
    </p:spTree>
    <p:extLst>
      <p:ext uri="{BB962C8B-B14F-4D97-AF65-F5344CB8AC3E}">
        <p14:creationId xmlns:p14="http://schemas.microsoft.com/office/powerpoint/2010/main" val="1486302973"/>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01B0DCC-C516-44DF-B9DE-8C841602C4E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365B4E-4B1C-45E4-ADD4-A9C8BE56B538}"/>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販売先開拓</a:t>
            </a:r>
          </a:p>
        </p:txBody>
      </p:sp>
      <p:sp>
        <p:nvSpPr>
          <p:cNvPr id="3" name="">
            <a:extLst xmlns:a="http://schemas.openxmlformats.org/drawingml/2006/main">
              <a:ext uri="{FF2B5EF4-FFF2-40B4-BE49-F238E27FC236}">
                <a16:creationId xmlns:a16="http://schemas.microsoft.com/office/drawing/2014/main" id="{1AE4284E-5707-407A-A613-5761F634775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1EEE741-2A0C-4E18-8B35-5D1216C63B1D}"/>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A595E7C6-55E1-47CC-9C09-9E01B9858784}"/>
              </a:ext>
            </a:extLst>
          </p:cNvPr>
          <p:cNvSpPr>
            <a:spLocks xmlns:a="http://schemas.openxmlformats.org/drawingml/2006/main" noGrp="1"/>
          </p:cNvSpPr>
          <p:nvPr/>
        </p:nvSpPr>
        <p:spPr>
          <a:xfrm xmlns:a="http://schemas.openxmlformats.org/drawingml/2006/main">
            <a:off x="7239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7BBDB373-840C-40C7-993E-D2177C438950}"/>
              </a:ext>
            </a:extLst>
          </p:cNvPr>
          <p:cNvSpPr>
            <a:spLocks xmlns:a="http://schemas.openxmlformats.org/drawingml/2006/main" noGrp="1"/>
          </p:cNvSpPr>
          <p:nvPr/>
        </p:nvSpPr>
        <p:spPr>
          <a:xfrm xmlns:a="http://schemas.openxmlformats.org/drawingml/2006/main">
            <a:off x="723900" y="2409825"/>
            <a:ext cx="1000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5191B"/>
                </a:solidFill>
                <a:latin typeface="Hiragino Sans"/>
                <a:ea typeface="Hiragino Sans"/>
                <a:cs typeface="Hiragino Sans"/>
              </a:defRPr>
            </a:pPr>
            <a:r>
              <a:rPr sz="2025" b="1">
                <a:solidFill>
                  <a:srgbClr val="15191B"/>
                </a:solidFill>
                <a:latin typeface="Hiragino Sans"/>
                <a:ea typeface="Hiragino Sans"/>
                <a:cs typeface="Hiragino Sans"/>
              </a:rPr>
              <a:t>8社と連絡し、ベーカリーのサンプルデータを送付した。</a:t>
            </a:r>
          </a:p>
        </p:txBody>
      </p:sp>
      <p:sp>
        <p:nvSpPr>
          <p:cNvPr id="7" name="">
            <a:extLst xmlns:a="http://schemas.openxmlformats.org/drawingml/2006/main">
              <a:ext uri="{FF2B5EF4-FFF2-40B4-BE49-F238E27FC236}">
                <a16:creationId xmlns:a16="http://schemas.microsoft.com/office/drawing/2014/main" id="{926C8936-794A-4989-A01C-CD9F51256AAD}"/>
              </a:ext>
            </a:extLst>
          </p:cNvPr>
          <p:cNvSpPr>
            <a:spLocks xmlns:a="http://schemas.openxmlformats.org/drawingml/2006/main" noGrp="1"/>
          </p:cNvSpPr>
          <p:nvPr/>
        </p:nvSpPr>
        <p:spPr>
          <a:xfrm xmlns:a="http://schemas.openxmlformats.org/drawingml/2006/main">
            <a:off x="723900" y="2943225"/>
            <a:ext cx="1000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合意には至っていない。現在の収集規模が小さく、優先度が上がらなかった。</a:t>
            </a:r>
          </a:p>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商談を進める目安として、月間1,000時間程度の供給規模を聞いている。</a:t>
            </a:r>
          </a:p>
        </p:txBody>
      </p:sp>
      <p:sp>
        <p:nvSpPr>
          <p:cNvPr id="8" name="">
            <a:extLst xmlns:a="http://schemas.openxmlformats.org/drawingml/2006/main">
              <a:ext uri="{FF2B5EF4-FFF2-40B4-BE49-F238E27FC236}">
                <a16:creationId xmlns:a16="http://schemas.microsoft.com/office/drawing/2014/main" id="{6860281C-C20E-4CCA-9904-48CE1A31FBDD}"/>
              </a:ext>
            </a:extLst>
          </p:cNvPr>
          <p:cNvSpPr>
            <a:spLocks xmlns:a="http://schemas.openxmlformats.org/drawingml/2006/main" noGrp="1"/>
          </p:cNvSpPr>
          <p:nvPr/>
        </p:nvSpPr>
        <p:spPr>
          <a:xfrm xmlns:a="http://schemas.openxmlformats.org/drawingml/2006/main">
            <a:off x="723900" y="39433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94D19F8-927A-409C-BF47-627A388BF3E8}"/>
              </a:ext>
            </a:extLst>
          </p:cNvPr>
          <p:cNvSpPr>
            <a:spLocks xmlns:a="http://schemas.openxmlformats.org/drawingml/2006/main" noGrp="1"/>
          </p:cNvSpPr>
          <p:nvPr/>
        </p:nvSpPr>
        <p:spPr>
          <a:xfrm xmlns:a="http://schemas.openxmlformats.org/drawingml/2006/main">
            <a:off x="723900" y="42672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a:t>
            </a:r>
          </a:p>
        </p:txBody>
      </p:sp>
      <p:sp>
        <p:nvSpPr>
          <p:cNvPr id="10" name="">
            <a:extLst xmlns:a="http://schemas.openxmlformats.org/drawingml/2006/main">
              <a:ext uri="{FF2B5EF4-FFF2-40B4-BE49-F238E27FC236}">
                <a16:creationId xmlns:a16="http://schemas.microsoft.com/office/drawing/2014/main" id="{9FB1C519-39AA-43E4-9630-7C9F02DDC75F}"/>
              </a:ext>
            </a:extLst>
          </p:cNvPr>
          <p:cNvSpPr>
            <a:spLocks xmlns:a="http://schemas.openxmlformats.org/drawingml/2006/main" noGrp="1"/>
          </p:cNvSpPr>
          <p:nvPr/>
        </p:nvSpPr>
        <p:spPr>
          <a:xfrm xmlns:a="http://schemas.openxmlformats.org/drawingml/2006/main">
            <a:off x="723900" y="4724400"/>
            <a:ext cx="1000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5191B"/>
                </a:solidFill>
                <a:latin typeface="Hiragino Sans"/>
                <a:ea typeface="Hiragino Sans"/>
                <a:cs typeface="Hiragino Sans"/>
              </a:defRPr>
            </a:pPr>
            <a:r>
              <a:rPr sz="2025" b="1">
                <a:solidFill>
                  <a:srgbClr val="15191B"/>
                </a:solidFill>
                <a:latin typeface="Hiragino Sans"/>
                <a:ea typeface="Hiragino Sans"/>
                <a:cs typeface="Hiragino Sans"/>
              </a:rPr>
              <a:t>Nextremerのデータ加工・販売サービスへの掲載を調整している。</a:t>
            </a:r>
          </a:p>
        </p:txBody>
      </p:sp>
      <p:sp>
        <p:nvSpPr>
          <p:cNvPr id="11" name="">
            <a:extLst xmlns:a="http://schemas.openxmlformats.org/drawingml/2006/main">
              <a:ext uri="{FF2B5EF4-FFF2-40B4-BE49-F238E27FC236}">
                <a16:creationId xmlns:a16="http://schemas.microsoft.com/office/drawing/2014/main" id="{B8E3A56E-14B2-42E7-B1E6-3A35DA1707D4}"/>
              </a:ext>
            </a:extLst>
          </p:cNvPr>
          <p:cNvSpPr>
            <a:spLocks xmlns:a="http://schemas.openxmlformats.org/drawingml/2006/main" noGrp="1"/>
          </p:cNvSpPr>
          <p:nvPr/>
        </p:nvSpPr>
        <p:spPr>
          <a:xfrm xmlns:a="http://schemas.openxmlformats.org/drawingml/2006/main">
            <a:off x="723900" y="52578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現場合意の取り方とデータ取扱フローを擦り合わせている。</a:t>
            </a:r>
          </a:p>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データ加工、プライバシー処理、ストレージを自社だけで抱えない形を検討している。</a:t>
            </a:r>
          </a:p>
        </p:txBody>
      </p:sp>
    </p:spTree>
    <p:extLst>
      <p:ext uri="{BB962C8B-B14F-4D97-AF65-F5344CB8AC3E}">
        <p14:creationId xmlns:p14="http://schemas.microsoft.com/office/powerpoint/2010/main" val="300199530"/>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6D2CB4A-1F04-4769-B78E-95DE9DF36A0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6FCD9AA-4D06-48AA-9A36-CA78F5D92728}"/>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撮影デバイスの変遷</a:t>
            </a:r>
          </a:p>
        </p:txBody>
      </p:sp>
      <p:sp>
        <p:nvSpPr>
          <p:cNvPr id="3" name="">
            <a:extLst xmlns:a="http://schemas.openxmlformats.org/drawingml/2006/main">
              <a:ext uri="{FF2B5EF4-FFF2-40B4-BE49-F238E27FC236}">
                <a16:creationId xmlns:a16="http://schemas.microsoft.com/office/drawing/2014/main" id="{7BD7D270-BE17-4F80-A8BC-E22246D2DB1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465A8E3-71D5-4D2C-8B65-5A21A84FAEFC}"/>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f468e2365e44abf"/>
          <a:srcRect xmlns:a="http://schemas.openxmlformats.org/drawingml/2006/main" l="0" t="21875" r="0" b="21875"/>
          <a:stretch xmlns:a="http://schemas.openxmlformats.org/drawingml/2006/main">
            <a:fillRect l="0" t="0" r="0" b="0"/>
          </a:stretch>
        </p:blipFill>
        <p:spPr>
          <a:xfrm xmlns:a="http://schemas.openxmlformats.org/drawingml/2006/main">
            <a:off x="723900" y="1952625"/>
            <a:ext cx="3238500" cy="2428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8A73FFD-1307-4CD8-B3D1-005D3A12B778}"/>
              </a:ext>
            </a:extLst>
          </p:cNvPr>
          <p:cNvSpPr>
            <a:spLocks xmlns:a="http://schemas.openxmlformats.org/drawingml/2006/main" noGrp="1"/>
          </p:cNvSpPr>
          <p:nvPr/>
        </p:nvSpPr>
        <p:spPr>
          <a:xfrm xmlns:a="http://schemas.openxmlformats.org/drawingml/2006/main">
            <a:off x="723900" y="46101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35F7A53A-380F-402F-A501-D24ABF8C292D}"/>
              </a:ext>
            </a:extLst>
          </p:cNvPr>
          <p:cNvSpPr>
            <a:spLocks xmlns:a="http://schemas.openxmlformats.org/drawingml/2006/main" noGrp="1"/>
          </p:cNvSpPr>
          <p:nvPr/>
        </p:nvSpPr>
        <p:spPr>
          <a:xfrm xmlns:a="http://schemas.openxmlformats.org/drawingml/2006/main">
            <a:off x="1371600" y="459105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B50CEA08-4F95-472A-8392-C690ED79CD55}"/>
              </a:ext>
            </a:extLst>
          </p:cNvPr>
          <p:cNvSpPr>
            <a:spLocks xmlns:a="http://schemas.openxmlformats.org/drawingml/2006/main" noGrp="1"/>
          </p:cNvSpPr>
          <p:nvPr/>
        </p:nvSpPr>
        <p:spPr>
          <a:xfrm xmlns:a="http://schemas.openxmlformats.org/drawingml/2006/main">
            <a:off x="1371600" y="5000625"/>
            <a:ext cx="2590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装着して撮影できることを確認</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3f2fc0cc976e4e9f"/>
          <a:srcRect xmlns:a="http://schemas.openxmlformats.org/drawingml/2006/main" l="9333" t="0" r="9333" b="0"/>
          <a:stretch xmlns:a="http://schemas.openxmlformats.org/drawingml/2006/main">
            <a:fillRect l="0" t="0" r="0" b="0"/>
          </a:stretch>
        </p:blipFill>
        <p:spPr>
          <a:xfrm xmlns:a="http://schemas.openxmlformats.org/drawingml/2006/main">
            <a:off x="4314825" y="1952625"/>
            <a:ext cx="3238500" cy="24288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441739E3-C9BD-4E43-8477-5902D0422CC5}"/>
              </a:ext>
            </a:extLst>
          </p:cNvPr>
          <p:cNvSpPr>
            <a:spLocks xmlns:a="http://schemas.openxmlformats.org/drawingml/2006/main" noGrp="1"/>
          </p:cNvSpPr>
          <p:nvPr/>
        </p:nvSpPr>
        <p:spPr>
          <a:xfrm xmlns:a="http://schemas.openxmlformats.org/drawingml/2006/main">
            <a:off x="4314825" y="46101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73B2CA8F-7ED3-4E81-B49D-BD66F9760171}"/>
              </a:ext>
            </a:extLst>
          </p:cNvPr>
          <p:cNvSpPr>
            <a:spLocks xmlns:a="http://schemas.openxmlformats.org/drawingml/2006/main" noGrp="1"/>
          </p:cNvSpPr>
          <p:nvPr/>
        </p:nvSpPr>
        <p:spPr>
          <a:xfrm xmlns:a="http://schemas.openxmlformats.org/drawingml/2006/main">
            <a:off x="4962525" y="459105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帽子</a:t>
            </a:r>
          </a:p>
        </p:txBody>
      </p:sp>
      <p:sp>
        <p:nvSpPr>
          <p:cNvPr id="12" name="">
            <a:extLst xmlns:a="http://schemas.openxmlformats.org/drawingml/2006/main">
              <a:ext uri="{FF2B5EF4-FFF2-40B4-BE49-F238E27FC236}">
                <a16:creationId xmlns:a16="http://schemas.microsoft.com/office/drawing/2014/main" id="{8FA95630-1070-489D-A5CC-D4953310D435}"/>
              </a:ext>
            </a:extLst>
          </p:cNvPr>
          <p:cNvSpPr>
            <a:spLocks xmlns:a="http://schemas.openxmlformats.org/drawingml/2006/main" noGrp="1"/>
          </p:cNvSpPr>
          <p:nvPr/>
        </p:nvSpPr>
        <p:spPr>
          <a:xfrm xmlns:a="http://schemas.openxmlformats.org/drawingml/2006/main">
            <a:off x="4962525" y="5000625"/>
            <a:ext cx="2590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重量バランスと装着感を改善</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fa5981e6ec54f77"/>
          <a:srcRect xmlns:a="http://schemas.openxmlformats.org/drawingml/2006/main" l="0" t="2730" r="0" b="2730"/>
          <a:stretch xmlns:a="http://schemas.openxmlformats.org/drawingml/2006/main">
            <a:fillRect l="0" t="0" r="0" b="0"/>
          </a:stretch>
        </p:blipFill>
        <p:spPr>
          <a:xfrm xmlns:a="http://schemas.openxmlformats.org/drawingml/2006/main">
            <a:off x="7905750" y="1952625"/>
            <a:ext cx="3238500" cy="24288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75BEAC17-7FA2-49C7-A8DE-9B54BB3652AB}"/>
              </a:ext>
            </a:extLst>
          </p:cNvPr>
          <p:cNvSpPr>
            <a:spLocks xmlns:a="http://schemas.openxmlformats.org/drawingml/2006/main" noGrp="1"/>
          </p:cNvSpPr>
          <p:nvPr/>
        </p:nvSpPr>
        <p:spPr>
          <a:xfrm xmlns:a="http://schemas.openxmlformats.org/drawingml/2006/main">
            <a:off x="7905750" y="46101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7D279627-77F1-4016-8F09-BD405CE0CEC0}"/>
              </a:ext>
            </a:extLst>
          </p:cNvPr>
          <p:cNvSpPr>
            <a:spLocks xmlns:a="http://schemas.openxmlformats.org/drawingml/2006/main" noGrp="1"/>
          </p:cNvSpPr>
          <p:nvPr/>
        </p:nvSpPr>
        <p:spPr>
          <a:xfrm xmlns:a="http://schemas.openxmlformats.org/drawingml/2006/main">
            <a:off x="8553450" y="459105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メガネ</a:t>
            </a:r>
          </a:p>
        </p:txBody>
      </p:sp>
      <p:sp>
        <p:nvSpPr>
          <p:cNvPr id="16" name="">
            <a:extLst xmlns:a="http://schemas.openxmlformats.org/drawingml/2006/main">
              <a:ext uri="{FF2B5EF4-FFF2-40B4-BE49-F238E27FC236}">
                <a16:creationId xmlns:a16="http://schemas.microsoft.com/office/drawing/2014/main" id="{180CC75E-9C58-43B7-A972-FE978BBBBB38}"/>
              </a:ext>
            </a:extLst>
          </p:cNvPr>
          <p:cNvSpPr>
            <a:spLocks xmlns:a="http://schemas.openxmlformats.org/drawingml/2006/main" noGrp="1"/>
          </p:cNvSpPr>
          <p:nvPr/>
        </p:nvSpPr>
        <p:spPr>
          <a:xfrm xmlns:a="http://schemas.openxmlformats.org/drawingml/2006/main">
            <a:off x="8553450" y="5000625"/>
            <a:ext cx="2590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AA0DAF62-50CA-4022-9267-AD1FA977B2CE}"/>
              </a:ext>
            </a:extLst>
          </p:cNvPr>
          <p:cNvSpPr>
            <a:spLocks xmlns:a="http://schemas.openxmlformats.org/drawingml/2006/main" noGrp="1"/>
          </p:cNvSpPr>
          <p:nvPr/>
        </p:nvSpPr>
        <p:spPr>
          <a:xfrm xmlns:a="http://schemas.openxmlformats.org/drawingml/2006/main">
            <a:off x="723900" y="5762625"/>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7D72147-7DAF-4EA2-8F2B-4E1F25EC6B49}"/>
              </a:ext>
            </a:extLst>
          </p:cNvPr>
          <p:cNvSpPr>
            <a:spLocks xmlns:a="http://schemas.openxmlformats.org/drawingml/2006/main" noGrp="1"/>
          </p:cNvSpPr>
          <p:nvPr/>
        </p:nvSpPr>
        <p:spPr>
          <a:xfrm xmlns:a="http://schemas.openxmlformats.org/drawingml/2006/main">
            <a:off x="723900" y="5943600"/>
            <a:ext cx="1042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現場での反応から、撮影品質だけでなく、作業者の負担が現場拡大を左右すると分かった。</a:t>
            </a:r>
          </a:p>
        </p:txBody>
      </p:sp>
    </p:spTree>
    <p:extLst>
      <p:ext uri="{BB962C8B-B14F-4D97-AF65-F5344CB8AC3E}">
        <p14:creationId xmlns:p14="http://schemas.microsoft.com/office/powerpoint/2010/main" val="314474935"/>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9FC6448-0786-4FEC-B2EA-DAF30C2E31C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03DEA2-AC34-4537-BCEF-30B3DAF28D31}"/>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現在のチーム</a:t>
            </a:r>
          </a:p>
        </p:txBody>
      </p:sp>
      <p:sp>
        <p:nvSpPr>
          <p:cNvPr id="3" name="">
            <a:extLst xmlns:a="http://schemas.openxmlformats.org/drawingml/2006/main">
              <a:ext uri="{FF2B5EF4-FFF2-40B4-BE49-F238E27FC236}">
                <a16:creationId xmlns:a16="http://schemas.microsoft.com/office/drawing/2014/main" id="{4C5D2BE4-EA61-4C48-9BF6-1499F35E664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B5E3512-8100-4A79-8E2B-E44AECE7C7A9}"/>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0D6A6671-930D-4F39-ACF3-F640FD27D41A}"/>
              </a:ext>
            </a:extLst>
          </p:cNvPr>
          <p:cNvSpPr>
            <a:spLocks xmlns:a="http://schemas.openxmlformats.org/drawingml/2006/main" noGrp="1"/>
          </p:cNvSpPr>
          <p:nvPr/>
        </p:nvSpPr>
        <p:spPr>
          <a:xfrm xmlns:a="http://schemas.openxmlformats.org/drawingml/2006/main">
            <a:off x="723900" y="18669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森　共同創業者</a:t>
            </a:r>
          </a:p>
        </p:txBody>
      </p:sp>
      <p:sp>
        <p:nvSpPr>
          <p:cNvPr id="6" name="">
            <a:extLst xmlns:a="http://schemas.openxmlformats.org/drawingml/2006/main">
              <a:ext uri="{FF2B5EF4-FFF2-40B4-BE49-F238E27FC236}">
                <a16:creationId xmlns:a16="http://schemas.microsoft.com/office/drawing/2014/main" id="{93FE2F8D-B473-4BD1-B45B-D3D034E33723}"/>
              </a:ext>
            </a:extLst>
          </p:cNvPr>
          <p:cNvSpPr>
            <a:spLocks xmlns:a="http://schemas.openxmlformats.org/drawingml/2006/main" noGrp="1"/>
          </p:cNvSpPr>
          <p:nvPr/>
        </p:nvSpPr>
        <p:spPr>
          <a:xfrm xmlns:a="http://schemas.openxmlformats.org/drawingml/2006/main">
            <a:off x="4191000" y="186690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現場開拓、販売先開拓、撮影デバイスの設計・開発、事業全体の推進。</a:t>
            </a:r>
          </a:p>
        </p:txBody>
      </p:sp>
      <p:sp>
        <p:nvSpPr>
          <p:cNvPr id="7" name="">
            <a:extLst xmlns:a="http://schemas.openxmlformats.org/drawingml/2006/main">
              <a:ext uri="{FF2B5EF4-FFF2-40B4-BE49-F238E27FC236}">
                <a16:creationId xmlns:a16="http://schemas.microsoft.com/office/drawing/2014/main" id="{EFD87A88-BC13-4CF2-B557-BFF0A953178A}"/>
              </a:ext>
            </a:extLst>
          </p:cNvPr>
          <p:cNvSpPr>
            <a:spLocks xmlns:a="http://schemas.openxmlformats.org/drawingml/2006/main" noGrp="1"/>
          </p:cNvSpPr>
          <p:nvPr/>
        </p:nvSpPr>
        <p:spPr>
          <a:xfrm xmlns:a="http://schemas.openxmlformats.org/drawingml/2006/main">
            <a:off x="723900" y="26765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94C1E2F-AE54-4662-B5DE-F339B49E007D}"/>
              </a:ext>
            </a:extLst>
          </p:cNvPr>
          <p:cNvSpPr>
            <a:spLocks xmlns:a="http://schemas.openxmlformats.org/drawingml/2006/main" noGrp="1"/>
          </p:cNvSpPr>
          <p:nvPr/>
        </p:nvSpPr>
        <p:spPr>
          <a:xfrm xmlns:a="http://schemas.openxmlformats.org/drawingml/2006/main">
            <a:off x="723900" y="28384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河野　共同創業者</a:t>
            </a:r>
          </a:p>
        </p:txBody>
      </p:sp>
      <p:sp>
        <p:nvSpPr>
          <p:cNvPr id="9" name="">
            <a:extLst xmlns:a="http://schemas.openxmlformats.org/drawingml/2006/main">
              <a:ext uri="{FF2B5EF4-FFF2-40B4-BE49-F238E27FC236}">
                <a16:creationId xmlns:a16="http://schemas.microsoft.com/office/drawing/2014/main" id="{A0748D4B-C45B-4767-9BD7-E213930A22F9}"/>
              </a:ext>
            </a:extLst>
          </p:cNvPr>
          <p:cNvSpPr>
            <a:spLocks xmlns:a="http://schemas.openxmlformats.org/drawingml/2006/main" noGrp="1"/>
          </p:cNvSpPr>
          <p:nvPr/>
        </p:nvSpPr>
        <p:spPr>
          <a:xfrm xmlns:a="http://schemas.openxmlformats.org/drawingml/2006/main">
            <a:off x="4191000" y="28384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神戸大学大学院情報学研究科。シミュレーション領域を研究しながら事業へ参画。</a:t>
            </a:r>
          </a:p>
        </p:txBody>
      </p:sp>
      <p:sp>
        <p:nvSpPr>
          <p:cNvPr id="10" name="">
            <a:extLst xmlns:a="http://schemas.openxmlformats.org/drawingml/2006/main">
              <a:ext uri="{FF2B5EF4-FFF2-40B4-BE49-F238E27FC236}">
                <a16:creationId xmlns:a16="http://schemas.microsoft.com/office/drawing/2014/main" id="{E2F5317D-0A4C-4579-9577-ED90B881088D}"/>
              </a:ext>
            </a:extLst>
          </p:cNvPr>
          <p:cNvSpPr>
            <a:spLocks xmlns:a="http://schemas.openxmlformats.org/drawingml/2006/main" noGrp="1"/>
          </p:cNvSpPr>
          <p:nvPr/>
        </p:nvSpPr>
        <p:spPr>
          <a:xfrm xmlns:a="http://schemas.openxmlformats.org/drawingml/2006/main">
            <a:off x="723900" y="36480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32BDF30-532A-4A8A-A402-74F40B2169A8}"/>
              </a:ext>
            </a:extLst>
          </p:cNvPr>
          <p:cNvSpPr>
            <a:spLocks xmlns:a="http://schemas.openxmlformats.org/drawingml/2006/main" noGrp="1"/>
          </p:cNvSpPr>
          <p:nvPr/>
        </p:nvSpPr>
        <p:spPr>
          <a:xfrm xmlns:a="http://schemas.openxmlformats.org/drawingml/2006/main">
            <a:off x="723900" y="38100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川島　現場協力者</a:t>
            </a:r>
          </a:p>
        </p:txBody>
      </p:sp>
      <p:sp>
        <p:nvSpPr>
          <p:cNvPr id="12" name="">
            <a:extLst xmlns:a="http://schemas.openxmlformats.org/drawingml/2006/main">
              <a:ext uri="{FF2B5EF4-FFF2-40B4-BE49-F238E27FC236}">
                <a16:creationId xmlns:a16="http://schemas.microsoft.com/office/drawing/2014/main" id="{334E6063-F550-401F-AFA0-616D6EA75587}"/>
              </a:ext>
            </a:extLst>
          </p:cNvPr>
          <p:cNvSpPr>
            <a:spLocks xmlns:a="http://schemas.openxmlformats.org/drawingml/2006/main" noGrp="1"/>
          </p:cNvSpPr>
          <p:nvPr/>
        </p:nvSpPr>
        <p:spPr>
          <a:xfrm xmlns:a="http://schemas.openxmlformats.org/drawingml/2006/main">
            <a:off x="4191000" y="381000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ベーカリー経営者。撮影テストの現場提供と、撮影先の拡大に協力。</a:t>
            </a:r>
          </a:p>
        </p:txBody>
      </p:sp>
      <p:sp>
        <p:nvSpPr>
          <p:cNvPr id="13" name="">
            <a:extLst xmlns:a="http://schemas.openxmlformats.org/drawingml/2006/main">
              <a:ext uri="{FF2B5EF4-FFF2-40B4-BE49-F238E27FC236}">
                <a16:creationId xmlns:a16="http://schemas.microsoft.com/office/drawing/2014/main" id="{FA92B517-3A01-4FDA-8EB2-D8E78109930F}"/>
              </a:ext>
            </a:extLst>
          </p:cNvPr>
          <p:cNvSpPr>
            <a:spLocks xmlns:a="http://schemas.openxmlformats.org/drawingml/2006/main" noGrp="1"/>
          </p:cNvSpPr>
          <p:nvPr/>
        </p:nvSpPr>
        <p:spPr>
          <a:xfrm xmlns:a="http://schemas.openxmlformats.org/drawingml/2006/main">
            <a:off x="723900" y="4619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5803835-F9C3-4544-958F-C472AC4E6724}"/>
              </a:ext>
            </a:extLst>
          </p:cNvPr>
          <p:cNvSpPr>
            <a:spLocks xmlns:a="http://schemas.openxmlformats.org/drawingml/2006/main" noGrp="1"/>
          </p:cNvSpPr>
          <p:nvPr/>
        </p:nvSpPr>
        <p:spPr>
          <a:xfrm xmlns:a="http://schemas.openxmlformats.org/drawingml/2006/main">
            <a:off x="723900" y="47815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大崎　事業支援</a:t>
            </a:r>
          </a:p>
        </p:txBody>
      </p:sp>
      <p:sp>
        <p:nvSpPr>
          <p:cNvPr id="15" name="">
            <a:extLst xmlns:a="http://schemas.openxmlformats.org/drawingml/2006/main">
              <a:ext uri="{FF2B5EF4-FFF2-40B4-BE49-F238E27FC236}">
                <a16:creationId xmlns:a16="http://schemas.microsoft.com/office/drawing/2014/main" id="{2737DB67-F878-4C92-B39B-CC769F91E93B}"/>
              </a:ext>
            </a:extLst>
          </p:cNvPr>
          <p:cNvSpPr>
            <a:spLocks xmlns:a="http://schemas.openxmlformats.org/drawingml/2006/main" noGrp="1"/>
          </p:cNvSpPr>
          <p:nvPr/>
        </p:nvSpPr>
        <p:spPr>
          <a:xfrm xmlns:a="http://schemas.openxmlformats.org/drawingml/2006/main">
            <a:off x="4191000" y="47815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契約・合意書の確認、会社立ち上げの助言、小売・製造のネットワークを通じた現場開拓。</a:t>
            </a:r>
          </a:p>
        </p:txBody>
      </p:sp>
      <p:sp>
        <p:nvSpPr>
          <p:cNvPr id="16" name="">
            <a:extLst xmlns:a="http://schemas.openxmlformats.org/drawingml/2006/main">
              <a:ext uri="{FF2B5EF4-FFF2-40B4-BE49-F238E27FC236}">
                <a16:creationId xmlns:a16="http://schemas.microsoft.com/office/drawing/2014/main" id="{93793857-928A-42C1-B03F-4780D4D64B44}"/>
              </a:ext>
            </a:extLst>
          </p:cNvPr>
          <p:cNvSpPr>
            <a:spLocks xmlns:a="http://schemas.openxmlformats.org/drawingml/2006/main" noGrp="1"/>
          </p:cNvSpPr>
          <p:nvPr/>
        </p:nvSpPr>
        <p:spPr>
          <a:xfrm xmlns:a="http://schemas.openxmlformats.org/drawingml/2006/main">
            <a:off x="723900" y="55911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975145842"/>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D426AFE-8E09-48C7-B54B-AFDFBA6152D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BD470D-9B1B-4CB7-A20F-5191DC35F245}"/>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1時間あたりの収益構造</a:t>
            </a:r>
          </a:p>
        </p:txBody>
      </p:sp>
      <p:sp>
        <p:nvSpPr>
          <p:cNvPr id="3" name="">
            <a:extLst xmlns:a="http://schemas.openxmlformats.org/drawingml/2006/main">
              <a:ext uri="{FF2B5EF4-FFF2-40B4-BE49-F238E27FC236}">
                <a16:creationId xmlns:a16="http://schemas.microsoft.com/office/drawing/2014/main" id="{D9295759-0336-46D0-963A-A20195B5CF2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F09C23F-68EE-4A70-874F-09535D40DECE}"/>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graphicFrame>
        <p:nvGraphicFramePr>
          <p:cNvPr id="14" name=""/>
          <p:cNvGraphicFramePr/>
          <p:nvPr/>
        </p:nvGraphicFramePr>
        <p:xfrm>
          <a:off xmlns:a="http://schemas.openxmlformats.org/drawingml/2006/main" x="723900" y="1952625"/>
          <a:ext xmlns:a="http://schemas.openxmlformats.org/drawingml/2006/main" cx="10572750" cy="3143250"/>
        </p:xfrm>
        <a:graphic xmlns:a="http://schemas.openxmlformats.org/drawingml/2006/main">
          <a:graphicData uri="http://schemas.openxmlformats.org/drawingml/2006/table">
            <a:tbl>
              <a:tblPr/>
              <a:tblGrid>
                <a:gridCol w="3524250"/>
                <a:gridCol w="4095750"/>
                <a:gridCol w="2952750"/>
              </a:tblGrid>
              <a:tr h="523875">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計算</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1時間あたり</a:t>
                      </a:r>
                    </a:p>
                  </a:txBody>
                  <a:tcPr marL="91440" marR="91440" marT="45720" marB="45720">
                    <a:solidFill>
                      <a:srgbClr val="25333A"/>
                    </a:solidFill>
                  </a:tcPr>
                </a:tc>
              </a:tr>
              <a:tr h="523875">
                <a:tc>
                  <a:txBody>
                    <a:bodyPr/>
                    <a:lstStyle/>
                    <a:p>
                      <a:r>
                        <a:rPr sz="1350"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前提</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a:t>
                      </a:r>
                    </a:p>
                  </a:txBody>
                  <a:tcPr marL="91440" marR="91440" marT="45720" marB="45720">
                    <a:solidFill>
                      <a:srgbClr val="FFFFFF"/>
                    </a:solidFill>
                  </a:tcPr>
                </a:tc>
              </a:tr>
              <a:tr h="523875">
                <a:tc>
                  <a:txBody>
                    <a:bodyPr/>
                    <a:lstStyle/>
                    <a:p>
                      <a:r>
                        <a:rPr sz="1350" b="0">
                          <a:solidFill>
                            <a:srgbClr val="15191B"/>
                          </a:solidFill>
                          <a:latin typeface="Hiragino Sans"/>
                          <a:ea typeface="Hiragino Sans"/>
                          <a:cs typeface="Hiragino Sans"/>
                        </a:rPr>
                        <a:t>現場への還元</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販売単価の50%</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350" b="0">
                          <a:solidFill>
                            <a:srgbClr val="15191B"/>
                          </a:solidFill>
                          <a:latin typeface="Hiragino Sans"/>
                          <a:ea typeface="Hiragino Sans"/>
                          <a:cs typeface="Hiragino Sans"/>
                        </a:rPr>
                        <a:t>RootLensの取り分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350"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8,000円/月 ÷ 110時間</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約73円</a:t>
                      </a:r>
                    </a:p>
                  </a:txBody>
                  <a:tcPr marL="91440" marR="91440" marT="45720" marB="45720">
                    <a:solidFill>
                      <a:srgbClr val="FFFFFF"/>
                    </a:solidFill>
                  </a:tcPr>
                </a:tc>
              </a:tr>
              <a:tr h="523875">
                <a:tc>
                  <a:txBody>
                    <a:bodyPr/>
                    <a:lstStyle/>
                    <a:p>
                      <a:r>
                        <a:rPr sz="1350"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0D649AAE-E95F-41AD-86D7-D066C36FA1D5}"/>
              </a:ext>
            </a:extLst>
          </p:cNvPr>
          <p:cNvSpPr>
            <a:spLocks xmlns:a="http://schemas.openxmlformats.org/drawingml/2006/main" noGrp="1"/>
          </p:cNvSpPr>
          <p:nvPr/>
        </p:nvSpPr>
        <p:spPr>
          <a:xfrm xmlns:a="http://schemas.openxmlformats.org/drawingml/2006/main">
            <a:off x="723900" y="5381625"/>
            <a:ext cx="819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前提：デバイス8万円、10か月償却、1台あたり月110時間稼働。</a:t>
            </a:r>
          </a:p>
        </p:txBody>
      </p:sp>
      <p:sp>
        <p:nvSpPr>
          <p:cNvPr id="7" name="">
            <a:extLst xmlns:a="http://schemas.openxmlformats.org/drawingml/2006/main">
              <a:ext uri="{FF2B5EF4-FFF2-40B4-BE49-F238E27FC236}">
                <a16:creationId xmlns:a16="http://schemas.microsoft.com/office/drawing/2014/main" id="{F50A28C9-8E07-49B8-90A5-48D25B88E508}"/>
              </a:ext>
            </a:extLst>
          </p:cNvPr>
          <p:cNvSpPr>
            <a:spLocks xmlns:a="http://schemas.openxmlformats.org/drawingml/2006/main" noGrp="1"/>
          </p:cNvSpPr>
          <p:nvPr/>
        </p:nvSpPr>
        <p:spPr>
          <a:xfrm xmlns:a="http://schemas.openxmlformats.org/drawingml/2006/main">
            <a:off x="723900" y="5743575"/>
            <a:ext cx="819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現場運用、人件費、法務、破損・紛失、転送費は含めていない。</a:t>
            </a:r>
          </a:p>
        </p:txBody>
      </p:sp>
      <p:sp>
        <p:nvSpPr>
          <p:cNvPr id="8" name="">
            <a:extLst xmlns:a="http://schemas.openxmlformats.org/drawingml/2006/main">
              <a:ext uri="{FF2B5EF4-FFF2-40B4-BE49-F238E27FC236}">
                <a16:creationId xmlns:a16="http://schemas.microsoft.com/office/drawing/2014/main" id="{64291DED-4D9F-4D5F-B282-D8F07FD7FEBF}"/>
              </a:ext>
            </a:extLst>
          </p:cNvPr>
          <p:cNvSpPr>
            <a:spLocks xmlns:a="http://schemas.openxmlformats.org/drawingml/2006/main" noGrp="1"/>
          </p:cNvSpPr>
          <p:nvPr/>
        </p:nvSpPr>
        <p:spPr>
          <a:xfrm xmlns:a="http://schemas.openxmlformats.org/drawingml/2006/main">
            <a:off x="9220200" y="5381625"/>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625" b="1">
                <a:solidFill>
                  <a:srgbClr val="315C78"/>
                </a:solidFill>
                <a:latin typeface="Hiragino Sans"/>
                <a:ea typeface="Hiragino Sans"/>
                <a:cs typeface="Hiragino Sans"/>
              </a:defRPr>
            </a:pPr>
            <a:r>
              <a:rPr sz="2625" b="1">
                <a:solidFill>
                  <a:srgbClr val="315C78"/>
                </a:solidFill>
                <a:latin typeface="Hiragino Sans"/>
                <a:ea typeface="Hiragino Sans"/>
                <a:cs typeface="Hiragino Sans"/>
              </a:rPr>
              <a:t>45.5%</a:t>
            </a:r>
          </a:p>
        </p:txBody>
      </p:sp>
      <p:sp>
        <p:nvSpPr>
          <p:cNvPr id="9" name="">
            <a:extLst xmlns:a="http://schemas.openxmlformats.org/drawingml/2006/main">
              <a:ext uri="{FF2B5EF4-FFF2-40B4-BE49-F238E27FC236}">
                <a16:creationId xmlns:a16="http://schemas.microsoft.com/office/drawing/2014/main" id="{7CC181CB-D87C-4488-9E98-5B8B60364567}"/>
              </a:ext>
            </a:extLst>
          </p:cNvPr>
          <p:cNvSpPr>
            <a:spLocks xmlns:a="http://schemas.openxmlformats.org/drawingml/2006/main" noGrp="1"/>
          </p:cNvSpPr>
          <p:nvPr/>
        </p:nvSpPr>
        <p:spPr>
          <a:xfrm xmlns:a="http://schemas.openxmlformats.org/drawingml/2006/main">
            <a:off x="8810625" y="5867400"/>
            <a:ext cx="2219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流通総額に対する償却後比率</a:t>
            </a:r>
          </a:p>
        </p:txBody>
      </p:sp>
    </p:spTree>
    <p:extLst>
      <p:ext uri="{BB962C8B-B14F-4D97-AF65-F5344CB8AC3E}">
        <p14:creationId xmlns:p14="http://schemas.microsoft.com/office/powerpoint/2010/main" val="2102831530"/>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E9C567E-3517-4710-9CA6-EAA5915F67C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D916CC-4BB4-4C43-A890-81AF2C03C7F9}"/>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収集規模別の試算</a:t>
            </a:r>
          </a:p>
        </p:txBody>
      </p:sp>
      <p:sp>
        <p:nvSpPr>
          <p:cNvPr id="3" name="">
            <a:extLst xmlns:a="http://schemas.openxmlformats.org/drawingml/2006/main">
              <a:ext uri="{FF2B5EF4-FFF2-40B4-BE49-F238E27FC236}">
                <a16:creationId xmlns:a16="http://schemas.microsoft.com/office/drawing/2014/main" id="{4E69228D-9136-41A0-8E8E-EC4B0969578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2E6B7B6-E00B-48EB-86A2-A449AFAA4C86}"/>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graphicFrame>
        <p:nvGraphicFramePr>
          <p:cNvPr id="12" name=""/>
          <p:cNvGraphicFramePr/>
          <p:nvPr/>
        </p:nvGraphicFramePr>
        <p:xfrm>
          <a:off xmlns:a="http://schemas.openxmlformats.org/drawingml/2006/main" x="723900" y="1924050"/>
          <a:ext xmlns:a="http://schemas.openxmlformats.org/drawingml/2006/main" cx="10572750" cy="3429000"/>
        </p:xfrm>
        <a:graphic xmlns:a="http://schemas.openxmlformats.org/drawingml/2006/main">
          <a:graphicData uri="http://schemas.openxmlformats.org/drawingml/2006/table">
            <a:tbl>
              <a:tblPr/>
              <a:tblGrid>
                <a:gridCol w="3238500"/>
                <a:gridCol w="2286000"/>
                <a:gridCol w="2286000"/>
                <a:gridCol w="2762250"/>
              </a:tblGrid>
              <a:tr h="489857">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89857">
                <a:tc>
                  <a:txBody>
                    <a:bodyPr/>
                    <a:lstStyle/>
                    <a:p>
                      <a:r>
                        <a:rPr sz="1275"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91台</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RootLens取り分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727.2万円</a:t>
                      </a:r>
                    </a:p>
                  </a:txBody>
                  <a:tcPr marL="91440" marR="91440" marT="45720" marB="45720">
                    <a:solidFill>
                      <a:srgbClr val="DCE8EF"/>
                    </a:solidFill>
                  </a:tcPr>
                </a:tc>
              </a:tr>
              <a:tr h="489857">
                <a:tc>
                  <a:txBody>
                    <a:bodyPr/>
                    <a:lstStyle/>
                    <a:p>
                      <a:r>
                        <a:rPr sz="1275"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2E080C0-AFE5-4859-BCCE-3412FEEE9C3F}"/>
              </a:ext>
            </a:extLst>
          </p:cNvPr>
          <p:cNvSpPr>
            <a:spLocks xmlns:a="http://schemas.openxmlformats.org/drawingml/2006/main" noGrp="1"/>
          </p:cNvSpPr>
          <p:nvPr/>
        </p:nvSpPr>
        <p:spPr>
          <a:xfrm xmlns:a="http://schemas.openxmlformats.org/drawingml/2006/main">
            <a:off x="723900" y="561975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月10,000時間を12か月継続した場合、流通総額は1.92億円、償却後は約8,726万円。</a:t>
            </a:r>
          </a:p>
        </p:txBody>
      </p:sp>
      <p:sp>
        <p:nvSpPr>
          <p:cNvPr id="7" name="">
            <a:extLst xmlns:a="http://schemas.openxmlformats.org/drawingml/2006/main">
              <a:ext uri="{FF2B5EF4-FFF2-40B4-BE49-F238E27FC236}">
                <a16:creationId xmlns:a16="http://schemas.microsoft.com/office/drawing/2014/main" id="{39780D08-6898-4F12-B792-4BC45403B5DF}"/>
              </a:ext>
            </a:extLst>
          </p:cNvPr>
          <p:cNvSpPr>
            <a:spLocks xmlns:a="http://schemas.openxmlformats.org/drawingml/2006/main" noGrp="1"/>
          </p:cNvSpPr>
          <p:nvPr/>
        </p:nvSpPr>
        <p:spPr>
          <a:xfrm xmlns:a="http://schemas.openxmlformats.org/drawingml/2006/main">
            <a:off x="723900" y="60293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同一データの複数回販売は、この基準試算に含めていない。</a:t>
            </a:r>
          </a:p>
        </p:txBody>
      </p:sp>
    </p:spTree>
    <p:extLst>
      <p:ext uri="{BB962C8B-B14F-4D97-AF65-F5344CB8AC3E}">
        <p14:creationId xmlns:p14="http://schemas.microsoft.com/office/powerpoint/2010/main" val="568254156"/>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015C8C4-646C-4BED-95C5-3D26F89CECF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D6BA5F-C5DE-46E2-9B5E-F6A0BE58ADE8}"/>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収集規模を左右するもの</a:t>
            </a:r>
          </a:p>
        </p:txBody>
      </p:sp>
      <p:sp>
        <p:nvSpPr>
          <p:cNvPr id="3" name="">
            <a:extLst xmlns:a="http://schemas.openxmlformats.org/drawingml/2006/main">
              <a:ext uri="{FF2B5EF4-FFF2-40B4-BE49-F238E27FC236}">
                <a16:creationId xmlns:a16="http://schemas.microsoft.com/office/drawing/2014/main" id="{CE15166A-E24F-48EC-A128-8B7C401D9C1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8FD0730-873E-4C51-B10E-8C78E690B46D}"/>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588B808E-586F-43F0-B8C3-41E0C53F71A4}"/>
              </a:ext>
            </a:extLst>
          </p:cNvPr>
          <p:cNvSpPr>
            <a:spLocks xmlns:a="http://schemas.openxmlformats.org/drawingml/2006/main" noGrp="1"/>
          </p:cNvSpPr>
          <p:nvPr/>
        </p:nvSpPr>
        <p:spPr>
          <a:xfrm xmlns:a="http://schemas.openxmlformats.org/drawingml/2006/main">
            <a:off x="723900" y="20002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現場開拓</a:t>
            </a:r>
          </a:p>
        </p:txBody>
      </p:sp>
      <p:sp>
        <p:nvSpPr>
          <p:cNvPr id="6" name="">
            <a:extLst xmlns:a="http://schemas.openxmlformats.org/drawingml/2006/main">
              <a:ext uri="{FF2B5EF4-FFF2-40B4-BE49-F238E27FC236}">
                <a16:creationId xmlns:a16="http://schemas.microsoft.com/office/drawing/2014/main" id="{E335A79A-98EB-4B6A-A611-C40D9468AD10}"/>
              </a:ext>
            </a:extLst>
          </p:cNvPr>
          <p:cNvSpPr>
            <a:spLocks xmlns:a="http://schemas.openxmlformats.org/drawingml/2006/main" noGrp="1"/>
          </p:cNvSpPr>
          <p:nvPr/>
        </p:nvSpPr>
        <p:spPr>
          <a:xfrm xmlns:a="http://schemas.openxmlformats.org/drawingml/2006/main">
            <a:off x="3810000" y="2000250"/>
            <a:ext cx="742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次の現場を獲得するまでの期間</a:t>
            </a:r>
          </a:p>
        </p:txBody>
      </p:sp>
      <p:sp>
        <p:nvSpPr>
          <p:cNvPr id="7" name="">
            <a:extLst xmlns:a="http://schemas.openxmlformats.org/drawingml/2006/main">
              <a:ext uri="{FF2B5EF4-FFF2-40B4-BE49-F238E27FC236}">
                <a16:creationId xmlns:a16="http://schemas.microsoft.com/office/drawing/2014/main" id="{34B41EF9-462B-4403-8B58-F40F5865034F}"/>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ED43F92-56F0-4B97-A2C8-2F5826577794}"/>
              </a:ext>
            </a:extLst>
          </p:cNvPr>
          <p:cNvSpPr>
            <a:spLocks xmlns:a="http://schemas.openxmlformats.org/drawingml/2006/main" noGrp="1"/>
          </p:cNvSpPr>
          <p:nvPr/>
        </p:nvSpPr>
        <p:spPr>
          <a:xfrm xmlns:a="http://schemas.openxmlformats.org/drawingml/2006/main">
            <a:off x="723900" y="31051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現場運用</a:t>
            </a:r>
          </a:p>
        </p:txBody>
      </p:sp>
      <p:sp>
        <p:nvSpPr>
          <p:cNvPr id="9" name="">
            <a:extLst xmlns:a="http://schemas.openxmlformats.org/drawingml/2006/main">
              <a:ext uri="{FF2B5EF4-FFF2-40B4-BE49-F238E27FC236}">
                <a16:creationId xmlns:a16="http://schemas.microsoft.com/office/drawing/2014/main" id="{1F6B96B0-73C5-42D1-B71D-3EF304C13BEF}"/>
              </a:ext>
            </a:extLst>
          </p:cNvPr>
          <p:cNvSpPr>
            <a:spLocks xmlns:a="http://schemas.openxmlformats.org/drawingml/2006/main" noGrp="1"/>
          </p:cNvSpPr>
          <p:nvPr/>
        </p:nvSpPr>
        <p:spPr>
          <a:xfrm xmlns:a="http://schemas.openxmlformats.org/drawingml/2006/main">
            <a:off x="3810000" y="3105150"/>
            <a:ext cx="742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店舗数に伴って増える、機材の配布・説明・回収・トラブル対応</a:t>
            </a:r>
          </a:p>
        </p:txBody>
      </p:sp>
      <p:sp>
        <p:nvSpPr>
          <p:cNvPr id="10" name="">
            <a:extLst xmlns:a="http://schemas.openxmlformats.org/drawingml/2006/main">
              <a:ext uri="{FF2B5EF4-FFF2-40B4-BE49-F238E27FC236}">
                <a16:creationId xmlns:a16="http://schemas.microsoft.com/office/drawing/2014/main" id="{DB778F43-6B2B-4DB4-B74D-9CFDAA919022}"/>
              </a:ext>
            </a:extLst>
          </p:cNvPr>
          <p:cNvSpPr>
            <a:spLocks xmlns:a="http://schemas.openxmlformats.org/drawingml/2006/main" noGrp="1"/>
          </p:cNvSpPr>
          <p:nvPr/>
        </p:nvSpPr>
        <p:spPr>
          <a:xfrm xmlns:a="http://schemas.openxmlformats.org/drawingml/2006/main">
            <a:off x="723900" y="40100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96D5625-B26A-44A7-9748-35E78084F6CD}"/>
              </a:ext>
            </a:extLst>
          </p:cNvPr>
          <p:cNvSpPr>
            <a:spLocks xmlns:a="http://schemas.openxmlformats.org/drawingml/2006/main" noGrp="1"/>
          </p:cNvSpPr>
          <p:nvPr/>
        </p:nvSpPr>
        <p:spPr>
          <a:xfrm xmlns:a="http://schemas.openxmlformats.org/drawingml/2006/main">
            <a:off x="723900" y="42100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販売先</a:t>
            </a:r>
          </a:p>
        </p:txBody>
      </p:sp>
      <p:sp>
        <p:nvSpPr>
          <p:cNvPr id="12" name="">
            <a:extLst xmlns:a="http://schemas.openxmlformats.org/drawingml/2006/main">
              <a:ext uri="{FF2B5EF4-FFF2-40B4-BE49-F238E27FC236}">
                <a16:creationId xmlns:a16="http://schemas.microsoft.com/office/drawing/2014/main" id="{F6B99778-AC1F-4208-8343-AC71020269C7}"/>
              </a:ext>
            </a:extLst>
          </p:cNvPr>
          <p:cNvSpPr>
            <a:spLocks xmlns:a="http://schemas.openxmlformats.org/drawingml/2006/main" noGrp="1"/>
          </p:cNvSpPr>
          <p:nvPr/>
        </p:nvSpPr>
        <p:spPr>
          <a:xfrm xmlns:a="http://schemas.openxmlformats.org/drawingml/2006/main">
            <a:off x="3810000" y="4210050"/>
            <a:ext cx="742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月1,000時間、10,000時間を継続販売できる販路と仕様</a:t>
            </a:r>
          </a:p>
        </p:txBody>
      </p:sp>
      <p:sp>
        <p:nvSpPr>
          <p:cNvPr id="13" name="">
            <a:extLst xmlns:a="http://schemas.openxmlformats.org/drawingml/2006/main">
              <a:ext uri="{FF2B5EF4-FFF2-40B4-BE49-F238E27FC236}">
                <a16:creationId xmlns:a16="http://schemas.microsoft.com/office/drawing/2014/main" id="{B29695FA-8A0F-466F-BC6F-1EF27B9E14AC}"/>
              </a:ext>
            </a:extLst>
          </p:cNvPr>
          <p:cNvSpPr>
            <a:spLocks xmlns:a="http://schemas.openxmlformats.org/drawingml/2006/main" noGrp="1"/>
          </p:cNvSpPr>
          <p:nvPr/>
        </p:nvSpPr>
        <p:spPr>
          <a:xfrm xmlns:a="http://schemas.openxmlformats.org/drawingml/2006/main">
            <a:off x="723900" y="51149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970784970"/>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1AA2F14-2398-406C-B532-83EA2C58EF2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6A89F7-3D10-4A8F-8496-2C8B75E4E720}"/>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現時点で見えている事業の拡張経路</a:t>
            </a:r>
          </a:p>
        </p:txBody>
      </p:sp>
      <p:sp>
        <p:nvSpPr>
          <p:cNvPr id="3" name="">
            <a:extLst xmlns:a="http://schemas.openxmlformats.org/drawingml/2006/main">
              <a:ext uri="{FF2B5EF4-FFF2-40B4-BE49-F238E27FC236}">
                <a16:creationId xmlns:a16="http://schemas.microsoft.com/office/drawing/2014/main" id="{61D5B738-3D14-4CB0-907B-E1DD761EC08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CB04E9D-B31D-49B2-BC72-5B50031F028B}"/>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63FB535E-E095-41B7-B797-BCDB5135E631}"/>
              </a:ext>
            </a:extLst>
          </p:cNvPr>
          <p:cNvSpPr>
            <a:spLocks xmlns:a="http://schemas.openxmlformats.org/drawingml/2006/main" noGrp="1"/>
          </p:cNvSpPr>
          <p:nvPr/>
        </p:nvSpPr>
        <p:spPr>
          <a:xfrm xmlns:a="http://schemas.openxmlformats.org/drawingml/2006/main">
            <a:off x="723900" y="20383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6" name="">
            <a:extLst xmlns:a="http://schemas.openxmlformats.org/drawingml/2006/main">
              <a:ext uri="{FF2B5EF4-FFF2-40B4-BE49-F238E27FC236}">
                <a16:creationId xmlns:a16="http://schemas.microsoft.com/office/drawing/2014/main" id="{68F3A358-71B5-41AD-AE93-CED12F368413}"/>
              </a:ext>
            </a:extLst>
          </p:cNvPr>
          <p:cNvSpPr>
            <a:spLocks xmlns:a="http://schemas.openxmlformats.org/drawingml/2006/main" noGrp="1"/>
          </p:cNvSpPr>
          <p:nvPr/>
        </p:nvSpPr>
        <p:spPr>
          <a:xfrm xmlns:a="http://schemas.openxmlformats.org/drawingml/2006/main">
            <a:off x="723900" y="2428875"/>
            <a:ext cx="2286000" cy="2000250"/>
          </a:xfrm>
          <a:prstGeom xmlns:a="http://schemas.openxmlformats.org/drawingml/2006/main" prst="rect">
            <a:avLst/>
          </a:prstGeom>
          <a:solidFill xmlns:a="http://schemas.openxmlformats.org/drawingml/2006/main">
            <a:srgbClr val="DCE8EF"/>
          </a:solidFill>
          <a:ln xmlns:a="http://schemas.openxmlformats.org/drawingml/2006/main" w="9525">
            <a:solidFill>
              <a:srgbClr val="AAB6BC"/>
            </a:solidFill>
          </a:ln>
        </p:spPr>
      </p:sp>
      <p:sp>
        <p:nvSpPr>
          <p:cNvPr id="7" name="">
            <a:extLst xmlns:a="http://schemas.openxmlformats.org/drawingml/2006/main">
              <a:ext uri="{FF2B5EF4-FFF2-40B4-BE49-F238E27FC236}">
                <a16:creationId xmlns:a16="http://schemas.microsoft.com/office/drawing/2014/main" id="{E567A9DD-3D7D-4FB1-8F7A-1FF3068692B7}"/>
              </a:ext>
            </a:extLst>
          </p:cNvPr>
          <p:cNvSpPr>
            <a:spLocks xmlns:a="http://schemas.openxmlformats.org/drawingml/2006/main" noGrp="1"/>
          </p:cNvSpPr>
          <p:nvPr/>
        </p:nvSpPr>
        <p:spPr>
          <a:xfrm xmlns:a="http://schemas.openxmlformats.org/drawingml/2006/main">
            <a:off x="933450" y="2714625"/>
            <a:ext cx="1866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現場データを収集・販売</a:t>
            </a:r>
          </a:p>
        </p:txBody>
      </p:sp>
      <p:sp>
        <p:nvSpPr>
          <p:cNvPr id="8" name="">
            <a:extLst xmlns:a="http://schemas.openxmlformats.org/drawingml/2006/main">
              <a:ext uri="{FF2B5EF4-FFF2-40B4-BE49-F238E27FC236}">
                <a16:creationId xmlns:a16="http://schemas.microsoft.com/office/drawing/2014/main" id="{2DAB81A2-4C33-48EF-A783-3910878633B1}"/>
              </a:ext>
            </a:extLst>
          </p:cNvPr>
          <p:cNvSpPr>
            <a:spLocks xmlns:a="http://schemas.openxmlformats.org/drawingml/2006/main" noGrp="1"/>
          </p:cNvSpPr>
          <p:nvPr/>
        </p:nvSpPr>
        <p:spPr>
          <a:xfrm xmlns:a="http://schemas.openxmlformats.org/drawingml/2006/main">
            <a:off x="933450" y="3524250"/>
            <a:ext cx="1866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現場との関係、合意フロー、作業データを蓄積</a:t>
            </a:r>
          </a:p>
        </p:txBody>
      </p:sp>
      <p:sp>
        <p:nvSpPr>
          <p:cNvPr id="9" name="">
            <a:extLst xmlns:a="http://schemas.openxmlformats.org/drawingml/2006/main">
              <a:ext uri="{FF2B5EF4-FFF2-40B4-BE49-F238E27FC236}">
                <a16:creationId xmlns:a16="http://schemas.microsoft.com/office/drawing/2014/main" id="{9944CFB0-1620-49FE-A878-F5BCD2C6A016}"/>
              </a:ext>
            </a:extLst>
          </p:cNvPr>
          <p:cNvSpPr>
            <a:spLocks xmlns:a="http://schemas.openxmlformats.org/drawingml/2006/main" noGrp="1"/>
          </p:cNvSpPr>
          <p:nvPr/>
        </p:nvSpPr>
        <p:spPr>
          <a:xfrm xmlns:a="http://schemas.openxmlformats.org/drawingml/2006/main">
            <a:off x="3009900" y="3419475"/>
            <a:ext cx="476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46BDFED-6446-4D4B-BCEC-48DC625F8678}"/>
              </a:ext>
            </a:extLst>
          </p:cNvPr>
          <p:cNvSpPr>
            <a:spLocks xmlns:a="http://schemas.openxmlformats.org/drawingml/2006/main" noGrp="1"/>
          </p:cNvSpPr>
          <p:nvPr/>
        </p:nvSpPr>
        <p:spPr>
          <a:xfrm xmlns:a="http://schemas.openxmlformats.org/drawingml/2006/main">
            <a:off x="3486150" y="20383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見えている展開</a:t>
            </a:r>
          </a:p>
        </p:txBody>
      </p:sp>
      <p:sp>
        <p:nvSpPr>
          <p:cNvPr id="11" name="">
            <a:extLst xmlns:a="http://schemas.openxmlformats.org/drawingml/2006/main">
              <a:ext uri="{FF2B5EF4-FFF2-40B4-BE49-F238E27FC236}">
                <a16:creationId xmlns:a16="http://schemas.microsoft.com/office/drawing/2014/main" id="{7091A708-8F3E-45AA-9CAC-ECE6868591F5}"/>
              </a:ext>
            </a:extLst>
          </p:cNvPr>
          <p:cNvSpPr>
            <a:spLocks xmlns:a="http://schemas.openxmlformats.org/drawingml/2006/main" noGrp="1"/>
          </p:cNvSpPr>
          <p:nvPr/>
        </p:nvSpPr>
        <p:spPr>
          <a:xfrm xmlns:a="http://schemas.openxmlformats.org/drawingml/2006/main">
            <a:off x="3486150" y="2428875"/>
            <a:ext cx="22860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A9FDDA0A-0D3D-4FF8-9E9F-2ADCD0129C7F}"/>
              </a:ext>
            </a:extLst>
          </p:cNvPr>
          <p:cNvSpPr>
            <a:spLocks xmlns:a="http://schemas.openxmlformats.org/drawingml/2006/main" noGrp="1"/>
          </p:cNvSpPr>
          <p:nvPr/>
        </p:nvSpPr>
        <p:spPr>
          <a:xfrm xmlns:a="http://schemas.openxmlformats.org/drawingml/2006/main">
            <a:off x="3695700" y="2714625"/>
            <a:ext cx="1866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撮影デバイス</a:t>
            </a:r>
          </a:p>
        </p:txBody>
      </p:sp>
      <p:sp>
        <p:nvSpPr>
          <p:cNvPr id="13" name="">
            <a:extLst xmlns:a="http://schemas.openxmlformats.org/drawingml/2006/main">
              <a:ext uri="{FF2B5EF4-FFF2-40B4-BE49-F238E27FC236}">
                <a16:creationId xmlns:a16="http://schemas.microsoft.com/office/drawing/2014/main" id="{B3E97E7D-1C3A-404C-AD0F-F6871B0E1555}"/>
              </a:ext>
            </a:extLst>
          </p:cNvPr>
          <p:cNvSpPr>
            <a:spLocks xmlns:a="http://schemas.openxmlformats.org/drawingml/2006/main" noGrp="1"/>
          </p:cNvSpPr>
          <p:nvPr/>
        </p:nvSpPr>
        <p:spPr>
          <a:xfrm xmlns:a="http://schemas.openxmlformats.org/drawingml/2006/main">
            <a:off x="3695700" y="3524250"/>
            <a:ext cx="1866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現場の負担を減らす機材を開発し、販売も検討</a:t>
            </a:r>
          </a:p>
        </p:txBody>
      </p:sp>
      <p:sp>
        <p:nvSpPr>
          <p:cNvPr id="14" name="">
            <a:extLst xmlns:a="http://schemas.openxmlformats.org/drawingml/2006/main">
              <a:ext uri="{FF2B5EF4-FFF2-40B4-BE49-F238E27FC236}">
                <a16:creationId xmlns:a16="http://schemas.microsoft.com/office/drawing/2014/main" id="{1C242BF8-506B-4C5A-879B-46F8065A72C2}"/>
              </a:ext>
            </a:extLst>
          </p:cNvPr>
          <p:cNvSpPr>
            <a:spLocks xmlns:a="http://schemas.openxmlformats.org/drawingml/2006/main" noGrp="1"/>
          </p:cNvSpPr>
          <p:nvPr/>
        </p:nvSpPr>
        <p:spPr>
          <a:xfrm xmlns:a="http://schemas.openxmlformats.org/drawingml/2006/main">
            <a:off x="5772150" y="3419475"/>
            <a:ext cx="476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F2D513B-E959-49F5-B792-1A3BE122D8DF}"/>
              </a:ext>
            </a:extLst>
          </p:cNvPr>
          <p:cNvSpPr>
            <a:spLocks xmlns:a="http://schemas.openxmlformats.org/drawingml/2006/main" noGrp="1"/>
          </p:cNvSpPr>
          <p:nvPr/>
        </p:nvSpPr>
        <p:spPr>
          <a:xfrm xmlns:a="http://schemas.openxmlformats.org/drawingml/2006/main">
            <a:off x="6248400" y="20383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見えている展開</a:t>
            </a:r>
          </a:p>
        </p:txBody>
      </p:sp>
      <p:sp>
        <p:nvSpPr>
          <p:cNvPr id="16" name="">
            <a:extLst xmlns:a="http://schemas.openxmlformats.org/drawingml/2006/main">
              <a:ext uri="{FF2B5EF4-FFF2-40B4-BE49-F238E27FC236}">
                <a16:creationId xmlns:a16="http://schemas.microsoft.com/office/drawing/2014/main" id="{D6E056C1-B9A7-4F3A-9350-949B177AF311}"/>
              </a:ext>
            </a:extLst>
          </p:cNvPr>
          <p:cNvSpPr>
            <a:spLocks xmlns:a="http://schemas.openxmlformats.org/drawingml/2006/main" noGrp="1"/>
          </p:cNvSpPr>
          <p:nvPr/>
        </p:nvSpPr>
        <p:spPr>
          <a:xfrm xmlns:a="http://schemas.openxmlformats.org/drawingml/2006/main">
            <a:off x="6248400" y="2428875"/>
            <a:ext cx="22860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7" name="">
            <a:extLst xmlns:a="http://schemas.openxmlformats.org/drawingml/2006/main">
              <a:ext uri="{FF2B5EF4-FFF2-40B4-BE49-F238E27FC236}">
                <a16:creationId xmlns:a16="http://schemas.microsoft.com/office/drawing/2014/main" id="{ED11689C-8576-4292-ACAB-CFBA70E20D67}"/>
              </a:ext>
            </a:extLst>
          </p:cNvPr>
          <p:cNvSpPr>
            <a:spLocks xmlns:a="http://schemas.openxmlformats.org/drawingml/2006/main" noGrp="1"/>
          </p:cNvSpPr>
          <p:nvPr/>
        </p:nvSpPr>
        <p:spPr>
          <a:xfrm xmlns:a="http://schemas.openxmlformats.org/drawingml/2006/main">
            <a:off x="6457950" y="2714625"/>
            <a:ext cx="1866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実証現場の提供</a:t>
            </a:r>
          </a:p>
        </p:txBody>
      </p:sp>
      <p:sp>
        <p:nvSpPr>
          <p:cNvPr id="18" name="">
            <a:extLst xmlns:a="http://schemas.openxmlformats.org/drawingml/2006/main">
              <a:ext uri="{FF2B5EF4-FFF2-40B4-BE49-F238E27FC236}">
                <a16:creationId xmlns:a16="http://schemas.microsoft.com/office/drawing/2014/main" id="{38571112-9AF1-4B6B-9C7A-2827A9A1FA14}"/>
              </a:ext>
            </a:extLst>
          </p:cNvPr>
          <p:cNvSpPr>
            <a:spLocks xmlns:a="http://schemas.openxmlformats.org/drawingml/2006/main" noGrp="1"/>
          </p:cNvSpPr>
          <p:nvPr/>
        </p:nvSpPr>
        <p:spPr>
          <a:xfrm xmlns:a="http://schemas.openxmlformats.org/drawingml/2006/main">
            <a:off x="6457950" y="3524250"/>
            <a:ext cx="1866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ロボット企業や研究機関と現場をつなぐ</a:t>
            </a:r>
          </a:p>
        </p:txBody>
      </p:sp>
      <p:sp>
        <p:nvSpPr>
          <p:cNvPr id="19" name="">
            <a:extLst xmlns:a="http://schemas.openxmlformats.org/drawingml/2006/main">
              <a:ext uri="{FF2B5EF4-FFF2-40B4-BE49-F238E27FC236}">
                <a16:creationId xmlns:a16="http://schemas.microsoft.com/office/drawing/2014/main" id="{7E993496-5B92-4B72-9C2F-59828930AB69}"/>
              </a:ext>
            </a:extLst>
          </p:cNvPr>
          <p:cNvSpPr>
            <a:spLocks xmlns:a="http://schemas.openxmlformats.org/drawingml/2006/main" noGrp="1"/>
          </p:cNvSpPr>
          <p:nvPr/>
        </p:nvSpPr>
        <p:spPr>
          <a:xfrm xmlns:a="http://schemas.openxmlformats.org/drawingml/2006/main">
            <a:off x="8534400" y="3419475"/>
            <a:ext cx="476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109AC6D-209B-4F18-A9B5-D59BB21A159F}"/>
              </a:ext>
            </a:extLst>
          </p:cNvPr>
          <p:cNvSpPr>
            <a:spLocks xmlns:a="http://schemas.openxmlformats.org/drawingml/2006/main" noGrp="1"/>
          </p:cNvSpPr>
          <p:nvPr/>
        </p:nvSpPr>
        <p:spPr>
          <a:xfrm xmlns:a="http://schemas.openxmlformats.org/drawingml/2006/main">
            <a:off x="9010650" y="20383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目指す姿</a:t>
            </a:r>
          </a:p>
        </p:txBody>
      </p:sp>
      <p:sp>
        <p:nvSpPr>
          <p:cNvPr id="21" name="">
            <a:extLst xmlns:a="http://schemas.openxmlformats.org/drawingml/2006/main">
              <a:ext uri="{FF2B5EF4-FFF2-40B4-BE49-F238E27FC236}">
                <a16:creationId xmlns:a16="http://schemas.microsoft.com/office/drawing/2014/main" id="{5BB96FC0-F368-4DCB-A6E3-BAB0F1E0B18B}"/>
              </a:ext>
            </a:extLst>
          </p:cNvPr>
          <p:cNvSpPr>
            <a:spLocks xmlns:a="http://schemas.openxmlformats.org/drawingml/2006/main" noGrp="1"/>
          </p:cNvSpPr>
          <p:nvPr/>
        </p:nvSpPr>
        <p:spPr>
          <a:xfrm xmlns:a="http://schemas.openxmlformats.org/drawingml/2006/main">
            <a:off x="9010650" y="2428875"/>
            <a:ext cx="22860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2" name="">
            <a:extLst xmlns:a="http://schemas.openxmlformats.org/drawingml/2006/main">
              <a:ext uri="{FF2B5EF4-FFF2-40B4-BE49-F238E27FC236}">
                <a16:creationId xmlns:a16="http://schemas.microsoft.com/office/drawing/2014/main" id="{0DE9DFC2-6BBA-420D-A11A-51212D1DACA6}"/>
              </a:ext>
            </a:extLst>
          </p:cNvPr>
          <p:cNvSpPr>
            <a:spLocks xmlns:a="http://schemas.openxmlformats.org/drawingml/2006/main" noGrp="1"/>
          </p:cNvSpPr>
          <p:nvPr/>
        </p:nvSpPr>
        <p:spPr>
          <a:xfrm xmlns:a="http://schemas.openxmlformats.org/drawingml/2006/main">
            <a:off x="9220200" y="2714625"/>
            <a:ext cx="1866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ロボットの現場統合</a:t>
            </a:r>
          </a:p>
        </p:txBody>
      </p:sp>
      <p:sp>
        <p:nvSpPr>
          <p:cNvPr id="23" name="">
            <a:extLst xmlns:a="http://schemas.openxmlformats.org/drawingml/2006/main">
              <a:ext uri="{FF2B5EF4-FFF2-40B4-BE49-F238E27FC236}">
                <a16:creationId xmlns:a16="http://schemas.microsoft.com/office/drawing/2014/main" id="{D52D43BA-0E60-42D2-87CB-74E1FEB84CB2}"/>
              </a:ext>
            </a:extLst>
          </p:cNvPr>
          <p:cNvSpPr>
            <a:spLocks xmlns:a="http://schemas.openxmlformats.org/drawingml/2006/main" noGrp="1"/>
          </p:cNvSpPr>
          <p:nvPr/>
        </p:nvSpPr>
        <p:spPr>
          <a:xfrm xmlns:a="http://schemas.openxmlformats.org/drawingml/2006/main">
            <a:off x="9220200" y="3524250"/>
            <a:ext cx="1866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蓄積したデータと現場知識を使い、自ら導入する</a:t>
            </a:r>
          </a:p>
        </p:txBody>
      </p:sp>
      <p:sp>
        <p:nvSpPr>
          <p:cNvPr id="24" name="">
            <a:extLst xmlns:a="http://schemas.openxmlformats.org/drawingml/2006/main">
              <a:ext uri="{FF2B5EF4-FFF2-40B4-BE49-F238E27FC236}">
                <a16:creationId xmlns:a16="http://schemas.microsoft.com/office/drawing/2014/main" id="{FFF46B15-3991-4D7B-9BA3-348054E70877}"/>
              </a:ext>
            </a:extLst>
          </p:cNvPr>
          <p:cNvSpPr>
            <a:spLocks xmlns:a="http://schemas.openxmlformats.org/drawingml/2006/main" noGrp="1"/>
          </p:cNvSpPr>
          <p:nvPr/>
        </p:nvSpPr>
        <p:spPr>
          <a:xfrm xmlns:a="http://schemas.openxmlformats.org/drawingml/2006/main">
            <a:off x="723900" y="5000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6EACBEC-8DF1-459C-B913-1B689691EDF0}"/>
              </a:ext>
            </a:extLst>
          </p:cNvPr>
          <p:cNvSpPr>
            <a:spLocks xmlns:a="http://schemas.openxmlformats.org/drawingml/2006/main" noGrp="1"/>
          </p:cNvSpPr>
          <p:nvPr/>
        </p:nvSpPr>
        <p:spPr>
          <a:xfrm xmlns:a="http://schemas.openxmlformats.org/drawingml/2006/main">
            <a:off x="723900" y="5362575"/>
            <a:ext cx="10382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直近以外は、現在見えている可能性を並べたものであり、実行時期を定めた計画ではない。</a:t>
            </a:r>
          </a:p>
        </p:txBody>
      </p:sp>
    </p:spTree>
    <p:extLst>
      <p:ext uri="{BB962C8B-B14F-4D97-AF65-F5344CB8AC3E}">
        <p14:creationId xmlns:p14="http://schemas.microsoft.com/office/powerpoint/2010/main" val="874133079"/>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8756F47-7244-45C3-9D56-8C270204287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90E091B-8400-4817-A834-B4DD57CDD5E6}"/>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直近3か月の目標</a:t>
            </a:r>
          </a:p>
        </p:txBody>
      </p:sp>
      <p:sp>
        <p:nvSpPr>
          <p:cNvPr id="3" name="">
            <a:extLst xmlns:a="http://schemas.openxmlformats.org/drawingml/2006/main">
              <a:ext uri="{FF2B5EF4-FFF2-40B4-BE49-F238E27FC236}">
                <a16:creationId xmlns:a16="http://schemas.microsoft.com/office/drawing/2014/main" id="{129918E0-352D-4A6A-97B8-E564A317239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FDA8F02-74AA-4478-8242-9E1D98E70284}"/>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1AFB0DEB-FD84-431D-AE0B-AC4F877A1699}"/>
              </a:ext>
            </a:extLst>
          </p:cNvPr>
          <p:cNvSpPr>
            <a:spLocks xmlns:a="http://schemas.openxmlformats.org/drawingml/2006/main" noGrp="1"/>
          </p:cNvSpPr>
          <p:nvPr/>
        </p:nvSpPr>
        <p:spPr>
          <a:xfrm xmlns:a="http://schemas.openxmlformats.org/drawingml/2006/main">
            <a:off x="723900" y="2009775"/>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15C78"/>
                </a:solidFill>
                <a:latin typeface="Hiragino Sans"/>
                <a:ea typeface="Hiragino Sans"/>
                <a:cs typeface="Hiragino Sans"/>
              </a:defRPr>
            </a:pPr>
            <a:r>
              <a:rPr sz="1800" b="1">
                <a:solidFill>
                  <a:srgbClr val="315C78"/>
                </a:solidFill>
                <a:latin typeface="Hiragino Sans"/>
                <a:ea typeface="Hiragino Sans"/>
                <a:cs typeface="Hiragino Sans"/>
              </a:rPr>
              <a:t>10月</a:t>
            </a:r>
          </a:p>
        </p:txBody>
      </p:sp>
      <p:sp>
        <p:nvSpPr>
          <p:cNvPr id="6" name="">
            <a:extLst xmlns:a="http://schemas.openxmlformats.org/drawingml/2006/main">
              <a:ext uri="{FF2B5EF4-FFF2-40B4-BE49-F238E27FC236}">
                <a16:creationId xmlns:a16="http://schemas.microsoft.com/office/drawing/2014/main" id="{C69E65A0-1CE7-4D80-B092-E3FE86E2147A}"/>
              </a:ext>
            </a:extLst>
          </p:cNvPr>
          <p:cNvSpPr>
            <a:spLocks xmlns:a="http://schemas.openxmlformats.org/drawingml/2006/main" noGrp="1"/>
          </p:cNvSpPr>
          <p:nvPr/>
        </p:nvSpPr>
        <p:spPr>
          <a:xfrm xmlns:a="http://schemas.openxmlformats.org/drawingml/2006/main">
            <a:off x="2333625" y="200977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月間500時間</a:t>
            </a:r>
          </a:p>
        </p:txBody>
      </p:sp>
      <p:sp>
        <p:nvSpPr>
          <p:cNvPr id="7" name="">
            <a:extLst xmlns:a="http://schemas.openxmlformats.org/drawingml/2006/main">
              <a:ext uri="{FF2B5EF4-FFF2-40B4-BE49-F238E27FC236}">
                <a16:creationId xmlns:a16="http://schemas.microsoft.com/office/drawing/2014/main" id="{5E956338-75F2-44BC-B9D3-0FEFDC2FAAB5}"/>
              </a:ext>
            </a:extLst>
          </p:cNvPr>
          <p:cNvSpPr>
            <a:spLocks xmlns:a="http://schemas.openxmlformats.org/drawingml/2006/main" noGrp="1"/>
          </p:cNvSpPr>
          <p:nvPr/>
        </p:nvSpPr>
        <p:spPr>
          <a:xfrm xmlns:a="http://schemas.openxmlformats.org/drawingml/2006/main">
            <a:off x="5810250" y="1990725"/>
            <a:ext cx="5334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Nextremerとの合意と格納開始。海外販売先へ再度提供を打診する。</a:t>
            </a:r>
          </a:p>
        </p:txBody>
      </p:sp>
      <p:sp>
        <p:nvSpPr>
          <p:cNvPr id="8" name="">
            <a:extLst xmlns:a="http://schemas.openxmlformats.org/drawingml/2006/main">
              <a:ext uri="{FF2B5EF4-FFF2-40B4-BE49-F238E27FC236}">
                <a16:creationId xmlns:a16="http://schemas.microsoft.com/office/drawing/2014/main" id="{184D3C55-AEC2-4B07-A79A-414CAC4688C5}"/>
              </a:ext>
            </a:extLst>
          </p:cNvPr>
          <p:cNvSpPr>
            <a:spLocks xmlns:a="http://schemas.openxmlformats.org/drawingml/2006/main" noGrp="1"/>
          </p:cNvSpPr>
          <p:nvPr/>
        </p:nvSpPr>
        <p:spPr>
          <a:xfrm xmlns:a="http://schemas.openxmlformats.org/drawingml/2006/main">
            <a:off x="723900" y="29432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3FC8F93-922F-490D-BAD8-3324961BE649}"/>
              </a:ext>
            </a:extLst>
          </p:cNvPr>
          <p:cNvSpPr>
            <a:spLocks xmlns:a="http://schemas.openxmlformats.org/drawingml/2006/main" noGrp="1"/>
          </p:cNvSpPr>
          <p:nvPr/>
        </p:nvSpPr>
        <p:spPr>
          <a:xfrm xmlns:a="http://schemas.openxmlformats.org/drawingml/2006/main">
            <a:off x="723900" y="3314700"/>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15C78"/>
                </a:solidFill>
                <a:latin typeface="Hiragino Sans"/>
                <a:ea typeface="Hiragino Sans"/>
                <a:cs typeface="Hiragino Sans"/>
              </a:defRPr>
            </a:pPr>
            <a:r>
              <a:rPr sz="1800" b="1">
                <a:solidFill>
                  <a:srgbClr val="315C78"/>
                </a:solidFill>
                <a:latin typeface="Hiragino Sans"/>
                <a:ea typeface="Hiragino Sans"/>
                <a:cs typeface="Hiragino Sans"/>
              </a:rPr>
              <a:t>11月</a:t>
            </a:r>
          </a:p>
        </p:txBody>
      </p:sp>
      <p:sp>
        <p:nvSpPr>
          <p:cNvPr id="10" name="">
            <a:extLst xmlns:a="http://schemas.openxmlformats.org/drawingml/2006/main">
              <a:ext uri="{FF2B5EF4-FFF2-40B4-BE49-F238E27FC236}">
                <a16:creationId xmlns:a16="http://schemas.microsoft.com/office/drawing/2014/main" id="{3376238F-212D-4E97-9548-AD5640F2EE39}"/>
              </a:ext>
            </a:extLst>
          </p:cNvPr>
          <p:cNvSpPr>
            <a:spLocks xmlns:a="http://schemas.openxmlformats.org/drawingml/2006/main" noGrp="1"/>
          </p:cNvSpPr>
          <p:nvPr/>
        </p:nvSpPr>
        <p:spPr>
          <a:xfrm xmlns:a="http://schemas.openxmlformats.org/drawingml/2006/main">
            <a:off x="2333625" y="33147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月間500時間を維持</a:t>
            </a:r>
          </a:p>
        </p:txBody>
      </p:sp>
      <p:sp>
        <p:nvSpPr>
          <p:cNvPr id="11" name="">
            <a:extLst xmlns:a="http://schemas.openxmlformats.org/drawingml/2006/main">
              <a:ext uri="{FF2B5EF4-FFF2-40B4-BE49-F238E27FC236}">
                <a16:creationId xmlns:a16="http://schemas.microsoft.com/office/drawing/2014/main" id="{6F1C21C6-FB06-45F4-B1AF-1779DF6688DC}"/>
              </a:ext>
            </a:extLst>
          </p:cNvPr>
          <p:cNvSpPr>
            <a:spLocks xmlns:a="http://schemas.openxmlformats.org/drawingml/2006/main" noGrp="1"/>
          </p:cNvSpPr>
          <p:nvPr/>
        </p:nvSpPr>
        <p:spPr>
          <a:xfrm xmlns:a="http://schemas.openxmlformats.org/drawingml/2006/main">
            <a:off x="5810250" y="3295650"/>
            <a:ext cx="5334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撮影現場を訪問し、運用負担を洗い出す。合意とデータ取扱いを法務確認する。</a:t>
            </a:r>
          </a:p>
        </p:txBody>
      </p:sp>
      <p:sp>
        <p:nvSpPr>
          <p:cNvPr id="12" name="">
            <a:extLst xmlns:a="http://schemas.openxmlformats.org/drawingml/2006/main">
              <a:ext uri="{FF2B5EF4-FFF2-40B4-BE49-F238E27FC236}">
                <a16:creationId xmlns:a16="http://schemas.microsoft.com/office/drawing/2014/main" id="{72BED22D-B515-48A3-9C85-EBC6BC7EAF8D}"/>
              </a:ext>
            </a:extLst>
          </p:cNvPr>
          <p:cNvSpPr>
            <a:spLocks xmlns:a="http://schemas.openxmlformats.org/drawingml/2006/main" noGrp="1"/>
          </p:cNvSpPr>
          <p:nvPr/>
        </p:nvSpPr>
        <p:spPr>
          <a:xfrm xmlns:a="http://schemas.openxmlformats.org/drawingml/2006/main">
            <a:off x="723900" y="42481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7637383-D4DB-4F16-8A45-932BC5068EB9}"/>
              </a:ext>
            </a:extLst>
          </p:cNvPr>
          <p:cNvSpPr>
            <a:spLocks xmlns:a="http://schemas.openxmlformats.org/drawingml/2006/main" noGrp="1"/>
          </p:cNvSpPr>
          <p:nvPr/>
        </p:nvSpPr>
        <p:spPr>
          <a:xfrm xmlns:a="http://schemas.openxmlformats.org/drawingml/2006/main">
            <a:off x="723900" y="4619625"/>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15C78"/>
                </a:solidFill>
                <a:latin typeface="Hiragino Sans"/>
                <a:ea typeface="Hiragino Sans"/>
                <a:cs typeface="Hiragino Sans"/>
              </a:defRPr>
            </a:pPr>
            <a:r>
              <a:rPr sz="1800" b="1">
                <a:solidFill>
                  <a:srgbClr val="315C78"/>
                </a:solidFill>
                <a:latin typeface="Hiragino Sans"/>
                <a:ea typeface="Hiragino Sans"/>
                <a:cs typeface="Hiragino Sans"/>
              </a:rPr>
              <a:t>12月</a:t>
            </a:r>
          </a:p>
        </p:txBody>
      </p:sp>
      <p:sp>
        <p:nvSpPr>
          <p:cNvPr id="14" name="">
            <a:extLst xmlns:a="http://schemas.openxmlformats.org/drawingml/2006/main">
              <a:ext uri="{FF2B5EF4-FFF2-40B4-BE49-F238E27FC236}">
                <a16:creationId xmlns:a16="http://schemas.microsoft.com/office/drawing/2014/main" id="{487856BA-AD42-451D-B40B-63324816F1FC}"/>
              </a:ext>
            </a:extLst>
          </p:cNvPr>
          <p:cNvSpPr>
            <a:spLocks xmlns:a="http://schemas.openxmlformats.org/drawingml/2006/main" noGrp="1"/>
          </p:cNvSpPr>
          <p:nvPr/>
        </p:nvSpPr>
        <p:spPr>
          <a:xfrm xmlns:a="http://schemas.openxmlformats.org/drawingml/2006/main">
            <a:off x="2333625" y="46196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月間1,000時間</a:t>
            </a:r>
          </a:p>
        </p:txBody>
      </p:sp>
      <p:sp>
        <p:nvSpPr>
          <p:cNvPr id="15" name="">
            <a:extLst xmlns:a="http://schemas.openxmlformats.org/drawingml/2006/main">
              <a:ext uri="{FF2B5EF4-FFF2-40B4-BE49-F238E27FC236}">
                <a16:creationId xmlns:a16="http://schemas.microsoft.com/office/drawing/2014/main" id="{8E191147-D3CE-42CB-8F85-DEEE5A4B47E5}"/>
              </a:ext>
            </a:extLst>
          </p:cNvPr>
          <p:cNvSpPr>
            <a:spLocks xmlns:a="http://schemas.openxmlformats.org/drawingml/2006/main" noGrp="1"/>
          </p:cNvSpPr>
          <p:nvPr/>
        </p:nvSpPr>
        <p:spPr>
          <a:xfrm xmlns:a="http://schemas.openxmlformats.org/drawingml/2006/main">
            <a:off x="5810250" y="4600575"/>
            <a:ext cx="5334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飲食・小売を中心に撮影先を増やし、販売先との商談条件を満たす規模へ近づける。</a:t>
            </a:r>
          </a:p>
        </p:txBody>
      </p:sp>
      <p:sp>
        <p:nvSpPr>
          <p:cNvPr id="16" name="">
            <a:extLst xmlns:a="http://schemas.openxmlformats.org/drawingml/2006/main">
              <a:ext uri="{FF2B5EF4-FFF2-40B4-BE49-F238E27FC236}">
                <a16:creationId xmlns:a16="http://schemas.microsoft.com/office/drawing/2014/main" id="{DDA6AF8B-D858-4523-BD5C-BAE1DF50CA66}"/>
              </a:ext>
            </a:extLst>
          </p:cNvPr>
          <p:cNvSpPr>
            <a:spLocks xmlns:a="http://schemas.openxmlformats.org/drawingml/2006/main" noGrp="1"/>
          </p:cNvSpPr>
          <p:nvPr/>
        </p:nvSpPr>
        <p:spPr>
          <a:xfrm xmlns:a="http://schemas.openxmlformats.org/drawingml/2006/main">
            <a:off x="723900" y="55530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2465515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2026-09-14T21:41:32.9260000Z</dcterms:created>
  <dcterms:modified xsi:type="dcterms:W3CDTF">2026-09-14T21:41:32.9260000Z</dcterms:modified>
</coreProperties>
</file>
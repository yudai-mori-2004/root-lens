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7b17e4e2a94707" /><Relationship Type="http://schemas.openxmlformats.org/officeDocument/2006/relationships/extended-properties" Target="/docProps/app.xml" Id="R3b7f285037154b0f" /><Relationship Type="http://schemas.openxmlformats.org/officeDocument/2006/relationships/officeDocument" Target="/ppt/presentation.xml" Id="R521cc23e79b64c65" /></Relationships>
</file>

<file path=ppt/presentation.xml><?xml version="1.0" encoding="utf-8"?>
<p:presentation xmlns:p="http://schemas.openxmlformats.org/presentationml/2006/main">
  <p:sldMasterIdLst>
    <p:sldMasterId xmlns:r="http://schemas.openxmlformats.org/officeDocument/2006/relationships" id="2147483648" r:id="R8ab973efa04642f1"/>
  </p:sldMasterIdLst>
  <p:notesMasterIdLst>
    <p:notesMasterId xmlns:r="http://schemas.openxmlformats.org/officeDocument/2006/relationships" r:id="R8fa035f3bd884660"/>
  </p:notesMasterIdLst>
  <p:sldIdLst>
    <p:sldId xmlns:r="http://schemas.openxmlformats.org/officeDocument/2006/relationships" id="256" r:id="R8f4ed15e5ed54fbc"/>
    <p:sldId xmlns:r="http://schemas.openxmlformats.org/officeDocument/2006/relationships" id="257" r:id="R0b30c8d41f574eda"/>
    <p:sldId xmlns:r="http://schemas.openxmlformats.org/officeDocument/2006/relationships" id="258" r:id="R1f18baae1fd04d81"/>
    <p:sldId xmlns:r="http://schemas.openxmlformats.org/officeDocument/2006/relationships" id="259" r:id="R05e2ce2d50f442e4"/>
    <p:sldId xmlns:r="http://schemas.openxmlformats.org/officeDocument/2006/relationships" id="260" r:id="Rf50610bba771488d"/>
    <p:sldId xmlns:r="http://schemas.openxmlformats.org/officeDocument/2006/relationships" id="261" r:id="R8078a128f0424fa2"/>
    <p:sldId xmlns:r="http://schemas.openxmlformats.org/officeDocument/2006/relationships" id="262" r:id="R029901f9bed74f3f"/>
    <p:sldId xmlns:r="http://schemas.openxmlformats.org/officeDocument/2006/relationships" id="263" r:id="Rc3a3a46ffcc6423e"/>
    <p:sldId xmlns:r="http://schemas.openxmlformats.org/officeDocument/2006/relationships" id="264" r:id="R5de644b612674eb5"/>
    <p:sldId xmlns:r="http://schemas.openxmlformats.org/officeDocument/2006/relationships" id="265" r:id="R47f2c088a65a4e48"/>
    <p:sldId xmlns:r="http://schemas.openxmlformats.org/officeDocument/2006/relationships" id="266" r:id="R95a41ecdf2094d2e"/>
    <p:sldId xmlns:r="http://schemas.openxmlformats.org/officeDocument/2006/relationships" id="267" r:id="Rd25037ce10eb48a4"/>
    <p:sldId xmlns:r="http://schemas.openxmlformats.org/officeDocument/2006/relationships" id="268" r:id="Rf50dc2d800db4c09"/>
    <p:sldId xmlns:r="http://schemas.openxmlformats.org/officeDocument/2006/relationships" id="269" r:id="R7c44c91def134cdf"/>
    <p:sldId xmlns:r="http://schemas.openxmlformats.org/officeDocument/2006/relationships" id="270" r:id="Rb5c4073fc2fe45e3"/>
    <p:sldId xmlns:r="http://schemas.openxmlformats.org/officeDocument/2006/relationships" id="271" r:id="R4f2c36ec0332473b"/>
    <p:sldId xmlns:r="http://schemas.openxmlformats.org/officeDocument/2006/relationships" id="272" r:id="R465ab0dac271455a"/>
    <p:sldId xmlns:r="http://schemas.openxmlformats.org/officeDocument/2006/relationships" id="273" r:id="Rb4a6ed43de33446f"/>
    <p:sldId xmlns:r="http://schemas.openxmlformats.org/officeDocument/2006/relationships" id="274" r:id="R8207e932936c4cfc"/>
    <p:sldId xmlns:r="http://schemas.openxmlformats.org/officeDocument/2006/relationships" id="275" r:id="Rf08bad5dc5cd4326"/>
    <p:sldId xmlns:r="http://schemas.openxmlformats.org/officeDocument/2006/relationships" id="276" r:id="Rbfabc1ef50224ca2"/>
    <p:sldId xmlns:r="http://schemas.openxmlformats.org/officeDocument/2006/relationships" id="277" r:id="R777f8dd19efe4483"/>
    <p:sldId xmlns:r="http://schemas.openxmlformats.org/officeDocument/2006/relationships" id="278" r:id="Rca59fc16d4234d51"/>
    <p:sldId xmlns:r="http://schemas.openxmlformats.org/officeDocument/2006/relationships" id="279" r:id="Rb210f976b796493b"/>
    <p:sldId xmlns:r="http://schemas.openxmlformats.org/officeDocument/2006/relationships" id="280" r:id="R34efe2cdcd3c45bd"/>
    <p:sldId xmlns:r="http://schemas.openxmlformats.org/officeDocument/2006/relationships" id="281" r:id="Rf365ac15daaa43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8a0a732b814afa" /><Relationship Type="http://schemas.openxmlformats.org/officeDocument/2006/relationships/slideMaster" Target="/ppt/slideMasters/slideMaster1.xml" Id="R8ab973efa04642f1" /><Relationship Type="http://schemas.openxmlformats.org/officeDocument/2006/relationships/notesMaster" Target="/ppt/notesMasters/notesMaster1.xml" Id="R8fa035f3bd884660" /><Relationship Type="http://schemas.openxmlformats.org/officeDocument/2006/relationships/presProps" Target="/ppt/presProps.xml" Id="Ra3e19775807e4da3" /><Relationship Type="http://schemas.openxmlformats.org/officeDocument/2006/relationships/tableStyles" Target="/ppt/tableStyles.xml" Id="R6ca099e882b7451c" /><Relationship Type="http://schemas.openxmlformats.org/officeDocument/2006/relationships/slide" Target="/ppt/slides/slide1.xml" Id="R8f4ed15e5ed54fbc" /><Relationship Type="http://schemas.openxmlformats.org/officeDocument/2006/relationships/slide" Target="/ppt/slides/slide2.xml" Id="R0b30c8d41f574eda" /><Relationship Type="http://schemas.openxmlformats.org/officeDocument/2006/relationships/slide" Target="/ppt/slides/slide3.xml" Id="R1f18baae1fd04d81" /><Relationship Type="http://schemas.openxmlformats.org/officeDocument/2006/relationships/slide" Target="/ppt/slides/slide4.xml" Id="R05e2ce2d50f442e4" /><Relationship Type="http://schemas.openxmlformats.org/officeDocument/2006/relationships/slide" Target="/ppt/slides/slide5.xml" Id="Rf50610bba771488d" /><Relationship Type="http://schemas.openxmlformats.org/officeDocument/2006/relationships/slide" Target="/ppt/slides/slide6.xml" Id="R8078a128f0424fa2" /><Relationship Type="http://schemas.openxmlformats.org/officeDocument/2006/relationships/slide" Target="/ppt/slides/slide7.xml" Id="R029901f9bed74f3f" /><Relationship Type="http://schemas.openxmlformats.org/officeDocument/2006/relationships/slide" Target="/ppt/slides/slide8.xml" Id="Rc3a3a46ffcc6423e" /><Relationship Type="http://schemas.openxmlformats.org/officeDocument/2006/relationships/slide" Target="/ppt/slides/slide9.xml" Id="R5de644b612674eb5" /><Relationship Type="http://schemas.openxmlformats.org/officeDocument/2006/relationships/slide" Target="/ppt/slides/slide10.xml" Id="R47f2c088a65a4e48" /><Relationship Type="http://schemas.openxmlformats.org/officeDocument/2006/relationships/slide" Target="/ppt/slides/slide11.xml" Id="R95a41ecdf2094d2e" /><Relationship Type="http://schemas.openxmlformats.org/officeDocument/2006/relationships/slide" Target="/ppt/slides/slide12.xml" Id="Rd25037ce10eb48a4" /><Relationship Type="http://schemas.openxmlformats.org/officeDocument/2006/relationships/slide" Target="/ppt/slides/slide13.xml" Id="Rf50dc2d800db4c09" /><Relationship Type="http://schemas.openxmlformats.org/officeDocument/2006/relationships/slide" Target="/ppt/slides/slide14.xml" Id="R7c44c91def134cdf" /><Relationship Type="http://schemas.openxmlformats.org/officeDocument/2006/relationships/slide" Target="/ppt/slides/slide15.xml" Id="Rb5c4073fc2fe45e3" /><Relationship Type="http://schemas.openxmlformats.org/officeDocument/2006/relationships/slide" Target="/ppt/slides/slide16.xml" Id="R4f2c36ec0332473b" /><Relationship Type="http://schemas.openxmlformats.org/officeDocument/2006/relationships/slide" Target="/ppt/slides/slide17.xml" Id="R465ab0dac271455a" /><Relationship Type="http://schemas.openxmlformats.org/officeDocument/2006/relationships/slide" Target="/ppt/slides/slide18.xml" Id="Rb4a6ed43de33446f" /><Relationship Type="http://schemas.openxmlformats.org/officeDocument/2006/relationships/slide" Target="/ppt/slides/slide19.xml" Id="R8207e932936c4cfc" /><Relationship Type="http://schemas.openxmlformats.org/officeDocument/2006/relationships/slide" Target="/ppt/slides/slide20.xml" Id="Rf08bad5dc5cd4326" /><Relationship Type="http://schemas.openxmlformats.org/officeDocument/2006/relationships/slide" Target="/ppt/slides/slide21.xml" Id="Rbfabc1ef50224ca2" /><Relationship Type="http://schemas.openxmlformats.org/officeDocument/2006/relationships/slide" Target="/ppt/slides/slide22.xml" Id="R777f8dd19efe4483" /><Relationship Type="http://schemas.openxmlformats.org/officeDocument/2006/relationships/slide" Target="/ppt/slides/slide23.xml" Id="Rca59fc16d4234d51" /><Relationship Type="http://schemas.openxmlformats.org/officeDocument/2006/relationships/slide" Target="/ppt/slides/slide24.xml" Id="Rb210f976b796493b" /><Relationship Type="http://schemas.openxmlformats.org/officeDocument/2006/relationships/slide" Target="/ppt/slides/slide25.xml" Id="R34efe2cdcd3c45bd" /><Relationship Type="http://schemas.openxmlformats.org/officeDocument/2006/relationships/slide" Target="/ppt/slides/slide26.xml" Id="Rf365ac15daaa43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edab67aa524e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19b7292fee4228" /><Relationship Type="http://schemas.openxmlformats.org/officeDocument/2006/relationships/notesMaster" Target="/ppt/notesMasters/notesMaster1.xml" Id="Rab38bba458c34a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52667cfd584cd2" /><Relationship Type="http://schemas.openxmlformats.org/officeDocument/2006/relationships/notesMaster" Target="/ppt/notesMasters/notesMaster1.xml" Id="R9a9bf41cf9a34e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3e23cb57254061" /><Relationship Type="http://schemas.openxmlformats.org/officeDocument/2006/relationships/notesMaster" Target="/ppt/notesMasters/notesMaster1.xml" Id="Rf223f8c3b32442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4aec0257f74621" /><Relationship Type="http://schemas.openxmlformats.org/officeDocument/2006/relationships/notesMaster" Target="/ppt/notesMasters/notesMaster1.xml" Id="Rde3b70d135e843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51989942904806" /><Relationship Type="http://schemas.openxmlformats.org/officeDocument/2006/relationships/notesMaster" Target="/ppt/notesMasters/notesMaster1.xml" Id="Rf7ca8c5314f84e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3fe70009124460" /><Relationship Type="http://schemas.openxmlformats.org/officeDocument/2006/relationships/notesMaster" Target="/ppt/notesMasters/notesMaster1.xml" Id="R640db60bd30744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a241ab80ad4d97" /><Relationship Type="http://schemas.openxmlformats.org/officeDocument/2006/relationships/notesMaster" Target="/ppt/notesMasters/notesMaster1.xml" Id="R8f2fc34e87e549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e88591e84f4db9" /><Relationship Type="http://schemas.openxmlformats.org/officeDocument/2006/relationships/notesMaster" Target="/ppt/notesMasters/notesMaster1.xml" Id="R11965fb0f5b440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d98bbd80dd4204" /><Relationship Type="http://schemas.openxmlformats.org/officeDocument/2006/relationships/notesMaster" Target="/ppt/notesMasters/notesMaster1.xml" Id="Ra230f9a291184f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9f6082325242b0" /><Relationship Type="http://schemas.openxmlformats.org/officeDocument/2006/relationships/notesMaster" Target="/ppt/notesMasters/notesMaster1.xml" Id="R6052cc4782b840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49e5b0185214d9a" /><Relationship Type="http://schemas.openxmlformats.org/officeDocument/2006/relationships/notesMaster" Target="/ppt/notesMasters/notesMaster1.xml" Id="R689deffc83474e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04fb74c6df24218" /><Relationship Type="http://schemas.openxmlformats.org/officeDocument/2006/relationships/notesMaster" Target="/ppt/notesMasters/notesMaster1.xml" Id="R247a985f970f49e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2ea63ca124f4b83" /><Relationship Type="http://schemas.openxmlformats.org/officeDocument/2006/relationships/notesMaster" Target="/ppt/notesMasters/notesMaster1.xml" Id="R1a457946147a4fb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9af1cf25354883" /><Relationship Type="http://schemas.openxmlformats.org/officeDocument/2006/relationships/notesMaster" Target="/ppt/notesMasters/notesMaster1.xml" Id="Rbfe37bacd577492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b5af0385328402a" /><Relationship Type="http://schemas.openxmlformats.org/officeDocument/2006/relationships/notesMaster" Target="/ppt/notesMasters/notesMaster1.xml" Id="Rae6837a14d38459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e1d0eaf04bd4b8c" /><Relationship Type="http://schemas.openxmlformats.org/officeDocument/2006/relationships/notesMaster" Target="/ppt/notesMasters/notesMaster1.xml" Id="R4dfd129bcf06453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4e4a4b2e2fd45e4" /><Relationship Type="http://schemas.openxmlformats.org/officeDocument/2006/relationships/notesMaster" Target="/ppt/notesMasters/notesMaster1.xml" Id="R085d8233d71949e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4d2af95ea474afa" /><Relationship Type="http://schemas.openxmlformats.org/officeDocument/2006/relationships/notesMaster" Target="/ppt/notesMasters/notesMaster1.xml" Id="R7434c63fcb56496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320edba2952412c" /><Relationship Type="http://schemas.openxmlformats.org/officeDocument/2006/relationships/notesMaster" Target="/ppt/notesMasters/notesMaster1.xml" Id="R0abb30453693498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c29867315454040" /><Relationship Type="http://schemas.openxmlformats.org/officeDocument/2006/relationships/notesMaster" Target="/ppt/notesMasters/notesMaster1.xml" Id="R941292037e5649c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f000b64446e489e" /><Relationship Type="http://schemas.openxmlformats.org/officeDocument/2006/relationships/notesMaster" Target="/ppt/notesMasters/notesMaster1.xml" Id="R023a813c79c64b6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476d568313346be" /><Relationship Type="http://schemas.openxmlformats.org/officeDocument/2006/relationships/notesMaster" Target="/ppt/notesMasters/notesMaster1.xml" Id="Rcf96f77a4d62407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7a1054de083451e" /><Relationship Type="http://schemas.openxmlformats.org/officeDocument/2006/relationships/notesMaster" Target="/ppt/notesMasters/notesMaster1.xml" Id="Rccc24bc169a0460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187626e0dd944e1" /><Relationship Type="http://schemas.openxmlformats.org/officeDocument/2006/relationships/notesMaster" Target="/ppt/notesMasters/notesMaster1.xml" Id="Rccbd116be9cb4ec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df1d5fa155c441a" /><Relationship Type="http://schemas.openxmlformats.org/officeDocument/2006/relationships/notesMaster" Target="/ppt/notesMasters/notesMaster1.xml" Id="Ra3367dcda72d44b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c4ec2e1852242b1" /><Relationship Type="http://schemas.openxmlformats.org/officeDocument/2006/relationships/notesMaster" Target="/ppt/notesMasters/notesMaster1.xml" Id="R4cc203bbcb3749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データ収集層には、人間の作業データ、テレオペレーション、合成データ、生データの加工があり、さらに上流では収集専用デバイスの開発も広がり始めています。基盤モデル開発はPhysical Intelligence（PI）やNVIDIAが挙げられ、桁違いの投資ができる企業に限られます。シミュレーション・デジタルツインは、実データの必要量を下げながらモデル開発まで進める近接レイヤーです。</a:t>
            </a:r>
          </a:p>
          <a:p xmlns:a="http://schemas.openxmlformats.org/drawingml/2006/main">
            <a:r>
              <a:t/>
            </a:r>
          </a:p>
          <a:p xmlns:a="http://schemas.openxmlformats.org/drawingml/2006/main">
            <a:r>
              <a:t>ハードウェアは中国系企業が安価なロボットの供給で強く、現場統合層は既存のロボットやモデルを使って現場への導入を優先します。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したデータレイヤーが将来なくなるからこそ、今の段階ではデータ収集が有利な出発点になります。現場統合層が現場と接するのは当然ですが、一番上流の現場データ収集企業も、撮影のために現場へ入り、将来ロボットが使われる現場と直接の関係を作れます。上流工程と最下流の顧客が直接繋がる、フィジカルAI特有の構造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現場データを先に持つことは、ロボット企業との協業だけでなく、自分たちが現場統合へ進むための布石になります。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私たちの構想は2段階です。まず現場データネットワークを広げ、次にそのデータとネットワークを使って自ら現場統合へ進みます。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海外8社とは、ベーカリーで収集したサンプルデータのやり取りまで進みました。合意に至っていないのは、私たちの収集スケールが世界的にはまだ小さく、低い優先度として扱われているためです。</a:t>
            </a:r>
          </a:p>
          <a:p xmlns:a="http://schemas.openxmlformats.org/drawingml/2006/main">
            <a:r>
              <a:t/>
            </a:r>
          </a:p>
          <a:p xmlns:a="http://schemas.openxmlformats.org/drawingml/2006/main">
            <a:r>
              <a:t>国内ではNextremerと、現場合意、加工、販売を含む運用フローを擦り合わせています。Nextremerは私たちよりロボット実装に近い下流へアプローチできるため、高度なアノテーション付きデータを求める販売先へ届き、より高い単価を狙えます。手数料なしのレベニューシェアなので、私たちは現場開拓とデータ収集に注力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現在4名で活動しています。共同創業者2名に加え、現場提供者の川島さんと、経営管理・法務・業界ネットワークを支援する大崎さんが参画しています。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時間、1,000時間、10,000時間で比較しても、デバイス償却の比率はほぼ一定です。規模の経済が効くかどうかは、主に人件費と固定費で決まります。一度契約した現場が継続的にデータを出し続ける構造を作れれば、新規開拓コストを抑えながら収集時間を伸ばせま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同一データを複数のバイヤーへ販売できれば、月10,000時間体制で平均2回販売なら会社取り分は月1,600万円、3回なら月2,400万円になります。12か月続ければ12万時間のデータ資産が残ります。</a:t>
            </a:r>
          </a:p>
          <a:p xmlns:a="http://schemas.openxmlformats.org/drawingml/2006/main">
            <a:r>
              <a:t/>
            </a:r>
          </a:p>
          <a:p xmlns:a="http://schemas.openxmlformats.org/drawingml/2006/main">
            <a:r>
              <a:t>複数回販売やアノテーションによる単価上昇は可能性の段階ですが、データが在庫として残り、累積時間が資産になること自体が、この事業の重要な性質です。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導入に適した現場へ優先順位をつけ、業種を絞って実際の現場統合を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現場データ収集で得た現場実装先、作業データ、現場の知見を使い、モデル開発・ハードウェア開発・現場統合のフィードバックループを自社で回す企業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4c0ee515024d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835836e3504024" /><Relationship Type="http://schemas.openxmlformats.org/officeDocument/2006/relationships/slideLayout" Target="/ppt/slideLayouts/slideLayout1.xml" Id="R6ca4174a00db42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a4174a00db42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3f39979d7a64c42" /><Relationship Type="http://schemas.openxmlformats.org/officeDocument/2006/relationships/notesSlide" Target="/ppt/notesSlides/notesSlide1.xml" Id="Rdc757cca83ae4a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77ef323490649ff" /><Relationship Type="http://schemas.openxmlformats.org/officeDocument/2006/relationships/notesSlide" Target="/ppt/notesSlides/notesSlide2.xml" Id="R7c5b1045e2304b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14fd69fe184ca5" /><Relationship Type="http://schemas.openxmlformats.org/officeDocument/2006/relationships/notesSlide" Target="/ppt/notesSlides/notesSlide3.xml" Id="Rec0f201052f148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6edb5a7c1c44f81" /><Relationship Type="http://schemas.openxmlformats.org/officeDocument/2006/relationships/notesSlide" Target="/ppt/notesSlides/notesSlide4.xml" Id="Rbc5f55ecd4344b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234466f74da4024" /><Relationship Type="http://schemas.openxmlformats.org/officeDocument/2006/relationships/notesSlide" Target="/ppt/notesSlides/notesSlide5.xml" Id="Rcc9c6f59b9b442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18f16e1368f4f4c" /><Relationship Type="http://schemas.openxmlformats.org/officeDocument/2006/relationships/notesSlide" Target="/ppt/notesSlides/notesSlide6.xml" Id="Rc77244588bb944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94f597003d4314" /><Relationship Type="http://schemas.openxmlformats.org/officeDocument/2006/relationships/notesSlide" Target="/ppt/notesSlides/notesSlide7.xml" Id="Rd291144003b34d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79bb026f6d64a1c" /><Relationship Type="http://schemas.openxmlformats.org/officeDocument/2006/relationships/notesSlide" Target="/ppt/notesSlides/notesSlide8.xml" Id="R1c6b34e55d474f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20aa9d1d06e48a1" /><Relationship Type="http://schemas.openxmlformats.org/officeDocument/2006/relationships/notesSlide" Target="/ppt/notesSlides/notesSlide9.xml" Id="R7c0c9b14b60f4e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38b555eb72e4421" /><Relationship Type="http://schemas.openxmlformats.org/officeDocument/2006/relationships/notesSlide" Target="/ppt/notesSlides/notesSlide10.xml" Id="R39eb8200c8c9444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05a652d32b7431f" /><Relationship Type="http://schemas.openxmlformats.org/officeDocument/2006/relationships/notesSlide" Target="/ppt/notesSlides/notesSlide11.xml" Id="R8bbdad154aff49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f01f85b6b6b4211" /><Relationship Type="http://schemas.openxmlformats.org/officeDocument/2006/relationships/notesSlide" Target="/ppt/notesSlides/notesSlide12.xml" Id="R36f42399dc0e443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bce73714bbd4040" /><Relationship Type="http://schemas.openxmlformats.org/officeDocument/2006/relationships/notesSlide" Target="/ppt/notesSlides/notesSlide13.xml" Id="Re3b793cfe66a449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36b7e21cff84878" /><Relationship Type="http://schemas.openxmlformats.org/officeDocument/2006/relationships/notesSlide" Target="/ppt/notesSlides/notesSlide14.xml" Id="Rffdc32798d9b490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d674b095f504b0b" /><Relationship Type="http://schemas.openxmlformats.org/officeDocument/2006/relationships/notesSlide" Target="/ppt/notesSlides/notesSlide15.xml" Id="R198bd56b3fd842b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abb6b3716224c98" /><Relationship Type="http://schemas.openxmlformats.org/officeDocument/2006/relationships/notesSlide" Target="/ppt/notesSlides/notesSlide16.xml" Id="R46889b95b01c49d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ec7f894380d4fb8" /><Relationship Type="http://schemas.openxmlformats.org/officeDocument/2006/relationships/image" Target="/ppt/media/image.jpeg" Id="Rdcdd421abf304812" /><Relationship Type="http://schemas.openxmlformats.org/officeDocument/2006/relationships/image" Target="/ppt/media/image2.jpeg" Id="R05cfb40112f24da8" /><Relationship Type="http://schemas.openxmlformats.org/officeDocument/2006/relationships/image" Target="/ppt/media/image3.jpeg" Id="Raecbd957454645ee" /><Relationship Type="http://schemas.openxmlformats.org/officeDocument/2006/relationships/notesSlide" Target="/ppt/notesSlides/notesSlide17.xml" Id="R46d8d4436f88477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8bdb9df4bc74863" /><Relationship Type="http://schemas.openxmlformats.org/officeDocument/2006/relationships/notesSlide" Target="/ppt/notesSlides/notesSlide18.xml" Id="Rc353e00ee49c419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277361c7f954b19" /><Relationship Type="http://schemas.openxmlformats.org/officeDocument/2006/relationships/notesSlide" Target="/ppt/notesSlides/notesSlide19.xml" Id="R2e4bfd6b17c249d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c6cdd2f3b3c46cc" /><Relationship Type="http://schemas.openxmlformats.org/officeDocument/2006/relationships/notesSlide" Target="/ppt/notesSlides/notesSlide20.xml" Id="R64378a95bc80425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942847ff23742cb" /><Relationship Type="http://schemas.openxmlformats.org/officeDocument/2006/relationships/notesSlide" Target="/ppt/notesSlides/notesSlide21.xml" Id="R5714d7c9daae46e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05621b6742d4e37" /><Relationship Type="http://schemas.openxmlformats.org/officeDocument/2006/relationships/notesSlide" Target="/ppt/notesSlides/notesSlide22.xml" Id="Rd4332a04814a4e4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45d405946be4a0f" /><Relationship Type="http://schemas.openxmlformats.org/officeDocument/2006/relationships/notesSlide" Target="/ppt/notesSlides/notesSlide23.xml" Id="R6563455c62dc40d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9226e3a6a57465b" /><Relationship Type="http://schemas.openxmlformats.org/officeDocument/2006/relationships/notesSlide" Target="/ppt/notesSlides/notesSlide24.xml" Id="R98076fbc07dc4ae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e19f4318f9e459e" /><Relationship Type="http://schemas.openxmlformats.org/officeDocument/2006/relationships/notesSlide" Target="/ppt/notesSlides/notesSlide25.xml" Id="R866d34dbf46c431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da0ab73009642dc" /><Relationship Type="http://schemas.openxmlformats.org/officeDocument/2006/relationships/notesSlide" Target="/ppt/notesSlides/notesSlide26.xml" Id="Rbdc52d7468ba49d2"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B70FA4-E3BF-4047-9151-962E59B3EB5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1A013CC-F164-4BFD-A1DA-C83257709109}"/>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3EF9CFC6-15B7-438B-AD0D-54C6580EFBC5}"/>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8C348D73-3F04-43BC-BD67-598C8DD3BAF4}"/>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18E94B5-FF60-445A-83C2-875726C0E338}"/>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FA62152E-6FA2-43C8-A8E1-4DC626DF75A2}"/>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1984413388"/>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95E21165-2943-4656-B3E6-4DBB5803DB5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1FDC2D-0299-4091-A366-17EF365AE46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9B30DF6A-0CC3-4C45-BB51-194B597BDF8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996E1B0-12E9-4AC0-8821-20A640A9B34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9CDE97A6-B665-475B-AF92-079235CA60FB}"/>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EAB76D43-60A7-4832-855A-985944D9DE5B}"/>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BCF261D-D5B1-4CEB-BABC-996385B3C705}"/>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D81C226-0F17-426E-81AE-831F97747D15}"/>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72D1299-0BFD-4FDA-9369-24444B49C78B}"/>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7AE4740F-4645-43F7-9497-9BC383F87D16}"/>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25D9CBBF-CD1C-400B-885A-703259231A8C}"/>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BFF166E4-F810-4D6A-85D1-3A18801EB814}"/>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6FB91771-B581-44F1-A451-0D2CEBC0DC6C}"/>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0088F958-EF3B-4C5B-9DE6-D156263B8DA1}"/>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085EBA16-A9D6-4842-9AD6-2F2FEEC1A929}"/>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3F04E097-6871-4254-AE08-E903BD954B27}"/>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0B7305E5-C1E2-4AE2-9BD5-FB5DBACB57F0}"/>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0043E5A-EE3B-4F62-B45A-5215BCD9D3C7}"/>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02C6019-D015-4C95-B1C0-0C95E2E69293}"/>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B79D6FA-F39A-4814-8C66-E8C94AAD919A}"/>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CECB9222-B63C-45FD-BE7C-C596E5652FD9}"/>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D3D49F07-B851-4885-BC0D-919FFB3602E6}"/>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5BCF615-97E3-48D2-BF8C-342332659674}"/>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0F41B8D8-EDC2-497D-B63E-9C3CE10891AD}"/>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53610214-E513-4378-AC78-33E45A88B76F}"/>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2F40F63C-A711-4E6C-9B8B-8A9390FD17E1}"/>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E0ECCD5E-C88E-4D94-987E-D8D44F4490EE}"/>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0A97776D-B38C-44D2-BC42-B40A88BD7675}"/>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A38BB965-A3DD-4893-A29C-EA30F46EE610}"/>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4115E21F-494D-4C5A-9BB3-F9FC1BA9E5F1}"/>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E3F7A5F4-FE1E-4576-9A45-1B7D4349CFA3}"/>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47FE4683-2955-4551-AF4E-DA7C0476C934}"/>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7ED29734-2EF9-4517-8188-C7E57B00F22C}"/>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2FC1EB57-F606-46EC-8663-C160558E1A1F}"/>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2D02985F-9D7D-42D5-918D-8F81092D0B27}"/>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C7BACD59-E0DF-460D-94CE-34D70CA06493}"/>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339591996"/>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9A1F783-9470-487E-9C3C-3AC917D3FD1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9594BF-E16D-4B94-A155-A13D0CB7BFD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90DF3DC6-AECB-414A-8FC8-8B451E5D2CC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0D6DC36-8F59-462D-B131-16057642408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3160671E-AD2D-4588-BB50-F1495A5CB6F4}"/>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1A6B067B-57CA-4D8B-A703-458FD193CED1}"/>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6B3324CD-5470-407E-A18A-49269E5F8533}"/>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3CB6D0AA-3CF8-4D76-A5B5-58EB18B07FCB}"/>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6BF72373-9C1B-47B1-9016-1E7B2AE0DB3C}"/>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4240380-CF26-4567-BA7A-F680A4C11752}"/>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6E9D359B-379F-49DD-B6A3-DE22F76C3EB9}"/>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D574D460-F48E-406C-86DE-AABF7C5AFECA}"/>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46412225"/>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0372106-2B34-49D4-9DDA-1061A7E9AC6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0C7C01-BEA6-4F75-BA00-CA178B3DA29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B5FFCA61-14FF-4487-AB43-75EA1938F6E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B714D83-4B8D-4141-93E0-DF7E3554EAB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FFE08631-7871-4037-B4F8-89652DBC0341}"/>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1022B24F-51DB-4409-AD62-C7FF8053BA83}"/>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2C1E5E69-744E-4D0D-B29E-B7A184657FB4}"/>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1DCDCC0-6D59-4EFA-9745-0A577021902E}"/>
              </a:ext>
            </a:extLst>
          </p:cNvPr>
          <p:cNvSpPr>
            <a:spLocks xmlns:a="http://schemas.openxmlformats.org/drawingml/2006/main" noGrp="1"/>
          </p:cNvSpPr>
          <p:nvPr/>
        </p:nvSpPr>
        <p:spPr>
          <a:xfrm xmlns:a="http://schemas.openxmlformats.org/drawingml/2006/main" rot="0">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C3590435-D5F8-448B-A4B2-62172863FE05}"/>
              </a:ext>
            </a:extLst>
          </p:cNvPr>
          <p:cNvSpPr>
            <a:spLocks xmlns:a="http://schemas.openxmlformats.org/drawingml/2006/main" noGrp="1"/>
          </p:cNvSpPr>
          <p:nvPr/>
        </p:nvSpPr>
        <p:spPr>
          <a:xfrm xmlns:a="http://schemas.openxmlformats.org/drawingml/2006/main" rot="0">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PIやNVIDIA。近いレイヤーには、現実世界を再現し、必要な実データ量を下げながらモデル開発まで進めるシミュレーション・デジタルツインがある。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A37DF681-0443-4688-9A09-E0B33746A7CE}"/>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BEEBC06-F22C-4ED8-A821-6E130A418FEF}"/>
              </a:ext>
            </a:extLst>
          </p:cNvPr>
          <p:cNvSpPr>
            <a:spLocks xmlns:a="http://schemas.openxmlformats.org/drawingml/2006/main" noGrp="1"/>
          </p:cNvSpPr>
          <p:nvPr/>
        </p:nvSpPr>
        <p:spPr>
          <a:xfrm xmlns:a="http://schemas.openxmlformats.org/drawingml/2006/main" rot="0">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0D20D657-FAB1-4AD3-9F98-E8F330E842D5}"/>
              </a:ext>
            </a:extLst>
          </p:cNvPr>
          <p:cNvSpPr>
            <a:spLocks xmlns:a="http://schemas.openxmlformats.org/drawingml/2006/main" noGrp="1"/>
          </p:cNvSpPr>
          <p:nvPr/>
        </p:nvSpPr>
        <p:spPr>
          <a:xfrm xmlns:a="http://schemas.openxmlformats.org/drawingml/2006/main" rot="0">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32B46C95-FFDF-4C8C-A3A2-E492A2D1BBB9}"/>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946B746-B8A3-4D81-8C19-FD7F26827694}"/>
              </a:ext>
            </a:extLst>
          </p:cNvPr>
          <p:cNvSpPr>
            <a:spLocks xmlns:a="http://schemas.openxmlformats.org/drawingml/2006/main" noGrp="1"/>
          </p:cNvSpPr>
          <p:nvPr/>
        </p:nvSpPr>
        <p:spPr>
          <a:xfrm xmlns:a="http://schemas.openxmlformats.org/drawingml/2006/main" rot="0">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D796C9BE-25BF-4CC9-B54B-B34482BEE376}"/>
              </a:ext>
            </a:extLst>
          </p:cNvPr>
          <p:cNvSpPr>
            <a:spLocks xmlns:a="http://schemas.openxmlformats.org/drawingml/2006/main" noGrp="1"/>
          </p:cNvSpPr>
          <p:nvPr/>
        </p:nvSpPr>
        <p:spPr>
          <a:xfrm xmlns:a="http://schemas.openxmlformats.org/drawingml/2006/main" rot="0">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1053360463"/>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145E36C6-9163-4636-B1C6-AF4EE471CBA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728C1A-56FF-42D0-B841-F59EA3CB395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C6ABB522-E7E9-4D24-9205-2E0D6315836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07AB046-4A8D-4898-93C3-429F4997D53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2A07F927-3B5F-4B11-8302-FD51221BFFC6}"/>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6F8043E9-C9B5-46A1-AE18-21C3F10032BF}"/>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44F79CE-D48A-4CB3-A081-17AC63B2FC57}"/>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A1D31BE-65E8-4D2F-86A0-1F5BC5F04289}"/>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9C836B4-B5DB-4EAA-9D25-CA44CD704DC0}"/>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8EB7BBA2-C44B-48E1-BA88-2C2BE1AF1B28}"/>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B4EAD278-E0A5-4DBE-B27B-28EB6BFE5B7B}"/>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4BAED9EB-0EB9-465C-BB15-5250E3B0EAC1}"/>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B1D4D0BD-2930-4685-9038-FCC0417B16C7}"/>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710CAE0D-7E5D-44B3-A5CB-F160F2E6F71B}"/>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3F7AE133-826E-46C0-BF29-349933D1FB8E}"/>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4AC7459E-5D61-4174-85DF-49C92620D2C9}"/>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3647CCE4-0325-4468-B6B7-93E6D1071782}"/>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705BA29-DA15-40E3-B9D7-FD609C65A3FE}"/>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5FC6000-D1CD-4B44-85FD-F715ABEB647B}"/>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EC34E30-B43E-4B6A-B449-A087FDEAF4FA}"/>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751FE35B-1804-4A4F-B9AF-0AC18E2683C8}"/>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7CED462F-33D9-4D96-ADD9-D3A60C8B6723}"/>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5B0174C-AF0F-49B7-80B8-6BF855341916}"/>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7B7E89E3-10FE-4082-87F8-704C5D8B1BFC}"/>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3CF9F98-2145-4E31-A2BD-AE825FE8A954}"/>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67EBDEA-F0B9-4394-8AFD-CA12E7119703}"/>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77E2FCF-F4FF-4966-A54E-8B854A534CE2}"/>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BF84413-61E9-4C6C-B0F2-CBCC20B131B7}"/>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59B7FA0-9654-48DD-8972-D32662839556}"/>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A4275A3-FE91-4B2E-A17C-70A07F586CDA}"/>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5D22189-9C7D-440A-A230-CF38553D8B38}"/>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0BAF5EA-60C2-410B-8FEA-15A099EC9ADE}"/>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9729074-8ED9-4144-B1B8-EA795F54522F}"/>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3232FC9C-5975-4053-8326-A7D672114441}"/>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C57851A4-7F55-4A44-B462-E08EF07E7A94}"/>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7FB9C413-CA07-482A-AEFE-E8CCC8DFCB50}"/>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95D6E19F-C56D-4572-9D88-AB45BBC1852D}"/>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01D73D88-A9CF-461E-8409-980C1E719568}"/>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67AD5B3E-C9BA-4D57-AE13-DC18B8EFC96D}"/>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BF8F0FE3-65D5-47E8-8576-B431BC7D1DFC}"/>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A84BC821-C787-4E5C-A531-893A8A28DB94}"/>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76F5B2F1-566C-44F8-B26B-3EC414FB307B}"/>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0BB81DEF-9476-4A1A-ACD9-F84C839966C0}"/>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4A53D3BB-3B9C-419A-9F42-BD26144C66D2}"/>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76779C29-8C15-4AAB-9451-B9226B0D7886}"/>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853C700C-3BE8-4C7B-B37B-F011CE29926A}"/>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BA95C131-7BA9-49D9-A9F9-BA893C6D4E4B}"/>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EEE9ED03-596F-4BB1-9218-7C00A0107699}"/>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F1890CAD-FB86-4FCD-8D3E-3653CB40469B}"/>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3D772FEE-CA2C-4C64-8F38-DADA4EF64168}"/>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4CF8CA69-A4CB-4452-AECA-7B3421B278C2}"/>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25308535-F2D2-4B65-87A2-F8992A8D63C4}"/>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D2B67198-3D33-4502-9915-066EBFBFC1CB}"/>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7F7CFB17-59C9-400D-A321-223F2D9CBC5D}"/>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6E0AE2A2-3509-428A-84FD-87C41E4BFA2F}"/>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6B6DBCA5-CD37-4D87-8529-B6CA1200180A}"/>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0818F401-85A7-49D9-918A-92AEF42C69A5}"/>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4DF73EFB-4B05-4A2A-AB6B-4BE819CD154C}"/>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EA041AF0-D1D4-4B2A-B2EF-BEA4D328077B}"/>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CEEA02D1-F0F7-4ECF-A3E8-F78CE45237EA}"/>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F58C4DE8-7936-4B88-9EB7-599A94B9F86E}"/>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A2828E57-AC7B-4788-96C3-762B1F1DDE35}"/>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229032CE-CB37-44FB-A8A5-1E0BADDD1CB1}"/>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7FD2C117-09CE-4D45-A2D3-10AB9E698388}"/>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243928420"/>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BE80FC-5B1A-4B85-8F54-EC37DCE7B17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9FEBB9-E770-493F-8E4F-1BAE618EF26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608E1FEB-405A-4C5B-94FC-C34FCC20D0A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5755A85-E385-4AC4-B974-5F1C64C6598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0C0FAF72-5BD7-4AAD-AE8A-12DE5433F72A}"/>
              </a:ext>
            </a:extLst>
          </p:cNvPr>
          <p:cNvSpPr>
            <a:spLocks xmlns:a="http://schemas.openxmlformats.org/drawingml/2006/main" noGrp="1"/>
          </p:cNvSpPr>
          <p:nvPr/>
        </p:nvSpPr>
        <p:spPr>
          <a:xfrm xmlns:a="http://schemas.openxmlformats.org/drawingml/2006/main" rot="0">
            <a:off x="723900" y="20002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ロボットシステムのフィードバックループは、モデル開発・ハードウェア開発・現場統合の3つで完結する。</a:t>
            </a:r>
          </a:p>
        </p:txBody>
      </p:sp>
      <p:sp>
        <p:nvSpPr>
          <p:cNvPr id="6" name="">
            <a:extLst xmlns:a="http://schemas.openxmlformats.org/drawingml/2006/main">
              <a:ext uri="{FF2B5EF4-FFF2-40B4-BE49-F238E27FC236}">
                <a16:creationId xmlns:a16="http://schemas.microsoft.com/office/drawing/2014/main" id="{4309CB77-1B51-4F51-A41C-C378C9B5F3A3}"/>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0F76595-0810-4ECE-9145-F917FF41B282}"/>
              </a:ext>
            </a:extLst>
          </p:cNvPr>
          <p:cNvSpPr>
            <a:spLocks xmlns:a="http://schemas.openxmlformats.org/drawingml/2006/main" noGrp="1"/>
          </p:cNvSpPr>
          <p:nvPr/>
        </p:nvSpPr>
        <p:spPr>
          <a:xfrm xmlns:a="http://schemas.openxmlformats.org/drawingml/2006/main" rot="0">
            <a:off x="723900" y="323850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に統合されたロボットの実機が稼働すること自体が、データ収集になる。フィジカルAIが物理世界に投入されはじめた瞬間から、データは「外部の企業がわざわざ収集するもの」から「ロボットの稼働を通じて自動的に蓄積されるもの」に変わる。</a:t>
            </a:r>
          </a:p>
        </p:txBody>
      </p:sp>
      <p:sp>
        <p:nvSpPr>
          <p:cNvPr id="8" name="">
            <a:extLst xmlns:a="http://schemas.openxmlformats.org/drawingml/2006/main">
              <a:ext uri="{FF2B5EF4-FFF2-40B4-BE49-F238E27FC236}">
                <a16:creationId xmlns:a16="http://schemas.microsoft.com/office/drawing/2014/main" id="{7FB0F28E-82FE-4FFC-B584-65ED1A5DB953}"/>
              </a:ext>
            </a:extLst>
          </p:cNvPr>
          <p:cNvSpPr>
            <a:spLocks xmlns:a="http://schemas.openxmlformats.org/drawingml/2006/main" noGrp="1"/>
          </p:cNvSpPr>
          <p:nvPr/>
        </p:nvSpPr>
        <p:spPr>
          <a:xfrm xmlns:a="http://schemas.openxmlformats.org/drawingml/2006/main" rot="0">
            <a:off x="723900" y="481012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そのデータが直結したフィードバックとしてモデルの改善に使われる。一連のループを自社で持つ企業が最速でロボットを改善でき、最終的に生き残る企業になると考える。</a:t>
            </a:r>
          </a:p>
        </p:txBody>
      </p:sp>
    </p:spTree>
    <p:extLst>
      <p:ext uri="{BB962C8B-B14F-4D97-AF65-F5344CB8AC3E}">
        <p14:creationId xmlns:p14="http://schemas.microsoft.com/office/powerpoint/2010/main" val="324823878"/>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791709-C8EA-410A-AC6B-E697C2A268E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35B52E-8FFC-423A-B264-3F82544DEE1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だからこそ「現場データ収集」から始める</a:t>
            </a:r>
          </a:p>
        </p:txBody>
      </p:sp>
      <p:sp>
        <p:nvSpPr>
          <p:cNvPr id="3" name="">
            <a:extLst xmlns:a="http://schemas.openxmlformats.org/drawingml/2006/main">
              <a:ext uri="{FF2B5EF4-FFF2-40B4-BE49-F238E27FC236}">
                <a16:creationId xmlns:a16="http://schemas.microsoft.com/office/drawing/2014/main" id="{BA409AB5-4D01-4FE0-A8BD-08E4B770AD1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4A4D768-008A-4B97-863A-BB7090DE5F5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9FD72F4E-C603-40A9-93FC-9B77E3760360}"/>
              </a:ext>
            </a:extLst>
          </p:cNvPr>
          <p:cNvSpPr>
            <a:spLocks xmlns:a="http://schemas.openxmlformats.org/drawingml/2006/main" noGrp="1"/>
          </p:cNvSpPr>
          <p:nvPr/>
        </p:nvSpPr>
        <p:spPr>
          <a:xfrm xmlns:a="http://schemas.openxmlformats.org/drawingml/2006/main" rot="0">
            <a:off x="723900" y="1952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独立したデータレイヤーが将来消滅するなら、データ収集企業に未来はないように聞こえるかもしれない。</a:t>
            </a:r>
          </a:p>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しかし私の考えは逆で、むしろデータ収集こそが最も有利な出発点である。</a:t>
            </a:r>
          </a:p>
        </p:txBody>
      </p:sp>
      <p:sp>
        <p:nvSpPr>
          <p:cNvPr id="6" name="">
            <a:extLst xmlns:a="http://schemas.openxmlformats.org/drawingml/2006/main">
              <a:ext uri="{FF2B5EF4-FFF2-40B4-BE49-F238E27FC236}">
                <a16:creationId xmlns:a16="http://schemas.microsoft.com/office/drawing/2014/main" id="{79A99395-2726-4F4E-8CE6-EFD62DFAB5C0}"/>
              </a:ext>
            </a:extLst>
          </p:cNvPr>
          <p:cNvSpPr>
            <a:spLocks xmlns:a="http://schemas.openxmlformats.org/drawingml/2006/main" noGrp="1"/>
          </p:cNvSpPr>
          <p:nvPr/>
        </p:nvSpPr>
        <p:spPr>
          <a:xfrm xmlns:a="http://schemas.openxmlformats.org/drawingml/2006/main">
            <a:off x="723900" y="3286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428FE4B-F9B6-4778-8351-9A32BD39A4F6}"/>
              </a:ext>
            </a:extLst>
          </p:cNvPr>
          <p:cNvSpPr>
            <a:spLocks xmlns:a="http://schemas.openxmlformats.org/drawingml/2006/main" noGrp="1"/>
          </p:cNvSpPr>
          <p:nvPr/>
        </p:nvSpPr>
        <p:spPr>
          <a:xfrm xmlns:a="http://schemas.openxmlformats.org/drawingml/2006/main" rot="0">
            <a:off x="723900" y="36195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統合層が現場と直接接触するのは当然である。しかし、一番上流のデータ収集層の中でも、現場データの収集を行う企業は現場と直接接触する。データ収集のために現場へ入り、将来ロボットを導入する可能性がある現場と直接の関係を築く。</a:t>
            </a:r>
          </a:p>
        </p:txBody>
      </p:sp>
      <p:sp>
        <p:nvSpPr>
          <p:cNvPr id="8" name="">
            <a:extLst xmlns:a="http://schemas.openxmlformats.org/drawingml/2006/main">
              <a:ext uri="{FF2B5EF4-FFF2-40B4-BE49-F238E27FC236}">
                <a16:creationId xmlns:a16="http://schemas.microsoft.com/office/drawing/2014/main" id="{FEBFC0E6-BF8A-4227-A256-93E2A201783B}"/>
              </a:ext>
            </a:extLst>
          </p:cNvPr>
          <p:cNvSpPr>
            <a:spLocks xmlns:a="http://schemas.openxmlformats.org/drawingml/2006/main" noGrp="1"/>
          </p:cNvSpPr>
          <p:nvPr/>
        </p:nvSpPr>
        <p:spPr>
          <a:xfrm xmlns:a="http://schemas.openxmlformats.org/drawingml/2006/main" rot="0">
            <a:off x="723900" y="5191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一般に、上流工程の企業が最下流の顧客と接することは珍しい。フィジカルAIでは現場の実データが不可欠であるため、上流と最下流が直接繋がる。</a:t>
            </a:r>
          </a:p>
        </p:txBody>
      </p:sp>
    </p:spTree>
    <p:extLst>
      <p:ext uri="{BB962C8B-B14F-4D97-AF65-F5344CB8AC3E}">
        <p14:creationId xmlns:p14="http://schemas.microsoft.com/office/powerpoint/2010/main" val="58919484"/>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70A767-1882-46D7-A9C3-D4ACC61768F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9B1C3A-8D2A-43AD-ACFC-6C4A37F256D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横方向の網羅性は、今の技術レベルでも実現可能</a:t>
            </a:r>
          </a:p>
        </p:txBody>
      </p:sp>
      <p:sp>
        <p:nvSpPr>
          <p:cNvPr id="3" name="">
            <a:extLst xmlns:a="http://schemas.openxmlformats.org/drawingml/2006/main">
              <a:ext uri="{FF2B5EF4-FFF2-40B4-BE49-F238E27FC236}">
                <a16:creationId xmlns:a16="http://schemas.microsoft.com/office/drawing/2014/main" id="{AD1CCA5E-3764-4858-A0F2-9BF5CE8A11A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5F17D75-2D96-40BD-A528-71C42E27E09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C5FD8875-6956-4B8F-8E5D-DD5D061715B5}"/>
              </a:ext>
            </a:extLst>
          </p:cNvPr>
          <p:cNvSpPr>
            <a:spLocks xmlns:a="http://schemas.openxmlformats.org/drawingml/2006/main" noGrp="1"/>
          </p:cNvSpPr>
          <p:nvPr/>
        </p:nvSpPr>
        <p:spPr>
          <a:xfrm xmlns:a="http://schemas.openxmlformats.org/drawingml/2006/main" rot="0">
            <a:off x="723900" y="2047875"/>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統合層で横方向、つまり複数の業種・現場を網羅できている企業は、現時点で一社もない。ロボットの自律動作は業種・タスクごとに個別の技術開発が必要であり、横に広げることが極めて難しいからである。</a:t>
            </a:r>
          </a:p>
        </p:txBody>
      </p:sp>
      <p:sp>
        <p:nvSpPr>
          <p:cNvPr id="6" name="">
            <a:extLst xmlns:a="http://schemas.openxmlformats.org/drawingml/2006/main">
              <a:ext uri="{FF2B5EF4-FFF2-40B4-BE49-F238E27FC236}">
                <a16:creationId xmlns:a16="http://schemas.microsoft.com/office/drawing/2014/main" id="{EE2E078E-BA84-4D7A-B992-571BB62A0E13}"/>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154476A-0921-4209-B54B-372FF75E5FBE}"/>
              </a:ext>
            </a:extLst>
          </p:cNvPr>
          <p:cNvSpPr>
            <a:spLocks xmlns:a="http://schemas.openxmlformats.org/drawingml/2006/main" noGrp="1"/>
          </p:cNvSpPr>
          <p:nvPr/>
        </p:nvSpPr>
        <p:spPr>
          <a:xfrm xmlns:a="http://schemas.openxmlformats.org/drawingml/2006/main" rot="0">
            <a:off x="723900" y="40481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しかし、現場データ収集層であれば話は別である。カメラを装着した人間の作業を撮影するだけであり、業種をまたぐ技術的障壁がほとんどない。今の時点で横方向を網羅できる唯一のレイヤーが、データ収集層である。</a:t>
            </a:r>
          </a:p>
        </p:txBody>
      </p:sp>
    </p:spTree>
    <p:extLst>
      <p:ext uri="{BB962C8B-B14F-4D97-AF65-F5344CB8AC3E}">
        <p14:creationId xmlns:p14="http://schemas.microsoft.com/office/powerpoint/2010/main" val="1367076994"/>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8396DA-B43F-4622-A1F7-7563290D440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3BD136-D5F6-4CC6-8AC6-59D1FB64EEB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F098AAE9-2E87-40F9-8CA2-865F3731B38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EDC135D-9947-4D18-88B7-E0356BD78F7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34AD7528-D747-4B5F-B5CA-E28E5ADF40AD}"/>
              </a:ext>
            </a:extLst>
          </p:cNvPr>
          <p:cNvSpPr>
            <a:spLocks xmlns:a="http://schemas.openxmlformats.org/drawingml/2006/main" noGrp="1"/>
          </p:cNvSpPr>
          <p:nvPr/>
        </p:nvSpPr>
        <p:spPr>
          <a:xfrm xmlns:a="http://schemas.openxmlformats.org/drawingml/2006/main" rot="0">
            <a:off x="723900" y="204787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飲食、小売、製造、配送、建築、美容、農業。途方もない数の現場があるが、有限であることには変わりない。先にどれだけ多くの現場と繋がることができるかが重要である。</a:t>
            </a:r>
          </a:p>
        </p:txBody>
      </p:sp>
      <p:sp>
        <p:nvSpPr>
          <p:cNvPr id="6" name="">
            <a:extLst xmlns:a="http://schemas.openxmlformats.org/drawingml/2006/main">
              <a:ext uri="{FF2B5EF4-FFF2-40B4-BE49-F238E27FC236}">
                <a16:creationId xmlns:a16="http://schemas.microsoft.com/office/drawing/2014/main" id="{69F2D75A-EEE9-4CAC-B165-513AD43D8B2E}"/>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8214672-FF76-4D5E-9EC4-97C9E2C058B5}"/>
              </a:ext>
            </a:extLst>
          </p:cNvPr>
          <p:cNvSpPr>
            <a:spLocks xmlns:a="http://schemas.openxmlformats.org/drawingml/2006/main" noGrp="1"/>
          </p:cNvSpPr>
          <p:nvPr/>
        </p:nvSpPr>
        <p:spPr>
          <a:xfrm xmlns:a="http://schemas.openxmlformats.org/drawingml/2006/main" rot="0">
            <a:off x="723900" y="38100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一つの現場が複数のデータ収集会社と契約することは考えにくい。撮影機材の管理、スタッフへの説明、プライバシーに関する合意など、一社と契約するだけでも現場側に相応の負担が発生するためである。</a:t>
            </a:r>
          </a:p>
        </p:txBody>
      </p:sp>
      <p:sp>
        <p:nvSpPr>
          <p:cNvPr id="8" name="">
            <a:extLst xmlns:a="http://schemas.openxmlformats.org/drawingml/2006/main">
              <a:ext uri="{FF2B5EF4-FFF2-40B4-BE49-F238E27FC236}">
                <a16:creationId xmlns:a16="http://schemas.microsoft.com/office/drawing/2014/main" id="{CF7AF6F6-E54F-4F96-B634-8D55861EED3F}"/>
              </a:ext>
            </a:extLst>
          </p:cNvPr>
          <p:cNvSpPr>
            <a:spLocks xmlns:a="http://schemas.openxmlformats.org/drawingml/2006/main" noGrp="1"/>
          </p:cNvSpPr>
          <p:nvPr/>
        </p:nvSpPr>
        <p:spPr>
          <a:xfrm xmlns:a="http://schemas.openxmlformats.org/drawingml/2006/main" rot="0">
            <a:off x="723900" y="53816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海外では急速に広まっている一方、日本ではまだほとんど浸透していない。</a:t>
            </a:r>
          </a:p>
        </p:txBody>
      </p:sp>
    </p:spTree>
    <p:extLst>
      <p:ext uri="{BB962C8B-B14F-4D97-AF65-F5344CB8AC3E}">
        <p14:creationId xmlns:p14="http://schemas.microsoft.com/office/powerpoint/2010/main" val="2025988947"/>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E974DF-4FA8-4D28-AC5E-07C893E74E0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711C87-1D64-4C98-B57D-6EA5E5BA429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現場ネットワークは、ロボット企業にとって不可欠になる</a:t>
            </a:r>
          </a:p>
        </p:txBody>
      </p:sp>
      <p:sp>
        <p:nvSpPr>
          <p:cNvPr id="3" name="">
            <a:extLst xmlns:a="http://schemas.openxmlformats.org/drawingml/2006/main">
              <a:ext uri="{FF2B5EF4-FFF2-40B4-BE49-F238E27FC236}">
                <a16:creationId xmlns:a16="http://schemas.microsoft.com/office/drawing/2014/main" id="{A927A0BE-C461-4DCD-B366-D0885C145E2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192A782-058B-45F9-B45B-40CFD468A59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3FF5F73F-143F-4227-A529-143755037D18}"/>
              </a:ext>
            </a:extLst>
          </p:cNvPr>
          <p:cNvSpPr>
            <a:spLocks xmlns:a="http://schemas.openxmlformats.org/drawingml/2006/main" noGrp="1"/>
          </p:cNvSpPr>
          <p:nvPr/>
        </p:nvSpPr>
        <p:spPr>
          <a:xfrm xmlns:a="http://schemas.openxmlformats.org/drawingml/2006/main" rot="0">
            <a:off x="723900" y="20955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遅かれ早かれ、ロボット企業は最終的な顧客である現場のネットワークを取りに来る。現場を含めたフィードバックループを作ることが、最速の勝ち筋だからである。</a:t>
            </a:r>
          </a:p>
        </p:txBody>
      </p:sp>
      <p:sp>
        <p:nvSpPr>
          <p:cNvPr id="6" name="">
            <a:extLst xmlns:a="http://schemas.openxmlformats.org/drawingml/2006/main">
              <a:ext uri="{FF2B5EF4-FFF2-40B4-BE49-F238E27FC236}">
                <a16:creationId xmlns:a16="http://schemas.microsoft.com/office/drawing/2014/main" id="{B95306EB-1882-4FD8-9BE3-2E72BC71913D}"/>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CB2EF6F-8860-483E-89B7-817CA6121A1F}"/>
              </a:ext>
            </a:extLst>
          </p:cNvPr>
          <p:cNvSpPr>
            <a:spLocks xmlns:a="http://schemas.openxmlformats.org/drawingml/2006/main" noGrp="1"/>
          </p:cNvSpPr>
          <p:nvPr/>
        </p:nvSpPr>
        <p:spPr>
          <a:xfrm xmlns:a="http://schemas.openxmlformats.org/drawingml/2006/main" rot="0">
            <a:off x="723900" y="385762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現場ネットワークを得るには、多業種にわたって様々な同意やコンプライアンス対応を積み重ねる必要がある。その積み重ねは、後発が容易に真似できない参入障壁になる。</a:t>
            </a:r>
          </a:p>
        </p:txBody>
      </p:sp>
      <p:sp>
        <p:nvSpPr>
          <p:cNvPr id="8" name="">
            <a:extLst xmlns:a="http://schemas.openxmlformats.org/drawingml/2006/main">
              <a:ext uri="{FF2B5EF4-FFF2-40B4-BE49-F238E27FC236}">
                <a16:creationId xmlns:a16="http://schemas.microsoft.com/office/drawing/2014/main" id="{3D19C101-3F02-44AC-BBF7-E0E946D0B1DC}"/>
              </a:ext>
            </a:extLst>
          </p:cNvPr>
          <p:cNvSpPr>
            <a:spLocks xmlns:a="http://schemas.openxmlformats.org/drawingml/2006/main" noGrp="1"/>
          </p:cNvSpPr>
          <p:nvPr/>
        </p:nvSpPr>
        <p:spPr>
          <a:xfrm xmlns:a="http://schemas.openxmlformats.org/drawingml/2006/main" rot="0">
            <a:off x="723900" y="53340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データだけでなく、現場との関係と、現場へ入り続けるための運用が蓄積される。</a:t>
            </a:r>
          </a:p>
        </p:txBody>
      </p:sp>
    </p:spTree>
    <p:extLst>
      <p:ext uri="{BB962C8B-B14F-4D97-AF65-F5344CB8AC3E}">
        <p14:creationId xmlns:p14="http://schemas.microsoft.com/office/powerpoint/2010/main" val="560418577"/>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50195C8-CB70-4058-9849-1BC49221A25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1F21D9-4E38-4DED-B0E7-26D3D2A57CF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現場データの先行取得は、自ら現場統合者になるための布石</a:t>
            </a:r>
          </a:p>
        </p:txBody>
      </p:sp>
      <p:sp>
        <p:nvSpPr>
          <p:cNvPr id="3" name="">
            <a:extLst xmlns:a="http://schemas.openxmlformats.org/drawingml/2006/main">
              <a:ext uri="{FF2B5EF4-FFF2-40B4-BE49-F238E27FC236}">
                <a16:creationId xmlns:a16="http://schemas.microsoft.com/office/drawing/2014/main" id="{1B663492-F3C8-4EC5-9946-7D7AD4204BB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6B577C2-4615-485C-BF0C-6956840F2D2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8E5A4CAF-ECD2-46A1-877B-DA76C6504F63}"/>
              </a:ext>
            </a:extLst>
          </p:cNvPr>
          <p:cNvSpPr>
            <a:spLocks xmlns:a="http://schemas.openxmlformats.org/drawingml/2006/main" noGrp="1"/>
          </p:cNvSpPr>
          <p:nvPr/>
        </p:nvSpPr>
        <p:spPr>
          <a:xfrm xmlns:a="http://schemas.openxmlformats.org/drawingml/2006/main" rot="0">
            <a:off x="723900" y="20002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ロボットを各現場へ導入するには、導入判断や導入後の調整のために、既存の人間のワークフローを詳細に把握する必要がある。現場データを収集済みであれば、ロボット企業は一からワークフロー調査をやり直す必要がない。</a:t>
            </a:r>
          </a:p>
        </p:txBody>
      </p:sp>
      <p:sp>
        <p:nvSpPr>
          <p:cNvPr id="6" name="">
            <a:extLst xmlns:a="http://schemas.openxmlformats.org/drawingml/2006/main">
              <a:ext uri="{FF2B5EF4-FFF2-40B4-BE49-F238E27FC236}">
                <a16:creationId xmlns:a16="http://schemas.microsoft.com/office/drawing/2014/main" id="{C523B385-F0CB-47F6-A370-55A3DBB05A1A}"/>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74D80AD-37D2-44C6-8608-66D42CF4F972}"/>
              </a:ext>
            </a:extLst>
          </p:cNvPr>
          <p:cNvSpPr>
            <a:spLocks xmlns:a="http://schemas.openxmlformats.org/drawingml/2006/main" noGrp="1"/>
          </p:cNvSpPr>
          <p:nvPr/>
        </p:nvSpPr>
        <p:spPr>
          <a:xfrm xmlns:a="http://schemas.openxmlformats.org/drawingml/2006/main" rot="0">
            <a:off x="723900" y="40481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そのため、協業の相手として自然に選ばれる立場になる。さらに、他のロボット企業の動きを待つまでもなく、自分たち自身がロボットの現場統合に乗り出せる。</a:t>
            </a:r>
          </a:p>
        </p:txBody>
      </p:sp>
      <p:sp>
        <p:nvSpPr>
          <p:cNvPr id="8" name="">
            <a:extLst xmlns:a="http://schemas.openxmlformats.org/drawingml/2006/main">
              <a:ext uri="{FF2B5EF4-FFF2-40B4-BE49-F238E27FC236}">
                <a16:creationId xmlns:a16="http://schemas.microsoft.com/office/drawing/2014/main" id="{17D418CC-2C31-43A8-B23B-02847F2D9878}"/>
              </a:ext>
            </a:extLst>
          </p:cNvPr>
          <p:cNvSpPr>
            <a:spLocks xmlns:a="http://schemas.openxmlformats.org/drawingml/2006/main" noGrp="1"/>
          </p:cNvSpPr>
          <p:nvPr/>
        </p:nvSpPr>
        <p:spPr>
          <a:xfrm xmlns:a="http://schemas.openxmlformats.org/drawingml/2006/main" rot="0">
            <a:off x="723900" y="53816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現場データ収集から始めた企業が、最終的には現場統合を行う企業へと進化できる。これが私たちの長期的な構想である。</a:t>
            </a:r>
          </a:p>
        </p:txBody>
      </p:sp>
    </p:spTree>
    <p:extLst>
      <p:ext uri="{BB962C8B-B14F-4D97-AF65-F5344CB8AC3E}">
        <p14:creationId xmlns:p14="http://schemas.microsoft.com/office/powerpoint/2010/main" val="1123186230"/>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FE92225-27C7-4AE9-AEBF-E44BE5A8F4B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DD48AE-BBB0-4283-A49F-F0B5AB16246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4412DA70-CAEB-4BE0-A5A8-17C39D78CD3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F56C98A-A762-4D78-BA74-56E2EEE5BDB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E78EE1A4-9B5F-4D5B-93FD-48DBB310E595}"/>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591ACCB0-78ED-42D9-A463-5C67711F8CD4}"/>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5409BD79-253C-4C94-B0A6-114EBF250EBA}"/>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8D825ADB-6737-46CE-9A29-55AFDE5FC69B}"/>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1F2046B-46B1-4D64-B40C-973C0BF3E2D4}"/>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8AEB1480-BAFF-4CCE-9866-DD7EFFC07BB7}"/>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自らロボットの現場統合に乗り出す</a:t>
            </a:r>
          </a:p>
        </p:txBody>
      </p:sp>
      <p:sp>
        <p:nvSpPr>
          <p:cNvPr id="11" name="">
            <a:extLst xmlns:a="http://schemas.openxmlformats.org/drawingml/2006/main">
              <a:ext uri="{FF2B5EF4-FFF2-40B4-BE49-F238E27FC236}">
                <a16:creationId xmlns:a16="http://schemas.microsoft.com/office/drawing/2014/main" id="{6211D9BE-04C2-422A-8A45-BBB16C7BB8CD}"/>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蓄積した現場データ、現場ネットワーク、現場に関する知見を武器に、モデル開発・ハードウェア開発・現場統合のフィードバックループを自社で持つ企業へ進化する。</a:t>
            </a:r>
          </a:p>
        </p:txBody>
      </p:sp>
      <p:sp>
        <p:nvSpPr>
          <p:cNvPr id="12" name="">
            <a:extLst xmlns:a="http://schemas.openxmlformats.org/drawingml/2006/main">
              <a:ext uri="{FF2B5EF4-FFF2-40B4-BE49-F238E27FC236}">
                <a16:creationId xmlns:a16="http://schemas.microsoft.com/office/drawing/2014/main" id="{83B5A064-BA31-45BE-AD44-29F51F26BF71}"/>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234817500"/>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93AF615-A974-47FF-AE5D-CA5B9E684EC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7504FE-DD91-40E8-AA6A-DA2CD02976C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EA964175-79B3-4697-BDC6-718C9A3AB16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27A3DD8-5D4D-49BB-8ADD-529CC9C3ACC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446273C6-61C9-4E76-AF89-C61357485CED}"/>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71D5E6E1-1038-4960-9153-211E6C22CBAF}"/>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A0185D7E-F3E0-4227-B1E3-DD6B44E16769}"/>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46EC56FA-A013-4E96-8206-B19B15EC85D4}"/>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881CC555-FB15-44DB-810B-190B54F6215F}"/>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E6FD40CD-3890-40CE-940A-4868E869DA59}"/>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3CA70A4D-0709-42DF-BD1C-954B71B438B3}"/>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FC5397F-5322-4743-96EB-D31B4E615D7C}"/>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DB120A10-40CF-44F6-B1C7-7BD689F5350E}"/>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177BC583-AF23-4316-81B3-167C8B996344}"/>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DF76E869-6B1A-4FD4-A878-ECE9616A1752}"/>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E1139301-A8E1-4FC2-9665-F2FBE7BDB205}"/>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BDAFCF06-2CA5-4A6A-BB8B-66B40F5E0900}"/>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2EA8D79-2038-4E0E-AB9D-904F0753FDB1}"/>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F5FD31D-80B6-4BB1-88AF-48AADAC1888B}"/>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64E624D6-12C7-4EF7-A730-86C32310E99B}"/>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83E72CDD-412E-4016-8AAF-57100EE972AD}"/>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86B2A5F-2CC1-4618-8F44-775A8A6D7DBB}"/>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888648951"/>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210068C-B521-41A4-BF2C-9B77347FBBB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297F36-5C0F-4E55-B234-5A05D8D5C31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0C71F98C-AF28-448E-9116-992655FB4CC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3039716-2F2F-410C-9634-758FB7941B7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461D2F34-0065-440B-9587-3FDD1F71F3F3}"/>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現場への訪問</a:t>
            </a:r>
          </a:p>
        </p:txBody>
      </p:sp>
      <p:sp>
        <p:nvSpPr>
          <p:cNvPr id="6" name="">
            <a:extLst xmlns:a="http://schemas.openxmlformats.org/drawingml/2006/main">
              <a:ext uri="{FF2B5EF4-FFF2-40B4-BE49-F238E27FC236}">
                <a16:creationId xmlns:a16="http://schemas.microsoft.com/office/drawing/2014/main" id="{31DAB174-F769-46C7-90D1-4B851FB09A3B}"/>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EB3C89DC-E829-4864-8869-DFD7875A59EF}"/>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08F9F79-C06F-4E64-9CED-2F7C3990C35C}"/>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ベーカリーでの収集</a:t>
            </a:r>
          </a:p>
        </p:txBody>
      </p:sp>
      <p:sp>
        <p:nvSpPr>
          <p:cNvPr id="9" name="">
            <a:extLst xmlns:a="http://schemas.openxmlformats.org/drawingml/2006/main">
              <a:ext uri="{FF2B5EF4-FFF2-40B4-BE49-F238E27FC236}">
                <a16:creationId xmlns:a16="http://schemas.microsoft.com/office/drawing/2014/main" id="{9029B3EF-408D-45E7-BDCE-D2D8CA610B17}"/>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A5D74E05-FD69-433B-BED9-B964F5405B55}"/>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95B11BD-DCFF-44D2-A75B-AC9C5D6C46F6}"/>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飲食店への打診</a:t>
            </a:r>
          </a:p>
        </p:txBody>
      </p:sp>
      <p:sp>
        <p:nvSpPr>
          <p:cNvPr id="12" name="">
            <a:extLst xmlns:a="http://schemas.openxmlformats.org/drawingml/2006/main">
              <a:ext uri="{FF2B5EF4-FFF2-40B4-BE49-F238E27FC236}">
                <a16:creationId xmlns:a16="http://schemas.microsoft.com/office/drawing/2014/main" id="{C6A9E43C-20F3-497A-9951-734053B550C2}"/>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62218576-BC52-4D3F-B6A9-805683193F2A}"/>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BAE95C8-24BB-40C4-8E43-A4EBE871F14A}"/>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小売店への打診</a:t>
            </a:r>
          </a:p>
        </p:txBody>
      </p:sp>
      <p:sp>
        <p:nvSpPr>
          <p:cNvPr id="15" name="">
            <a:extLst xmlns:a="http://schemas.openxmlformats.org/drawingml/2006/main">
              <a:ext uri="{FF2B5EF4-FFF2-40B4-BE49-F238E27FC236}">
                <a16:creationId xmlns:a16="http://schemas.microsoft.com/office/drawing/2014/main" id="{1C3FE5E1-BDA9-4B95-86AC-38ED22C5CC4A}"/>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524515A2-C38A-482C-9899-2CFC7DB45D5C}"/>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E9C0E97-114D-42C6-B057-5E24251AA719}"/>
              </a:ext>
            </a:extLst>
          </p:cNvPr>
          <p:cNvSpPr>
            <a:spLocks xmlns:a="http://schemas.openxmlformats.org/drawingml/2006/main" noGrp="1"/>
          </p:cNvSpPr>
          <p:nvPr/>
        </p:nvSpPr>
        <p:spPr>
          <a:xfrm xmlns:a="http://schemas.openxmlformats.org/drawingml/2006/main" rot="0">
            <a:off x="723900" y="55721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ロボット企業への訪問</a:t>
            </a:r>
          </a:p>
        </p:txBody>
      </p:sp>
      <p:sp>
        <p:nvSpPr>
          <p:cNvPr id="18" name="">
            <a:extLst xmlns:a="http://schemas.openxmlformats.org/drawingml/2006/main">
              <a:ext uri="{FF2B5EF4-FFF2-40B4-BE49-F238E27FC236}">
                <a16:creationId xmlns:a16="http://schemas.microsoft.com/office/drawing/2014/main" id="{FB78D7F3-7E4B-4905-A6DE-682A2F5FFE8C}"/>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855415831"/>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B501C68-1635-4D39-9F68-3EC0150A227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D3C764-015B-40BB-8C45-DA48284D3B5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E808F852-2BCE-4B53-8039-120E9B44E92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2EE09A4-9020-4C91-8074-D7DA2422EED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A570E06C-34EE-4C1D-9E9F-B76911F1DA2C}"/>
              </a:ext>
            </a:extLst>
          </p:cNvPr>
          <p:cNvSpPr>
            <a:spLocks xmlns:a="http://schemas.openxmlformats.org/drawingml/2006/main" noGrp="1"/>
          </p:cNvSpPr>
          <p:nvPr/>
        </p:nvSpPr>
        <p:spPr>
          <a:xfrm xmlns:a="http://schemas.openxmlformats.org/drawingml/2006/main" rot="0">
            <a:off x="723900" y="1857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D5D78815-3363-4D32-B7F7-700CB2DDD494}"/>
              </a:ext>
            </a:extLst>
          </p:cNvPr>
          <p:cNvSpPr>
            <a:spLocks xmlns:a="http://schemas.openxmlformats.org/drawingml/2006/main" noGrp="1"/>
          </p:cNvSpPr>
          <p:nvPr/>
        </p:nvSpPr>
        <p:spPr>
          <a:xfrm xmlns:a="http://schemas.openxmlformats.org/drawingml/2006/main" rot="0">
            <a:off x="723900" y="22860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FPVlabs、Claru、CortexAI、ScaleAI、ShaipAI、Hyphenbox、PeekAI等、海外8社とやり取りし、ベーカリーのサンプルデータを送付した。合意には至っていない。収集スケールが世界的に見てまだ小さく、低い優先度として扱われているためである。</a:t>
            </a:r>
          </a:p>
        </p:txBody>
      </p:sp>
      <p:sp>
        <p:nvSpPr>
          <p:cNvPr id="7" name="">
            <a:extLst xmlns:a="http://schemas.openxmlformats.org/drawingml/2006/main">
              <a:ext uri="{FF2B5EF4-FFF2-40B4-BE49-F238E27FC236}">
                <a16:creationId xmlns:a16="http://schemas.microsoft.com/office/drawing/2014/main" id="{6B94FBBE-68B6-44E2-A56B-4BF99999EE8F}"/>
              </a:ext>
            </a:extLst>
          </p:cNvPr>
          <p:cNvSpPr>
            <a:spLocks xmlns:a="http://schemas.openxmlformats.org/drawingml/2006/main" noGrp="1"/>
          </p:cNvSpPr>
          <p:nvPr/>
        </p:nvSpPr>
        <p:spPr>
          <a:xfrm xmlns:a="http://schemas.openxmlformats.org/drawingml/2006/main">
            <a:off x="723900" y="3857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A80C991-F232-4106-8373-7A63C6F31820}"/>
              </a:ext>
            </a:extLst>
          </p:cNvPr>
          <p:cNvSpPr>
            <a:spLocks xmlns:a="http://schemas.openxmlformats.org/drawingml/2006/main" noGrp="1"/>
          </p:cNvSpPr>
          <p:nvPr/>
        </p:nvSpPr>
        <p:spPr>
          <a:xfrm xmlns:a="http://schemas.openxmlformats.org/drawingml/2006/main" rot="0">
            <a:off x="723900" y="4171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国内｜Nextremer</a:t>
            </a:r>
          </a:p>
        </p:txBody>
      </p:sp>
      <p:sp>
        <p:nvSpPr>
          <p:cNvPr id="9" name="">
            <a:extLst xmlns:a="http://schemas.openxmlformats.org/drawingml/2006/main">
              <a:ext uri="{FF2B5EF4-FFF2-40B4-BE49-F238E27FC236}">
                <a16:creationId xmlns:a16="http://schemas.microsoft.com/office/drawing/2014/main" id="{F6DEA2C4-CDEF-4454-BF81-613A2E9FDE12}"/>
              </a:ext>
            </a:extLst>
          </p:cNvPr>
          <p:cNvSpPr>
            <a:spLocks xmlns:a="http://schemas.openxmlformats.org/drawingml/2006/main" noGrp="1"/>
          </p:cNvSpPr>
          <p:nvPr/>
        </p:nvSpPr>
        <p:spPr>
          <a:xfrm xmlns:a="http://schemas.openxmlformats.org/drawingml/2006/main" rot="0">
            <a:off x="723900" y="45720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フィジカルAI向けデータの加工・販売サービスへの掲載を調整中。現場合意書のシステム構築と、現場合意の取り方を擦り合わせている。</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Nextremerを通すことで、高度なアノテーション付きデータを求める販売先や、ロボット実装に近い下流の顧客へ接続でき、当社単独より高い単価を狙える。</a:t>
            </a:r>
          </a:p>
        </p:txBody>
      </p:sp>
      <p:sp>
        <p:nvSpPr>
          <p:cNvPr id="10" name="">
            <a:extLst xmlns:a="http://schemas.openxmlformats.org/drawingml/2006/main">
              <a:ext uri="{FF2B5EF4-FFF2-40B4-BE49-F238E27FC236}">
                <a16:creationId xmlns:a16="http://schemas.microsoft.com/office/drawing/2014/main" id="{67403C29-7F7C-4DAB-B4CA-5392C475C791}"/>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手数料なしのレベニューシェアで、当社は現場開拓とデータ収集に注力できる。</a:t>
            </a:r>
          </a:p>
        </p:txBody>
      </p:sp>
    </p:spTree>
    <p:extLst>
      <p:ext uri="{BB962C8B-B14F-4D97-AF65-F5344CB8AC3E}">
        <p14:creationId xmlns:p14="http://schemas.microsoft.com/office/powerpoint/2010/main" val="66867979"/>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A5997BF-D981-4BCF-942A-F5558F19839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525F02-ABD5-4B54-88D6-FD752B30E47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9E1B9480-8883-472B-B17F-48954ADCD5F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A8454F7-F4B3-4E6F-AE56-21FE039FFE2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75CAA4D7-68C4-4ECB-BA53-B99BAAC9A61C}"/>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森｜共同創業者</a:t>
            </a:r>
          </a:p>
        </p:txBody>
      </p:sp>
      <p:sp>
        <p:nvSpPr>
          <p:cNvPr id="6" name="">
            <a:extLst xmlns:a="http://schemas.openxmlformats.org/drawingml/2006/main">
              <a:ext uri="{FF2B5EF4-FFF2-40B4-BE49-F238E27FC236}">
                <a16:creationId xmlns:a16="http://schemas.microsoft.com/office/drawing/2014/main" id="{3F3B94C1-3AE6-4D8D-AC64-0490D319807D}"/>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68C48C72-A7C9-4A94-ABA9-C6B6537A2349}"/>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616FB67-7B01-403A-B6DB-A939CA2148D3}"/>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河野｜共同創業者</a:t>
            </a:r>
          </a:p>
        </p:txBody>
      </p:sp>
      <p:sp>
        <p:nvSpPr>
          <p:cNvPr id="9" name="">
            <a:extLst xmlns:a="http://schemas.openxmlformats.org/drawingml/2006/main">
              <a:ext uri="{FF2B5EF4-FFF2-40B4-BE49-F238E27FC236}">
                <a16:creationId xmlns:a16="http://schemas.microsoft.com/office/drawing/2014/main" id="{1F0DAB18-F9D1-4B21-9B40-626E01DCABA2}"/>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神戸大学大学院情報学研究科の院生。フィジカルAIの中でもシミュレーション領域を研究しながら、事業の立ち上げに参画。</a:t>
            </a:r>
          </a:p>
        </p:txBody>
      </p:sp>
      <p:sp>
        <p:nvSpPr>
          <p:cNvPr id="10" name="">
            <a:extLst xmlns:a="http://schemas.openxmlformats.org/drawingml/2006/main">
              <a:ext uri="{FF2B5EF4-FFF2-40B4-BE49-F238E27FC236}">
                <a16:creationId xmlns:a16="http://schemas.microsoft.com/office/drawing/2014/main" id="{3DB60DF4-E2C4-4954-9D5A-6AAC3FC2F9C5}"/>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2F45880-9530-4809-A03A-BB327851FF8D}"/>
              </a:ext>
            </a:extLst>
          </p:cNvPr>
          <p:cNvSpPr>
            <a:spLocks xmlns:a="http://schemas.openxmlformats.org/drawingml/2006/main" noGrp="1"/>
          </p:cNvSpPr>
          <p:nvPr/>
        </p:nvSpPr>
        <p:spPr>
          <a:xfrm xmlns:a="http://schemas.openxmlformats.org/drawingml/2006/main" rot="0">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川島｜現場提供者</a:t>
            </a:r>
          </a:p>
        </p:txBody>
      </p:sp>
      <p:sp>
        <p:nvSpPr>
          <p:cNvPr id="12" name="">
            <a:extLst xmlns:a="http://schemas.openxmlformats.org/drawingml/2006/main">
              <a:ext uri="{FF2B5EF4-FFF2-40B4-BE49-F238E27FC236}">
                <a16:creationId xmlns:a16="http://schemas.microsoft.com/office/drawing/2014/main" id="{E32AA086-EE7E-49F0-AC50-DB2873DCE58A}"/>
              </a:ext>
            </a:extLst>
          </p:cNvPr>
          <p:cNvSpPr>
            <a:spLocks xmlns:a="http://schemas.openxmlformats.org/drawingml/2006/main" noGrp="1"/>
          </p:cNvSpPr>
          <p:nvPr/>
        </p:nvSpPr>
        <p:spPr>
          <a:xfrm xmlns:a="http://schemas.openxmlformats.org/drawingml/2006/main" rot="0">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飛び込み営業を通じて出会ったベーカリー経営者。撮影先の拡大に協力し、保有するベーカリーで撮影テストを自由に行う許可を提供。</a:t>
            </a:r>
          </a:p>
        </p:txBody>
      </p:sp>
      <p:sp>
        <p:nvSpPr>
          <p:cNvPr id="13" name="">
            <a:extLst xmlns:a="http://schemas.openxmlformats.org/drawingml/2006/main">
              <a:ext uri="{FF2B5EF4-FFF2-40B4-BE49-F238E27FC236}">
                <a16:creationId xmlns:a16="http://schemas.microsoft.com/office/drawing/2014/main" id="{321BA0EB-C1D5-4094-B019-18DEE849105C}"/>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AEFF404-485B-47E0-82FE-223EB056A5FD}"/>
              </a:ext>
            </a:extLst>
          </p:cNvPr>
          <p:cNvSpPr>
            <a:spLocks xmlns:a="http://schemas.openxmlformats.org/drawingml/2006/main" noGrp="1"/>
          </p:cNvSpPr>
          <p:nvPr/>
        </p:nvSpPr>
        <p:spPr>
          <a:xfrm xmlns:a="http://schemas.openxmlformats.org/drawingml/2006/main" rot="0">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大崎｜事業支援</a:t>
            </a:r>
          </a:p>
        </p:txBody>
      </p:sp>
      <p:sp>
        <p:nvSpPr>
          <p:cNvPr id="15" name="">
            <a:extLst xmlns:a="http://schemas.openxmlformats.org/drawingml/2006/main">
              <a:ext uri="{FF2B5EF4-FFF2-40B4-BE49-F238E27FC236}">
                <a16:creationId xmlns:a16="http://schemas.microsoft.com/office/drawing/2014/main" id="{5B4CE2FA-B7DF-4950-8316-F629EDF06CDF}"/>
              </a:ext>
            </a:extLst>
          </p:cNvPr>
          <p:cNvSpPr>
            <a:spLocks xmlns:a="http://schemas.openxmlformats.org/drawingml/2006/main" noGrp="1"/>
          </p:cNvSpPr>
          <p:nvPr/>
        </p:nvSpPr>
        <p:spPr>
          <a:xfrm xmlns:a="http://schemas.openxmlformats.org/drawingml/2006/main" rot="0">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三菱UFJ銀行、関西スーパーマーケット常務取締役・管理本部長を経て、会社立ち上げ、契約・合意書、小売・製造のネットワークを使った現場開拓を支援。</a:t>
            </a:r>
          </a:p>
        </p:txBody>
      </p:sp>
    </p:spTree>
    <p:extLst>
      <p:ext uri="{BB962C8B-B14F-4D97-AF65-F5344CB8AC3E}">
        <p14:creationId xmlns:p14="http://schemas.microsoft.com/office/powerpoint/2010/main" val="422031375"/>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A1F4D54-A0E9-4E21-99C2-4EDC8AD09E5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41A7B81-E97E-4983-BCE2-9ECA93B8F77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32540635-9F72-43C5-9481-777AA532813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A530B12-E8D1-4079-897E-6A78B1753F8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cdd421abf304812"/>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6B807C8-97F7-47FA-B54C-95E6D561C99E}"/>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0DA2B1FA-D7FC-4618-9FAE-19A91550C590}"/>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D4870CA8-C72C-4536-A77F-6C6E08C07CBA}"/>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5cfb40112f24da8"/>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76CA2AC-091C-463B-AD24-7DFCD35A6EA3}"/>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C83004C1-E2B3-4D14-BCCA-39E86B6A10FC}"/>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帽子</a:t>
            </a:r>
          </a:p>
        </p:txBody>
      </p:sp>
      <p:sp>
        <p:nvSpPr>
          <p:cNvPr id="12" name="">
            <a:extLst xmlns:a="http://schemas.openxmlformats.org/drawingml/2006/main">
              <a:ext uri="{FF2B5EF4-FFF2-40B4-BE49-F238E27FC236}">
                <a16:creationId xmlns:a16="http://schemas.microsoft.com/office/drawing/2014/main" id="{D1C0B5D7-DD63-4120-AC81-191A4714D652}"/>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ecbd957454645ee"/>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B69BAA57-4479-473D-9389-8600BB6311EA}"/>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3F0C7EE1-D2B5-4245-9B0D-C5FBA501212D}"/>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メガネ</a:t>
            </a:r>
          </a:p>
        </p:txBody>
      </p:sp>
      <p:sp>
        <p:nvSpPr>
          <p:cNvPr id="16" name="">
            <a:extLst xmlns:a="http://schemas.openxmlformats.org/drawingml/2006/main">
              <a:ext uri="{FF2B5EF4-FFF2-40B4-BE49-F238E27FC236}">
                <a16:creationId xmlns:a16="http://schemas.microsoft.com/office/drawing/2014/main" id="{39403EDE-09CF-4ABC-BC4E-C9CCA9FD62BD}"/>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63F9B029-4D7C-43E4-B07C-9F520EC0BA7F}"/>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F3C0376-1EB0-441E-BA5D-810D58731FD9}"/>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1979239655"/>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911BC9-AE06-46C8-B417-9707A79FD10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5597C2-9434-4CAF-9D63-1FC2BE6B34B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C3810AA4-2A91-41C8-8F45-01CF61C26F3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ACF9E10-C357-4499-BC2A-1DB4042BE1F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2" name=""/>
          <p:cNvGraphicFramePr/>
          <p:nvPr/>
        </p:nvGraphicFramePr>
        <p:xfrm>
          <a:off xmlns:a="http://schemas.openxmlformats.org/drawingml/2006/main" x="723900" y="1857375"/>
          <a:ext xmlns:a="http://schemas.openxmlformats.org/drawingml/2006/main" cx="10572750" cy="3238500"/>
        </p:xfrm>
        <a:graphic xmlns:a="http://schemas.openxmlformats.org/drawingml/2006/main">
          <a:graphicData uri="http://schemas.openxmlformats.org/drawingml/2006/table">
            <a:tbl>
              <a:tblPr/>
              <a:tblGrid>
                <a:gridCol w="3429000"/>
                <a:gridCol w="4476750"/>
                <a:gridCol w="2667000"/>
              </a:tblGrid>
              <a:tr h="539750">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1時間あたり</a:t>
                      </a:r>
                    </a:p>
                  </a:txBody>
                  <a:tcPr marL="91440" marR="91440" marT="45720" marB="45720">
                    <a:solidFill>
                      <a:srgbClr val="25333A"/>
                    </a:solidFill>
                  </a:tcPr>
                </a:tc>
              </a:tr>
              <a:tr h="539750">
                <a:tc>
                  <a:txBody>
                    <a:bodyPr/>
                    <a:lstStyle/>
                    <a:p>
                      <a:r>
                        <a:rPr sz="1350"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約73円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6CDD31F6-8837-4029-8F6F-C56EAF8DEFD8}"/>
              </a:ext>
            </a:extLst>
          </p:cNvPr>
          <p:cNvSpPr>
            <a:spLocks xmlns:a="http://schemas.openxmlformats.org/drawingml/2006/main" noGrp="1"/>
          </p:cNvSpPr>
          <p:nvPr/>
        </p:nvSpPr>
        <p:spPr>
          <a:xfrm xmlns:a="http://schemas.openxmlformats.org/drawingml/2006/main" rot="0">
            <a:off x="723900" y="5381625"/>
            <a:ext cx="781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110時間/月。流通総額に対するデバイス償却後の比率は約45.5%。</a:t>
            </a:r>
          </a:p>
        </p:txBody>
      </p:sp>
      <p:sp>
        <p:nvSpPr>
          <p:cNvPr id="7" name="">
            <a:extLst xmlns:a="http://schemas.openxmlformats.org/drawingml/2006/main">
              <a:ext uri="{FF2B5EF4-FFF2-40B4-BE49-F238E27FC236}">
                <a16:creationId xmlns:a16="http://schemas.microsoft.com/office/drawing/2014/main" id="{4B2BF2E0-97A6-4AB0-9AD2-031C701259AB}"/>
              </a:ext>
            </a:extLst>
          </p:cNvPr>
          <p:cNvSpPr>
            <a:spLocks xmlns:a="http://schemas.openxmlformats.org/drawingml/2006/main" noGrp="1"/>
          </p:cNvSpPr>
          <p:nvPr/>
        </p:nvSpPr>
        <p:spPr>
          <a:xfrm xmlns:a="http://schemas.openxmlformats.org/drawingml/2006/main" rot="0">
            <a:off x="723900" y="604837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現場開拓・運用、人件費、法務、破損・紛失、転送費はここに含めていない。</a:t>
            </a:r>
          </a:p>
        </p:txBody>
      </p:sp>
    </p:spTree>
    <p:extLst>
      <p:ext uri="{BB962C8B-B14F-4D97-AF65-F5344CB8AC3E}">
        <p14:creationId xmlns:p14="http://schemas.microsoft.com/office/powerpoint/2010/main" val="1877955077"/>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611D085-6A68-4D5A-9119-662E081B7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765342-18E4-4983-842A-B33686F97F3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D244C9CB-C1E8-4B60-85B7-9E8FAC1906E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10C8E9B-E581-4278-8D05-C966639CF7A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809750"/>
          <a:ext xmlns:a="http://schemas.openxmlformats.org/drawingml/2006/main" cx="10572750" cy="3429000"/>
        </p:xfrm>
        <a:graphic xmlns:a="http://schemas.openxmlformats.org/drawingml/2006/main">
          <a:graphicData uri="http://schemas.openxmlformats.org/drawingml/2006/table">
            <a:tbl>
              <a:tblPr/>
              <a:tblGrid>
                <a:gridCol w="3238500"/>
                <a:gridCol w="2286000"/>
                <a:gridCol w="2286000"/>
                <a:gridCol w="2762250"/>
              </a:tblGrid>
              <a:tr h="489857">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89857">
                <a:tc>
                  <a:txBody>
                    <a:bodyPr/>
                    <a:lstStyle/>
                    <a:p>
                      <a:r>
                        <a:rPr sz="1275"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91台</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727.2万円</a:t>
                      </a:r>
                    </a:p>
                  </a:txBody>
                  <a:tcPr marL="91440" marR="91440" marT="45720" marB="45720">
                    <a:solidFill>
                      <a:srgbClr val="DCE8EF"/>
                    </a:solidFill>
                  </a:tcPr>
                </a:tc>
              </a:tr>
              <a:tr h="489857">
                <a:tc>
                  <a:txBody>
                    <a:bodyPr/>
                    <a:lstStyle/>
                    <a:p>
                      <a:r>
                        <a:rPr sz="1275"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2C90BA2-91D9-4F52-BBDA-7EF7AD9ABD9A}"/>
              </a:ext>
            </a:extLst>
          </p:cNvPr>
          <p:cNvSpPr>
            <a:spLocks xmlns:a="http://schemas.openxmlformats.org/drawingml/2006/main" noGrp="1"/>
          </p:cNvSpPr>
          <p:nvPr/>
        </p:nvSpPr>
        <p:spPr>
          <a:xfrm xmlns:a="http://schemas.openxmlformats.org/drawingml/2006/main" rot="0">
            <a:off x="723900" y="55245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月10,000時間を12か月継続：流通総額1.92億円、会社取り分9,600万円、デバイス償却後約8,726万円。</a:t>
            </a:r>
          </a:p>
        </p:txBody>
      </p:sp>
      <p:sp>
        <p:nvSpPr>
          <p:cNvPr id="7" name="">
            <a:extLst xmlns:a="http://schemas.openxmlformats.org/drawingml/2006/main">
              <a:ext uri="{FF2B5EF4-FFF2-40B4-BE49-F238E27FC236}">
                <a16:creationId xmlns:a16="http://schemas.microsoft.com/office/drawing/2014/main" id="{734B6C69-185B-4933-B6A2-D8B88B3A2484}"/>
              </a:ext>
            </a:extLst>
          </p:cNvPr>
          <p:cNvSpPr>
            <a:spLocks xmlns:a="http://schemas.openxmlformats.org/drawingml/2006/main" noGrp="1"/>
          </p:cNvSpPr>
          <p:nvPr/>
        </p:nvSpPr>
        <p:spPr>
          <a:xfrm xmlns:a="http://schemas.openxmlformats.org/drawingml/2006/main" rot="0">
            <a:off x="723900" y="60007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デバイス台数と売上は収集時間に比例するため、デバイスコスト比率はスケールしても大きく変わらない。</a:t>
            </a:r>
          </a:p>
        </p:txBody>
      </p:sp>
    </p:spTree>
    <p:extLst>
      <p:ext uri="{BB962C8B-B14F-4D97-AF65-F5344CB8AC3E}">
        <p14:creationId xmlns:p14="http://schemas.microsoft.com/office/powerpoint/2010/main" val="1883575251"/>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746D34-1EDC-455C-9DE2-5ED8DF18A8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D008F3-26E3-49E5-95D0-B5605A8CCDE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このモデル最大の武器：データのストック性</a:t>
            </a:r>
          </a:p>
        </p:txBody>
      </p:sp>
      <p:sp>
        <p:nvSpPr>
          <p:cNvPr id="3" name="">
            <a:extLst xmlns:a="http://schemas.openxmlformats.org/drawingml/2006/main">
              <a:ext uri="{FF2B5EF4-FFF2-40B4-BE49-F238E27FC236}">
                <a16:creationId xmlns:a16="http://schemas.microsoft.com/office/drawing/2014/main" id="{52C5A9C4-9FF4-494F-A5F9-13100FCA042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CB02D99-8DAB-44E3-A712-2068478053A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C6754B39-5A76-40E5-A2A9-531A85B13215}"/>
              </a:ext>
            </a:extLst>
          </p:cNvPr>
          <p:cNvSpPr>
            <a:spLocks xmlns:a="http://schemas.openxmlformats.org/drawingml/2006/main" noGrp="1"/>
          </p:cNvSpPr>
          <p:nvPr/>
        </p:nvSpPr>
        <p:spPr>
          <a:xfrm xmlns:a="http://schemas.openxmlformats.org/drawingml/2006/main" rot="0">
            <a:off x="723900" y="19526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データは在庫として積み上がり、過去に収集した分も売り続けられる。月ごとのフロー売上に加えて、累積時間がそのまま資産として蓄積される。</a:t>
            </a:r>
          </a:p>
        </p:txBody>
      </p:sp>
      <p:graphicFrame>
        <p:nvGraphicFramePr>
          <p:cNvPr id="13" name=""/>
          <p:cNvGraphicFramePr/>
          <p:nvPr/>
        </p:nvGraphicFramePr>
        <p:xfrm>
          <a:off xmlns:a="http://schemas.openxmlformats.org/drawingml/2006/main" x="723900" y="3190875"/>
          <a:ext xmlns:a="http://schemas.openxmlformats.org/drawingml/2006/main" cx="10572750" cy="1619250"/>
        </p:xfrm>
        <a:graphic xmlns:a="http://schemas.openxmlformats.org/drawingml/2006/main">
          <a:graphicData uri="http://schemas.openxmlformats.org/drawingml/2006/table">
            <a:tbl>
              <a:tblPr/>
              <a:tblGrid>
                <a:gridCol w="3810000"/>
                <a:gridCol w="2190750"/>
                <a:gridCol w="2190750"/>
                <a:gridCol w="2381250"/>
              </a:tblGrid>
              <a:tr h="539750">
                <a:tc>
                  <a:txBody>
                    <a:bodyPr/>
                    <a:lstStyle/>
                    <a:p>
                      <a:r>
                        <a:rPr sz="1125" b="1">
                          <a:solidFill>
                            <a:srgbClr val="FFFFFF"/>
                          </a:solidFill>
                          <a:latin typeface="Hiragino Sans"/>
                          <a:ea typeface="Hiragino Sans"/>
                          <a:cs typeface="Hiragino Sans"/>
                        </a:rPr>
                        <a:t>月10,000時間での平均販売回数</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2回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3回</a:t>
                      </a:r>
                    </a:p>
                  </a:txBody>
                  <a:tcPr marL="91440" marR="91440" marT="45720" marB="45720">
                    <a:solidFill>
                      <a:srgbClr val="25333A"/>
                    </a:solidFill>
                  </a:tcPr>
                </a:tc>
              </a:tr>
              <a:tr h="539750">
                <a:tc>
                  <a:txBody>
                    <a:bodyPr/>
                    <a:lstStyle/>
                    <a:p>
                      <a:r>
                        <a:rPr sz="1350" b="1">
                          <a:solidFill>
                            <a:srgbClr val="15191B"/>
                          </a:solidFill>
                          <a:latin typeface="Hiragino Sans"/>
                          <a:ea typeface="Hiragino Sans"/>
                          <a:cs typeface="Hiragino Sans"/>
                        </a:rPr>
                        <a:t>月間の会社取り分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2,400万円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12か月の単純年換算</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9,600万円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1.92億円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2.88億円</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F547480-EAA0-4E85-9713-8DF89467E564}"/>
              </a:ext>
            </a:extLst>
          </p:cNvPr>
          <p:cNvSpPr>
            <a:spLocks xmlns:a="http://schemas.openxmlformats.org/drawingml/2006/main" noGrp="1"/>
          </p:cNvSpPr>
          <p:nvPr/>
        </p:nvSpPr>
        <p:spPr>
          <a:xfrm xmlns:a="http://schemas.openxmlformats.org/drawingml/2006/main" rot="0">
            <a:off x="723900" y="5143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15191B"/>
                </a:solidFill>
                <a:latin typeface="Hiragino Sans"/>
                <a:ea typeface="Hiragino Sans"/>
                <a:cs typeface="Hiragino Sans"/>
              </a:defRPr>
            </a:pPr>
            <a:r>
              <a:rPr sz="1425" b="0">
                <a:solidFill>
                  <a:srgbClr val="15191B"/>
                </a:solidFill>
                <a:latin typeface="Hiragino Sans"/>
                <a:ea typeface="Hiragino Sans"/>
                <a:cs typeface="Hiragino Sans"/>
              </a:rPr>
              <a:t>同一データを複数のバイヤーへ販売できる可能性がある。Nextremer経由でアノテーション付きデータとして高付加価値化される場合、単価が上がる可能性もある。</a:t>
            </a:r>
          </a:p>
        </p:txBody>
      </p:sp>
    </p:spTree>
    <p:extLst>
      <p:ext uri="{BB962C8B-B14F-4D97-AF65-F5344CB8AC3E}">
        <p14:creationId xmlns:p14="http://schemas.microsoft.com/office/powerpoint/2010/main" val="39539259"/>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DF1B11A-F30E-4CD7-AA6B-CB394FC1408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4A8050-76F4-4FD7-8221-3E709C0E041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95490FC8-9EBC-4E1B-B0A0-98F9700F9DA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08068FC-031C-473D-976E-75A2AAEA187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F6436F15-0C1F-4800-A4B0-2B17156A5B64}"/>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7908340A-DBAF-4A86-A60B-C06FB1D2D928}"/>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CC9F1BAF-60A2-462A-9742-1A2E5AFA3E8F}"/>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76FF550-2C3C-423D-BAB7-E795038BB7C3}"/>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1582B97E-7E0D-42DC-9449-C2CCC789D55A}"/>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E704DC9D-9A14-42B0-B779-559348ECBD6B}"/>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DF02491-352E-4CBC-AB67-B8A53E10FE61}"/>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9C7CC5C9-2159-490C-902D-E5C35250B081}"/>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FFB8E684-F637-45ED-8F2A-D9CDADB35FB0}"/>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3F61693-4B5E-478B-9E45-8C5D84319B1E}"/>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A26FA2BA-E882-4BDD-856A-5B8DB35A3445}"/>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957617813"/>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A805B46-565D-4372-9D04-208CAC0D61E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689506-44B9-40D7-BF47-A1031D4481F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19F82FD4-8029-4CF6-8CD6-7A8E4A57A03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70FDCE8-5B79-432B-903A-58A972DB29D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73A887AA-1372-41D2-81F2-3F8530855D02}"/>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081E31BF-D53E-4A15-8C7F-E803CB045FA3}"/>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C2E76A06-72C5-405B-BBBA-DDD40DB7D39E}"/>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13E8603-1C8F-4F5A-B378-C134E33D25FD}"/>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D4EAA616-5DB3-46BB-A60B-AFEB1997E9C8}"/>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2F247723-50DF-4BAF-BF96-73B91666A8E1}"/>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FAC56A3-5DAA-437F-ABAF-6C1154EF8C95}"/>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4B1CB612-0BD2-4E1D-B5C0-0663315C9A35}"/>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CB6194D5-78C3-4BAF-BB97-E1E65F498CF7}"/>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2025441414"/>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85362C4-A61A-40B6-BE56-27F7774CDC0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256D5B-8A25-4A5F-91CA-3A1C8C9B2F6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DBC0D4E9-6928-4CCE-B315-9441C1F6AD2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0AB4ADA-A29B-4F7B-AC45-7D40D20D554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A63933A0-4D86-4EB7-A98B-C6E79C2CC8C7}"/>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10月｜月間500時間</a:t>
            </a:r>
          </a:p>
        </p:txBody>
      </p:sp>
      <p:sp>
        <p:nvSpPr>
          <p:cNvPr id="6" name="">
            <a:extLst xmlns:a="http://schemas.openxmlformats.org/drawingml/2006/main">
              <a:ext uri="{FF2B5EF4-FFF2-40B4-BE49-F238E27FC236}">
                <a16:creationId xmlns:a16="http://schemas.microsoft.com/office/drawing/2014/main" id="{51342A83-7D33-454A-8DF8-F6838E70FE80}"/>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飲食店のネットワークで月間500時間。Nextremerとの合意と格納開始。海外販売先へ再度提供を打診し、撮影デバイス設計で協働できる企業へアプローチ。</a:t>
            </a:r>
          </a:p>
        </p:txBody>
      </p:sp>
      <p:sp>
        <p:nvSpPr>
          <p:cNvPr id="7" name="">
            <a:extLst xmlns:a="http://schemas.openxmlformats.org/drawingml/2006/main">
              <a:ext uri="{FF2B5EF4-FFF2-40B4-BE49-F238E27FC236}">
                <a16:creationId xmlns:a16="http://schemas.microsoft.com/office/drawing/2014/main" id="{184C00DF-72E5-4540-A21E-3452B63851FB}"/>
              </a:ext>
            </a:extLst>
          </p:cNvPr>
          <p:cNvSpPr>
            <a:spLocks xmlns:a="http://schemas.openxmlformats.org/drawingml/2006/main" noGrp="1"/>
          </p:cNvSpPr>
          <p:nvPr/>
        </p:nvSpPr>
        <p:spPr>
          <a:xfrm xmlns:a="http://schemas.openxmlformats.org/drawingml/2006/main">
            <a:off x="723900" y="2857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2816700-5609-4CC0-804C-056D947DCB71}"/>
              </a:ext>
            </a:extLst>
          </p:cNvPr>
          <p:cNvSpPr>
            <a:spLocks xmlns:a="http://schemas.openxmlformats.org/drawingml/2006/main" noGrp="1"/>
          </p:cNvSpPr>
          <p:nvPr/>
        </p:nvSpPr>
        <p:spPr>
          <a:xfrm xmlns:a="http://schemas.openxmlformats.org/drawingml/2006/main" rot="0">
            <a:off x="723900" y="30480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11月｜500時間を維持</a:t>
            </a:r>
          </a:p>
        </p:txBody>
      </p:sp>
      <p:sp>
        <p:nvSpPr>
          <p:cNvPr id="9" name="">
            <a:extLst xmlns:a="http://schemas.openxmlformats.org/drawingml/2006/main">
              <a:ext uri="{FF2B5EF4-FFF2-40B4-BE49-F238E27FC236}">
                <a16:creationId xmlns:a16="http://schemas.microsoft.com/office/drawing/2014/main" id="{1DC02776-9A24-4D93-B2DC-4A51B25F1A5A}"/>
              </a:ext>
            </a:extLst>
          </p:cNvPr>
          <p:cNvSpPr>
            <a:spLocks xmlns:a="http://schemas.openxmlformats.org/drawingml/2006/main" noGrp="1"/>
          </p:cNvSpPr>
          <p:nvPr/>
        </p:nvSpPr>
        <p:spPr>
          <a:xfrm xmlns:a="http://schemas.openxmlformats.org/drawingml/2006/main" rot="0">
            <a:off x="3714750" y="30289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撮影中の現場を可能な限り訪問し、不都合や拡大時の懸念を洗い出す。合意フローとデータ取扱いを法務チェック。</a:t>
            </a:r>
          </a:p>
        </p:txBody>
      </p:sp>
      <p:sp>
        <p:nvSpPr>
          <p:cNvPr id="10" name="">
            <a:extLst xmlns:a="http://schemas.openxmlformats.org/drawingml/2006/main">
              <a:ext uri="{FF2B5EF4-FFF2-40B4-BE49-F238E27FC236}">
                <a16:creationId xmlns:a16="http://schemas.microsoft.com/office/drawing/2014/main" id="{FA817BE6-40FB-4396-9B54-3CA79D539088}"/>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7DBD2BF-6636-4FB3-B837-9233F9416E25}"/>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12月｜月間1,000時間</a:t>
            </a:r>
          </a:p>
        </p:txBody>
      </p:sp>
      <p:sp>
        <p:nvSpPr>
          <p:cNvPr id="12" name="">
            <a:extLst xmlns:a="http://schemas.openxmlformats.org/drawingml/2006/main">
              <a:ext uri="{FF2B5EF4-FFF2-40B4-BE49-F238E27FC236}">
                <a16:creationId xmlns:a16="http://schemas.microsoft.com/office/drawing/2014/main" id="{F2BB6436-360F-4108-B8DB-E5404E032265}"/>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既存現場からの紹介、SNSのDM・投稿で日本中の撮影先へアプローチ。飲食・小売業界を中心に拡大する。</a:t>
            </a:r>
          </a:p>
        </p:txBody>
      </p:sp>
      <p:sp>
        <p:nvSpPr>
          <p:cNvPr id="13" name="">
            <a:extLst xmlns:a="http://schemas.openxmlformats.org/drawingml/2006/main">
              <a:ext uri="{FF2B5EF4-FFF2-40B4-BE49-F238E27FC236}">
                <a16:creationId xmlns:a16="http://schemas.microsoft.com/office/drawing/2014/main" id="{3315861F-92CB-4FF5-9FBB-D25B4B71C6B3}"/>
              </a:ext>
            </a:extLst>
          </p:cNvPr>
          <p:cNvSpPr>
            <a:spLocks xmlns:a="http://schemas.openxmlformats.org/drawingml/2006/main" noGrp="1"/>
          </p:cNvSpPr>
          <p:nvPr/>
        </p:nvSpPr>
        <p:spPr>
          <a:xfrm xmlns:a="http://schemas.openxmlformats.org/drawingml/2006/main">
            <a:off x="723900" y="5238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2061430389"/>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0C75EF4-6CC5-4A5D-BFFF-1D84AF9CC2A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A52F21-C102-4EE3-8E36-ABA16492076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AF9DFE56-0695-4F22-9310-D7160FFDBB3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C6863CD-27C3-4A73-988A-5A64A8C3913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D5CA2A6D-1A22-4DD2-AEAB-50B83FD8910E}"/>
              </a:ext>
            </a:extLst>
          </p:cNvPr>
          <p:cNvSpPr>
            <a:spLocks xmlns:a="http://schemas.openxmlformats.org/drawingml/2006/main" noGrp="1"/>
          </p:cNvSpPr>
          <p:nvPr/>
        </p:nvSpPr>
        <p:spPr>
          <a:xfrm xmlns:a="http://schemas.openxmlformats.org/drawingml/2006/main" rot="0">
            <a:off x="723900" y="1666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Q1</a:t>
            </a:r>
          </a:p>
        </p:txBody>
      </p:sp>
      <p:sp>
        <p:nvSpPr>
          <p:cNvPr id="6" name="">
            <a:extLst xmlns:a="http://schemas.openxmlformats.org/drawingml/2006/main">
              <a:ext uri="{FF2B5EF4-FFF2-40B4-BE49-F238E27FC236}">
                <a16:creationId xmlns:a16="http://schemas.microsoft.com/office/drawing/2014/main" id="{24D0038A-B4F6-41AA-A604-BEE5BF13330F}"/>
              </a:ext>
            </a:extLst>
          </p:cNvPr>
          <p:cNvSpPr>
            <a:spLocks xmlns:a="http://schemas.openxmlformats.org/drawingml/2006/main" noGrp="1"/>
          </p:cNvSpPr>
          <p:nvPr/>
        </p:nvSpPr>
        <p:spPr>
          <a:xfrm xmlns:a="http://schemas.openxmlformats.org/drawingml/2006/main" rot="0">
            <a:off x="3714750" y="1647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利益に応じて撮影機材を増やし、宿泊・リフォーム・清掃へ撮影先を拡大。デバイス開発と意匠・特許取得に向けた準備・出願。</a:t>
            </a:r>
          </a:p>
        </p:txBody>
      </p:sp>
      <p:sp>
        <p:nvSpPr>
          <p:cNvPr id="7" name="">
            <a:extLst xmlns:a="http://schemas.openxmlformats.org/drawingml/2006/main">
              <a:ext uri="{FF2B5EF4-FFF2-40B4-BE49-F238E27FC236}">
                <a16:creationId xmlns:a16="http://schemas.microsoft.com/office/drawing/2014/main" id="{EBB84C53-1279-4BA9-8220-2AC90A5C8437}"/>
              </a:ext>
            </a:extLst>
          </p:cNvPr>
          <p:cNvSpPr>
            <a:spLocks xmlns:a="http://schemas.openxmlformats.org/drawingml/2006/main" noGrp="1"/>
          </p:cNvSpPr>
          <p:nvPr/>
        </p:nvSpPr>
        <p:spPr>
          <a:xfrm xmlns:a="http://schemas.openxmlformats.org/drawingml/2006/main">
            <a:off x="723900" y="2524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5105865-DDD0-4040-B16D-33CED2DB3C0E}"/>
              </a:ext>
            </a:extLst>
          </p:cNvPr>
          <p:cNvSpPr>
            <a:spLocks xmlns:a="http://schemas.openxmlformats.org/drawingml/2006/main" noGrp="1"/>
          </p:cNvSpPr>
          <p:nvPr/>
        </p:nvSpPr>
        <p:spPr>
          <a:xfrm xmlns:a="http://schemas.openxmlformats.org/drawingml/2006/main" rot="0">
            <a:off x="723900" y="2619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Q2</a:t>
            </a:r>
          </a:p>
        </p:txBody>
      </p:sp>
      <p:sp>
        <p:nvSpPr>
          <p:cNvPr id="9" name="">
            <a:extLst xmlns:a="http://schemas.openxmlformats.org/drawingml/2006/main">
              <a:ext uri="{FF2B5EF4-FFF2-40B4-BE49-F238E27FC236}">
                <a16:creationId xmlns:a16="http://schemas.microsoft.com/office/drawing/2014/main" id="{7C072008-4A25-4C1F-8FF3-D5FF9DB5B35B}"/>
              </a:ext>
            </a:extLst>
          </p:cNvPr>
          <p:cNvSpPr>
            <a:spLocks xmlns:a="http://schemas.openxmlformats.org/drawingml/2006/main" noGrp="1"/>
          </p:cNvSpPr>
          <p:nvPr/>
        </p:nvSpPr>
        <p:spPr>
          <a:xfrm xmlns:a="http://schemas.openxmlformats.org/drawingml/2006/main" rot="0">
            <a:off x="3714750" y="2600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介護・医療へ撮影先を拡大。国内ロボット企業等と、プライバシー性の高い現場データを外部流出リスクを管理しながら活用する仕組みを構築。</a:t>
            </a:r>
          </a:p>
        </p:txBody>
      </p:sp>
      <p:sp>
        <p:nvSpPr>
          <p:cNvPr id="10" name="">
            <a:extLst xmlns:a="http://schemas.openxmlformats.org/drawingml/2006/main">
              <a:ext uri="{FF2B5EF4-FFF2-40B4-BE49-F238E27FC236}">
                <a16:creationId xmlns:a16="http://schemas.microsoft.com/office/drawing/2014/main" id="{2BC62131-CF56-47AE-8663-DA1B2A2B9B2F}"/>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841CD51-3919-4E94-9BEF-D299C5F424D3}"/>
              </a:ext>
            </a:extLst>
          </p:cNvPr>
          <p:cNvSpPr>
            <a:spLocks xmlns:a="http://schemas.openxmlformats.org/drawingml/2006/main" noGrp="1"/>
          </p:cNvSpPr>
          <p:nvPr/>
        </p:nvSpPr>
        <p:spPr>
          <a:xfrm xmlns:a="http://schemas.openxmlformats.org/drawingml/2006/main" rot="0">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Q3</a:t>
            </a:r>
          </a:p>
        </p:txBody>
      </p:sp>
      <p:sp>
        <p:nvSpPr>
          <p:cNvPr id="12" name="">
            <a:extLst xmlns:a="http://schemas.openxmlformats.org/drawingml/2006/main">
              <a:ext uri="{FF2B5EF4-FFF2-40B4-BE49-F238E27FC236}">
                <a16:creationId xmlns:a16="http://schemas.microsoft.com/office/drawing/2014/main" id="{9F3F49F5-4DFE-4E10-BDD7-4577291ED8EB}"/>
              </a:ext>
            </a:extLst>
          </p:cNvPr>
          <p:cNvSpPr>
            <a:spLocks xmlns:a="http://schemas.openxmlformats.org/drawingml/2006/main" noGrp="1"/>
          </p:cNvSpPr>
          <p:nvPr/>
        </p:nvSpPr>
        <p:spPr>
          <a:xfrm xmlns:a="http://schemas.openxmlformats.org/drawingml/2006/main" rot="0">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撮影先を拡大。国内の垂直統合型ロボティクス企業、政府プロジェクトなどへ現場データ収集を打診。</a:t>
            </a:r>
          </a:p>
        </p:txBody>
      </p:sp>
      <p:sp>
        <p:nvSpPr>
          <p:cNvPr id="13" name="">
            <a:extLst xmlns:a="http://schemas.openxmlformats.org/drawingml/2006/main">
              <a:ext uri="{FF2B5EF4-FFF2-40B4-BE49-F238E27FC236}">
                <a16:creationId xmlns:a16="http://schemas.microsoft.com/office/drawing/2014/main" id="{A67D6318-D732-4F7F-9C21-7A87BB083983}"/>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7EEBBA9-8FAF-4603-9628-1E86A3FB38EE}"/>
              </a:ext>
            </a:extLst>
          </p:cNvPr>
          <p:cNvSpPr>
            <a:spLocks xmlns:a="http://schemas.openxmlformats.org/drawingml/2006/main" noGrp="1"/>
          </p:cNvSpPr>
          <p:nvPr/>
        </p:nvSpPr>
        <p:spPr>
          <a:xfrm xmlns:a="http://schemas.openxmlformats.org/drawingml/2006/main" rot="0">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8C0C0697-272B-429B-8E3B-BE0F5BA6FC30}"/>
              </a:ext>
            </a:extLst>
          </p:cNvPr>
          <p:cNvSpPr>
            <a:spLocks xmlns:a="http://schemas.openxmlformats.org/drawingml/2006/main" noGrp="1"/>
          </p:cNvSpPr>
          <p:nvPr/>
        </p:nvSpPr>
        <p:spPr>
          <a:xfrm xmlns:a="http://schemas.openxmlformats.org/drawingml/2006/main" rot="0">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撮影先を拡大。蓄積したデータを元に国内大学と提携し、AIモデル開発と現場環境のReal2Sim等の研究開発を開始。</a:t>
            </a:r>
          </a:p>
        </p:txBody>
      </p:sp>
    </p:spTree>
    <p:extLst>
      <p:ext uri="{BB962C8B-B14F-4D97-AF65-F5344CB8AC3E}">
        <p14:creationId xmlns:p14="http://schemas.microsoft.com/office/powerpoint/2010/main" val="418008116"/>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1540CF8-6136-4D1B-B2BC-B4843C88A42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F6FD48-A72E-42DB-A6BB-D7EB42FE14E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36D5C80D-81C1-47E1-B27F-D41A4A527F7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06863B6-5240-476C-BB87-4DE95377759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5AD67A5C-BCB4-48F4-BA67-D985026E05B6}"/>
              </a:ext>
            </a:extLst>
          </p:cNvPr>
          <p:cNvSpPr>
            <a:spLocks xmlns:a="http://schemas.openxmlformats.org/drawingml/2006/main" noGrp="1"/>
          </p:cNvSpPr>
          <p:nvPr/>
        </p:nvSpPr>
        <p:spPr>
          <a:xfrm xmlns:a="http://schemas.openxmlformats.org/drawingml/2006/main" rot="0">
            <a:off x="7239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Q1〜Q2</a:t>
            </a:r>
          </a:p>
        </p:txBody>
      </p:sp>
      <p:sp>
        <p:nvSpPr>
          <p:cNvPr id="6" name="">
            <a:extLst xmlns:a="http://schemas.openxmlformats.org/drawingml/2006/main">
              <a:ext uri="{FF2B5EF4-FFF2-40B4-BE49-F238E27FC236}">
                <a16:creationId xmlns:a16="http://schemas.microsoft.com/office/drawing/2014/main" id="{36AA3102-F858-4FD4-9550-96AA72FA2E03}"/>
              </a:ext>
            </a:extLst>
          </p:cNvPr>
          <p:cNvSpPr>
            <a:spLocks xmlns:a="http://schemas.openxmlformats.org/drawingml/2006/main" noGrp="1"/>
          </p:cNvSpPr>
          <p:nvPr/>
        </p:nvSpPr>
        <p:spPr>
          <a:xfrm xmlns:a="http://schemas.openxmlformats.org/drawingml/2006/main" rot="0">
            <a:off x="723900" y="2428875"/>
            <a:ext cx="4762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撮影先と現場実装先を拡大する。ロボット企業と、ロボットの実証実験を行える現場のマッチングを開始する。大学と提携して行う研究についても、現場のマッチングを実施する。</a:t>
            </a:r>
          </a:p>
        </p:txBody>
      </p:sp>
      <p:sp>
        <p:nvSpPr>
          <p:cNvPr id="7" name="">
            <a:extLst xmlns:a="http://schemas.openxmlformats.org/drawingml/2006/main">
              <a:ext uri="{FF2B5EF4-FFF2-40B4-BE49-F238E27FC236}">
                <a16:creationId xmlns:a16="http://schemas.microsoft.com/office/drawing/2014/main" id="{9C0E51C7-2378-40BC-89C0-5EACA288A59C}"/>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FB1F9E9-86DF-424A-B48C-A3E128E2FCBD}"/>
              </a:ext>
            </a:extLst>
          </p:cNvPr>
          <p:cNvSpPr>
            <a:spLocks xmlns:a="http://schemas.openxmlformats.org/drawingml/2006/main" noGrp="1"/>
          </p:cNvSpPr>
          <p:nvPr/>
        </p:nvSpPr>
        <p:spPr>
          <a:xfrm xmlns:a="http://schemas.openxmlformats.org/drawingml/2006/main" rot="0">
            <a:off x="64770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Q3〜Q4</a:t>
            </a:r>
          </a:p>
        </p:txBody>
      </p:sp>
      <p:sp>
        <p:nvSpPr>
          <p:cNvPr id="9" name="">
            <a:extLst xmlns:a="http://schemas.openxmlformats.org/drawingml/2006/main">
              <a:ext uri="{FF2B5EF4-FFF2-40B4-BE49-F238E27FC236}">
                <a16:creationId xmlns:a16="http://schemas.microsoft.com/office/drawing/2014/main" id="{09359F14-E41E-4F88-9E0C-AA995B637354}"/>
              </a:ext>
            </a:extLst>
          </p:cNvPr>
          <p:cNvSpPr>
            <a:spLocks xmlns:a="http://schemas.openxmlformats.org/drawingml/2006/main" noGrp="1"/>
          </p:cNvSpPr>
          <p:nvPr/>
        </p:nvSpPr>
        <p:spPr>
          <a:xfrm xmlns:a="http://schemas.openxmlformats.org/drawingml/2006/main" rot="0">
            <a:off x="6477000" y="2428875"/>
            <a:ext cx="4667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業種を絞り、実際にロボットの現場統合を開始する。蓄積したデータや経験を元に、どのような現場がロボット導入に適しているか、優先順位をつける。</a:t>
            </a:r>
          </a:p>
        </p:txBody>
      </p:sp>
      <p:sp>
        <p:nvSpPr>
          <p:cNvPr id="10" name="">
            <a:extLst xmlns:a="http://schemas.openxmlformats.org/drawingml/2006/main">
              <a:ext uri="{FF2B5EF4-FFF2-40B4-BE49-F238E27FC236}">
                <a16:creationId xmlns:a16="http://schemas.microsoft.com/office/drawing/2014/main" id="{1A96C698-59CB-4A5B-92C8-A2A2CD8D1D86}"/>
              </a:ext>
            </a:extLst>
          </p:cNvPr>
          <p:cNvSpPr>
            <a:spLocks xmlns:a="http://schemas.openxmlformats.org/drawingml/2006/main" noGrp="1"/>
          </p:cNvSpPr>
          <p:nvPr/>
        </p:nvSpPr>
        <p:spPr>
          <a:xfrm xmlns:a="http://schemas.openxmlformats.org/drawingml/2006/main" rot="0">
            <a:off x="723900" y="5715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現場データ収集から始めた企業が、現場統合を行う企業へ進化する。</a:t>
            </a:r>
          </a:p>
        </p:txBody>
      </p:sp>
    </p:spTree>
    <p:extLst>
      <p:ext uri="{BB962C8B-B14F-4D97-AF65-F5344CB8AC3E}">
        <p14:creationId xmlns:p14="http://schemas.microsoft.com/office/powerpoint/2010/main" val="1546008187"/>
      </p:ext>
    </p:extLst>
  </p:cSld>
</p:sld>
</file>

<file path=ppt/slides/slide2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E432F4E-EC65-417B-A356-353F28C5802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AE5CAA-00E4-46B3-B490-D7807A56576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1086945F-E4E8-427C-A54D-3D441C27B6C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608C5FB-A124-4E9A-8699-9D08E7B8351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26</a:t>
            </a:r>
          </a:p>
        </p:txBody>
      </p:sp>
      <p:sp>
        <p:nvSpPr>
          <p:cNvPr id="5" name="">
            <a:extLst xmlns:a="http://schemas.openxmlformats.org/drawingml/2006/main">
              <a:ext uri="{FF2B5EF4-FFF2-40B4-BE49-F238E27FC236}">
                <a16:creationId xmlns:a16="http://schemas.microsoft.com/office/drawing/2014/main" id="{9E4E73FA-446B-4BB8-8A7E-6DD6083A51B0}"/>
              </a:ext>
            </a:extLst>
          </p:cNvPr>
          <p:cNvSpPr>
            <a:spLocks xmlns:a="http://schemas.openxmlformats.org/drawingml/2006/main" noGrp="1"/>
          </p:cNvSpPr>
          <p:nvPr/>
        </p:nvSpPr>
        <p:spPr>
          <a:xfrm xmlns:a="http://schemas.openxmlformats.org/drawingml/2006/main" rot="0">
            <a:off x="723900" y="204787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315C78"/>
                </a:solidFill>
                <a:latin typeface="Hiragino Sans"/>
                <a:ea typeface="Hiragino Sans"/>
                <a:cs typeface="Hiragino Sans"/>
              </a:defRPr>
            </a:pPr>
            <a:r>
              <a:rPr sz="2250" b="1">
                <a:solidFill>
                  <a:srgbClr val="315C78"/>
                </a:solidFill>
                <a:latin typeface="Hiragino Sans"/>
                <a:ea typeface="Hiragino Sans"/>
                <a:cs typeface="Hiragino Sans"/>
              </a:rPr>
              <a:t>第2段階への移行</a:t>
            </a:r>
          </a:p>
        </p:txBody>
      </p:sp>
      <p:sp>
        <p:nvSpPr>
          <p:cNvPr id="6" name="">
            <a:extLst xmlns:a="http://schemas.openxmlformats.org/drawingml/2006/main">
              <a:ext uri="{FF2B5EF4-FFF2-40B4-BE49-F238E27FC236}">
                <a16:creationId xmlns:a16="http://schemas.microsoft.com/office/drawing/2014/main" id="{F1B454AB-956C-41EC-BEF7-510F024829FF}"/>
              </a:ext>
            </a:extLst>
          </p:cNvPr>
          <p:cNvSpPr>
            <a:spLocks xmlns:a="http://schemas.openxmlformats.org/drawingml/2006/main" noGrp="1"/>
          </p:cNvSpPr>
          <p:nvPr/>
        </p:nvSpPr>
        <p:spPr>
          <a:xfrm xmlns:a="http://schemas.openxmlformats.org/drawingml/2006/main" rot="0">
            <a:off x="723900" y="29527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191B"/>
                </a:solidFill>
                <a:latin typeface="Hiragino Sans"/>
                <a:ea typeface="Hiragino Sans"/>
                <a:cs typeface="Hiragino Sans"/>
              </a:defRPr>
            </a:pPr>
            <a:r>
              <a:rPr sz="2025" b="1">
                <a:solidFill>
                  <a:srgbClr val="15191B"/>
                </a:solidFill>
                <a:latin typeface="Hiragino Sans"/>
                <a:ea typeface="Hiragino Sans"/>
                <a:cs typeface="Hiragino Sans"/>
              </a:rPr>
              <a:t>現場実装先と、各現場の豊富な作業データを所有する。</a:t>
            </a:r>
          </a:p>
        </p:txBody>
      </p:sp>
      <p:sp>
        <p:nvSpPr>
          <p:cNvPr id="7" name="">
            <a:extLst xmlns:a="http://schemas.openxmlformats.org/drawingml/2006/main">
              <a:ext uri="{FF2B5EF4-FFF2-40B4-BE49-F238E27FC236}">
                <a16:creationId xmlns:a16="http://schemas.microsoft.com/office/drawing/2014/main" id="{2B2D2BAD-01A6-482E-8198-AB50DBB149E3}"/>
              </a:ext>
            </a:extLst>
          </p:cNvPr>
          <p:cNvSpPr>
            <a:spLocks xmlns:a="http://schemas.openxmlformats.org/drawingml/2006/main" noGrp="1"/>
          </p:cNvSpPr>
          <p:nvPr/>
        </p:nvSpPr>
        <p:spPr>
          <a:xfrm xmlns:a="http://schemas.openxmlformats.org/drawingml/2006/main">
            <a:off x="723900" y="3810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4B306A7-A124-44F4-A04E-EEF68E3302DD}"/>
              </a:ext>
            </a:extLst>
          </p:cNvPr>
          <p:cNvSpPr>
            <a:spLocks xmlns:a="http://schemas.openxmlformats.org/drawingml/2006/main" noGrp="1"/>
          </p:cNvSpPr>
          <p:nvPr/>
        </p:nvSpPr>
        <p:spPr>
          <a:xfrm xmlns:a="http://schemas.openxmlformats.org/drawingml/2006/main" rot="0">
            <a:off x="723900" y="4238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モデル開発・ハードウェア開発・現場統合のフィードバックループを</a:t>
            </a:r>
          </a:p>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自社で回すフィジカルAI企業へと転身する。</a:t>
            </a:r>
          </a:p>
        </p:txBody>
      </p:sp>
      <p:sp>
        <p:nvSpPr>
          <p:cNvPr id="9" name="">
            <a:extLst xmlns:a="http://schemas.openxmlformats.org/drawingml/2006/main">
              <a:ext uri="{FF2B5EF4-FFF2-40B4-BE49-F238E27FC236}">
                <a16:creationId xmlns:a16="http://schemas.microsoft.com/office/drawing/2014/main" id="{657D46D7-298C-42CF-AB5E-4ECBA6BF0560}"/>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現場データ収集から始めるフィジカルAIプレーヤー</a:t>
            </a:r>
          </a:p>
        </p:txBody>
      </p:sp>
    </p:spTree>
    <p:extLst>
      <p:ext uri="{BB962C8B-B14F-4D97-AF65-F5344CB8AC3E}">
        <p14:creationId xmlns:p14="http://schemas.microsoft.com/office/powerpoint/2010/main" val="14940319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2026-09-15T03:51:31.2890000Z</dcterms:created>
  <dcterms:modified xsi:type="dcterms:W3CDTF">2026-09-15T03:51:31.2890000Z</dcterms:modified>
</coreProperties>
</file>
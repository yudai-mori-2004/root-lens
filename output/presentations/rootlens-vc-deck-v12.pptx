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d55ccad6e84eb2" /><Relationship Type="http://schemas.openxmlformats.org/officeDocument/2006/relationships/extended-properties" Target="/docProps/app.xml" Id="Rbfbf05e2ce5645ac" /><Relationship Type="http://schemas.openxmlformats.org/officeDocument/2006/relationships/officeDocument" Target="/ppt/presentation.xml" Id="Rb868b80e6872447a" /></Relationships>
</file>

<file path=ppt/presentation.xml><?xml version="1.0" encoding="utf-8"?>
<p:presentation xmlns:p="http://schemas.openxmlformats.org/presentationml/2006/main">
  <p:sldMasterIdLst>
    <p:sldMasterId xmlns:r="http://schemas.openxmlformats.org/officeDocument/2006/relationships" id="2147483648" r:id="R35ebc57da3ff42e2"/>
  </p:sldMasterIdLst>
  <p:notesMasterIdLst>
    <p:notesMasterId xmlns:r="http://schemas.openxmlformats.org/officeDocument/2006/relationships" r:id="Rdac1c77b900a4539"/>
  </p:notesMasterIdLst>
  <p:sldIdLst>
    <p:sldId xmlns:r="http://schemas.openxmlformats.org/officeDocument/2006/relationships" id="256" r:id="R3b915bab8a8547fc"/>
    <p:sldId xmlns:r="http://schemas.openxmlformats.org/officeDocument/2006/relationships" id="257" r:id="R73a98527535b40be"/>
    <p:sldId xmlns:r="http://schemas.openxmlformats.org/officeDocument/2006/relationships" id="258" r:id="R456654599ce94ad1"/>
    <p:sldId xmlns:r="http://schemas.openxmlformats.org/officeDocument/2006/relationships" id="259" r:id="Rdd292b87c46f477e"/>
    <p:sldId xmlns:r="http://schemas.openxmlformats.org/officeDocument/2006/relationships" id="260" r:id="R65dd9a4021894293"/>
    <p:sldId xmlns:r="http://schemas.openxmlformats.org/officeDocument/2006/relationships" id="261" r:id="R68d964cc2ebd44f5"/>
    <p:sldId xmlns:r="http://schemas.openxmlformats.org/officeDocument/2006/relationships" id="262" r:id="R5ad93ae99ccc4508"/>
    <p:sldId xmlns:r="http://schemas.openxmlformats.org/officeDocument/2006/relationships" id="263" r:id="R9b797c5a70694c6d"/>
    <p:sldId xmlns:r="http://schemas.openxmlformats.org/officeDocument/2006/relationships" id="264" r:id="R937d55c735224e16"/>
    <p:sldId xmlns:r="http://schemas.openxmlformats.org/officeDocument/2006/relationships" id="265" r:id="Rfb9950f2f6f444be"/>
    <p:sldId xmlns:r="http://schemas.openxmlformats.org/officeDocument/2006/relationships" id="266" r:id="R5767e0affdf14768"/>
    <p:sldId xmlns:r="http://schemas.openxmlformats.org/officeDocument/2006/relationships" id="267" r:id="R9b8719769f144a83"/>
    <p:sldId xmlns:r="http://schemas.openxmlformats.org/officeDocument/2006/relationships" id="268" r:id="R33cd5c3d2b2e4616"/>
    <p:sldId xmlns:r="http://schemas.openxmlformats.org/officeDocument/2006/relationships" id="269" r:id="R1623e165947f4052"/>
    <p:sldId xmlns:r="http://schemas.openxmlformats.org/officeDocument/2006/relationships" id="270" r:id="R6178862212124566"/>
    <p:sldId xmlns:r="http://schemas.openxmlformats.org/officeDocument/2006/relationships" id="271" r:id="Red984613c34f4924"/>
    <p:sldId xmlns:r="http://schemas.openxmlformats.org/officeDocument/2006/relationships" id="272" r:id="R2dee7b3907f74cdc"/>
    <p:sldId xmlns:r="http://schemas.openxmlformats.org/officeDocument/2006/relationships" id="273" r:id="Rb8eda14e93ba4ef6"/>
    <p:sldId xmlns:r="http://schemas.openxmlformats.org/officeDocument/2006/relationships" id="274" r:id="R6994e395ee92405d"/>
    <p:sldId xmlns:r="http://schemas.openxmlformats.org/officeDocument/2006/relationships" id="275" r:id="Rd24a27713fcc4979"/>
    <p:sldId xmlns:r="http://schemas.openxmlformats.org/officeDocument/2006/relationships" id="276" r:id="R5624adaa58ca4ef5"/>
    <p:sldId xmlns:r="http://schemas.openxmlformats.org/officeDocument/2006/relationships" id="277" r:id="R6da57dba31d8441d"/>
    <p:sldId xmlns:r="http://schemas.openxmlformats.org/officeDocument/2006/relationships" id="278" r:id="Rc9c2692993e544b5"/>
    <p:sldId xmlns:r="http://schemas.openxmlformats.org/officeDocument/2006/relationships" id="279" r:id="Rdd73de6a46ce433f"/>
    <p:sldId xmlns:r="http://schemas.openxmlformats.org/officeDocument/2006/relationships" id="280" r:id="R4c920d4ed5744f21"/>
    <p:sldId xmlns:r="http://schemas.openxmlformats.org/officeDocument/2006/relationships" id="281" r:id="R339eacef1b1343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7eea2c560e4c75" /><Relationship Type="http://schemas.openxmlformats.org/officeDocument/2006/relationships/slideMaster" Target="/ppt/slideMasters/slideMaster1.xml" Id="R35ebc57da3ff42e2" /><Relationship Type="http://schemas.openxmlformats.org/officeDocument/2006/relationships/notesMaster" Target="/ppt/notesMasters/notesMaster1.xml" Id="Rdac1c77b900a4539" /><Relationship Type="http://schemas.openxmlformats.org/officeDocument/2006/relationships/presProps" Target="/ppt/presProps.xml" Id="Re17dc854f1cd44f2" /><Relationship Type="http://schemas.openxmlformats.org/officeDocument/2006/relationships/tableStyles" Target="/ppt/tableStyles.xml" Id="R992826fcfe8a4f60" /><Relationship Type="http://schemas.openxmlformats.org/officeDocument/2006/relationships/slide" Target="/ppt/slides/slide1.xml" Id="R3b915bab8a8547fc" /><Relationship Type="http://schemas.openxmlformats.org/officeDocument/2006/relationships/slide" Target="/ppt/slides/slide2.xml" Id="R73a98527535b40be" /><Relationship Type="http://schemas.openxmlformats.org/officeDocument/2006/relationships/slide" Target="/ppt/slides/slide3.xml" Id="R456654599ce94ad1" /><Relationship Type="http://schemas.openxmlformats.org/officeDocument/2006/relationships/slide" Target="/ppt/slides/slide4.xml" Id="Rdd292b87c46f477e" /><Relationship Type="http://schemas.openxmlformats.org/officeDocument/2006/relationships/slide" Target="/ppt/slides/slide5.xml" Id="R65dd9a4021894293" /><Relationship Type="http://schemas.openxmlformats.org/officeDocument/2006/relationships/slide" Target="/ppt/slides/slide6.xml" Id="R68d964cc2ebd44f5" /><Relationship Type="http://schemas.openxmlformats.org/officeDocument/2006/relationships/slide" Target="/ppt/slides/slide7.xml" Id="R5ad93ae99ccc4508" /><Relationship Type="http://schemas.openxmlformats.org/officeDocument/2006/relationships/slide" Target="/ppt/slides/slide8.xml" Id="R9b797c5a70694c6d" /><Relationship Type="http://schemas.openxmlformats.org/officeDocument/2006/relationships/slide" Target="/ppt/slides/slide9.xml" Id="R937d55c735224e16" /><Relationship Type="http://schemas.openxmlformats.org/officeDocument/2006/relationships/slide" Target="/ppt/slides/slide10.xml" Id="Rfb9950f2f6f444be" /><Relationship Type="http://schemas.openxmlformats.org/officeDocument/2006/relationships/slide" Target="/ppt/slides/slide11.xml" Id="R5767e0affdf14768" /><Relationship Type="http://schemas.openxmlformats.org/officeDocument/2006/relationships/slide" Target="/ppt/slides/slide12.xml" Id="R9b8719769f144a83" /><Relationship Type="http://schemas.openxmlformats.org/officeDocument/2006/relationships/slide" Target="/ppt/slides/slide13.xml" Id="R33cd5c3d2b2e4616" /><Relationship Type="http://schemas.openxmlformats.org/officeDocument/2006/relationships/slide" Target="/ppt/slides/slide14.xml" Id="R1623e165947f4052" /><Relationship Type="http://schemas.openxmlformats.org/officeDocument/2006/relationships/slide" Target="/ppt/slides/slide15.xml" Id="R6178862212124566" /><Relationship Type="http://schemas.openxmlformats.org/officeDocument/2006/relationships/slide" Target="/ppt/slides/slide16.xml" Id="Red984613c34f4924" /><Relationship Type="http://schemas.openxmlformats.org/officeDocument/2006/relationships/slide" Target="/ppt/slides/slide17.xml" Id="R2dee7b3907f74cdc" /><Relationship Type="http://schemas.openxmlformats.org/officeDocument/2006/relationships/slide" Target="/ppt/slides/slide18.xml" Id="Rb8eda14e93ba4ef6" /><Relationship Type="http://schemas.openxmlformats.org/officeDocument/2006/relationships/slide" Target="/ppt/slides/slide19.xml" Id="R6994e395ee92405d" /><Relationship Type="http://schemas.openxmlformats.org/officeDocument/2006/relationships/slide" Target="/ppt/slides/slide20.xml" Id="Rd24a27713fcc4979" /><Relationship Type="http://schemas.openxmlformats.org/officeDocument/2006/relationships/slide" Target="/ppt/slides/slide21.xml" Id="R5624adaa58ca4ef5" /><Relationship Type="http://schemas.openxmlformats.org/officeDocument/2006/relationships/slide" Target="/ppt/slides/slide22.xml" Id="R6da57dba31d8441d" /><Relationship Type="http://schemas.openxmlformats.org/officeDocument/2006/relationships/slide" Target="/ppt/slides/slide23.xml" Id="Rc9c2692993e544b5" /><Relationship Type="http://schemas.openxmlformats.org/officeDocument/2006/relationships/slide" Target="/ppt/slides/slide24.xml" Id="Rdd73de6a46ce433f" /><Relationship Type="http://schemas.openxmlformats.org/officeDocument/2006/relationships/slide" Target="/ppt/slides/slide25.xml" Id="R4c920d4ed5744f21" /><Relationship Type="http://schemas.openxmlformats.org/officeDocument/2006/relationships/slide" Target="/ppt/slides/slide26.xml" Id="R339eacef1b1343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d468719e4041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ca02c9d11e4fdd" /><Relationship Type="http://schemas.openxmlformats.org/officeDocument/2006/relationships/notesMaster" Target="/ppt/notesMasters/notesMaster1.xml" Id="Re33f0bf3b8bd43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5f030662a348c6" /><Relationship Type="http://schemas.openxmlformats.org/officeDocument/2006/relationships/notesMaster" Target="/ppt/notesMasters/notesMaster1.xml" Id="R6b664ee0c15e41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10fdb3537343bf" /><Relationship Type="http://schemas.openxmlformats.org/officeDocument/2006/relationships/notesMaster" Target="/ppt/notesMasters/notesMaster1.xml" Id="R4c75b43cfe2744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d8930f1c994420" /><Relationship Type="http://schemas.openxmlformats.org/officeDocument/2006/relationships/notesMaster" Target="/ppt/notesMasters/notesMaster1.xml" Id="R939f6bd0946c49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ee83c6835a4c45" /><Relationship Type="http://schemas.openxmlformats.org/officeDocument/2006/relationships/notesMaster" Target="/ppt/notesMasters/notesMaster1.xml" Id="R97376021858848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077e5276454ed2" /><Relationship Type="http://schemas.openxmlformats.org/officeDocument/2006/relationships/notesMaster" Target="/ppt/notesMasters/notesMaster1.xml" Id="Rfe0dd23bced142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5ca3b314d64131" /><Relationship Type="http://schemas.openxmlformats.org/officeDocument/2006/relationships/notesMaster" Target="/ppt/notesMasters/notesMaster1.xml" Id="Rc79477cfcfcb4a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e9e3a1512d4bcd" /><Relationship Type="http://schemas.openxmlformats.org/officeDocument/2006/relationships/notesMaster" Target="/ppt/notesMasters/notesMaster1.xml" Id="R3f6d971b6f2341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5ed5f38492439e" /><Relationship Type="http://schemas.openxmlformats.org/officeDocument/2006/relationships/notesMaster" Target="/ppt/notesMasters/notesMaster1.xml" Id="R045f27c84edf41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4d777beafd4f0a" /><Relationship Type="http://schemas.openxmlformats.org/officeDocument/2006/relationships/notesMaster" Target="/ppt/notesMasters/notesMaster1.xml" Id="Rf291860f6a9440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3998e5d4a6464d" /><Relationship Type="http://schemas.openxmlformats.org/officeDocument/2006/relationships/notesMaster" Target="/ppt/notesMasters/notesMaster1.xml" Id="R107f9e3e971c43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1a05216ccb4d77" /><Relationship Type="http://schemas.openxmlformats.org/officeDocument/2006/relationships/notesMaster" Target="/ppt/notesMasters/notesMaster1.xml" Id="Rc3ecaea1fe9f45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f6500ef1964dee" /><Relationship Type="http://schemas.openxmlformats.org/officeDocument/2006/relationships/notesMaster" Target="/ppt/notesMasters/notesMaster1.xml" Id="Rd6122466d7ae45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4f0154de0645b8" /><Relationship Type="http://schemas.openxmlformats.org/officeDocument/2006/relationships/notesMaster" Target="/ppt/notesMasters/notesMaster1.xml" Id="R5c83a29d4f604d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e4b98b6fee4552" /><Relationship Type="http://schemas.openxmlformats.org/officeDocument/2006/relationships/notesMaster" Target="/ppt/notesMasters/notesMaster1.xml" Id="Ra4efc88d4e2249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6023b44fb446a7" /><Relationship Type="http://schemas.openxmlformats.org/officeDocument/2006/relationships/notesMaster" Target="/ppt/notesMasters/notesMaster1.xml" Id="R148b3c83ac0f4c2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beb7e9fcb1a4e18" /><Relationship Type="http://schemas.openxmlformats.org/officeDocument/2006/relationships/notesMaster" Target="/ppt/notesMasters/notesMaster1.xml" Id="Rf4d0cd37d27d48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5f02b41c3e46c8" /><Relationship Type="http://schemas.openxmlformats.org/officeDocument/2006/relationships/notesMaster" Target="/ppt/notesMasters/notesMaster1.xml" Id="Rc07c3074862d40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d62e54292a841c2" /><Relationship Type="http://schemas.openxmlformats.org/officeDocument/2006/relationships/notesMaster" Target="/ppt/notesMasters/notesMaster1.xml" Id="R8c88ff2ef92c4e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88dfa4bc3e84e21" /><Relationship Type="http://schemas.openxmlformats.org/officeDocument/2006/relationships/notesMaster" Target="/ppt/notesMasters/notesMaster1.xml" Id="R54c89c18fd2a41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81f302505846a5" /><Relationship Type="http://schemas.openxmlformats.org/officeDocument/2006/relationships/notesMaster" Target="/ppt/notesMasters/notesMaster1.xml" Id="R31fb022768b745e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4ceb4abc3494a80" /><Relationship Type="http://schemas.openxmlformats.org/officeDocument/2006/relationships/notesMaster" Target="/ppt/notesMasters/notesMaster1.xml" Id="R55b2913101734d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d06118bd7c4f57" /><Relationship Type="http://schemas.openxmlformats.org/officeDocument/2006/relationships/notesMaster" Target="/ppt/notesMasters/notesMaster1.xml" Id="Rc3286494ecbf459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11782628f94eb5" /><Relationship Type="http://schemas.openxmlformats.org/officeDocument/2006/relationships/notesMaster" Target="/ppt/notesMasters/notesMaster1.xml" Id="Rce49e95dddcf44f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f1803f7b6d04ed1" /><Relationship Type="http://schemas.openxmlformats.org/officeDocument/2006/relationships/notesMaster" Target="/ppt/notesMasters/notesMaster1.xml" Id="R6e6256d494094c5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dea52f7dac24462" /><Relationship Type="http://schemas.openxmlformats.org/officeDocument/2006/relationships/notesMaster" Target="/ppt/notesMasters/notesMaster1.xml" Id="R815b51475f5649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ストレージを含む運用フローを擦り合わせています。データ加工レイヤーを経由することで、プライバシー処理の責任を分散し、高度なアノテーション付きデータを求める販売先へ接続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時間、1,000時間、10,000時間で比較しても、デバイス償却の比率はほぼ一定です。規模の経済が効くかどうかは、主に人件費と固定費で決まります。一度契約した現場が継続的にデータを出し続ける構造を作れれば、新規開拓コストを抑えながら収集時間を伸ばせま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同一データを複数のバイヤーへ販売できれば、月10,000時間体制で平均2回販売なら会社取り分は月1,600万円、3回なら月2,400万円になります。12か月続ければ12万時間のデータ資産が残ります。</a:t>
            </a:r>
          </a:p>
          <a:p xmlns:a="http://schemas.openxmlformats.org/drawingml/2006/main">
            <a:r>
              <a:t/>
            </a:r>
          </a:p>
          <a:p xmlns:a="http://schemas.openxmlformats.org/drawingml/2006/main">
            <a:r>
              <a:t>複数回販売やアノテーションによる単価上昇は可能性の段階ですが、データが在庫として残り、累積時間が資産になること自体が、この事業の重要な性質です。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c48a4626f84d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a53c15c0ba4ddb" /><Relationship Type="http://schemas.openxmlformats.org/officeDocument/2006/relationships/slideLayout" Target="/ppt/slideLayouts/slideLayout1.xml" Id="Rbf31203527d34b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31203527d34b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0e3f263c4d4197" /><Relationship Type="http://schemas.openxmlformats.org/officeDocument/2006/relationships/notesSlide" Target="/ppt/notesSlides/notesSlide1.xml" Id="R5fc473ab03ac4c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68229259d04c1a" /><Relationship Type="http://schemas.openxmlformats.org/officeDocument/2006/relationships/notesSlide" Target="/ppt/notesSlides/notesSlide2.xml" Id="R4504a2d873ab49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9758237be34646" /><Relationship Type="http://schemas.openxmlformats.org/officeDocument/2006/relationships/notesSlide" Target="/ppt/notesSlides/notesSlide3.xml" Id="Rd7ebc28e9e4141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f55b3099264424" /><Relationship Type="http://schemas.openxmlformats.org/officeDocument/2006/relationships/notesSlide" Target="/ppt/notesSlides/notesSlide4.xml" Id="R18334a5ecbb641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89e51adf544e61" /><Relationship Type="http://schemas.openxmlformats.org/officeDocument/2006/relationships/notesSlide" Target="/ppt/notesSlides/notesSlide5.xml" Id="Re52d32f30c104f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938027f44d4a94" /><Relationship Type="http://schemas.openxmlformats.org/officeDocument/2006/relationships/notesSlide" Target="/ppt/notesSlides/notesSlide6.xml" Id="R94e241ce6d7942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01297a36694604" /><Relationship Type="http://schemas.openxmlformats.org/officeDocument/2006/relationships/notesSlide" Target="/ppt/notesSlides/notesSlide7.xml" Id="Rbdf7c10e12a047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06500f94a64003" /><Relationship Type="http://schemas.openxmlformats.org/officeDocument/2006/relationships/notesSlide" Target="/ppt/notesSlides/notesSlide8.xml" Id="Rc8dacbec24a44d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dab10d4f704950" /><Relationship Type="http://schemas.openxmlformats.org/officeDocument/2006/relationships/notesSlide" Target="/ppt/notesSlides/notesSlide9.xml" Id="R69e4b0536e5b46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88050797194ca9" /><Relationship Type="http://schemas.openxmlformats.org/officeDocument/2006/relationships/notesSlide" Target="/ppt/notesSlides/notesSlide10.xml" Id="R49a7f8b23e274d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6cf21961af84f7a" /><Relationship Type="http://schemas.openxmlformats.org/officeDocument/2006/relationships/notesSlide" Target="/ppt/notesSlides/notesSlide11.xml" Id="R7384962d6e9449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4990f92de1491b" /><Relationship Type="http://schemas.openxmlformats.org/officeDocument/2006/relationships/notesSlide" Target="/ppt/notesSlides/notesSlide12.xml" Id="R0400ca4fbbf24b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a4a3beed0c4400" /><Relationship Type="http://schemas.openxmlformats.org/officeDocument/2006/relationships/notesSlide" Target="/ppt/notesSlides/notesSlide13.xml" Id="R7fad2a65cfef47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20df8419113400b" /><Relationship Type="http://schemas.openxmlformats.org/officeDocument/2006/relationships/notesSlide" Target="/ppt/notesSlides/notesSlide14.xml" Id="Re803287405504e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5a4f60f8ed64545" /><Relationship Type="http://schemas.openxmlformats.org/officeDocument/2006/relationships/notesSlide" Target="/ppt/notesSlides/notesSlide15.xml" Id="R0df5d4c05b484b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6d94aa141b94aea" /><Relationship Type="http://schemas.openxmlformats.org/officeDocument/2006/relationships/notesSlide" Target="/ppt/notesSlides/notesSlide16.xml" Id="Re2597224f0e2478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8d99442a9ab41f3" /><Relationship Type="http://schemas.openxmlformats.org/officeDocument/2006/relationships/image" Target="/ppt/media/image.jpeg" Id="R406d98e4de0949f0" /><Relationship Type="http://schemas.openxmlformats.org/officeDocument/2006/relationships/image" Target="/ppt/media/image2.jpeg" Id="R896f2cfa99d14ef3" /><Relationship Type="http://schemas.openxmlformats.org/officeDocument/2006/relationships/image" Target="/ppt/media/image3.jpeg" Id="R21c7131d029c4ac8" /><Relationship Type="http://schemas.openxmlformats.org/officeDocument/2006/relationships/notesSlide" Target="/ppt/notesSlides/notesSlide17.xml" Id="Ra02265712f05466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ab872229f8b43aa" /><Relationship Type="http://schemas.openxmlformats.org/officeDocument/2006/relationships/notesSlide" Target="/ppt/notesSlides/notesSlide18.xml" Id="R1cef4f8f68a046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9a632cd7c494032" /><Relationship Type="http://schemas.openxmlformats.org/officeDocument/2006/relationships/notesSlide" Target="/ppt/notesSlides/notesSlide19.xml" Id="R532d6197900c469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2f6231d541f4841" /><Relationship Type="http://schemas.openxmlformats.org/officeDocument/2006/relationships/notesSlide" Target="/ppt/notesSlides/notesSlide20.xml" Id="Ra86c0dbda54c4b6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17aaff8c8794ecd" /><Relationship Type="http://schemas.openxmlformats.org/officeDocument/2006/relationships/notesSlide" Target="/ppt/notesSlides/notesSlide21.xml" Id="Rfd0dae91a9f54c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a708099b7dd43f9" /><Relationship Type="http://schemas.openxmlformats.org/officeDocument/2006/relationships/notesSlide" Target="/ppt/notesSlides/notesSlide22.xml" Id="Ra6845366fc86491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fc8a6e8f20243c2" /><Relationship Type="http://schemas.openxmlformats.org/officeDocument/2006/relationships/notesSlide" Target="/ppt/notesSlides/notesSlide23.xml" Id="R0a4309f04a66402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0597cf265d04d10" /><Relationship Type="http://schemas.openxmlformats.org/officeDocument/2006/relationships/notesSlide" Target="/ppt/notesSlides/notesSlide24.xml" Id="R0e1a0f5a12694a7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c9052b5e21d4fa2" /><Relationship Type="http://schemas.openxmlformats.org/officeDocument/2006/relationships/notesSlide" Target="/ppt/notesSlides/notesSlide25.xml" Id="Rb748f1c1a02242f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6ab56d38a194d07" /><Relationship Type="http://schemas.openxmlformats.org/officeDocument/2006/relationships/notesSlide" Target="/ppt/notesSlides/notesSlide26.xml" Id="R776def6c4bf54451"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3F56EC-7F21-498B-8FCE-EE99EB49450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C21253-3F74-4DC1-8EB8-773C5D7F15BC}"/>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21BC856A-03EC-45FA-A5F4-12DEE788802F}"/>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CD0ACFC4-CA50-4517-BAFB-F186FAD0B730}"/>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8207BB-FDB4-452B-804F-A8BA22A7ED42}"/>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2C89F855-7F0B-47FB-861E-4B969626C153}"/>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786363763"/>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D8C6319-B3DE-4B3C-AF0F-167648FC8AD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EB7F68-80BE-4CC6-A638-59B123FF66F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1B337BC4-ED23-4BCF-AADE-66BB63B8165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9D794B-4F4B-4BA4-9367-229D51747CB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62E24CD5-71AC-43E2-99EF-88EE78FF4653}"/>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B98AD180-63EE-4A57-9B5C-264E188A3B5F}"/>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0947FA3-DD8E-4246-A2EF-9D6AAA8A48E9}"/>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1C0C24E-37DE-4665-9F21-1B020EB01A60}"/>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779EDF5-43DA-488A-91F1-3B9C61D4BEEE}"/>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C34C3438-1425-4F1A-AA83-F0C4C21ABBB7}"/>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A3CAC3C9-308D-4CC7-A6D4-1FFA95C5D37A}"/>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23FC0C3F-D6DE-49DE-BA97-4FAC152FDF11}"/>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73B6D339-7494-440C-8AE0-5CF66D857B7B}"/>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AD7D5BD2-3ADD-4BBF-8A52-49EE2C906E52}"/>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D6303903-DA31-45EE-BF7A-818AC35505EF}"/>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9DA075FB-E86A-42DF-B359-861129A41DF5}"/>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AB4DA84E-AE7E-4DA3-9457-8019A47239C6}"/>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CE868EB-9557-4AC1-A647-8835868C701E}"/>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754070C-CC28-441B-A2E8-AB3791D14E63}"/>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A47F6BF-0827-495F-8CB7-C70AF2808642}"/>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E76A9CE3-B696-4768-BBC4-CF9598A7C34F}"/>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43EF36CE-5FCC-4725-8E85-785D1404D892}"/>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99B2D71-8E80-4CE6-BE26-F3F9D2167C0A}"/>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F834CA96-3F62-4D71-A9FF-CB2B5103F9C6}"/>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D0F95836-EA49-4518-9345-868F6B0A983C}"/>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D68B80F9-E23E-4663-B825-17E5BC269E10}"/>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2569D191-C348-4B39-8573-E377D6854CC0}"/>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27942B3C-93E3-4F4A-8A43-A5EC4A5EBA77}"/>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1CC55275-76E0-4136-8CF5-4965717F60F4}"/>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E87602C2-858F-404C-B140-52E974F71766}"/>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00CF95F7-EC43-43D0-BF5D-A32A14B317EF}"/>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297FEA09-6FE2-4F78-AF9A-669B26CDED31}"/>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CBA409B9-EA27-4DB5-9C5C-766F44136E62}"/>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41ED9930-17FA-490E-8C9F-6AC2DFAFD247}"/>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5F530B0C-501C-4130-85E0-117F47BE1608}"/>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12D97E32-8CF5-40B1-896F-372E48489344}"/>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509241507"/>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B53DA05-66F7-4E83-9E9D-7E62F67448A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6758D1-FA41-4AE5-8319-C58E5B1C8CF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179F5A90-8160-43E6-9530-769682E9515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97FD35-759E-4361-B24E-0BBBDBADB01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104CC55B-F1A5-4761-9FA2-8BF7FEF4C96A}"/>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395041FE-0BE3-46C0-9089-9E8895E33DBB}"/>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88F9DCB2-E6D1-4204-9B44-4A3B0CA32CCA}"/>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F1EFD369-BC5C-4D28-95F1-3DD77FA41857}"/>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A5E2CEC8-6F7D-44FF-9D1B-E4FBA7046ADD}"/>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61240B8-7F79-4D11-BBDE-C4F7157357CA}"/>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5311CBC6-5EAD-4777-BC6B-FA2F3C6284E8}"/>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BB7E5B3B-2265-4E56-B8BB-D03045F2EC5E}"/>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601306191"/>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E5A90C7-E25B-4470-9502-ED2B8097ACB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1EFD05-06C1-41D2-83B3-6CCDB0A5778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254CCAF7-04A3-4BF9-9EC2-4E69F459617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E3D19A-A963-4DE1-9D86-2CA792D14A8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955C938F-C929-496F-8163-9611DCCA05C9}"/>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4299B12D-459F-4BB5-9699-2086FF9F846B}"/>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486EA427-7AC4-4946-BA68-22C2FC2771FE}"/>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4183889-BD37-4500-923B-33B0BFA73918}"/>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86DF71A6-C1E3-40AD-AFF5-26D7565E2CF9}"/>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EF472343-589A-4CF8-9F43-B8153781BD52}"/>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57AD8D2-AB1C-46AF-83C3-14CFA4CF4F6C}"/>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17DEE33C-5D34-48A3-A016-3AD9FE99F635}"/>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0142FAF7-782B-402F-AEA9-B315ABFDC198}"/>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2AC834D-C281-4E44-90E3-7391A3854DB8}"/>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AE2CC9CF-1AD9-4885-A09F-26F86FC30EFB}"/>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400713506"/>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8542F037-CE73-4938-897A-5E5F23C7E03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69FF64-388C-4DC2-AA5E-DCEAA769FC0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61669302-D38A-4AD1-AE26-57A5A9E850F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BFF360-2F30-49BA-8F5B-B2462BC00B1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1B9F10DA-F80B-40AD-83E5-4EB9474849B9}"/>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6080D239-24AA-4881-B470-FB66483B7281}"/>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831859-4E38-45FE-90E1-780639EC312B}"/>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5F2F5FD-60A5-43A6-B397-D02CFA582FED}"/>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83FFB4A-A1F8-47C4-9577-FB7A42BBA3E4}"/>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380CDB5D-B6DF-407C-940C-7AC834DB4996}"/>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818E9976-7F74-4678-92A9-88E3EE016327}"/>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AE353A19-0346-4FC6-AF9D-6436E5294F06}"/>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019CFD3B-DB69-4033-B510-58D9FAC79213}"/>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13E88AD9-DF9F-4194-892E-6B4585F1B22C}"/>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02AB4C78-8062-4C96-AD1C-C9F84F3CFE6C}"/>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89D8CC33-B606-4BE2-B31A-E7B4E81A2CB4}"/>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B42BFEC5-8584-49A2-9996-614AB4C431A0}"/>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9B254BF-6C19-41B4-92DD-317F2B975CBF}"/>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081F00B-A9DD-403E-B66F-74884D1EF429}"/>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C1E2A68-A140-4D27-8226-237491909F04}"/>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2C8299F0-1356-48C7-BF49-005B0A5FD9AB}"/>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C829CD3C-3C01-46CF-8E66-5420CF869210}"/>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2E54CD3-9562-4278-B5B6-DC03F5901A6B}"/>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C9D38791-2C51-439D-892F-D274AF2293B1}"/>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60B4B31-2D34-4743-BB76-AAFE2526B1AA}"/>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7F118AA-4121-4B48-963C-33B2F919CC7F}"/>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9343206-0A58-4511-B958-F5064BCCFE2F}"/>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12247CA-4E88-440F-A38F-355BB45CCA34}"/>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6424DCB-6E63-4D9C-91F1-AF1FA147EE8E}"/>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83B8993-225E-4C87-8A15-8FCD64E3402E}"/>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65B0512-03B8-48B1-91A6-352183976536}"/>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05614E2-8A09-4531-9366-25EE717307F4}"/>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740B14B-5610-44E9-87E8-BA14F3D4FA4B}"/>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DC9FA9D-EA8E-480E-8FE9-05FE3D19BB7B}"/>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0C9C4C5-9B60-4929-82DF-B1A759D6FAF3}"/>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3C4F8D6-A300-4E6E-B0CF-916DB5183988}"/>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170CCA2-A749-47B7-8BD7-C4CFDA3859FD}"/>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737F311-726C-4980-A7D5-13729B28FED6}"/>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823F908-87AD-4355-973C-3380BBD85463}"/>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A2293A54-9B03-46D9-8B88-D758D8F5D8EF}"/>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C491CE9-0DD9-456C-A778-630FFA860268}"/>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F1FC3F3-856D-4248-B614-CAEA564D282D}"/>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15D0DE2-19F5-471C-9888-3F6FE8BD88CB}"/>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94DD576-FAD9-49FE-88D7-5C790CD2A2D5}"/>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8AF243E6-90AE-4EDF-9EB6-96C355107861}"/>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17B4BC4-21F2-445A-9D14-5F8080F9B438}"/>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8D7FB9D-F566-404E-BB69-0CABE2D27492}"/>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620B61DA-0587-44E6-8F01-633CCFB93038}"/>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3BE43DF5-53C8-4B9B-B342-A01D4932E4A1}"/>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05E1BC67-13BC-43F2-B73D-3C7E94C43A16}"/>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BF9CA04D-820D-441B-ADD9-78AF3F024E0D}"/>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7B0A5BBD-0EB7-42E8-BF5C-8F50B89192D1}"/>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A8C3F189-2044-4BCD-A889-B12F2BDE9C26}"/>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2E962BBE-EC97-4165-8542-72D3382D4077}"/>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9A759952-9AB2-416F-A117-F95F4C741642}"/>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222FF213-E470-49BD-80F0-390229987693}"/>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117AB765-77A2-487F-A32C-B7DAABD3F9B1}"/>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7D6388EE-A32F-4212-ADD5-406474C63C03}"/>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88C487FF-C6C1-4117-AF0E-6F32D8388840}"/>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DDD438FB-3509-439D-AD25-93DB838F78EF}"/>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68A95E6-A8A0-4717-941B-3B8F1C8DE452}"/>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EA80174D-65AD-42CF-A215-5F9862D3DDD6}"/>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598AC56E-7381-4E1B-B495-555E96E9D406}"/>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CF6CCF51-6602-4FF3-9B80-81FEB2A69E26}"/>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768283850"/>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E94FE7-DD9A-4465-BCCA-67543FB11EE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40FE44-9CDB-4256-92C8-7F0B34979AC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2BD2608D-CE96-4CA3-9AB0-EDE6E218FED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9F7CCB-A6E8-4F8E-8230-9B479CFFDD2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F5258175-3068-4BC6-9E7D-803FA22BE68D}"/>
              </a:ext>
            </a:extLst>
          </p:cNvPr>
          <p:cNvSpPr>
            <a:spLocks xmlns:a="http://schemas.openxmlformats.org/drawingml/2006/main" noGrp="1"/>
          </p:cNvSpPr>
          <p:nvPr/>
        </p:nvSpPr>
        <p:spPr>
          <a:xfrm xmlns:a="http://schemas.openxmlformats.org/drawingml/2006/main" rot="0">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84F83A56-6711-41EB-9F54-49455FB3EE12}"/>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9B659E4-BEFD-4C5F-9680-743D70925B04}"/>
              </a:ext>
            </a:extLst>
          </p:cNvPr>
          <p:cNvSpPr>
            <a:spLocks xmlns:a="http://schemas.openxmlformats.org/drawingml/2006/main" noGrp="1"/>
          </p:cNvSpPr>
          <p:nvPr/>
        </p:nvSpPr>
        <p:spPr>
          <a:xfrm xmlns:a="http://schemas.openxmlformats.org/drawingml/2006/main" rot="0">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985920E9-0921-4C4E-B29D-1A0A0CF4DE46}"/>
              </a:ext>
            </a:extLst>
          </p:cNvPr>
          <p:cNvSpPr>
            <a:spLocks xmlns:a="http://schemas.openxmlformats.org/drawingml/2006/main" noGrp="1"/>
          </p:cNvSpPr>
          <p:nvPr/>
        </p:nvSpPr>
        <p:spPr>
          <a:xfrm xmlns:a="http://schemas.openxmlformats.org/drawingml/2006/main" rot="0">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1103311095"/>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B1422E-0C61-4FF2-B767-03A0596AE04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1629CE-0450-484F-ACB0-22C3785B7B1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EB46284C-B168-45CB-99BC-D09B35C5365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EC05C1-0637-401B-81DD-620109751C8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D5FF46E1-B80C-4051-AC61-814B9A21AC86}"/>
              </a:ext>
            </a:extLst>
          </p:cNvPr>
          <p:cNvSpPr>
            <a:spLocks xmlns:a="http://schemas.openxmlformats.org/drawingml/2006/main" noGrp="1"/>
          </p:cNvSpPr>
          <p:nvPr/>
        </p:nvSpPr>
        <p:spPr>
          <a:xfrm xmlns:a="http://schemas.openxmlformats.org/drawingml/2006/main" rot="0">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独立したデータレイヤーが将来消滅するなら、データ収集企業に未来はないように聞こえるかもしれない。</a:t>
            </a:r>
          </a:p>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FC033960-A13E-4DC3-B1C6-B9492F1DD34E}"/>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F1D6356-B509-4351-9FAD-19EE5C516827}"/>
              </a:ext>
            </a:extLst>
          </p:cNvPr>
          <p:cNvSpPr>
            <a:spLocks xmlns:a="http://schemas.openxmlformats.org/drawingml/2006/main" noGrp="1"/>
          </p:cNvSpPr>
          <p:nvPr/>
        </p:nvSpPr>
        <p:spPr>
          <a:xfrm xmlns:a="http://schemas.openxmlformats.org/drawingml/2006/main" rot="0">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C070D746-A6D5-49AB-BE86-1C95716D49FE}"/>
              </a:ext>
            </a:extLst>
          </p:cNvPr>
          <p:cNvSpPr>
            <a:spLocks xmlns:a="http://schemas.openxmlformats.org/drawingml/2006/main" noGrp="1"/>
          </p:cNvSpPr>
          <p:nvPr/>
        </p:nvSpPr>
        <p:spPr>
          <a:xfrm xmlns:a="http://schemas.openxmlformats.org/drawingml/2006/main" rot="0">
            <a:off x="7239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775694724"/>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916FAD-F063-446E-A75A-FDF5DE4FF1F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446F6A-B665-406A-AC46-919254E23BF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39B86D6A-8295-4EDB-8B75-5576BD1A3B2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418982-B858-42B2-A81F-795AB0793C5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5E362481-0E3B-4BC2-8520-2D88FBCBEF1E}"/>
              </a:ext>
            </a:extLst>
          </p:cNvPr>
          <p:cNvSpPr>
            <a:spLocks xmlns:a="http://schemas.openxmlformats.org/drawingml/2006/main" noGrp="1"/>
          </p:cNvSpPr>
          <p:nvPr/>
        </p:nvSpPr>
        <p:spPr>
          <a:xfrm xmlns:a="http://schemas.openxmlformats.org/drawingml/2006/main" rot="0">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2A92A096-D4C4-4D90-BC4A-FFCE48480693}"/>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5691C5-376B-4D78-A4E8-6036B3BE6C85}"/>
              </a:ext>
            </a:extLst>
          </p:cNvPr>
          <p:cNvSpPr>
            <a:spLocks xmlns:a="http://schemas.openxmlformats.org/drawingml/2006/main" noGrp="1"/>
          </p:cNvSpPr>
          <p:nvPr/>
        </p:nvSpPr>
        <p:spPr>
          <a:xfrm xmlns:a="http://schemas.openxmlformats.org/drawingml/2006/main" rot="0">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376901618"/>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6C1579-378D-4283-B4B4-E889AFCD138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C795AD-0EAE-4199-997C-340848539AB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833F4207-831F-4253-B58D-A226F828326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8D53E4-BF40-40AB-8DA7-E346AFE9672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5EA222E0-C713-4303-B3C5-D9FBDABB13A2}"/>
              </a:ext>
            </a:extLst>
          </p:cNvPr>
          <p:cNvSpPr>
            <a:spLocks xmlns:a="http://schemas.openxmlformats.org/drawingml/2006/main" noGrp="1"/>
          </p:cNvSpPr>
          <p:nvPr/>
        </p:nvSpPr>
        <p:spPr>
          <a:xfrm xmlns:a="http://schemas.openxmlformats.org/drawingml/2006/main" rot="0">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EE7584DD-4969-41EB-9763-896B9AD947B0}"/>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39044EC-2781-46B8-9156-170B7F2D9D14}"/>
              </a:ext>
            </a:extLst>
          </p:cNvPr>
          <p:cNvSpPr>
            <a:spLocks xmlns:a="http://schemas.openxmlformats.org/drawingml/2006/main" noGrp="1"/>
          </p:cNvSpPr>
          <p:nvPr/>
        </p:nvSpPr>
        <p:spPr>
          <a:xfrm xmlns:a="http://schemas.openxmlformats.org/drawingml/2006/main" rot="0">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3C677807-2B43-412B-865B-26696E72155C}"/>
              </a:ext>
            </a:extLst>
          </p:cNvPr>
          <p:cNvSpPr>
            <a:spLocks xmlns:a="http://schemas.openxmlformats.org/drawingml/2006/main" noGrp="1"/>
          </p:cNvSpPr>
          <p:nvPr/>
        </p:nvSpPr>
        <p:spPr>
          <a:xfrm xmlns:a="http://schemas.openxmlformats.org/drawingml/2006/main" rot="0">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1866314926"/>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AE524B-7360-4DFA-AFFA-E227039865E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E942C4-8BDA-48F9-9E83-709D2251A60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7AFBBCB5-9033-42C0-989F-146523E7B2B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C6D5E7-AD4A-401B-858A-D4EC7AF9F1E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3888A469-38E2-4DB7-9545-F778323DDF95}"/>
              </a:ext>
            </a:extLst>
          </p:cNvPr>
          <p:cNvSpPr>
            <a:spLocks xmlns:a="http://schemas.openxmlformats.org/drawingml/2006/main" noGrp="1"/>
          </p:cNvSpPr>
          <p:nvPr/>
        </p:nvSpPr>
        <p:spPr>
          <a:xfrm xmlns:a="http://schemas.openxmlformats.org/drawingml/2006/main" rot="0">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D48F6729-BEA6-4A04-8609-7568F7E0B32F}"/>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29445D1-694C-45D5-BE1C-FD65E8FE8ABE}"/>
              </a:ext>
            </a:extLst>
          </p:cNvPr>
          <p:cNvSpPr>
            <a:spLocks xmlns:a="http://schemas.openxmlformats.org/drawingml/2006/main" noGrp="1"/>
          </p:cNvSpPr>
          <p:nvPr/>
        </p:nvSpPr>
        <p:spPr>
          <a:xfrm xmlns:a="http://schemas.openxmlformats.org/drawingml/2006/main" rot="0">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D20B4261-C8B0-4D2B-B851-7CE62A355587}"/>
              </a:ext>
            </a:extLst>
          </p:cNvPr>
          <p:cNvSpPr>
            <a:spLocks xmlns:a="http://schemas.openxmlformats.org/drawingml/2006/main" noGrp="1"/>
          </p:cNvSpPr>
          <p:nvPr/>
        </p:nvSpPr>
        <p:spPr>
          <a:xfrm xmlns:a="http://schemas.openxmlformats.org/drawingml/2006/main" rot="0">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1790199335"/>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6B9C83-ACA2-45D4-8555-F0C7E130CAB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B32989-F76C-41F2-A854-1A084DE4AB6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6823B51D-AF1C-4726-ACB6-6B6FB7D7A02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2683529-772E-4C5D-BF99-E45657F872B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EA93E64B-5E00-47D1-9337-E0197F3A4F8F}"/>
              </a:ext>
            </a:extLst>
          </p:cNvPr>
          <p:cNvSpPr>
            <a:spLocks xmlns:a="http://schemas.openxmlformats.org/drawingml/2006/main" noGrp="1"/>
          </p:cNvSpPr>
          <p:nvPr/>
        </p:nvSpPr>
        <p:spPr>
          <a:xfrm xmlns:a="http://schemas.openxmlformats.org/drawingml/2006/main" rot="0">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647421C7-7CE5-4D13-B120-46F704204017}"/>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8365A0-3EBF-4507-8345-E1C976290DC2}"/>
              </a:ext>
            </a:extLst>
          </p:cNvPr>
          <p:cNvSpPr>
            <a:spLocks xmlns:a="http://schemas.openxmlformats.org/drawingml/2006/main" noGrp="1"/>
          </p:cNvSpPr>
          <p:nvPr/>
        </p:nvSpPr>
        <p:spPr>
          <a:xfrm xmlns:a="http://schemas.openxmlformats.org/drawingml/2006/main" rot="0">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116E01E8-87F8-4429-B168-AAD20BD88D4C}"/>
              </a:ext>
            </a:extLst>
          </p:cNvPr>
          <p:cNvSpPr>
            <a:spLocks xmlns:a="http://schemas.openxmlformats.org/drawingml/2006/main" noGrp="1"/>
          </p:cNvSpPr>
          <p:nvPr/>
        </p:nvSpPr>
        <p:spPr>
          <a:xfrm xmlns:a="http://schemas.openxmlformats.org/drawingml/2006/main" rot="0">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980198015"/>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7998BE6-5B49-45FF-8C93-F8A89793FDB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B04F01-7612-42A5-9ABF-671F7A1BBDC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7E9FFF98-BDA0-4F0D-AEC7-B1B7D920B61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CD67A7-14B8-4069-AF22-AF8B5F584A1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F26A95AB-8970-46DA-BBA5-371128971277}"/>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5930F8CD-C041-471E-956A-D49D50371FFB}"/>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0CC2CA22-DD7C-47EF-9DCA-6185B0449619}"/>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DDDD698F-C558-4F49-A415-F98EBA354EEB}"/>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104A1CD-BEBC-4545-BB16-811832571975}"/>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4D14A03F-2D45-4DD0-9033-5C355950F4F4}"/>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6EB24D0F-385D-4FAC-9291-AC10F643BEA2}"/>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9D815873-D504-436B-A536-436DF86650B9}"/>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1157793067"/>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83DCB9A-0B7B-4C52-899E-87FDBA999B9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44E60B-FBC9-4527-939B-EE861EE878F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B0FCC819-B6CD-44CB-AF5D-E4ABEBEBA97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3F154B-7E1B-43C9-83B5-1E9A217215A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480B41E9-3986-4FF0-9FA0-7E1EFA0091E7}"/>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3C575F87-063B-4384-9737-64EF76E5130F}"/>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B50CFE89-202A-434F-A45C-82611D9CB68B}"/>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A8BC4C2E-445A-46A2-A87F-3E7828BD9C57}"/>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8FDF8034-C14F-439C-8C77-078738635D2F}"/>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DCF7712A-E7EF-47BC-88E2-39CABDF8A340}"/>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29923599-B677-49D1-8621-C69C4EEE55E4}"/>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7317EBB-4BAA-48C3-B08B-807F17249382}"/>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B45F9218-2D83-4581-BC7E-443A1B1C1120}"/>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41098341-42E7-4D9E-BA95-7A6088D42F6D}"/>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E762821E-A4DF-45F2-A48C-700675854CF6}"/>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F26288AC-F14A-46BE-9CBD-3F6C35CA974F}"/>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2D85F587-D15A-4C5C-9BCA-3A4A7326AE80}"/>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4D0AA44-904A-4AB8-9347-A0E0CA61F91B}"/>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7A112D2-6470-4C71-8B2F-302FB92BB5D4}"/>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CDF2F580-21F4-44A1-8437-C99248DD0470}"/>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E54B668D-EFD6-4E3D-9292-4E28DAFE46C6}"/>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D935E1B-0A64-4B20-9A10-221C7AAA08EA}"/>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241774561"/>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B84D8F9-65EB-4539-A991-286D0E2A782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2DE969-8114-499E-87FC-4C039D0D68C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2B6170FA-15C1-4C73-9105-1244B46B525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189810-0AAC-4556-B5E6-FF983E3F9E8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6DD6E1E4-0D22-4FA2-8A52-8CC3D0DD2EF4}"/>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飛び込み営業</a:t>
            </a:r>
          </a:p>
        </p:txBody>
      </p:sp>
      <p:sp>
        <p:nvSpPr>
          <p:cNvPr id="6" name="">
            <a:extLst xmlns:a="http://schemas.openxmlformats.org/drawingml/2006/main">
              <a:ext uri="{FF2B5EF4-FFF2-40B4-BE49-F238E27FC236}">
                <a16:creationId xmlns:a16="http://schemas.microsoft.com/office/drawing/2014/main" id="{9B1E964A-B383-4AE8-8F90-8559F2537B90}"/>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9A92E412-EAD4-4D8E-8570-E2BB0ACD96C5}"/>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7192B5D-DAE8-4C04-9CCE-AAC3C3BFF302}"/>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a:t>
            </a:r>
          </a:p>
        </p:txBody>
      </p:sp>
      <p:sp>
        <p:nvSpPr>
          <p:cNvPr id="9" name="">
            <a:extLst xmlns:a="http://schemas.openxmlformats.org/drawingml/2006/main">
              <a:ext uri="{FF2B5EF4-FFF2-40B4-BE49-F238E27FC236}">
                <a16:creationId xmlns:a16="http://schemas.microsoft.com/office/drawing/2014/main" id="{7D01981E-5DDC-4CDF-973C-F9B7B315FBA5}"/>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81FFFD56-B509-4229-BCD6-A94F43474152}"/>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8C5AE4-A2A5-4E8B-A03D-3098DD5747E7}"/>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カフェチェーン</a:t>
            </a:r>
          </a:p>
        </p:txBody>
      </p:sp>
      <p:sp>
        <p:nvSpPr>
          <p:cNvPr id="12" name="">
            <a:extLst xmlns:a="http://schemas.openxmlformats.org/drawingml/2006/main">
              <a:ext uri="{FF2B5EF4-FFF2-40B4-BE49-F238E27FC236}">
                <a16:creationId xmlns:a16="http://schemas.microsoft.com/office/drawing/2014/main" id="{32110531-5C0F-4B3E-AECB-C19BE03B4125}"/>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4DFD01B8-2B43-4FF3-98AA-93ED22493BE0}"/>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E1EEE2B-AB28-4567-96F3-AF46ED4FF17D}"/>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スーパーマーケット</a:t>
            </a:r>
          </a:p>
        </p:txBody>
      </p:sp>
      <p:sp>
        <p:nvSpPr>
          <p:cNvPr id="15" name="">
            <a:extLst xmlns:a="http://schemas.openxmlformats.org/drawingml/2006/main">
              <a:ext uri="{FF2B5EF4-FFF2-40B4-BE49-F238E27FC236}">
                <a16:creationId xmlns:a16="http://schemas.microsoft.com/office/drawing/2014/main" id="{7DAEA7D3-B4DD-4D44-8053-D1881C20ACE4}"/>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4C4898AB-1556-48AD-88B3-7688C833AC53}"/>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D0636CF-EDD9-44DE-93B7-6AABABD23E75}"/>
              </a:ext>
            </a:extLst>
          </p:cNvPr>
          <p:cNvSpPr>
            <a:spLocks xmlns:a="http://schemas.openxmlformats.org/drawingml/2006/main" noGrp="1"/>
          </p:cNvSpPr>
          <p:nvPr/>
        </p:nvSpPr>
        <p:spPr>
          <a:xfrm xmlns:a="http://schemas.openxmlformats.org/drawingml/2006/main" rot="0">
            <a:off x="723900" y="55721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直近の動き</a:t>
            </a:r>
          </a:p>
        </p:txBody>
      </p:sp>
      <p:sp>
        <p:nvSpPr>
          <p:cNvPr id="18" name="">
            <a:extLst xmlns:a="http://schemas.openxmlformats.org/drawingml/2006/main">
              <a:ext uri="{FF2B5EF4-FFF2-40B4-BE49-F238E27FC236}">
                <a16:creationId xmlns:a16="http://schemas.microsoft.com/office/drawing/2014/main" id="{10B2CFB8-4836-4802-B006-414275762036}"/>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996024698"/>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D5B150-D59E-4DFB-9FF5-8DA1CB9C717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1F375B-4091-441C-B3D0-16B8CD07987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8FDDEFCA-4A8B-4574-9FCB-32F4D58A272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A56A3B-B033-4160-9AC7-B4324150BB3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F6B00DDB-6FCC-4DD6-9CA0-4FBC4DD1D2BA}"/>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8F39BA42-3D0E-4B45-BAC5-0C29D4BE1E20}"/>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BD814859-A06E-4CF9-9680-48E4542DD847}"/>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F734390-D57B-4AF4-A1F1-03B1E0F91AEC}"/>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76733F73-820D-47E5-81DC-487409F75004}"/>
              </a:ext>
            </a:extLst>
          </p:cNvPr>
          <p:cNvSpPr>
            <a:spLocks xmlns:a="http://schemas.openxmlformats.org/drawingml/2006/main" noGrp="1"/>
          </p:cNvSpPr>
          <p:nvPr/>
        </p:nvSpPr>
        <p:spPr>
          <a:xfrm xmlns:a="http://schemas.openxmlformats.org/drawingml/2006/main" rot="0">
            <a:off x="723900" y="4572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データ加工を経由することで、プライバシー処理の責任分散と、高度なアノテーション付きデータを求める販売先への接続が可能になる。</a:t>
            </a:r>
          </a:p>
        </p:txBody>
      </p:sp>
      <p:sp>
        <p:nvSpPr>
          <p:cNvPr id="10" name="">
            <a:extLst xmlns:a="http://schemas.openxmlformats.org/drawingml/2006/main">
              <a:ext uri="{FF2B5EF4-FFF2-40B4-BE49-F238E27FC236}">
                <a16:creationId xmlns:a16="http://schemas.microsoft.com/office/drawing/2014/main" id="{25846334-6205-487A-B946-261131C127B5}"/>
              </a:ext>
            </a:extLst>
          </p:cNvPr>
          <p:cNvSpPr>
            <a:spLocks xmlns:a="http://schemas.openxmlformats.org/drawingml/2006/main" noGrp="1"/>
          </p:cNvSpPr>
          <p:nvPr/>
        </p:nvSpPr>
        <p:spPr>
          <a:xfrm xmlns:a="http://schemas.openxmlformats.org/drawingml/2006/main" rot="0">
            <a:off x="723900" y="57626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月10,000時間では50〜150TBに達するストレージも、Nextremerへ格納することで自社負担を抑えられる。</a:t>
            </a:r>
          </a:p>
        </p:txBody>
      </p:sp>
    </p:spTree>
    <p:extLst>
      <p:ext uri="{BB962C8B-B14F-4D97-AF65-F5344CB8AC3E}">
        <p14:creationId xmlns:p14="http://schemas.microsoft.com/office/powerpoint/2010/main" val="775357868"/>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F216C07-17CA-4541-A284-EE5817D0D71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00BE48-C5EE-4F67-8347-831D3093545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6E6BCF23-9CC9-4775-B1EC-C695A8295B0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DD3B9C-0B9E-477F-9083-46046CF39BB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FA2EBA12-772D-489E-A19F-E7B903333838}"/>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1FC5DBF3-407D-4550-9EB8-1E1D2E3F3C80}"/>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487EB7FA-6673-4720-86ED-D0E6D77F6343}"/>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4D3216A-199A-41BD-897E-56AE2FA9DA61}"/>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6BA2E3C9-6675-4E9C-87D2-10998330563A}"/>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8EBFECE6-425F-4CD1-97DE-000395BDAF51}"/>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C764222-34CD-4A87-994A-4E274C7BA08A}"/>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B73E56DB-DAC4-47BD-AF23-3B4A0FFC49FD}"/>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CC751FFD-3EEA-4DF4-8B7D-9D60ED2BA29E}"/>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4E5A9BC-3E85-4093-B288-9E5E1E00EE13}"/>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ABE2177F-1B61-4A2E-9B5D-EEA5E9608928}"/>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1715554480"/>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C9CCE16-ED35-44D5-A770-A6DC833006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6FA724-8E37-4403-970A-94F7171EDC3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AD1AA0BC-05EE-4987-8ABC-A7EB7B8A82C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389D5E-A8D1-42E3-BCD1-58AE3C9BB17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06d98e4de0949f0"/>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2C93FCD-9FAB-4028-9ED4-6409BAD58B4A}"/>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F71DB2B9-64A0-429B-9C6C-CBC4D92897FD}"/>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7F7E3E33-08DA-43FA-A1A6-B7C4800DC842}"/>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96f2cfa99d14ef3"/>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9784AB3-EF43-4CF8-9B02-2EDF47F07F5E}"/>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224B9F3C-D55D-4DD4-BC7C-EA3FB7489315}"/>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E6C28F80-B7E7-4F7A-B948-C02E68B4B8C8}"/>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1c7131d029c4ac8"/>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AE62A95-9279-4FE6-90CA-FE38A3200D05}"/>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D5E2139B-0713-4E57-8CE8-4267979232AD}"/>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D30D18E0-8C3C-4640-ADDE-7934B27E3531}"/>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DB82DBA1-14B3-43F2-BD63-85314FC11A61}"/>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321B233-7096-4322-821B-E2110DDD4C63}"/>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589204689"/>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08CC6B-23B1-4F22-902A-E17364C7E5E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02EF5F-155A-411D-9C00-014864E69B8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DCB58E1C-1225-458A-93B0-1C02DA16425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30250F5-90D5-4E10-A24E-392D3D16AD3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2" name=""/>
          <p:cNvGraphicFramePr/>
          <p:nvPr/>
        </p:nvGraphicFramePr>
        <p:xfrm>
          <a:off xmlns:a="http://schemas.openxmlformats.org/drawingml/2006/main" x="723900" y="1857375"/>
          <a:ext xmlns:a="http://schemas.openxmlformats.org/drawingml/2006/main" cx="10572750" cy="3238500"/>
        </p:xfrm>
        <a:graphic xmlns:a="http://schemas.openxmlformats.org/drawingml/2006/main">
          <a:graphicData uri="http://schemas.openxmlformats.org/drawingml/2006/table">
            <a:tbl>
              <a:tblPr/>
              <a:tblGrid>
                <a:gridCol w="3429000"/>
                <a:gridCol w="4476750"/>
                <a:gridCol w="2667000"/>
              </a:tblGrid>
              <a:tr h="539750">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39750">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CF580884-9A37-4153-8C3E-1A6F9924AA07}"/>
              </a:ext>
            </a:extLst>
          </p:cNvPr>
          <p:cNvSpPr>
            <a:spLocks xmlns:a="http://schemas.openxmlformats.org/drawingml/2006/main" noGrp="1"/>
          </p:cNvSpPr>
          <p:nvPr/>
        </p:nvSpPr>
        <p:spPr>
          <a:xfrm xmlns:a="http://schemas.openxmlformats.org/drawingml/2006/main" rot="0">
            <a:off x="723900" y="5381625"/>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110時間/月。流通総額に対するデバイス償却後の比率は約45.5%。</a:t>
            </a:r>
          </a:p>
        </p:txBody>
      </p:sp>
      <p:sp>
        <p:nvSpPr>
          <p:cNvPr id="7" name="">
            <a:extLst xmlns:a="http://schemas.openxmlformats.org/drawingml/2006/main">
              <a:ext uri="{FF2B5EF4-FFF2-40B4-BE49-F238E27FC236}">
                <a16:creationId xmlns:a16="http://schemas.microsoft.com/office/drawing/2014/main" id="{7AD8F0CA-E1B5-4161-97AC-8985794EC188}"/>
              </a:ext>
            </a:extLst>
          </p:cNvPr>
          <p:cNvSpPr>
            <a:spLocks xmlns:a="http://schemas.openxmlformats.org/drawingml/2006/main" noGrp="1"/>
          </p:cNvSpPr>
          <p:nvPr/>
        </p:nvSpPr>
        <p:spPr>
          <a:xfrm xmlns:a="http://schemas.openxmlformats.org/drawingml/2006/main" rot="0">
            <a:off x="723900" y="6048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現場開拓・運用、人件費、法務、破損・紛失、転送費はここに含めていない。</a:t>
            </a:r>
          </a:p>
        </p:txBody>
      </p:sp>
    </p:spTree>
    <p:extLst>
      <p:ext uri="{BB962C8B-B14F-4D97-AF65-F5344CB8AC3E}">
        <p14:creationId xmlns:p14="http://schemas.microsoft.com/office/powerpoint/2010/main" val="1583278133"/>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DEDAEF-5A8C-4721-A109-A754C376B8F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2A7D9B-2B70-454F-B83D-B111DB55126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C2B5AA6B-672E-4FA5-839C-EABC8146A23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776CAC2-96EA-4BA3-802E-201B0A56F28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8097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A89C4CF-57AE-424B-B5E5-6DF6B22D51BD}"/>
              </a:ext>
            </a:extLst>
          </p:cNvPr>
          <p:cNvSpPr>
            <a:spLocks xmlns:a="http://schemas.openxmlformats.org/drawingml/2006/main" noGrp="1"/>
          </p:cNvSpPr>
          <p:nvPr/>
        </p:nvSpPr>
        <p:spPr>
          <a:xfrm xmlns:a="http://schemas.openxmlformats.org/drawingml/2006/main" rot="0">
            <a:off x="7239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月10,000時間を12か月継続：流通総額1.92億円、会社取り分9,600万円、デバイス償却後約8,726万円。</a:t>
            </a:r>
          </a:p>
        </p:txBody>
      </p:sp>
      <p:sp>
        <p:nvSpPr>
          <p:cNvPr id="7" name="">
            <a:extLst xmlns:a="http://schemas.openxmlformats.org/drawingml/2006/main">
              <a:ext uri="{FF2B5EF4-FFF2-40B4-BE49-F238E27FC236}">
                <a16:creationId xmlns:a16="http://schemas.microsoft.com/office/drawing/2014/main" id="{9BE14A0C-B229-4948-A583-0ACAE9C6D900}"/>
              </a:ext>
            </a:extLst>
          </p:cNvPr>
          <p:cNvSpPr>
            <a:spLocks xmlns:a="http://schemas.openxmlformats.org/drawingml/2006/main" noGrp="1"/>
          </p:cNvSpPr>
          <p:nvPr/>
        </p:nvSpPr>
        <p:spPr>
          <a:xfrm xmlns:a="http://schemas.openxmlformats.org/drawingml/2006/main" rot="0">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デバイス台数と売上は収集時間に比例するため、デバイスコスト比率はスケールしても大きく変わらない。</a:t>
            </a:r>
          </a:p>
        </p:txBody>
      </p:sp>
    </p:spTree>
    <p:extLst>
      <p:ext uri="{BB962C8B-B14F-4D97-AF65-F5344CB8AC3E}">
        <p14:creationId xmlns:p14="http://schemas.microsoft.com/office/powerpoint/2010/main" val="1676766268"/>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FFF372-5774-40D7-BB69-3A0D770DC2F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5EA22C-DF8A-41AE-A685-C19D45E4042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このモデル最大の武器：データのストック性</a:t>
            </a:r>
          </a:p>
        </p:txBody>
      </p:sp>
      <p:sp>
        <p:nvSpPr>
          <p:cNvPr id="3" name="">
            <a:extLst xmlns:a="http://schemas.openxmlformats.org/drawingml/2006/main">
              <a:ext uri="{FF2B5EF4-FFF2-40B4-BE49-F238E27FC236}">
                <a16:creationId xmlns:a16="http://schemas.microsoft.com/office/drawing/2014/main" id="{49E413EF-8DAF-4419-A7BB-9A8983F80A6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C5B438-9EA5-4A44-970A-E136BD6CB01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7CC295B7-BF43-442E-9221-CC7444F4661E}"/>
              </a:ext>
            </a:extLst>
          </p:cNvPr>
          <p:cNvSpPr>
            <a:spLocks xmlns:a="http://schemas.openxmlformats.org/drawingml/2006/main" noGrp="1"/>
          </p:cNvSpPr>
          <p:nvPr/>
        </p:nvSpPr>
        <p:spPr>
          <a:xfrm xmlns:a="http://schemas.openxmlformats.org/drawingml/2006/main" rot="0">
            <a:off x="7239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データは在庫として積み上がり、過去に収集した分も売り続けられる。月ごとのフロー売上に加えて、累積時間がそのまま資産として蓄積される。</a:t>
            </a:r>
          </a:p>
        </p:txBody>
      </p:sp>
      <p:graphicFrame>
        <p:nvGraphicFramePr>
          <p:cNvPr id="13" name=""/>
          <p:cNvGraphicFramePr/>
          <p:nvPr/>
        </p:nvGraphicFramePr>
        <p:xfrm>
          <a:off xmlns:a="http://schemas.openxmlformats.org/drawingml/2006/main" x="723900" y="3190875"/>
          <a:ext xmlns:a="http://schemas.openxmlformats.org/drawingml/2006/main" cx="10572750" cy="1619250"/>
        </p:xfrm>
        <a:graphic xmlns:a="http://schemas.openxmlformats.org/drawingml/2006/main">
          <a:graphicData uri="http://schemas.openxmlformats.org/drawingml/2006/table">
            <a:tbl>
              <a:tblPr/>
              <a:tblGrid>
                <a:gridCol w="3810000"/>
                <a:gridCol w="2190750"/>
                <a:gridCol w="2190750"/>
                <a:gridCol w="2381250"/>
              </a:tblGrid>
              <a:tr h="539750">
                <a:tc>
                  <a:txBody>
                    <a:bodyPr/>
                    <a:lstStyle/>
                    <a:p>
                      <a:r>
                        <a:rPr sz="1125" b="1">
                          <a:solidFill>
                            <a:srgbClr val="FFFFFF"/>
                          </a:solidFill>
                          <a:latin typeface="Hiragino Sans"/>
                          <a:ea typeface="Hiragino Sans"/>
                          <a:cs typeface="Hiragino Sans"/>
                        </a:rPr>
                        <a:t>月10,000時間での平均販売回数</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2回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3回</a:t>
                      </a:r>
                    </a:p>
                  </a:txBody>
                  <a:tcPr marL="91440" marR="91440" marT="45720" marB="45720">
                    <a:solidFill>
                      <a:srgbClr val="25333A"/>
                    </a:solidFill>
                  </a:tcPr>
                </a:tc>
              </a:tr>
              <a:tr h="539750">
                <a:tc>
                  <a:txBody>
                    <a:bodyPr/>
                    <a:lstStyle/>
                    <a:p>
                      <a:r>
                        <a:rPr sz="1350" b="1">
                          <a:solidFill>
                            <a:srgbClr val="15191B"/>
                          </a:solidFill>
                          <a:latin typeface="Hiragino Sans"/>
                          <a:ea typeface="Hiragino Sans"/>
                          <a:cs typeface="Hiragino Sans"/>
                        </a:rPr>
                        <a:t>月間の会社取り分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2,400万円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12か月の単純年換算</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9,600万円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1.92億円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2.88億円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5AE1240-5F6F-4B33-A9DF-C3483B2DEBCB}"/>
              </a:ext>
            </a:extLst>
          </p:cNvPr>
          <p:cNvSpPr>
            <a:spLocks xmlns:a="http://schemas.openxmlformats.org/drawingml/2006/main" noGrp="1"/>
          </p:cNvSpPr>
          <p:nvPr/>
        </p:nvSpPr>
        <p:spPr>
          <a:xfrm xmlns:a="http://schemas.openxmlformats.org/drawingml/2006/main" rot="0">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同一データを複数のバイヤーへ販売できる可能性がある。Nextremer経由でアノテーション付きデータとして高付加価値化される場合、単価が上がる可能性もある。</a:t>
            </a:r>
          </a:p>
        </p:txBody>
      </p:sp>
    </p:spTree>
    <p:extLst>
      <p:ext uri="{BB962C8B-B14F-4D97-AF65-F5344CB8AC3E}">
        <p14:creationId xmlns:p14="http://schemas.microsoft.com/office/powerpoint/2010/main" val="1478524618"/>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0233D4F-FC2C-405A-87D5-BE9ECDAA3F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5DBD08-A2C5-476B-9468-B793737246B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9C840F51-E761-4ECD-B764-84C6918D215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D0B4FC-9C76-4A27-A321-B069BB9F991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627D436D-2E6E-40A2-869A-59D3D1B97FF3}"/>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FD8B7E0D-E256-4136-BD79-2947463DA9AD}"/>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68CC26A8-6D1A-4668-A94F-C5D8E30CEAA4}"/>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E16F0E9-5F10-4C53-8391-C332007AEA53}"/>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14C4FC3C-F2E8-489B-ADEE-0E5D27DDF903}"/>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90CBDA9C-05E3-49AC-A333-CB5F0F5231C1}"/>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C221573-3860-4B83-991B-2D3EB84C0ECE}"/>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5C6E5057-A36A-4EE0-9525-F84ABC98B36B}"/>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F173BF12-1A7F-4C08-B98B-0BA5861271DC}"/>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424B20E-D025-4D14-AAC2-9F4A129102A5}"/>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E939C530-DD74-4F9D-8F08-396174BDDE35}"/>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2085343374"/>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EB06BC4-317E-4325-8509-9794B1A105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E09ABB-0BD3-42BB-9024-3895A757C26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DF4A3135-13F8-4C7D-B573-CD15EE164D3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9D333A-A603-4204-B884-E81AD2A75B6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F5804C48-3F5E-42B7-B09B-272EF9DFD92B}"/>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C4E3CEEF-72CD-4EC3-9550-56D83B64A0F8}"/>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72E11DF0-7497-45FE-93E0-527DE4A5C095}"/>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75177CE-20FF-4C51-B9F4-4F28B15BE1FD}"/>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37B54870-811C-40DE-84FB-6981D278D0E0}"/>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63E14518-4FAD-4166-9028-A39547AAD724}"/>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3AC5F0-F416-49CE-8C4E-2B8AD1713EF0}"/>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7FAD5AD3-7D6D-4AA2-A4F9-04CB844C43A1}"/>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E8573C4F-C6C9-4CC7-B998-C9B8588361EE}"/>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58304078"/>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761C8B9-16BD-4E16-BB8C-3CD791EEA5A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33E8C4-4529-42D1-978A-5A3B0496909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22AA77AB-AAC2-4154-A673-8D95B0883C9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F5D3F00-A9E1-4664-B2BC-84BBB0E02E0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13C45418-331B-47A4-BC6A-D0F473858984}"/>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02AA3839-2A7F-43F3-A402-4AEFD6C01777}"/>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C9A722C8-3377-4B8E-8BD8-E99135DBD791}"/>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4285399-ED2F-4336-9CA3-3C3F7774445D}"/>
              </a:ext>
            </a:extLst>
          </p:cNvPr>
          <p:cNvSpPr>
            <a:spLocks xmlns:a="http://schemas.openxmlformats.org/drawingml/2006/main" noGrp="1"/>
          </p:cNvSpPr>
          <p:nvPr/>
        </p:nvSpPr>
        <p:spPr>
          <a:xfrm xmlns:a="http://schemas.openxmlformats.org/drawingml/2006/main" rot="0">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52D63B1D-38BB-493C-8D9B-EF74352FB57D}"/>
              </a:ext>
            </a:extLst>
          </p:cNvPr>
          <p:cNvSpPr>
            <a:spLocks xmlns:a="http://schemas.openxmlformats.org/drawingml/2006/main" noGrp="1"/>
          </p:cNvSpPr>
          <p:nvPr/>
        </p:nvSpPr>
        <p:spPr>
          <a:xfrm xmlns:a="http://schemas.openxmlformats.org/drawingml/2006/main" rot="0">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93EDA540-6BAD-48BD-9553-55F0BB32AB75}"/>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DCB52B-FD81-4203-ABE8-8F34610330B8}"/>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0C2B540B-2750-4533-B532-73C25CD4D251}"/>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B7E7296D-F2B7-4103-B80C-52031E634806}"/>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2035215884"/>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F15F60-CF48-4B2C-B5B4-AAFF81BCDEB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94EAC3-D919-42BA-9A11-3E48E95BB71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E509FA2C-2CA7-4DBF-B78E-A79149A1E18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D0E113-4E82-4A1C-A6D6-CD7F0EEB80B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43C4FF1A-5DE9-47AC-B168-6B0CFF6966D4}"/>
              </a:ext>
            </a:extLst>
          </p:cNvPr>
          <p:cNvSpPr>
            <a:spLocks xmlns:a="http://schemas.openxmlformats.org/drawingml/2006/main" noGrp="1"/>
          </p:cNvSpPr>
          <p:nvPr/>
        </p:nvSpPr>
        <p:spPr>
          <a:xfrm xmlns:a="http://schemas.openxmlformats.org/drawingml/2006/main" rot="0">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84150ECD-B792-451B-8645-BDE9D5D97CB7}"/>
              </a:ext>
            </a:extLst>
          </p:cNvPr>
          <p:cNvSpPr>
            <a:spLocks xmlns:a="http://schemas.openxmlformats.org/drawingml/2006/main" noGrp="1"/>
          </p:cNvSpPr>
          <p:nvPr/>
        </p:nvSpPr>
        <p:spPr>
          <a:xfrm xmlns:a="http://schemas.openxmlformats.org/drawingml/2006/main" rot="0">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245CF95D-C6EE-4F07-BB2B-793AB8067B2D}"/>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BF3B9CC-DAF9-478B-960C-126E54E48D02}"/>
              </a:ext>
            </a:extLst>
          </p:cNvPr>
          <p:cNvSpPr>
            <a:spLocks xmlns:a="http://schemas.openxmlformats.org/drawingml/2006/main" noGrp="1"/>
          </p:cNvSpPr>
          <p:nvPr/>
        </p:nvSpPr>
        <p:spPr>
          <a:xfrm xmlns:a="http://schemas.openxmlformats.org/drawingml/2006/main" rot="0">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11A012A3-C762-45E1-B53D-C23A779E1397}"/>
              </a:ext>
            </a:extLst>
          </p:cNvPr>
          <p:cNvSpPr>
            <a:spLocks xmlns:a="http://schemas.openxmlformats.org/drawingml/2006/main" noGrp="1"/>
          </p:cNvSpPr>
          <p:nvPr/>
        </p:nvSpPr>
        <p:spPr>
          <a:xfrm xmlns:a="http://schemas.openxmlformats.org/drawingml/2006/main" rot="0">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C767CDC5-C310-4B3C-9880-355436048583}"/>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C70A945-7986-4E88-A26D-14ED13DCE4B4}"/>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D72117EB-55F9-43B9-AF2C-4BF8EF2EBB76}"/>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7D441165-3F0A-4FFC-A5D5-FE3169667D3D}"/>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C48ED32-0B11-461F-A624-CED74B2DAFAF}"/>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2685C6FC-AC9F-46C3-99D9-A5CEFAC59388}"/>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1703330878"/>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E9238C-A6E4-4F0B-98D7-1642EDA15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16D40F-E133-434D-98FA-756AD1954CE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50DCB456-238C-451C-B62D-C1C07EE01F6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5F5F8A-11BD-4474-9934-05BBA1DE1E6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89DCEB7F-1C4A-473F-806F-CE373E8314D5}"/>
              </a:ext>
            </a:extLst>
          </p:cNvPr>
          <p:cNvSpPr>
            <a:spLocks xmlns:a="http://schemas.openxmlformats.org/drawingml/2006/main" noGrp="1"/>
          </p:cNvSpPr>
          <p:nvPr/>
        </p:nvSpPr>
        <p:spPr>
          <a:xfrm xmlns:a="http://schemas.openxmlformats.org/drawingml/2006/main" rot="0">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88FB0EA0-9247-4885-897D-8F2B068144A1}"/>
              </a:ext>
            </a:extLst>
          </p:cNvPr>
          <p:cNvSpPr>
            <a:spLocks xmlns:a="http://schemas.openxmlformats.org/drawingml/2006/main" noGrp="1"/>
          </p:cNvSpPr>
          <p:nvPr/>
        </p:nvSpPr>
        <p:spPr>
          <a:xfrm xmlns:a="http://schemas.openxmlformats.org/drawingml/2006/main" rot="0">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424FE8DB-A684-4175-B981-AC1C5FC2F4D3}"/>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E58AC05-34DC-4C37-9C5F-3A0F097FDB3E}"/>
              </a:ext>
            </a:extLst>
          </p:cNvPr>
          <p:cNvSpPr>
            <a:spLocks xmlns:a="http://schemas.openxmlformats.org/drawingml/2006/main" noGrp="1"/>
          </p:cNvSpPr>
          <p:nvPr/>
        </p:nvSpPr>
        <p:spPr>
          <a:xfrm xmlns:a="http://schemas.openxmlformats.org/drawingml/2006/main" rot="0">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8CC58E68-147A-49B7-A825-C07F3195441F}"/>
              </a:ext>
            </a:extLst>
          </p:cNvPr>
          <p:cNvSpPr>
            <a:spLocks xmlns:a="http://schemas.openxmlformats.org/drawingml/2006/main" noGrp="1"/>
          </p:cNvSpPr>
          <p:nvPr/>
        </p:nvSpPr>
        <p:spPr>
          <a:xfrm xmlns:a="http://schemas.openxmlformats.org/drawingml/2006/main" rot="0">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873C6169-8A7D-4F89-8E93-D1C3300673C0}"/>
              </a:ext>
            </a:extLst>
          </p:cNvPr>
          <p:cNvSpPr>
            <a:spLocks xmlns:a="http://schemas.openxmlformats.org/drawingml/2006/main" noGrp="1"/>
          </p:cNvSpPr>
          <p:nvPr/>
        </p:nvSpPr>
        <p:spPr>
          <a:xfrm xmlns:a="http://schemas.openxmlformats.org/drawingml/2006/main" rot="0">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861870430"/>
      </p:ext>
    </p:extLst>
  </p:cSld>
</p:sld>
</file>

<file path=ppt/slides/slide2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5AA02C7-701A-4DC7-AC05-176809035A9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990FDA-5500-4098-8BF1-E750B63EABC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FFA24D2E-D6B5-495A-9970-39F51E2500A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C565A7-8831-4A6B-A542-7C7F8332ACC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26</a:t>
            </a:r>
          </a:p>
        </p:txBody>
      </p:sp>
      <p:sp>
        <p:nvSpPr>
          <p:cNvPr id="5" name="">
            <a:extLst xmlns:a="http://schemas.openxmlformats.org/drawingml/2006/main">
              <a:ext uri="{FF2B5EF4-FFF2-40B4-BE49-F238E27FC236}">
                <a16:creationId xmlns:a16="http://schemas.microsoft.com/office/drawing/2014/main" id="{0ADCB454-2A58-4709-809C-0F5C4BF937C4}"/>
              </a:ext>
            </a:extLst>
          </p:cNvPr>
          <p:cNvSpPr>
            <a:spLocks xmlns:a="http://schemas.openxmlformats.org/drawingml/2006/main" noGrp="1"/>
          </p:cNvSpPr>
          <p:nvPr/>
        </p:nvSpPr>
        <p:spPr>
          <a:xfrm xmlns:a="http://schemas.openxmlformats.org/drawingml/2006/main" rot="0">
            <a:off x="723900" y="2047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315C78"/>
                </a:solidFill>
                <a:latin typeface="Hiragino Sans"/>
                <a:ea typeface="Hiragino Sans"/>
                <a:cs typeface="Hiragino Sans"/>
              </a:defRPr>
            </a:pPr>
            <a:r>
              <a:rPr sz="2250" b="1">
                <a:solidFill>
                  <a:srgbClr val="315C78"/>
                </a:solidFill>
                <a:latin typeface="Hiragino Sans"/>
                <a:ea typeface="Hiragino Sans"/>
                <a:cs typeface="Hiragino Sans"/>
              </a:rPr>
              <a:t>第2段階への移行</a:t>
            </a:r>
          </a:p>
        </p:txBody>
      </p:sp>
      <p:sp>
        <p:nvSpPr>
          <p:cNvPr id="6" name="">
            <a:extLst xmlns:a="http://schemas.openxmlformats.org/drawingml/2006/main">
              <a:ext uri="{FF2B5EF4-FFF2-40B4-BE49-F238E27FC236}">
                <a16:creationId xmlns:a16="http://schemas.microsoft.com/office/drawing/2014/main" id="{2213EA4B-ED73-4A2D-9445-D4F18A0FE31A}"/>
              </a:ext>
            </a:extLst>
          </p:cNvPr>
          <p:cNvSpPr>
            <a:spLocks xmlns:a="http://schemas.openxmlformats.org/drawingml/2006/main" noGrp="1"/>
          </p:cNvSpPr>
          <p:nvPr/>
        </p:nvSpPr>
        <p:spPr>
          <a:xfrm xmlns:a="http://schemas.openxmlformats.org/drawingml/2006/main" rot="0">
            <a:off x="723900" y="2952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現場実装先と、各現場の豊富な作業データを所有する。</a:t>
            </a:r>
          </a:p>
        </p:txBody>
      </p:sp>
      <p:sp>
        <p:nvSpPr>
          <p:cNvPr id="7" name="">
            <a:extLst xmlns:a="http://schemas.openxmlformats.org/drawingml/2006/main">
              <a:ext uri="{FF2B5EF4-FFF2-40B4-BE49-F238E27FC236}">
                <a16:creationId xmlns:a16="http://schemas.microsoft.com/office/drawing/2014/main" id="{4D1DF1D7-5052-4F6F-B263-6946E26BD2B8}"/>
              </a:ext>
            </a:extLst>
          </p:cNvPr>
          <p:cNvSpPr>
            <a:spLocks xmlns:a="http://schemas.openxmlformats.org/drawingml/2006/main" noGrp="1"/>
          </p:cNvSpPr>
          <p:nvPr/>
        </p:nvSpPr>
        <p:spPr>
          <a:xfrm xmlns:a="http://schemas.openxmlformats.org/drawingml/2006/main">
            <a:off x="723900" y="3810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799400-2044-4E64-B2EF-CC885C7C6ED0}"/>
              </a:ext>
            </a:extLst>
          </p:cNvPr>
          <p:cNvSpPr>
            <a:spLocks xmlns:a="http://schemas.openxmlformats.org/drawingml/2006/main" noGrp="1"/>
          </p:cNvSpPr>
          <p:nvPr/>
        </p:nvSpPr>
        <p:spPr>
          <a:xfrm xmlns:a="http://schemas.openxmlformats.org/drawingml/2006/main" rot="0">
            <a:off x="723900" y="4238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モデル開発・ハードウェア開発・現場統合のフィードバックループを</a:t>
            </a:r>
          </a:p>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自社で回すフィジカルAI企業へと転身する。</a:t>
            </a:r>
          </a:p>
        </p:txBody>
      </p:sp>
      <p:sp>
        <p:nvSpPr>
          <p:cNvPr id="9" name="">
            <a:extLst xmlns:a="http://schemas.openxmlformats.org/drawingml/2006/main">
              <a:ext uri="{FF2B5EF4-FFF2-40B4-BE49-F238E27FC236}">
                <a16:creationId xmlns:a16="http://schemas.microsoft.com/office/drawing/2014/main" id="{5F9BE2AF-5F9C-41F7-8701-E390D1112794}"/>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現場データ収集から始めるフィジカルAIプレーヤー</a:t>
            </a:r>
          </a:p>
        </p:txBody>
      </p:sp>
    </p:spTree>
    <p:extLst>
      <p:ext uri="{BB962C8B-B14F-4D97-AF65-F5344CB8AC3E}">
        <p14:creationId xmlns:p14="http://schemas.microsoft.com/office/powerpoint/2010/main" val="20788247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2026-09-15T03:39:45.7970000Z</dcterms:created>
  <dcterms:modified xsi:type="dcterms:W3CDTF">2026-09-15T03:39:45.7970000Z</dcterms:modified>
</coreProperties>
</file>
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8f38bcb8a84ceb" /><Relationship Type="http://schemas.openxmlformats.org/officeDocument/2006/relationships/extended-properties" Target="/docProps/app.xml" Id="Rca6af372574245b0" /><Relationship Type="http://schemas.openxmlformats.org/officeDocument/2006/relationships/officeDocument" Target="/ppt/presentation.xml" Id="R09c781b58f66455b" /></Relationships>
</file>

<file path=ppt/presentation.xml><?xml version="1.0" encoding="utf-8"?>
<p:presentation xmlns:p="http://schemas.openxmlformats.org/presentationml/2006/main">
  <p:sldMasterIdLst>
    <p:sldMasterId xmlns:r="http://schemas.openxmlformats.org/officeDocument/2006/relationships" id="2147483648" r:id="Rfae8da54033748dd"/>
  </p:sldMasterIdLst>
  <p:notesMasterIdLst>
    <p:notesMasterId xmlns:r="http://schemas.openxmlformats.org/officeDocument/2006/relationships" r:id="Rd31707aa0ae74eaa"/>
  </p:notesMasterIdLst>
  <p:sldIdLst>
    <p:sldId xmlns:r="http://schemas.openxmlformats.org/officeDocument/2006/relationships" id="256" r:id="R7476cb15378c47df"/>
    <p:sldId xmlns:r="http://schemas.openxmlformats.org/officeDocument/2006/relationships" id="257" r:id="R3fe4349180544c3c"/>
    <p:sldId xmlns:r="http://schemas.openxmlformats.org/officeDocument/2006/relationships" id="258" r:id="R79101b92bb014806"/>
    <p:sldId xmlns:r="http://schemas.openxmlformats.org/officeDocument/2006/relationships" id="259" r:id="Re639564364a24474"/>
    <p:sldId xmlns:r="http://schemas.openxmlformats.org/officeDocument/2006/relationships" id="260" r:id="R914201561be84794"/>
    <p:sldId xmlns:r="http://schemas.openxmlformats.org/officeDocument/2006/relationships" id="261" r:id="R42077c3ce6e64891"/>
    <p:sldId xmlns:r="http://schemas.openxmlformats.org/officeDocument/2006/relationships" id="262" r:id="R0a265bc0f9ba4122"/>
    <p:sldId xmlns:r="http://schemas.openxmlformats.org/officeDocument/2006/relationships" id="263" r:id="R1828600137964b97"/>
    <p:sldId xmlns:r="http://schemas.openxmlformats.org/officeDocument/2006/relationships" id="264" r:id="R97c7cef795274bb1"/>
    <p:sldId xmlns:r="http://schemas.openxmlformats.org/officeDocument/2006/relationships" id="265" r:id="Ra5132fa2e7784c5c"/>
    <p:sldId xmlns:r="http://schemas.openxmlformats.org/officeDocument/2006/relationships" id="266" r:id="Ra3b2a3253a08427a"/>
    <p:sldId xmlns:r="http://schemas.openxmlformats.org/officeDocument/2006/relationships" id="267" r:id="R96b8454650d04e74"/>
    <p:sldId xmlns:r="http://schemas.openxmlformats.org/officeDocument/2006/relationships" id="268" r:id="Rd5463038beec4d0d"/>
    <p:sldId xmlns:r="http://schemas.openxmlformats.org/officeDocument/2006/relationships" id="269" r:id="R9b49b43c919a4290"/>
    <p:sldId xmlns:r="http://schemas.openxmlformats.org/officeDocument/2006/relationships" id="270" r:id="R95f456054c724700"/>
    <p:sldId xmlns:r="http://schemas.openxmlformats.org/officeDocument/2006/relationships" id="271" r:id="Rcd7e985f53bb4c9b"/>
    <p:sldId xmlns:r="http://schemas.openxmlformats.org/officeDocument/2006/relationships" id="272" r:id="R834b01f4ffe64864"/>
    <p:sldId xmlns:r="http://schemas.openxmlformats.org/officeDocument/2006/relationships" id="273" r:id="R18a6a307c4ae4a23"/>
    <p:sldId xmlns:r="http://schemas.openxmlformats.org/officeDocument/2006/relationships" id="274" r:id="Rceeea5bdcdfe41cc"/>
    <p:sldId xmlns:r="http://schemas.openxmlformats.org/officeDocument/2006/relationships" id="275" r:id="R92decda0e4224bee"/>
    <p:sldId xmlns:r="http://schemas.openxmlformats.org/officeDocument/2006/relationships" id="276" r:id="R1937c4e6fcc942ec"/>
    <p:sldId xmlns:r="http://schemas.openxmlformats.org/officeDocument/2006/relationships" id="277" r:id="Rfae6e9ebd0d0453b"/>
    <p:sldId xmlns:r="http://schemas.openxmlformats.org/officeDocument/2006/relationships" id="278" r:id="Rd6780feaa9214ece"/>
    <p:sldId xmlns:r="http://schemas.openxmlformats.org/officeDocument/2006/relationships" id="279" r:id="R7568b83ac0254bf3"/>
    <p:sldId xmlns:r="http://schemas.openxmlformats.org/officeDocument/2006/relationships" id="280" r:id="Raabba2498b6e4a61"/>
    <p:sldId xmlns:r="http://schemas.openxmlformats.org/officeDocument/2006/relationships" id="281" r:id="R48c1947038d4476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52295e1e2744f21" /><Relationship Type="http://schemas.openxmlformats.org/officeDocument/2006/relationships/slideMaster" Target="/ppt/slideMasters/slideMaster1.xml" Id="Rfae8da54033748dd" /><Relationship Type="http://schemas.openxmlformats.org/officeDocument/2006/relationships/notesMaster" Target="/ppt/notesMasters/notesMaster1.xml" Id="Rd31707aa0ae74eaa" /><Relationship Type="http://schemas.openxmlformats.org/officeDocument/2006/relationships/presProps" Target="/ppt/presProps.xml" Id="R1c824f53bc2b49fa" /><Relationship Type="http://schemas.openxmlformats.org/officeDocument/2006/relationships/tableStyles" Target="/ppt/tableStyles.xml" Id="R8e1f700324f749a7" /><Relationship Type="http://schemas.openxmlformats.org/officeDocument/2006/relationships/slide" Target="/ppt/slides/slide1.xml" Id="R7476cb15378c47df" /><Relationship Type="http://schemas.openxmlformats.org/officeDocument/2006/relationships/slide" Target="/ppt/slides/slide2.xml" Id="R3fe4349180544c3c" /><Relationship Type="http://schemas.openxmlformats.org/officeDocument/2006/relationships/slide" Target="/ppt/slides/slide3.xml" Id="R79101b92bb014806" /><Relationship Type="http://schemas.openxmlformats.org/officeDocument/2006/relationships/slide" Target="/ppt/slides/slide4.xml" Id="Re639564364a24474" /><Relationship Type="http://schemas.openxmlformats.org/officeDocument/2006/relationships/slide" Target="/ppt/slides/slide5.xml" Id="R914201561be84794" /><Relationship Type="http://schemas.openxmlformats.org/officeDocument/2006/relationships/slide" Target="/ppt/slides/slide6.xml" Id="R42077c3ce6e64891" /><Relationship Type="http://schemas.openxmlformats.org/officeDocument/2006/relationships/slide" Target="/ppt/slides/slide7.xml" Id="R0a265bc0f9ba4122" /><Relationship Type="http://schemas.openxmlformats.org/officeDocument/2006/relationships/slide" Target="/ppt/slides/slide8.xml" Id="R1828600137964b97" /><Relationship Type="http://schemas.openxmlformats.org/officeDocument/2006/relationships/slide" Target="/ppt/slides/slide9.xml" Id="R97c7cef795274bb1" /><Relationship Type="http://schemas.openxmlformats.org/officeDocument/2006/relationships/slide" Target="/ppt/slides/slide10.xml" Id="Ra5132fa2e7784c5c" /><Relationship Type="http://schemas.openxmlformats.org/officeDocument/2006/relationships/slide" Target="/ppt/slides/slide11.xml" Id="Ra3b2a3253a08427a" /><Relationship Type="http://schemas.openxmlformats.org/officeDocument/2006/relationships/slide" Target="/ppt/slides/slide12.xml" Id="R96b8454650d04e74" /><Relationship Type="http://schemas.openxmlformats.org/officeDocument/2006/relationships/slide" Target="/ppt/slides/slide13.xml" Id="Rd5463038beec4d0d" /><Relationship Type="http://schemas.openxmlformats.org/officeDocument/2006/relationships/slide" Target="/ppt/slides/slide14.xml" Id="R9b49b43c919a4290" /><Relationship Type="http://schemas.openxmlformats.org/officeDocument/2006/relationships/slide" Target="/ppt/slides/slide15.xml" Id="R95f456054c724700" /><Relationship Type="http://schemas.openxmlformats.org/officeDocument/2006/relationships/slide" Target="/ppt/slides/slide16.xml" Id="Rcd7e985f53bb4c9b" /><Relationship Type="http://schemas.openxmlformats.org/officeDocument/2006/relationships/slide" Target="/ppt/slides/slide17.xml" Id="R834b01f4ffe64864" /><Relationship Type="http://schemas.openxmlformats.org/officeDocument/2006/relationships/slide" Target="/ppt/slides/slide18.xml" Id="R18a6a307c4ae4a23" /><Relationship Type="http://schemas.openxmlformats.org/officeDocument/2006/relationships/slide" Target="/ppt/slides/slide19.xml" Id="Rceeea5bdcdfe41cc" /><Relationship Type="http://schemas.openxmlformats.org/officeDocument/2006/relationships/slide" Target="/ppt/slides/slide20.xml" Id="R92decda0e4224bee" /><Relationship Type="http://schemas.openxmlformats.org/officeDocument/2006/relationships/slide" Target="/ppt/slides/slide21.xml" Id="R1937c4e6fcc942ec" /><Relationship Type="http://schemas.openxmlformats.org/officeDocument/2006/relationships/slide" Target="/ppt/slides/slide22.xml" Id="Rfae6e9ebd0d0453b" /><Relationship Type="http://schemas.openxmlformats.org/officeDocument/2006/relationships/slide" Target="/ppt/slides/slide23.xml" Id="Rd6780feaa9214ece" /><Relationship Type="http://schemas.openxmlformats.org/officeDocument/2006/relationships/slide" Target="/ppt/slides/slide24.xml" Id="R7568b83ac0254bf3" /><Relationship Type="http://schemas.openxmlformats.org/officeDocument/2006/relationships/slide" Target="/ppt/slides/slide25.xml" Id="Raabba2498b6e4a61" /><Relationship Type="http://schemas.openxmlformats.org/officeDocument/2006/relationships/slide" Target="/ppt/slides/slide26.xml" Id="R48c1947038d447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85a9f102cc40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c0d690a85b49af" /><Relationship Type="http://schemas.openxmlformats.org/officeDocument/2006/relationships/notesMaster" Target="/ppt/notesMasters/notesMaster1.xml" Id="R852700b105c141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2adb4cb44342fc" /><Relationship Type="http://schemas.openxmlformats.org/officeDocument/2006/relationships/notesMaster" Target="/ppt/notesMasters/notesMaster1.xml" Id="R1c79d6afd4ea40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8a5f4c42f34a98" /><Relationship Type="http://schemas.openxmlformats.org/officeDocument/2006/relationships/notesMaster" Target="/ppt/notesMasters/notesMaster1.xml" Id="R6696dc32daba43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39ff0238b34ef3" /><Relationship Type="http://schemas.openxmlformats.org/officeDocument/2006/relationships/notesMaster" Target="/ppt/notesMasters/notesMaster1.xml" Id="Ra4f70db08c454d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9a189bdfce4a90" /><Relationship Type="http://schemas.openxmlformats.org/officeDocument/2006/relationships/notesMaster" Target="/ppt/notesMasters/notesMaster1.xml" Id="R7c81604c68894a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4f53666ae242e8" /><Relationship Type="http://schemas.openxmlformats.org/officeDocument/2006/relationships/notesMaster" Target="/ppt/notesMasters/notesMaster1.xml" Id="Rfd7140b3b92549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887cce5252e4507" /><Relationship Type="http://schemas.openxmlformats.org/officeDocument/2006/relationships/notesMaster" Target="/ppt/notesMasters/notesMaster1.xml" Id="Ra9ffb96841d44919"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b643e966aa45b2" /><Relationship Type="http://schemas.openxmlformats.org/officeDocument/2006/relationships/notesMaster" Target="/ppt/notesMasters/notesMaster1.xml" Id="R3fc6303fb285425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392f078b8046fa" /><Relationship Type="http://schemas.openxmlformats.org/officeDocument/2006/relationships/notesMaster" Target="/ppt/notesMasters/notesMaster1.xml" Id="R9b7b0a80ad85400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a29cb4e5d1b454d" /><Relationship Type="http://schemas.openxmlformats.org/officeDocument/2006/relationships/notesMaster" Target="/ppt/notesMasters/notesMaster1.xml" Id="R3f5df94cef6343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38e2dfad01441cf" /><Relationship Type="http://schemas.openxmlformats.org/officeDocument/2006/relationships/notesMaster" Target="/ppt/notesMasters/notesMaster1.xml" Id="Rb250c6524a974e3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26c1227d70464a" /><Relationship Type="http://schemas.openxmlformats.org/officeDocument/2006/relationships/notesMaster" Target="/ppt/notesMasters/notesMaster1.xml" Id="Rc477aa4d3953491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2a33c5bfc424b2a" /><Relationship Type="http://schemas.openxmlformats.org/officeDocument/2006/relationships/notesMaster" Target="/ppt/notesMasters/notesMaster1.xml" Id="R448892d706044e2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1697e75d9f5478c" /><Relationship Type="http://schemas.openxmlformats.org/officeDocument/2006/relationships/notesMaster" Target="/ppt/notesMasters/notesMaster1.xml" Id="Rdb5a2fdfd8f147d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2d09511c56946cd" /><Relationship Type="http://schemas.openxmlformats.org/officeDocument/2006/relationships/notesMaster" Target="/ppt/notesMasters/notesMaster1.xml" Id="R770c08c94ecc44f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97c6877193e4cf5" /><Relationship Type="http://schemas.openxmlformats.org/officeDocument/2006/relationships/notesMaster" Target="/ppt/notesMasters/notesMaster1.xml" Id="Ree0187dfa2cd471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4d70b5cc25c4ab1" /><Relationship Type="http://schemas.openxmlformats.org/officeDocument/2006/relationships/notesMaster" Target="/ppt/notesMasters/notesMaster1.xml" Id="R6f48aa3c68f34c2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584ed6130044e0d" /><Relationship Type="http://schemas.openxmlformats.org/officeDocument/2006/relationships/notesMaster" Target="/ppt/notesMasters/notesMaster1.xml" Id="R182aa24fe620441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8f0a29db0394bb4" /><Relationship Type="http://schemas.openxmlformats.org/officeDocument/2006/relationships/notesMaster" Target="/ppt/notesMasters/notesMaster1.xml" Id="Raefdcb533f944bc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0b4fa566c7b4f72" /><Relationship Type="http://schemas.openxmlformats.org/officeDocument/2006/relationships/notesMaster" Target="/ppt/notesMasters/notesMaster1.xml" Id="R858237a025644ba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fded69cc62c499f" /><Relationship Type="http://schemas.openxmlformats.org/officeDocument/2006/relationships/notesMaster" Target="/ppt/notesMasters/notesMaster1.xml" Id="R3bf241a650f64d6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1aba7aec5f743f1" /><Relationship Type="http://schemas.openxmlformats.org/officeDocument/2006/relationships/notesMaster" Target="/ppt/notesMasters/notesMaster1.xml" Id="R7efcc2c17282426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d0d873cc48d4140" /><Relationship Type="http://schemas.openxmlformats.org/officeDocument/2006/relationships/notesMaster" Target="/ppt/notesMasters/notesMaster1.xml" Id="R9f111db95328438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3a8733ad97547e1" /><Relationship Type="http://schemas.openxmlformats.org/officeDocument/2006/relationships/notesMaster" Target="/ppt/notesMasters/notesMaster1.xml" Id="R735c6a45619640f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e0c1a550ec24147" /><Relationship Type="http://schemas.openxmlformats.org/officeDocument/2006/relationships/notesMaster" Target="/ppt/notesMasters/notesMaster1.xml" Id="Rfca4b91332304e8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6476ceb1cf4417e" /><Relationship Type="http://schemas.openxmlformats.org/officeDocument/2006/relationships/notesMaster" Target="/ppt/notesMasters/notesMaster1.xml" Id="R7fd6096a9cff47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カバーしている範囲が横方向に広いほど多くの現場と繋がっており、縦方向に広いほど多くの技術や領域を網羅しています。現場と直接接触するのは一番下の現場統合層と、一番上流のデータ収集層です。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1X等が該当します。</a:t>
            </a:r>
          </a:p>
          <a:p xmlns:a="http://schemas.openxmlformats.org/drawingml/2006/main">
            <a:r>
              <a:t/>
            </a:r>
          </a:p>
          <a:p xmlns:a="http://schemas.openxmlformats.org/drawingml/2006/main">
            <a:r>
              <a:t>一方、水平統合型は、そのバリューチェーンを分解した企業群です。Genesis AIのように、垂直統合と水平展開の両方の性質を持つ企業もあります。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データ収集層には、人間の作業データ、テレオペレーション、合成データ、生データの加工があり、さらに上流では収集専用デバイスの開発も広がり始めています。基盤モデル開発はPhysical Intelligence（PI）やNVIDIAが挙げられ、桁違いの投資ができる企業に限られます。シミュレーション・デジタルツインは、実データの必要量を下げながらモデル開発まで進める近接レイヤーです。</a:t>
            </a:r>
          </a:p>
          <a:p xmlns:a="http://schemas.openxmlformats.org/drawingml/2006/main">
            <a:r>
              <a:t/>
            </a:r>
          </a:p>
          <a:p xmlns:a="http://schemas.openxmlformats.org/drawingml/2006/main">
            <a:r>
              <a:t>ハードウェアは中国系企業が安価なロボットの供給で強く、現場統合層は既存のロボットやモデルを使って現場への導入を優先します。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したデータレイヤーが将来なくなるからこそ、今の段階ではデータ収集が有利な出発点になります。現場統合層が現場と接するのは当然ですが、一番上流の現場データ収集企業も、撮影のために現場へ入り、将来ロボットが使われる現場と直接の関係を作れます。上流工程と最下流の顧客が直接繋がる、フィジカルAI特有の構造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現場データを先に持つことは、ロボット企業との協業だけでなく、自分たちが現場統合へ進むための布石になります。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私たちの構想は2段階です。まず現場データネットワークを広げ、次にそのデータとネットワークを使って自ら現場統合へ進みます。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海外8社とは、ベーカリーで収集したサンプルデータのやり取りまで進みました。合意に至っていないのは、私たちの収集スケールが世界的にはまだ小さく、低い優先度として扱われているためです。</a:t>
            </a:r>
          </a:p>
          <a:p xmlns:a="http://schemas.openxmlformats.org/drawingml/2006/main">
            <a:r>
              <a:t/>
            </a:r>
          </a:p>
          <a:p xmlns:a="http://schemas.openxmlformats.org/drawingml/2006/main">
            <a:r>
              <a:t>国内ではNextremerと、現場合意、加工、販売、ストレージを含む運用フローを擦り合わせています。データ加工レイヤーを経由することで、プライバシー処理の責任を分散し、高度なアノテーション付きデータを求める販売先へ接続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現在4名で活動しています。共同創業者2名に加え、現場提供者の川島さんと、経営管理・法務・業界ネットワークを支援する大崎さんが参画しています。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時間、1,000時間、10,000時間で比較しても、デバイス償却の比率はほぼ一定です。規模の経済が効くかどうかは、主に人件費と固定費で決まります。一度契約した現場が継続的にデータを出し続ける構造を作れれば、新規開拓コストを抑えながら収集時間を伸ばせま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同一データを複数のバイヤーへ販売できれば、月10,000時間体制で平均2回販売なら会社取り分は月1,600万円、3回なら月2,400万円になります。12か月続ければ12万時間のデータ資産が残ります。</a:t>
            </a:r>
          </a:p>
          <a:p xmlns:a="http://schemas.openxmlformats.org/drawingml/2006/main">
            <a:r>
              <a:t/>
            </a:r>
          </a:p>
          <a:p xmlns:a="http://schemas.openxmlformats.org/drawingml/2006/main">
            <a:r>
              <a:t>複数回販売やアノテーションによる単価上昇は可能性の段階ですが、データが在庫として残り、累積時間が資産になること自体が、この事業の重要な性質です。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導入に適した現場へ優先順位をつけ、業種を絞って実際の現場統合を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現場データ収集で得た現場実装先、作業データ、現場の知見を使い、モデル開発・ハードウェア開発・現場統合のフィードバックループを自社で回す企業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112fe689e541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d791ada68844bb" /><Relationship Type="http://schemas.openxmlformats.org/officeDocument/2006/relationships/slideLayout" Target="/ppt/slideLayouts/slideLayout1.xml" Id="R6a1c253642db42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1c253642db42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50ad0ab9909469f" /><Relationship Type="http://schemas.openxmlformats.org/officeDocument/2006/relationships/notesSlide" Target="/ppt/notesSlides/notesSlide1.xml" Id="R4f9b103275694a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131af578fb440d" /><Relationship Type="http://schemas.openxmlformats.org/officeDocument/2006/relationships/notesSlide" Target="/ppt/notesSlides/notesSlide2.xml" Id="R60b6219d1f4546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d93e62e0ec64389" /><Relationship Type="http://schemas.openxmlformats.org/officeDocument/2006/relationships/notesSlide" Target="/ppt/notesSlides/notesSlide3.xml" Id="R3933148468994ff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6605b3fb459490c" /><Relationship Type="http://schemas.openxmlformats.org/officeDocument/2006/relationships/notesSlide" Target="/ppt/notesSlides/notesSlide4.xml" Id="Rea3a8011096147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ae28e4b18ba464f" /><Relationship Type="http://schemas.openxmlformats.org/officeDocument/2006/relationships/notesSlide" Target="/ppt/notesSlides/notesSlide5.xml" Id="R22cf6e7ed64946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286db1112de4469" /><Relationship Type="http://schemas.openxmlformats.org/officeDocument/2006/relationships/notesSlide" Target="/ppt/notesSlides/notesSlide6.xml" Id="R67bc20213c4b4f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8b5b4e33f584538" /><Relationship Type="http://schemas.openxmlformats.org/officeDocument/2006/relationships/notesSlide" Target="/ppt/notesSlides/notesSlide7.xml" Id="R2e938c75863548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19bd94e317e47a3" /><Relationship Type="http://schemas.openxmlformats.org/officeDocument/2006/relationships/notesSlide" Target="/ppt/notesSlides/notesSlide8.xml" Id="R23b40f45538a41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86258833c884a60" /><Relationship Type="http://schemas.openxmlformats.org/officeDocument/2006/relationships/notesSlide" Target="/ppt/notesSlides/notesSlide9.xml" Id="R360c6232946647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358543bd9ec459d" /><Relationship Type="http://schemas.openxmlformats.org/officeDocument/2006/relationships/notesSlide" Target="/ppt/notesSlides/notesSlide10.xml" Id="R8cb2124412ed417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c98b8e1ddf141eb" /><Relationship Type="http://schemas.openxmlformats.org/officeDocument/2006/relationships/notesSlide" Target="/ppt/notesSlides/notesSlide11.xml" Id="R10d2cc30fea648f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2a89f0152164932" /><Relationship Type="http://schemas.openxmlformats.org/officeDocument/2006/relationships/notesSlide" Target="/ppt/notesSlides/notesSlide12.xml" Id="R932ab760dbe24c8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4e953b2ee5c4cd5" /><Relationship Type="http://schemas.openxmlformats.org/officeDocument/2006/relationships/notesSlide" Target="/ppt/notesSlides/notesSlide13.xml" Id="Rc34d405401ec425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b420372e7224de5" /><Relationship Type="http://schemas.openxmlformats.org/officeDocument/2006/relationships/notesSlide" Target="/ppt/notesSlides/notesSlide14.xml" Id="Ra05874979a3e4ec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840910d85fe452e" /><Relationship Type="http://schemas.openxmlformats.org/officeDocument/2006/relationships/notesSlide" Target="/ppt/notesSlides/notesSlide15.xml" Id="R421e3d877e0a4fb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86a0459fd0b4f98" /><Relationship Type="http://schemas.openxmlformats.org/officeDocument/2006/relationships/notesSlide" Target="/ppt/notesSlides/notesSlide16.xml" Id="R825a0603e365481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2952b78b2f540f4" /><Relationship Type="http://schemas.openxmlformats.org/officeDocument/2006/relationships/image" Target="/ppt/media/image.jpeg" Id="Rf6c687aecb074743" /><Relationship Type="http://schemas.openxmlformats.org/officeDocument/2006/relationships/image" Target="/ppt/media/image2.jpeg" Id="Rd531d8cc9c0a4931" /><Relationship Type="http://schemas.openxmlformats.org/officeDocument/2006/relationships/image" Target="/ppt/media/image3.jpeg" Id="R03b0865dc6d44e46" /><Relationship Type="http://schemas.openxmlformats.org/officeDocument/2006/relationships/notesSlide" Target="/ppt/notesSlides/notesSlide17.xml" Id="R13e3259b5c4c404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58e3b03bda24cf5" /><Relationship Type="http://schemas.openxmlformats.org/officeDocument/2006/relationships/notesSlide" Target="/ppt/notesSlides/notesSlide18.xml" Id="R4c107131e1b0497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ce95c83ce064ae3" /><Relationship Type="http://schemas.openxmlformats.org/officeDocument/2006/relationships/notesSlide" Target="/ppt/notesSlides/notesSlide19.xml" Id="R2aa262861eeb425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fbc94c5e0824cf6" /><Relationship Type="http://schemas.openxmlformats.org/officeDocument/2006/relationships/notesSlide" Target="/ppt/notesSlides/notesSlide20.xml" Id="Rc26bb88321de44e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aaa118ac4254407" /><Relationship Type="http://schemas.openxmlformats.org/officeDocument/2006/relationships/notesSlide" Target="/ppt/notesSlides/notesSlide21.xml" Id="R3730a37debd94c1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d9bc8012a4b437b" /><Relationship Type="http://schemas.openxmlformats.org/officeDocument/2006/relationships/notesSlide" Target="/ppt/notesSlides/notesSlide22.xml" Id="R9650ec7737fc4d7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bf5c21396644965" /><Relationship Type="http://schemas.openxmlformats.org/officeDocument/2006/relationships/notesSlide" Target="/ppt/notesSlides/notesSlide23.xml" Id="Rcc4f9884728840b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b52a92e5d684d9d" /><Relationship Type="http://schemas.openxmlformats.org/officeDocument/2006/relationships/notesSlide" Target="/ppt/notesSlides/notesSlide24.xml" Id="R0af93653c52c495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9939599877d486a" /><Relationship Type="http://schemas.openxmlformats.org/officeDocument/2006/relationships/notesSlide" Target="/ppt/notesSlides/notesSlide25.xml" Id="R6bf0f9c8744b4ac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d5caf0a316f4842" /><Relationship Type="http://schemas.openxmlformats.org/officeDocument/2006/relationships/notesSlide" Target="/ppt/notesSlides/notesSlide26.xml" Id="R35e9235c6d1944d0"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0CCFEC-03EF-47E3-BD0E-B0775787F67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42F9D5-1036-4174-95EF-210D4759DA4E}"/>
              </a:ext>
            </a:extLst>
          </p:cNvPr>
          <p:cNvSpPr>
            <a:spLocks xmlns:a="http://schemas.openxmlformats.org/drawingml/2006/main" noGrp="1"/>
          </p:cNvSpPr>
          <p:nvPr/>
        </p:nvSpPr>
        <p:spPr>
          <a:xfrm xmlns:a="http://schemas.openxmlformats.org/drawingml/2006/main">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2A57EE73-B247-478E-844C-2B8CB6EB2AD3}"/>
              </a:ext>
            </a:extLst>
          </p:cNvPr>
          <p:cNvSpPr>
            <a:spLocks xmlns:a="http://schemas.openxmlformats.org/drawingml/2006/main" noGrp="1"/>
          </p:cNvSpPr>
          <p:nvPr/>
        </p:nvSpPr>
        <p:spPr>
          <a:xfrm xmlns:a="http://schemas.openxmlformats.org/drawingml/2006/main">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462E83F3-87FA-479E-86B9-BB7BCF41C922}"/>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B5AFB17-C4F7-4AD9-ABC5-01C1A7C1309E}"/>
              </a:ext>
            </a:extLst>
          </p:cNvPr>
          <p:cNvSpPr>
            <a:spLocks xmlns:a="http://schemas.openxmlformats.org/drawingml/2006/main" noGrp="1"/>
          </p:cNvSpPr>
          <p:nvPr/>
        </p:nvSpPr>
        <p:spPr>
          <a:xfrm xmlns:a="http://schemas.openxmlformats.org/drawingml/2006/main">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46A5B1E0-53CA-4557-9587-B843E0DB6C22}"/>
              </a:ext>
            </a:extLst>
          </p:cNvPr>
          <p:cNvSpPr>
            <a:spLocks xmlns:a="http://schemas.openxmlformats.org/drawingml/2006/main" noGrp="1"/>
          </p:cNvSpPr>
          <p:nvPr/>
        </p:nvSpPr>
        <p:spPr>
          <a:xfrm xmlns:a="http://schemas.openxmlformats.org/drawingml/2006/main">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204375084"/>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CBC749C0-E1B3-4AEA-84F7-626388B63DC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1DA6DA-D64E-42D6-93AB-40DA58FFF508}"/>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35B03DA4-F370-4903-9860-3D43D4691DA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EC5FBAA-B6FB-4584-9D58-7BF586F0B27A}"/>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1822E1FD-B2CF-4D70-A073-A2434B52F7FF}"/>
              </a:ext>
            </a:extLst>
          </p:cNvPr>
          <p:cNvSpPr>
            <a:spLocks xmlns:a="http://schemas.openxmlformats.org/drawingml/2006/main" noGrp="1"/>
          </p:cNvSpPr>
          <p:nvPr/>
        </p:nvSpPr>
        <p:spPr>
          <a:xfrm xmlns:a="http://schemas.openxmlformats.org/drawingml/2006/main">
            <a:off x="723900" y="1762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 ＝ 接続する業種・現場の広さ　　縦幅 ＝ 担う技術レイヤーの広さ</a:t>
            </a:r>
          </a:p>
        </p:txBody>
      </p:sp>
      <p:sp>
        <p:nvSpPr>
          <p:cNvPr id="6" name="">
            <a:extLst xmlns:a="http://schemas.openxmlformats.org/drawingml/2006/main">
              <a:ext uri="{FF2B5EF4-FFF2-40B4-BE49-F238E27FC236}">
                <a16:creationId xmlns:a16="http://schemas.microsoft.com/office/drawing/2014/main" id="{DE5E172F-DF37-4A7D-B621-24BB11BBE630}"/>
              </a:ext>
            </a:extLst>
          </p:cNvPr>
          <p:cNvSpPr>
            <a:spLocks xmlns:a="http://schemas.openxmlformats.org/drawingml/2006/main" noGrp="1"/>
          </p:cNvSpPr>
          <p:nvPr/>
        </p:nvSpPr>
        <p:spPr>
          <a:xfrm xmlns:a="http://schemas.openxmlformats.org/drawingml/2006/main">
            <a:off x="2266950" y="22098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7" name="">
            <a:extLst xmlns:a="http://schemas.openxmlformats.org/drawingml/2006/main">
              <a:ext uri="{FF2B5EF4-FFF2-40B4-BE49-F238E27FC236}">
                <a16:creationId xmlns:a16="http://schemas.microsoft.com/office/drawing/2014/main" id="{EB57CD57-AEE6-4686-A92A-7FFF1368299E}"/>
              </a:ext>
            </a:extLst>
          </p:cNvPr>
          <p:cNvSpPr>
            <a:spLocks xmlns:a="http://schemas.openxmlformats.org/drawingml/2006/main" noGrp="1"/>
          </p:cNvSpPr>
          <p:nvPr/>
        </p:nvSpPr>
        <p:spPr>
          <a:xfrm xmlns:a="http://schemas.openxmlformats.org/drawingml/2006/main">
            <a:off x="723900" y="23526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0E740134-A575-465C-AEB9-64575641286D}"/>
              </a:ext>
            </a:extLst>
          </p:cNvPr>
          <p:cNvSpPr>
            <a:spLocks xmlns:a="http://schemas.openxmlformats.org/drawingml/2006/main" noGrp="1"/>
          </p:cNvSpPr>
          <p:nvPr/>
        </p:nvSpPr>
        <p:spPr>
          <a:xfrm xmlns:a="http://schemas.openxmlformats.org/drawingml/2006/main">
            <a:off x="2266950" y="28956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BE32CC91-4439-46C3-9203-1B17B489FFC1}"/>
              </a:ext>
            </a:extLst>
          </p:cNvPr>
          <p:cNvSpPr>
            <a:spLocks xmlns:a="http://schemas.openxmlformats.org/drawingml/2006/main" noGrp="1"/>
          </p:cNvSpPr>
          <p:nvPr/>
        </p:nvSpPr>
        <p:spPr>
          <a:xfrm xmlns:a="http://schemas.openxmlformats.org/drawingml/2006/main">
            <a:off x="723900" y="295275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0" name="">
            <a:extLst xmlns:a="http://schemas.openxmlformats.org/drawingml/2006/main">
              <a:ext uri="{FF2B5EF4-FFF2-40B4-BE49-F238E27FC236}">
                <a16:creationId xmlns:a16="http://schemas.microsoft.com/office/drawing/2014/main" id="{8881F62E-3849-48FB-A40B-86A334ECAA18}"/>
              </a:ext>
            </a:extLst>
          </p:cNvPr>
          <p:cNvSpPr>
            <a:spLocks xmlns:a="http://schemas.openxmlformats.org/drawingml/2006/main" noGrp="1"/>
          </p:cNvSpPr>
          <p:nvPr/>
        </p:nvSpPr>
        <p:spPr>
          <a:xfrm xmlns:a="http://schemas.openxmlformats.org/drawingml/2006/main">
            <a:off x="2266950" y="35814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1" name="">
            <a:extLst xmlns:a="http://schemas.openxmlformats.org/drawingml/2006/main">
              <a:ext uri="{FF2B5EF4-FFF2-40B4-BE49-F238E27FC236}">
                <a16:creationId xmlns:a16="http://schemas.microsoft.com/office/drawing/2014/main" id="{14BB1831-F701-461D-830C-BCF689084C91}"/>
              </a:ext>
            </a:extLst>
          </p:cNvPr>
          <p:cNvSpPr>
            <a:spLocks xmlns:a="http://schemas.openxmlformats.org/drawingml/2006/main" noGrp="1"/>
          </p:cNvSpPr>
          <p:nvPr/>
        </p:nvSpPr>
        <p:spPr>
          <a:xfrm xmlns:a="http://schemas.openxmlformats.org/drawingml/2006/main">
            <a:off x="723900" y="37242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0689B55C-786D-4558-A927-BD1AC23DEE64}"/>
              </a:ext>
            </a:extLst>
          </p:cNvPr>
          <p:cNvSpPr>
            <a:spLocks xmlns:a="http://schemas.openxmlformats.org/drawingml/2006/main" noGrp="1"/>
          </p:cNvSpPr>
          <p:nvPr/>
        </p:nvSpPr>
        <p:spPr>
          <a:xfrm xmlns:a="http://schemas.openxmlformats.org/drawingml/2006/main">
            <a:off x="2266950" y="42672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13" name="">
            <a:extLst xmlns:a="http://schemas.openxmlformats.org/drawingml/2006/main">
              <a:ext uri="{FF2B5EF4-FFF2-40B4-BE49-F238E27FC236}">
                <a16:creationId xmlns:a16="http://schemas.microsoft.com/office/drawing/2014/main" id="{A3D036D3-A227-4184-980A-6C7F0AD81DC4}"/>
              </a:ext>
            </a:extLst>
          </p:cNvPr>
          <p:cNvSpPr>
            <a:spLocks xmlns:a="http://schemas.openxmlformats.org/drawingml/2006/main" noGrp="1"/>
          </p:cNvSpPr>
          <p:nvPr/>
        </p:nvSpPr>
        <p:spPr>
          <a:xfrm xmlns:a="http://schemas.openxmlformats.org/drawingml/2006/main">
            <a:off x="723900" y="44100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470A473E-8D3A-4741-8E4C-DFF1984387CC}"/>
              </a:ext>
            </a:extLst>
          </p:cNvPr>
          <p:cNvSpPr>
            <a:spLocks xmlns:a="http://schemas.openxmlformats.org/drawingml/2006/main" noGrp="1"/>
          </p:cNvSpPr>
          <p:nvPr/>
        </p:nvSpPr>
        <p:spPr>
          <a:xfrm xmlns:a="http://schemas.openxmlformats.org/drawingml/2006/main">
            <a:off x="723900" y="525780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15" name="">
            <a:extLst xmlns:a="http://schemas.openxmlformats.org/drawingml/2006/main">
              <a:ext uri="{FF2B5EF4-FFF2-40B4-BE49-F238E27FC236}">
                <a16:creationId xmlns:a16="http://schemas.microsoft.com/office/drawing/2014/main" id="{2A1114F1-1276-4D8E-911B-410D21FF9720}"/>
              </a:ext>
            </a:extLst>
          </p:cNvPr>
          <p:cNvSpPr>
            <a:spLocks xmlns:a="http://schemas.openxmlformats.org/drawingml/2006/main" noGrp="1"/>
          </p:cNvSpPr>
          <p:nvPr/>
        </p:nvSpPr>
        <p:spPr>
          <a:xfrm xmlns:a="http://schemas.openxmlformats.org/drawingml/2006/main">
            <a:off x="22669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AE90B3D-5C1E-4F81-9D99-07D37B7694AF}"/>
              </a:ext>
            </a:extLst>
          </p:cNvPr>
          <p:cNvSpPr>
            <a:spLocks xmlns:a="http://schemas.openxmlformats.org/drawingml/2006/main" noGrp="1"/>
          </p:cNvSpPr>
          <p:nvPr/>
        </p:nvSpPr>
        <p:spPr>
          <a:xfrm xmlns:a="http://schemas.openxmlformats.org/drawingml/2006/main">
            <a:off x="22669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飲食</a:t>
            </a:r>
          </a:p>
        </p:txBody>
      </p:sp>
      <p:sp>
        <p:nvSpPr>
          <p:cNvPr id="17" name="">
            <a:extLst xmlns:a="http://schemas.openxmlformats.org/drawingml/2006/main">
              <a:ext uri="{FF2B5EF4-FFF2-40B4-BE49-F238E27FC236}">
                <a16:creationId xmlns:a16="http://schemas.microsoft.com/office/drawing/2014/main" id="{CDFBD937-632E-4877-AED6-0031AC9EEED1}"/>
              </a:ext>
            </a:extLst>
          </p:cNvPr>
          <p:cNvSpPr>
            <a:spLocks xmlns:a="http://schemas.openxmlformats.org/drawingml/2006/main" noGrp="1"/>
          </p:cNvSpPr>
          <p:nvPr/>
        </p:nvSpPr>
        <p:spPr>
          <a:xfrm xmlns:a="http://schemas.openxmlformats.org/drawingml/2006/main">
            <a:off x="40386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B3BF1E4-D864-4D99-9F90-DDA8F6FA2576}"/>
              </a:ext>
            </a:extLst>
          </p:cNvPr>
          <p:cNvSpPr>
            <a:spLocks xmlns:a="http://schemas.openxmlformats.org/drawingml/2006/main" noGrp="1"/>
          </p:cNvSpPr>
          <p:nvPr/>
        </p:nvSpPr>
        <p:spPr>
          <a:xfrm xmlns:a="http://schemas.openxmlformats.org/drawingml/2006/main">
            <a:off x="40386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小売</a:t>
            </a:r>
          </a:p>
        </p:txBody>
      </p:sp>
      <p:sp>
        <p:nvSpPr>
          <p:cNvPr id="19" name="">
            <a:extLst xmlns:a="http://schemas.openxmlformats.org/drawingml/2006/main">
              <a:ext uri="{FF2B5EF4-FFF2-40B4-BE49-F238E27FC236}">
                <a16:creationId xmlns:a16="http://schemas.microsoft.com/office/drawing/2014/main" id="{ACD6EF2F-0129-45C5-8467-2D3E7EF48184}"/>
              </a:ext>
            </a:extLst>
          </p:cNvPr>
          <p:cNvSpPr>
            <a:spLocks xmlns:a="http://schemas.openxmlformats.org/drawingml/2006/main" noGrp="1"/>
          </p:cNvSpPr>
          <p:nvPr/>
        </p:nvSpPr>
        <p:spPr>
          <a:xfrm xmlns:a="http://schemas.openxmlformats.org/drawingml/2006/main">
            <a:off x="58102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41FDB1A-B215-49A7-A5C8-84D20911B3CF}"/>
              </a:ext>
            </a:extLst>
          </p:cNvPr>
          <p:cNvSpPr>
            <a:spLocks xmlns:a="http://schemas.openxmlformats.org/drawingml/2006/main" noGrp="1"/>
          </p:cNvSpPr>
          <p:nvPr/>
        </p:nvSpPr>
        <p:spPr>
          <a:xfrm xmlns:a="http://schemas.openxmlformats.org/drawingml/2006/main">
            <a:off x="58102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製造</a:t>
            </a:r>
          </a:p>
        </p:txBody>
      </p:sp>
      <p:sp>
        <p:nvSpPr>
          <p:cNvPr id="21" name="">
            <a:extLst xmlns:a="http://schemas.openxmlformats.org/drawingml/2006/main">
              <a:ext uri="{FF2B5EF4-FFF2-40B4-BE49-F238E27FC236}">
                <a16:creationId xmlns:a16="http://schemas.microsoft.com/office/drawing/2014/main" id="{F874DBCB-9E33-4A8A-A689-312D0BBD3619}"/>
              </a:ext>
            </a:extLst>
          </p:cNvPr>
          <p:cNvSpPr>
            <a:spLocks xmlns:a="http://schemas.openxmlformats.org/drawingml/2006/main" noGrp="1"/>
          </p:cNvSpPr>
          <p:nvPr/>
        </p:nvSpPr>
        <p:spPr>
          <a:xfrm xmlns:a="http://schemas.openxmlformats.org/drawingml/2006/main">
            <a:off x="75819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E18B7BE-1971-4B7D-98BD-6F3769BABFBE}"/>
              </a:ext>
            </a:extLst>
          </p:cNvPr>
          <p:cNvSpPr>
            <a:spLocks xmlns:a="http://schemas.openxmlformats.org/drawingml/2006/main" noGrp="1"/>
          </p:cNvSpPr>
          <p:nvPr/>
        </p:nvSpPr>
        <p:spPr>
          <a:xfrm xmlns:a="http://schemas.openxmlformats.org/drawingml/2006/main">
            <a:off x="75819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物流</a:t>
            </a:r>
          </a:p>
        </p:txBody>
      </p:sp>
      <p:sp>
        <p:nvSpPr>
          <p:cNvPr id="23" name="">
            <a:extLst xmlns:a="http://schemas.openxmlformats.org/drawingml/2006/main">
              <a:ext uri="{FF2B5EF4-FFF2-40B4-BE49-F238E27FC236}">
                <a16:creationId xmlns:a16="http://schemas.microsoft.com/office/drawing/2014/main" id="{5EA8B60B-D99C-4F46-870E-FE7541E36BEA}"/>
              </a:ext>
            </a:extLst>
          </p:cNvPr>
          <p:cNvSpPr>
            <a:spLocks xmlns:a="http://schemas.openxmlformats.org/drawingml/2006/main" noGrp="1"/>
          </p:cNvSpPr>
          <p:nvPr/>
        </p:nvSpPr>
        <p:spPr>
          <a:xfrm xmlns:a="http://schemas.openxmlformats.org/drawingml/2006/main">
            <a:off x="93535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4590A5D-4126-4366-B605-CE85B951DED5}"/>
              </a:ext>
            </a:extLst>
          </p:cNvPr>
          <p:cNvSpPr>
            <a:spLocks xmlns:a="http://schemas.openxmlformats.org/drawingml/2006/main" noGrp="1"/>
          </p:cNvSpPr>
          <p:nvPr/>
        </p:nvSpPr>
        <p:spPr>
          <a:xfrm xmlns:a="http://schemas.openxmlformats.org/drawingml/2006/main">
            <a:off x="93535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ほか</a:t>
            </a:r>
          </a:p>
        </p:txBody>
      </p:sp>
      <p:sp>
        <p:nvSpPr>
          <p:cNvPr id="25" name="">
            <a:extLst xmlns:a="http://schemas.openxmlformats.org/drawingml/2006/main">
              <a:ext uri="{FF2B5EF4-FFF2-40B4-BE49-F238E27FC236}">
                <a16:creationId xmlns:a16="http://schemas.microsoft.com/office/drawing/2014/main" id="{D3AE9A63-92A1-48A4-B3C9-8CF7544C2085}"/>
              </a:ext>
            </a:extLst>
          </p:cNvPr>
          <p:cNvSpPr>
            <a:spLocks xmlns:a="http://schemas.openxmlformats.org/drawingml/2006/main" noGrp="1"/>
          </p:cNvSpPr>
          <p:nvPr/>
        </p:nvSpPr>
        <p:spPr>
          <a:xfrm xmlns:a="http://schemas.openxmlformats.org/drawingml/2006/main">
            <a:off x="2619375" y="2962275"/>
            <a:ext cx="1981200" cy="17907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6" name="">
            <a:extLst xmlns:a="http://schemas.openxmlformats.org/drawingml/2006/main">
              <a:ext uri="{FF2B5EF4-FFF2-40B4-BE49-F238E27FC236}">
                <a16:creationId xmlns:a16="http://schemas.microsoft.com/office/drawing/2014/main" id="{EB8E6758-5C82-4E0E-96B3-7DAF43EC3BF5}"/>
              </a:ext>
            </a:extLst>
          </p:cNvPr>
          <p:cNvSpPr>
            <a:spLocks xmlns:a="http://schemas.openxmlformats.org/drawingml/2006/main" noGrp="1"/>
          </p:cNvSpPr>
          <p:nvPr/>
        </p:nvSpPr>
        <p:spPr>
          <a:xfrm xmlns:a="http://schemas.openxmlformats.org/drawingml/2006/main">
            <a:off x="2819400" y="3105150"/>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27" name="">
            <a:extLst xmlns:a="http://schemas.openxmlformats.org/drawingml/2006/main">
              <a:ext uri="{FF2B5EF4-FFF2-40B4-BE49-F238E27FC236}">
                <a16:creationId xmlns:a16="http://schemas.microsoft.com/office/drawing/2014/main" id="{283AEA04-6DD6-4600-82B1-FC50D4D67719}"/>
              </a:ext>
            </a:extLst>
          </p:cNvPr>
          <p:cNvSpPr>
            <a:spLocks xmlns:a="http://schemas.openxmlformats.org/drawingml/2006/main" noGrp="1"/>
          </p:cNvSpPr>
          <p:nvPr/>
        </p:nvSpPr>
        <p:spPr>
          <a:xfrm xmlns:a="http://schemas.openxmlformats.org/drawingml/2006/main">
            <a:off x="2905125" y="3476625"/>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15191B"/>
                </a:solidFill>
                <a:latin typeface="Hiragino Sans"/>
                <a:ea typeface="Hiragino Sans"/>
                <a:cs typeface="Hiragino Sans"/>
              </a:defRPr>
            </a:pPr>
            <a:r>
              <a:rPr sz="1200" b="1">
                <a:solidFill>
                  <a:srgbClr val="15191B"/>
                </a:solidFill>
                <a:latin typeface="Hiragino Sans"/>
                <a:ea typeface="Hiragino Sans"/>
                <a:cs typeface="Hiragino Sans"/>
              </a:rPr>
              <a:t>モデル</a:t>
            </a:r>
          </a:p>
        </p:txBody>
      </p:sp>
      <p:sp>
        <p:nvSpPr>
          <p:cNvPr id="28" name="">
            <a:extLst xmlns:a="http://schemas.openxmlformats.org/drawingml/2006/main">
              <a:ext uri="{FF2B5EF4-FFF2-40B4-BE49-F238E27FC236}">
                <a16:creationId xmlns:a16="http://schemas.microsoft.com/office/drawing/2014/main" id="{F6044B5D-3EBD-4B95-A665-432641CF2EB8}"/>
              </a:ext>
            </a:extLst>
          </p:cNvPr>
          <p:cNvSpPr>
            <a:spLocks xmlns:a="http://schemas.openxmlformats.org/drawingml/2006/main" noGrp="1"/>
          </p:cNvSpPr>
          <p:nvPr/>
        </p:nvSpPr>
        <p:spPr>
          <a:xfrm xmlns:a="http://schemas.openxmlformats.org/drawingml/2006/main">
            <a:off x="2905125" y="3924300"/>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15191B"/>
                </a:solidFill>
                <a:latin typeface="Hiragino Sans"/>
                <a:ea typeface="Hiragino Sans"/>
                <a:cs typeface="Hiragino Sans"/>
              </a:defRPr>
            </a:pPr>
            <a:r>
              <a:rPr sz="1200" b="1">
                <a:solidFill>
                  <a:srgbClr val="15191B"/>
                </a:solidFill>
                <a:latin typeface="Hiragino Sans"/>
                <a:ea typeface="Hiragino Sans"/>
                <a:cs typeface="Hiragino Sans"/>
              </a:rPr>
              <a:t>ハードウェア</a:t>
            </a:r>
          </a:p>
        </p:txBody>
      </p:sp>
      <p:sp>
        <p:nvSpPr>
          <p:cNvPr id="29" name="">
            <a:extLst xmlns:a="http://schemas.openxmlformats.org/drawingml/2006/main">
              <a:ext uri="{FF2B5EF4-FFF2-40B4-BE49-F238E27FC236}">
                <a16:creationId xmlns:a16="http://schemas.microsoft.com/office/drawing/2014/main" id="{8A477AE8-95A1-42C2-96AF-A218DEE3D3A0}"/>
              </a:ext>
            </a:extLst>
          </p:cNvPr>
          <p:cNvSpPr>
            <a:spLocks xmlns:a="http://schemas.openxmlformats.org/drawingml/2006/main" noGrp="1"/>
          </p:cNvSpPr>
          <p:nvPr/>
        </p:nvSpPr>
        <p:spPr>
          <a:xfrm xmlns:a="http://schemas.openxmlformats.org/drawingml/2006/main">
            <a:off x="2905125" y="4371975"/>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15191B"/>
                </a:solidFill>
                <a:latin typeface="Hiragino Sans"/>
                <a:ea typeface="Hiragino Sans"/>
                <a:cs typeface="Hiragino Sans"/>
              </a:defRPr>
            </a:pPr>
            <a:r>
              <a:rPr sz="1200" b="1">
                <a:solidFill>
                  <a:srgbClr val="15191B"/>
                </a:solidFill>
                <a:latin typeface="Hiragino Sans"/>
                <a:ea typeface="Hiragino Sans"/>
                <a:cs typeface="Hiragino Sans"/>
              </a:rPr>
              <a:t>現場統合</a:t>
            </a:r>
          </a:p>
        </p:txBody>
      </p:sp>
      <p:sp>
        <p:nvSpPr>
          <p:cNvPr id="30" name="">
            <a:extLst xmlns:a="http://schemas.openxmlformats.org/drawingml/2006/main">
              <a:ext uri="{FF2B5EF4-FFF2-40B4-BE49-F238E27FC236}">
                <a16:creationId xmlns:a16="http://schemas.microsoft.com/office/drawing/2014/main" id="{CE587751-9007-4083-ADF6-7A7D25962926}"/>
              </a:ext>
            </a:extLst>
          </p:cNvPr>
          <p:cNvSpPr>
            <a:spLocks xmlns:a="http://schemas.openxmlformats.org/drawingml/2006/main" noGrp="1"/>
          </p:cNvSpPr>
          <p:nvPr/>
        </p:nvSpPr>
        <p:spPr>
          <a:xfrm xmlns:a="http://schemas.openxmlformats.org/drawingml/2006/main">
            <a:off x="5048250" y="2266950"/>
            <a:ext cx="5619750" cy="4381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1" name="">
            <a:extLst xmlns:a="http://schemas.openxmlformats.org/drawingml/2006/main">
              <a:ext uri="{FF2B5EF4-FFF2-40B4-BE49-F238E27FC236}">
                <a16:creationId xmlns:a16="http://schemas.microsoft.com/office/drawing/2014/main" id="{A7A1136F-0A88-4A42-BE21-D81EF0AE1A6C}"/>
              </a:ext>
            </a:extLst>
          </p:cNvPr>
          <p:cNvSpPr>
            <a:spLocks xmlns:a="http://schemas.openxmlformats.org/drawingml/2006/main" noGrp="1"/>
          </p:cNvSpPr>
          <p:nvPr/>
        </p:nvSpPr>
        <p:spPr>
          <a:xfrm xmlns:a="http://schemas.openxmlformats.org/drawingml/2006/main">
            <a:off x="5219700" y="2371725"/>
            <a:ext cx="527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水平統合型：一つのレイヤーから多くの現場へ</a:t>
            </a:r>
          </a:p>
        </p:txBody>
      </p:sp>
      <p:sp>
        <p:nvSpPr>
          <p:cNvPr id="32" name="">
            <a:extLst xmlns:a="http://schemas.openxmlformats.org/drawingml/2006/main">
              <a:ext uri="{FF2B5EF4-FFF2-40B4-BE49-F238E27FC236}">
                <a16:creationId xmlns:a16="http://schemas.microsoft.com/office/drawing/2014/main" id="{0058919E-7017-4A79-BE82-550D66ADDBD5}"/>
              </a:ext>
            </a:extLst>
          </p:cNvPr>
          <p:cNvSpPr>
            <a:spLocks xmlns:a="http://schemas.openxmlformats.org/drawingml/2006/main" noGrp="1"/>
          </p:cNvSpPr>
          <p:nvPr/>
        </p:nvSpPr>
        <p:spPr>
          <a:xfrm xmlns:a="http://schemas.openxmlformats.org/drawingml/2006/main">
            <a:off x="10372725" y="2705100"/>
            <a:ext cx="19050" cy="24574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49C7270-25A3-4B4B-8AB8-95078720657D}"/>
              </a:ext>
            </a:extLst>
          </p:cNvPr>
          <p:cNvSpPr>
            <a:spLocks xmlns:a="http://schemas.openxmlformats.org/drawingml/2006/main" noGrp="1"/>
          </p:cNvSpPr>
          <p:nvPr/>
        </p:nvSpPr>
        <p:spPr>
          <a:xfrm xmlns:a="http://schemas.openxmlformats.org/drawingml/2006/main">
            <a:off x="8401050" y="28003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撮影で現場へ入る</a:t>
            </a:r>
          </a:p>
        </p:txBody>
      </p:sp>
      <p:sp>
        <p:nvSpPr>
          <p:cNvPr id="34" name="">
            <a:extLst xmlns:a="http://schemas.openxmlformats.org/drawingml/2006/main">
              <a:ext uri="{FF2B5EF4-FFF2-40B4-BE49-F238E27FC236}">
                <a16:creationId xmlns:a16="http://schemas.microsoft.com/office/drawing/2014/main" id="{10447178-F94C-40A5-96AD-BC1E88CECF6F}"/>
              </a:ext>
            </a:extLst>
          </p:cNvPr>
          <p:cNvSpPr>
            <a:spLocks xmlns:a="http://schemas.openxmlformats.org/drawingml/2006/main" noGrp="1"/>
          </p:cNvSpPr>
          <p:nvPr/>
        </p:nvSpPr>
        <p:spPr>
          <a:xfrm xmlns:a="http://schemas.openxmlformats.org/drawingml/2006/main">
            <a:off x="8401050" y="47625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導入で現場へ入る</a:t>
            </a:r>
          </a:p>
        </p:txBody>
      </p:sp>
      <p:sp>
        <p:nvSpPr>
          <p:cNvPr id="35" name="">
            <a:extLst xmlns:a="http://schemas.openxmlformats.org/drawingml/2006/main">
              <a:ext uri="{FF2B5EF4-FFF2-40B4-BE49-F238E27FC236}">
                <a16:creationId xmlns:a16="http://schemas.microsoft.com/office/drawing/2014/main" id="{D0126327-A609-4B6C-8BD0-62EDEACD5C47}"/>
              </a:ext>
            </a:extLst>
          </p:cNvPr>
          <p:cNvSpPr>
            <a:spLocks xmlns:a="http://schemas.openxmlformats.org/drawingml/2006/main" noGrp="1"/>
          </p:cNvSpPr>
          <p:nvPr/>
        </p:nvSpPr>
        <p:spPr>
          <a:xfrm xmlns:a="http://schemas.openxmlformats.org/drawingml/2006/main">
            <a:off x="2266950" y="5886450"/>
            <a:ext cx="885825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44DC813-B50E-446D-A7DE-E886C727930B}"/>
              </a:ext>
            </a:extLst>
          </p:cNvPr>
          <p:cNvSpPr>
            <a:spLocks xmlns:a="http://schemas.openxmlformats.org/drawingml/2006/main" noGrp="1"/>
          </p:cNvSpPr>
          <p:nvPr/>
        </p:nvSpPr>
        <p:spPr>
          <a:xfrm xmlns:a="http://schemas.openxmlformats.org/drawingml/2006/main">
            <a:off x="2266950" y="59626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特定の現場</a:t>
            </a:r>
          </a:p>
        </p:txBody>
      </p:sp>
      <p:sp>
        <p:nvSpPr>
          <p:cNvPr id="37" name="">
            <a:extLst xmlns:a="http://schemas.openxmlformats.org/drawingml/2006/main">
              <a:ext uri="{FF2B5EF4-FFF2-40B4-BE49-F238E27FC236}">
                <a16:creationId xmlns:a16="http://schemas.microsoft.com/office/drawing/2014/main" id="{07C295CF-BCB7-45A3-AB4E-EBBAE0A994DB}"/>
              </a:ext>
            </a:extLst>
          </p:cNvPr>
          <p:cNvSpPr>
            <a:spLocks xmlns:a="http://schemas.openxmlformats.org/drawingml/2006/main" noGrp="1"/>
          </p:cNvSpPr>
          <p:nvPr/>
        </p:nvSpPr>
        <p:spPr>
          <a:xfrm xmlns:a="http://schemas.openxmlformats.org/drawingml/2006/main">
            <a:off x="8648700" y="59626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複数業種・多数の現場  →</a:t>
            </a:r>
          </a:p>
        </p:txBody>
      </p:sp>
    </p:spTree>
    <p:extLst>
      <p:ext uri="{BB962C8B-B14F-4D97-AF65-F5344CB8AC3E}">
        <p14:creationId xmlns:p14="http://schemas.microsoft.com/office/powerpoint/2010/main" val="705767825"/>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B0684E7-4B0D-48C9-80AA-7E6138020FA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C7DB8B-0878-41F5-9126-BBF44670435E}"/>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15863B14-73B8-46D2-905E-CD8A931E092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74D1F43-0743-4CB4-BDA1-0E95C54A0A78}"/>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6BC1FBF8-1140-4897-A82E-7EE761124EB6}"/>
              </a:ext>
            </a:extLst>
          </p:cNvPr>
          <p:cNvSpPr>
            <a:spLocks xmlns:a="http://schemas.openxmlformats.org/drawingml/2006/main" noGrp="1"/>
          </p:cNvSpPr>
          <p:nvPr/>
        </p:nvSpPr>
        <p:spPr>
          <a:xfrm xmlns:a="http://schemas.openxmlformats.org/drawingml/2006/main">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F4DA29B9-0A81-4444-A3CC-7BAF20452ECA}"/>
              </a:ext>
            </a:extLst>
          </p:cNvPr>
          <p:cNvSpPr>
            <a:spLocks xmlns:a="http://schemas.openxmlformats.org/drawingml/2006/main" noGrp="1"/>
          </p:cNvSpPr>
          <p:nvPr/>
        </p:nvSpPr>
        <p:spPr>
          <a:xfrm xmlns:a="http://schemas.openxmlformats.org/drawingml/2006/main">
            <a:off x="723900" y="2381250"/>
            <a:ext cx="4762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特定の業種・タスクに絞り、決め打ちで現場で実際に動くロボットを作る。完全な自律運用が難しい場合は、遠隔操作で働くレベルから商用化する企業もあれば、自律運用の幅を地道に広げる企業もある。1X等が該当する。</a:t>
            </a:r>
          </a:p>
        </p:txBody>
      </p:sp>
      <p:sp>
        <p:nvSpPr>
          <p:cNvPr id="7" name="">
            <a:extLst xmlns:a="http://schemas.openxmlformats.org/drawingml/2006/main">
              <a:ext uri="{FF2B5EF4-FFF2-40B4-BE49-F238E27FC236}">
                <a16:creationId xmlns:a16="http://schemas.microsoft.com/office/drawing/2014/main" id="{8B18626B-1DA9-454A-97BF-013BCCC9111F}"/>
              </a:ext>
            </a:extLst>
          </p:cNvPr>
          <p:cNvSpPr>
            <a:spLocks xmlns:a="http://schemas.openxmlformats.org/drawingml/2006/main" noGrp="1"/>
          </p:cNvSpPr>
          <p:nvPr/>
        </p:nvSpPr>
        <p:spPr>
          <a:xfrm xmlns:a="http://schemas.openxmlformats.org/drawingml/2006/main">
            <a:off x="723900" y="4476750"/>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Genesis AIは、AI・ハードウェア・データエンジンをフルスタックで開発しながら、汎用的なロボティクスプラットフォームを目指す。</a:t>
            </a:r>
          </a:p>
        </p:txBody>
      </p:sp>
      <p:sp>
        <p:nvSpPr>
          <p:cNvPr id="8" name="">
            <a:extLst xmlns:a="http://schemas.openxmlformats.org/drawingml/2006/main">
              <a:ext uri="{FF2B5EF4-FFF2-40B4-BE49-F238E27FC236}">
                <a16:creationId xmlns:a16="http://schemas.microsoft.com/office/drawing/2014/main" id="{90AA3581-1D86-4951-9431-4D5898323ABE}"/>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29D4D6A-8326-4F44-BA26-AFB9BAC66207}"/>
              </a:ext>
            </a:extLst>
          </p:cNvPr>
          <p:cNvSpPr>
            <a:spLocks xmlns:a="http://schemas.openxmlformats.org/drawingml/2006/main" noGrp="1"/>
          </p:cNvSpPr>
          <p:nvPr/>
        </p:nvSpPr>
        <p:spPr>
          <a:xfrm xmlns:a="http://schemas.openxmlformats.org/drawingml/2006/main">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0" name="">
            <a:extLst xmlns:a="http://schemas.openxmlformats.org/drawingml/2006/main">
              <a:ext uri="{FF2B5EF4-FFF2-40B4-BE49-F238E27FC236}">
                <a16:creationId xmlns:a16="http://schemas.microsoft.com/office/drawing/2014/main" id="{142D4AD8-B1F6-4680-AB92-B4B63BD24077}"/>
              </a:ext>
            </a:extLst>
          </p:cNvPr>
          <p:cNvSpPr>
            <a:spLocks xmlns:a="http://schemas.openxmlformats.org/drawingml/2006/main" noGrp="1"/>
          </p:cNvSpPr>
          <p:nvPr/>
        </p:nvSpPr>
        <p:spPr>
          <a:xfrm xmlns:a="http://schemas.openxmlformats.org/drawingml/2006/main">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1" name="">
            <a:extLst xmlns:a="http://schemas.openxmlformats.org/drawingml/2006/main">
              <a:ext uri="{FF2B5EF4-FFF2-40B4-BE49-F238E27FC236}">
                <a16:creationId xmlns:a16="http://schemas.microsoft.com/office/drawing/2014/main" id="{DFA39DD0-0FBF-48BB-A221-FA6C74134D5D}"/>
              </a:ext>
            </a:extLst>
          </p:cNvPr>
          <p:cNvSpPr>
            <a:spLocks xmlns:a="http://schemas.openxmlformats.org/drawingml/2006/main" noGrp="1"/>
          </p:cNvSpPr>
          <p:nvPr/>
        </p:nvSpPr>
        <p:spPr>
          <a:xfrm xmlns:a="http://schemas.openxmlformats.org/drawingml/2006/main">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1380970216"/>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2C5637D-8EAE-4911-B20B-6C266294CEC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CFE279-68B6-4C15-89CC-B99FD26DD0FC}"/>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A7A0CB28-1D70-4398-ABCA-8A6FD0FD805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9AB5CC4-858F-4D54-9172-B388BCE978E0}"/>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00C8C9A9-07C7-4919-B357-B34D8CF6618E}"/>
              </a:ext>
            </a:extLst>
          </p:cNvPr>
          <p:cNvSpPr>
            <a:spLocks xmlns:a="http://schemas.openxmlformats.org/drawingml/2006/main" noGrp="1"/>
          </p:cNvSpPr>
          <p:nvPr/>
        </p:nvSpPr>
        <p:spPr>
          <a:xfrm xmlns:a="http://schemas.openxmlformats.org/drawingml/2006/main">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6" name="">
            <a:extLst xmlns:a="http://schemas.openxmlformats.org/drawingml/2006/main">
              <a:ext uri="{FF2B5EF4-FFF2-40B4-BE49-F238E27FC236}">
                <a16:creationId xmlns:a16="http://schemas.microsoft.com/office/drawing/2014/main" id="{FFDA4B1F-8151-42EC-A254-EF2CB7EE2DCF}"/>
              </a:ext>
            </a:extLst>
          </p:cNvPr>
          <p:cNvSpPr>
            <a:spLocks xmlns:a="http://schemas.openxmlformats.org/drawingml/2006/main" noGrp="1"/>
          </p:cNvSpPr>
          <p:nvPr/>
        </p:nvSpPr>
        <p:spPr>
          <a:xfrm xmlns:a="http://schemas.openxmlformats.org/drawingml/2006/main">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人間の作業データ、テレオペレーション、合成データ、生データの加工。さらに上流では、収集に特化したデバイス開発も広がりはじめている。</a:t>
            </a:r>
          </a:p>
        </p:txBody>
      </p:sp>
      <p:sp>
        <p:nvSpPr>
          <p:cNvPr id="7" name="">
            <a:extLst xmlns:a="http://schemas.openxmlformats.org/drawingml/2006/main">
              <a:ext uri="{FF2B5EF4-FFF2-40B4-BE49-F238E27FC236}">
                <a16:creationId xmlns:a16="http://schemas.microsoft.com/office/drawing/2014/main" id="{BB42D5FB-37C5-471B-A5B8-BEC75E68A221}"/>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D989955-63B4-419A-BBB6-CB27A8A737A0}"/>
              </a:ext>
            </a:extLst>
          </p:cNvPr>
          <p:cNvSpPr>
            <a:spLocks xmlns:a="http://schemas.openxmlformats.org/drawingml/2006/main" noGrp="1"/>
          </p:cNvSpPr>
          <p:nvPr/>
        </p:nvSpPr>
        <p:spPr>
          <a:xfrm xmlns:a="http://schemas.openxmlformats.org/drawingml/2006/main">
            <a:off x="723900" y="2857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BA4C92D2-74DE-46E9-AF56-7D039D934B59}"/>
              </a:ext>
            </a:extLst>
          </p:cNvPr>
          <p:cNvSpPr>
            <a:spLocks xmlns:a="http://schemas.openxmlformats.org/drawingml/2006/main" noGrp="1"/>
          </p:cNvSpPr>
          <p:nvPr/>
        </p:nvSpPr>
        <p:spPr>
          <a:xfrm xmlns:a="http://schemas.openxmlformats.org/drawingml/2006/main">
            <a:off x="3714750" y="2838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PIやNVIDIA。近いレイヤーには、現実世界を再現し、必要な実データ量を下げながらモデル開発まで進めるシミュレーション・デジタルツインがある。</a:t>
            </a:r>
          </a:p>
        </p:txBody>
      </p:sp>
      <p:sp>
        <p:nvSpPr>
          <p:cNvPr id="10" name="">
            <a:extLst xmlns:a="http://schemas.openxmlformats.org/drawingml/2006/main">
              <a:ext uri="{FF2B5EF4-FFF2-40B4-BE49-F238E27FC236}">
                <a16:creationId xmlns:a16="http://schemas.microsoft.com/office/drawing/2014/main" id="{9D60EB58-16FF-4F73-AAEF-3A863548D4A1}"/>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B779A76-9B2C-46CE-B116-D25BB066D2CE}"/>
              </a:ext>
            </a:extLst>
          </p:cNvPr>
          <p:cNvSpPr>
            <a:spLocks xmlns:a="http://schemas.openxmlformats.org/drawingml/2006/main" noGrp="1"/>
          </p:cNvSpPr>
          <p:nvPr/>
        </p:nvSpPr>
        <p:spPr>
          <a:xfrm xmlns:a="http://schemas.openxmlformats.org/drawingml/2006/main">
            <a:off x="723900" y="4000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ハードウェア開発層</a:t>
            </a:r>
          </a:p>
        </p:txBody>
      </p:sp>
      <p:sp>
        <p:nvSpPr>
          <p:cNvPr id="12" name="">
            <a:extLst xmlns:a="http://schemas.openxmlformats.org/drawingml/2006/main">
              <a:ext uri="{FF2B5EF4-FFF2-40B4-BE49-F238E27FC236}">
                <a16:creationId xmlns:a16="http://schemas.microsoft.com/office/drawing/2014/main" id="{8D6DB236-618F-40C1-AB47-2CEE0E8850E5}"/>
              </a:ext>
            </a:extLst>
          </p:cNvPr>
          <p:cNvSpPr>
            <a:spLocks xmlns:a="http://schemas.openxmlformats.org/drawingml/2006/main" noGrp="1"/>
          </p:cNvSpPr>
          <p:nvPr/>
        </p:nvSpPr>
        <p:spPr>
          <a:xfrm xmlns:a="http://schemas.openxmlformats.org/drawingml/2006/main">
            <a:off x="3714750" y="3981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特に中国系企業が安価なロボットを提供する面で強く、Unitree等が筆頭である。</a:t>
            </a:r>
          </a:p>
        </p:txBody>
      </p:sp>
      <p:sp>
        <p:nvSpPr>
          <p:cNvPr id="13" name="">
            <a:extLst xmlns:a="http://schemas.openxmlformats.org/drawingml/2006/main">
              <a:ext uri="{FF2B5EF4-FFF2-40B4-BE49-F238E27FC236}">
                <a16:creationId xmlns:a16="http://schemas.microsoft.com/office/drawing/2014/main" id="{7CAB420E-A559-4FC4-9592-0B9FA995A0A3}"/>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FE397C8-8B91-4407-A440-1EE185CDD1E8}"/>
              </a:ext>
            </a:extLst>
          </p:cNvPr>
          <p:cNvSpPr>
            <a:spLocks xmlns:a="http://schemas.openxmlformats.org/drawingml/2006/main" noGrp="1"/>
          </p:cNvSpPr>
          <p:nvPr/>
        </p:nvSpPr>
        <p:spPr>
          <a:xfrm xmlns:a="http://schemas.openxmlformats.org/drawingml/2006/main">
            <a:off x="723900" y="4857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5" name="">
            <a:extLst xmlns:a="http://schemas.openxmlformats.org/drawingml/2006/main">
              <a:ext uri="{FF2B5EF4-FFF2-40B4-BE49-F238E27FC236}">
                <a16:creationId xmlns:a16="http://schemas.microsoft.com/office/drawing/2014/main" id="{59065A7F-350C-4943-9CA0-B8457A33C185}"/>
              </a:ext>
            </a:extLst>
          </p:cNvPr>
          <p:cNvSpPr>
            <a:spLocks xmlns:a="http://schemas.openxmlformats.org/drawingml/2006/main" noGrp="1"/>
          </p:cNvSpPr>
          <p:nvPr/>
        </p:nvSpPr>
        <p:spPr>
          <a:xfrm xmlns:a="http://schemas.openxmlformats.org/drawingml/2006/main">
            <a:off x="3714750" y="4838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既存のロボットやモデルを積極的に利用し、現場への統合を優先する。国内にもスタートアップが多い。</a:t>
            </a:r>
          </a:p>
        </p:txBody>
      </p:sp>
    </p:spTree>
    <p:extLst>
      <p:ext uri="{BB962C8B-B14F-4D97-AF65-F5344CB8AC3E}">
        <p14:creationId xmlns:p14="http://schemas.microsoft.com/office/powerpoint/2010/main" val="1130195317"/>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6A67AECA-F49E-43E0-94AD-BA69FA0298D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2F29FD-34B0-4509-A188-97C555DEFD01}"/>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0B3D3BDE-3CC3-4E79-AEF1-F474817DD92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ED510C1-33E9-4EB0-952E-7D2F482A6778}"/>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CB791C1B-CA8B-4D5F-9F1A-1C9902188212}"/>
              </a:ext>
            </a:extLst>
          </p:cNvPr>
          <p:cNvSpPr>
            <a:spLocks xmlns:a="http://schemas.openxmlformats.org/drawingml/2006/main" noGrp="1"/>
          </p:cNvSpPr>
          <p:nvPr/>
        </p:nvSpPr>
        <p:spPr>
          <a:xfrm xmlns:a="http://schemas.openxmlformats.org/drawingml/2006/main">
            <a:off x="723900" y="1762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 ＝ 接続する業種・現場の広さ　　縦幅 ＝ 担う技術レイヤーの広さ</a:t>
            </a:r>
          </a:p>
        </p:txBody>
      </p:sp>
      <p:sp>
        <p:nvSpPr>
          <p:cNvPr id="6" name="">
            <a:extLst xmlns:a="http://schemas.openxmlformats.org/drawingml/2006/main">
              <a:ext uri="{FF2B5EF4-FFF2-40B4-BE49-F238E27FC236}">
                <a16:creationId xmlns:a16="http://schemas.microsoft.com/office/drawing/2014/main" id="{72FC1D98-4A47-46C0-8856-5B47642A04C1}"/>
              </a:ext>
            </a:extLst>
          </p:cNvPr>
          <p:cNvSpPr>
            <a:spLocks xmlns:a="http://schemas.openxmlformats.org/drawingml/2006/main" noGrp="1"/>
          </p:cNvSpPr>
          <p:nvPr/>
        </p:nvSpPr>
        <p:spPr>
          <a:xfrm xmlns:a="http://schemas.openxmlformats.org/drawingml/2006/main">
            <a:off x="2266950" y="22098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7" name="">
            <a:extLst xmlns:a="http://schemas.openxmlformats.org/drawingml/2006/main">
              <a:ext uri="{FF2B5EF4-FFF2-40B4-BE49-F238E27FC236}">
                <a16:creationId xmlns:a16="http://schemas.microsoft.com/office/drawing/2014/main" id="{714B9ED5-065B-4AC4-AED9-D4E4948B5C26}"/>
              </a:ext>
            </a:extLst>
          </p:cNvPr>
          <p:cNvSpPr>
            <a:spLocks xmlns:a="http://schemas.openxmlformats.org/drawingml/2006/main" noGrp="1"/>
          </p:cNvSpPr>
          <p:nvPr/>
        </p:nvSpPr>
        <p:spPr>
          <a:xfrm xmlns:a="http://schemas.openxmlformats.org/drawingml/2006/main">
            <a:off x="723900" y="23526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8F5BD5EF-F47B-4A03-92D5-2DB36A166FD0}"/>
              </a:ext>
            </a:extLst>
          </p:cNvPr>
          <p:cNvSpPr>
            <a:spLocks xmlns:a="http://schemas.openxmlformats.org/drawingml/2006/main" noGrp="1"/>
          </p:cNvSpPr>
          <p:nvPr/>
        </p:nvSpPr>
        <p:spPr>
          <a:xfrm xmlns:a="http://schemas.openxmlformats.org/drawingml/2006/main">
            <a:off x="2266950" y="28956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D9F459F2-1FD2-4CCD-9B60-3AFFDB35874B}"/>
              </a:ext>
            </a:extLst>
          </p:cNvPr>
          <p:cNvSpPr>
            <a:spLocks xmlns:a="http://schemas.openxmlformats.org/drawingml/2006/main" noGrp="1"/>
          </p:cNvSpPr>
          <p:nvPr/>
        </p:nvSpPr>
        <p:spPr>
          <a:xfrm xmlns:a="http://schemas.openxmlformats.org/drawingml/2006/main">
            <a:off x="723900" y="295275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0" name="">
            <a:extLst xmlns:a="http://schemas.openxmlformats.org/drawingml/2006/main">
              <a:ext uri="{FF2B5EF4-FFF2-40B4-BE49-F238E27FC236}">
                <a16:creationId xmlns:a16="http://schemas.microsoft.com/office/drawing/2014/main" id="{B7665D49-B394-43C9-B26D-9802AC4C7631}"/>
              </a:ext>
            </a:extLst>
          </p:cNvPr>
          <p:cNvSpPr>
            <a:spLocks xmlns:a="http://schemas.openxmlformats.org/drawingml/2006/main" noGrp="1"/>
          </p:cNvSpPr>
          <p:nvPr/>
        </p:nvSpPr>
        <p:spPr>
          <a:xfrm xmlns:a="http://schemas.openxmlformats.org/drawingml/2006/main">
            <a:off x="2266950" y="35814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1" name="">
            <a:extLst xmlns:a="http://schemas.openxmlformats.org/drawingml/2006/main">
              <a:ext uri="{FF2B5EF4-FFF2-40B4-BE49-F238E27FC236}">
                <a16:creationId xmlns:a16="http://schemas.microsoft.com/office/drawing/2014/main" id="{AEF425CF-39F5-4522-8DBE-5BD80627B9FF}"/>
              </a:ext>
            </a:extLst>
          </p:cNvPr>
          <p:cNvSpPr>
            <a:spLocks xmlns:a="http://schemas.openxmlformats.org/drawingml/2006/main" noGrp="1"/>
          </p:cNvSpPr>
          <p:nvPr/>
        </p:nvSpPr>
        <p:spPr>
          <a:xfrm xmlns:a="http://schemas.openxmlformats.org/drawingml/2006/main">
            <a:off x="723900" y="37242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521258AF-02A7-4C39-A757-21795FEE2749}"/>
              </a:ext>
            </a:extLst>
          </p:cNvPr>
          <p:cNvSpPr>
            <a:spLocks xmlns:a="http://schemas.openxmlformats.org/drawingml/2006/main" noGrp="1"/>
          </p:cNvSpPr>
          <p:nvPr/>
        </p:nvSpPr>
        <p:spPr>
          <a:xfrm xmlns:a="http://schemas.openxmlformats.org/drawingml/2006/main">
            <a:off x="2266950" y="42672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13" name="">
            <a:extLst xmlns:a="http://schemas.openxmlformats.org/drawingml/2006/main">
              <a:ext uri="{FF2B5EF4-FFF2-40B4-BE49-F238E27FC236}">
                <a16:creationId xmlns:a16="http://schemas.microsoft.com/office/drawing/2014/main" id="{A07F12B6-847B-4D6B-AEB1-69AB8DDF9DEC}"/>
              </a:ext>
            </a:extLst>
          </p:cNvPr>
          <p:cNvSpPr>
            <a:spLocks xmlns:a="http://schemas.openxmlformats.org/drawingml/2006/main" noGrp="1"/>
          </p:cNvSpPr>
          <p:nvPr/>
        </p:nvSpPr>
        <p:spPr>
          <a:xfrm xmlns:a="http://schemas.openxmlformats.org/drawingml/2006/main">
            <a:off x="723900" y="44100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0645073D-D25E-4DCA-AD08-B88EF97227C3}"/>
              </a:ext>
            </a:extLst>
          </p:cNvPr>
          <p:cNvSpPr>
            <a:spLocks xmlns:a="http://schemas.openxmlformats.org/drawingml/2006/main" noGrp="1"/>
          </p:cNvSpPr>
          <p:nvPr/>
        </p:nvSpPr>
        <p:spPr>
          <a:xfrm xmlns:a="http://schemas.openxmlformats.org/drawingml/2006/main">
            <a:off x="723900" y="525780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15" name="">
            <a:extLst xmlns:a="http://schemas.openxmlformats.org/drawingml/2006/main">
              <a:ext uri="{FF2B5EF4-FFF2-40B4-BE49-F238E27FC236}">
                <a16:creationId xmlns:a16="http://schemas.microsoft.com/office/drawing/2014/main" id="{2E8F90D4-553C-45C5-93C9-94DE7A858EEA}"/>
              </a:ext>
            </a:extLst>
          </p:cNvPr>
          <p:cNvSpPr>
            <a:spLocks xmlns:a="http://schemas.openxmlformats.org/drawingml/2006/main" noGrp="1"/>
          </p:cNvSpPr>
          <p:nvPr/>
        </p:nvSpPr>
        <p:spPr>
          <a:xfrm xmlns:a="http://schemas.openxmlformats.org/drawingml/2006/main">
            <a:off x="22669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2338ED2-61D5-4704-9FE5-13F064344A31}"/>
              </a:ext>
            </a:extLst>
          </p:cNvPr>
          <p:cNvSpPr>
            <a:spLocks xmlns:a="http://schemas.openxmlformats.org/drawingml/2006/main" noGrp="1"/>
          </p:cNvSpPr>
          <p:nvPr/>
        </p:nvSpPr>
        <p:spPr>
          <a:xfrm xmlns:a="http://schemas.openxmlformats.org/drawingml/2006/main">
            <a:off x="22669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飲食</a:t>
            </a:r>
          </a:p>
        </p:txBody>
      </p:sp>
      <p:sp>
        <p:nvSpPr>
          <p:cNvPr id="17" name="">
            <a:extLst xmlns:a="http://schemas.openxmlformats.org/drawingml/2006/main">
              <a:ext uri="{FF2B5EF4-FFF2-40B4-BE49-F238E27FC236}">
                <a16:creationId xmlns:a16="http://schemas.microsoft.com/office/drawing/2014/main" id="{4046431A-8B71-45DD-8467-4F29CFCC3A56}"/>
              </a:ext>
            </a:extLst>
          </p:cNvPr>
          <p:cNvSpPr>
            <a:spLocks xmlns:a="http://schemas.openxmlformats.org/drawingml/2006/main" noGrp="1"/>
          </p:cNvSpPr>
          <p:nvPr/>
        </p:nvSpPr>
        <p:spPr>
          <a:xfrm xmlns:a="http://schemas.openxmlformats.org/drawingml/2006/main">
            <a:off x="40386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6C3C721-3940-451A-91B4-E59107C90186}"/>
              </a:ext>
            </a:extLst>
          </p:cNvPr>
          <p:cNvSpPr>
            <a:spLocks xmlns:a="http://schemas.openxmlformats.org/drawingml/2006/main" noGrp="1"/>
          </p:cNvSpPr>
          <p:nvPr/>
        </p:nvSpPr>
        <p:spPr>
          <a:xfrm xmlns:a="http://schemas.openxmlformats.org/drawingml/2006/main">
            <a:off x="40386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小売</a:t>
            </a:r>
          </a:p>
        </p:txBody>
      </p:sp>
      <p:sp>
        <p:nvSpPr>
          <p:cNvPr id="19" name="">
            <a:extLst xmlns:a="http://schemas.openxmlformats.org/drawingml/2006/main">
              <a:ext uri="{FF2B5EF4-FFF2-40B4-BE49-F238E27FC236}">
                <a16:creationId xmlns:a16="http://schemas.microsoft.com/office/drawing/2014/main" id="{86FDBD89-6BBE-45E2-B794-3EA87A6EFA19}"/>
              </a:ext>
            </a:extLst>
          </p:cNvPr>
          <p:cNvSpPr>
            <a:spLocks xmlns:a="http://schemas.openxmlformats.org/drawingml/2006/main" noGrp="1"/>
          </p:cNvSpPr>
          <p:nvPr/>
        </p:nvSpPr>
        <p:spPr>
          <a:xfrm xmlns:a="http://schemas.openxmlformats.org/drawingml/2006/main">
            <a:off x="58102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DFE1CDC-D950-4052-9868-949D3BCBB23F}"/>
              </a:ext>
            </a:extLst>
          </p:cNvPr>
          <p:cNvSpPr>
            <a:spLocks xmlns:a="http://schemas.openxmlformats.org/drawingml/2006/main" noGrp="1"/>
          </p:cNvSpPr>
          <p:nvPr/>
        </p:nvSpPr>
        <p:spPr>
          <a:xfrm xmlns:a="http://schemas.openxmlformats.org/drawingml/2006/main">
            <a:off x="58102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製造</a:t>
            </a:r>
          </a:p>
        </p:txBody>
      </p:sp>
      <p:sp>
        <p:nvSpPr>
          <p:cNvPr id="21" name="">
            <a:extLst xmlns:a="http://schemas.openxmlformats.org/drawingml/2006/main">
              <a:ext uri="{FF2B5EF4-FFF2-40B4-BE49-F238E27FC236}">
                <a16:creationId xmlns:a16="http://schemas.microsoft.com/office/drawing/2014/main" id="{4E032A54-FD3C-42A3-BF6D-0CCE04A964F1}"/>
              </a:ext>
            </a:extLst>
          </p:cNvPr>
          <p:cNvSpPr>
            <a:spLocks xmlns:a="http://schemas.openxmlformats.org/drawingml/2006/main" noGrp="1"/>
          </p:cNvSpPr>
          <p:nvPr/>
        </p:nvSpPr>
        <p:spPr>
          <a:xfrm xmlns:a="http://schemas.openxmlformats.org/drawingml/2006/main">
            <a:off x="75819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5F58F94-E676-4B19-89B4-AAEE7499D2E2}"/>
              </a:ext>
            </a:extLst>
          </p:cNvPr>
          <p:cNvSpPr>
            <a:spLocks xmlns:a="http://schemas.openxmlformats.org/drawingml/2006/main" noGrp="1"/>
          </p:cNvSpPr>
          <p:nvPr/>
        </p:nvSpPr>
        <p:spPr>
          <a:xfrm xmlns:a="http://schemas.openxmlformats.org/drawingml/2006/main">
            <a:off x="75819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物流</a:t>
            </a:r>
          </a:p>
        </p:txBody>
      </p:sp>
      <p:sp>
        <p:nvSpPr>
          <p:cNvPr id="23" name="">
            <a:extLst xmlns:a="http://schemas.openxmlformats.org/drawingml/2006/main">
              <a:ext uri="{FF2B5EF4-FFF2-40B4-BE49-F238E27FC236}">
                <a16:creationId xmlns:a16="http://schemas.microsoft.com/office/drawing/2014/main" id="{4830423B-721F-45ED-8A3D-3DE85F902EF8}"/>
              </a:ext>
            </a:extLst>
          </p:cNvPr>
          <p:cNvSpPr>
            <a:spLocks xmlns:a="http://schemas.openxmlformats.org/drawingml/2006/main" noGrp="1"/>
          </p:cNvSpPr>
          <p:nvPr/>
        </p:nvSpPr>
        <p:spPr>
          <a:xfrm xmlns:a="http://schemas.openxmlformats.org/drawingml/2006/main">
            <a:off x="93535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825F582-8B6F-47AB-BB81-0897A03EBAF2}"/>
              </a:ext>
            </a:extLst>
          </p:cNvPr>
          <p:cNvSpPr>
            <a:spLocks xmlns:a="http://schemas.openxmlformats.org/drawingml/2006/main" noGrp="1"/>
          </p:cNvSpPr>
          <p:nvPr/>
        </p:nvSpPr>
        <p:spPr>
          <a:xfrm xmlns:a="http://schemas.openxmlformats.org/drawingml/2006/main">
            <a:off x="93535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ほか</a:t>
            </a:r>
          </a:p>
        </p:txBody>
      </p:sp>
      <p:sp>
        <p:nvSpPr>
          <p:cNvPr id="25" name="">
            <a:extLst xmlns:a="http://schemas.openxmlformats.org/drawingml/2006/main">
              <a:ext uri="{FF2B5EF4-FFF2-40B4-BE49-F238E27FC236}">
                <a16:creationId xmlns:a16="http://schemas.microsoft.com/office/drawing/2014/main" id="{F9DB030A-D4E7-41A8-8B1A-28A90BE4C8D6}"/>
              </a:ext>
            </a:extLst>
          </p:cNvPr>
          <p:cNvSpPr>
            <a:spLocks xmlns:a="http://schemas.openxmlformats.org/drawingml/2006/main" noGrp="1"/>
          </p:cNvSpPr>
          <p:nvPr/>
        </p:nvSpPr>
        <p:spPr>
          <a:xfrm xmlns:a="http://schemas.openxmlformats.org/drawingml/2006/main">
            <a:off x="2619375" y="2962275"/>
            <a:ext cx="1981200" cy="17907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4CEC1470-ECD4-4C8A-9E99-AD5529E5B042}"/>
              </a:ext>
            </a:extLst>
          </p:cNvPr>
          <p:cNvSpPr>
            <a:spLocks xmlns:a="http://schemas.openxmlformats.org/drawingml/2006/main" noGrp="1"/>
          </p:cNvSpPr>
          <p:nvPr/>
        </p:nvSpPr>
        <p:spPr>
          <a:xfrm xmlns:a="http://schemas.openxmlformats.org/drawingml/2006/main">
            <a:off x="2790825" y="3048000"/>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a:t>
            </a:r>
          </a:p>
        </p:txBody>
      </p:sp>
      <p:sp>
        <p:nvSpPr>
          <p:cNvPr id="27" name="">
            <a:extLst xmlns:a="http://schemas.openxmlformats.org/drawingml/2006/main">
              <a:ext uri="{FF2B5EF4-FFF2-40B4-BE49-F238E27FC236}">
                <a16:creationId xmlns:a16="http://schemas.microsoft.com/office/drawing/2014/main" id="{39E48014-C7B1-456B-8EF0-DE2DBF6E34D2}"/>
              </a:ext>
            </a:extLst>
          </p:cNvPr>
          <p:cNvSpPr>
            <a:spLocks xmlns:a="http://schemas.openxmlformats.org/drawingml/2006/main" noGrp="1"/>
          </p:cNvSpPr>
          <p:nvPr/>
        </p:nvSpPr>
        <p:spPr>
          <a:xfrm xmlns:a="http://schemas.openxmlformats.org/drawingml/2006/main">
            <a:off x="2790825" y="32861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現場データで改善</a:t>
            </a:r>
          </a:p>
        </p:txBody>
      </p:sp>
      <p:sp>
        <p:nvSpPr>
          <p:cNvPr id="28" name="">
            <a:extLst xmlns:a="http://schemas.openxmlformats.org/drawingml/2006/main">
              <a:ext uri="{FF2B5EF4-FFF2-40B4-BE49-F238E27FC236}">
                <a16:creationId xmlns:a16="http://schemas.microsoft.com/office/drawing/2014/main" id="{F29717DA-CD63-4CEE-A212-70C4326F7E51}"/>
              </a:ext>
            </a:extLst>
          </p:cNvPr>
          <p:cNvSpPr>
            <a:spLocks xmlns:a="http://schemas.openxmlformats.org/drawingml/2006/main" noGrp="1"/>
          </p:cNvSpPr>
          <p:nvPr/>
        </p:nvSpPr>
        <p:spPr>
          <a:xfrm xmlns:a="http://schemas.openxmlformats.org/drawingml/2006/main">
            <a:off x="2790825" y="36671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a:t>
            </a:r>
          </a:p>
        </p:txBody>
      </p:sp>
      <p:sp>
        <p:nvSpPr>
          <p:cNvPr id="29" name="">
            <a:extLst xmlns:a="http://schemas.openxmlformats.org/drawingml/2006/main">
              <a:ext uri="{FF2B5EF4-FFF2-40B4-BE49-F238E27FC236}">
                <a16:creationId xmlns:a16="http://schemas.microsoft.com/office/drawing/2014/main" id="{5B5955E6-BE3D-4F37-B7C8-3BF0F7D54E3F}"/>
              </a:ext>
            </a:extLst>
          </p:cNvPr>
          <p:cNvSpPr>
            <a:spLocks xmlns:a="http://schemas.openxmlformats.org/drawingml/2006/main" noGrp="1"/>
          </p:cNvSpPr>
          <p:nvPr/>
        </p:nvSpPr>
        <p:spPr>
          <a:xfrm xmlns:a="http://schemas.openxmlformats.org/drawingml/2006/main">
            <a:off x="2790825" y="3905250"/>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機体・センサーへ反映</a:t>
            </a:r>
          </a:p>
        </p:txBody>
      </p:sp>
      <p:sp>
        <p:nvSpPr>
          <p:cNvPr id="30" name="">
            <a:extLst xmlns:a="http://schemas.openxmlformats.org/drawingml/2006/main">
              <a:ext uri="{FF2B5EF4-FFF2-40B4-BE49-F238E27FC236}">
                <a16:creationId xmlns:a16="http://schemas.microsoft.com/office/drawing/2014/main" id="{EBBAEB3D-7F0A-4372-A902-F77960A40FFA}"/>
              </a:ext>
            </a:extLst>
          </p:cNvPr>
          <p:cNvSpPr>
            <a:spLocks xmlns:a="http://schemas.openxmlformats.org/drawingml/2006/main" noGrp="1"/>
          </p:cNvSpPr>
          <p:nvPr/>
        </p:nvSpPr>
        <p:spPr>
          <a:xfrm xmlns:a="http://schemas.openxmlformats.org/drawingml/2006/main">
            <a:off x="2790825" y="4286250"/>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31" name="">
            <a:extLst xmlns:a="http://schemas.openxmlformats.org/drawingml/2006/main">
              <a:ext uri="{FF2B5EF4-FFF2-40B4-BE49-F238E27FC236}">
                <a16:creationId xmlns:a16="http://schemas.microsoft.com/office/drawing/2014/main" id="{3C9DF5DF-AB27-4647-BC4B-202022105418}"/>
              </a:ext>
            </a:extLst>
          </p:cNvPr>
          <p:cNvSpPr>
            <a:spLocks xmlns:a="http://schemas.openxmlformats.org/drawingml/2006/main" noGrp="1"/>
          </p:cNvSpPr>
          <p:nvPr/>
        </p:nvSpPr>
        <p:spPr>
          <a:xfrm xmlns:a="http://schemas.openxmlformats.org/drawingml/2006/main">
            <a:off x="2790825" y="452437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実作業へ導入</a:t>
            </a:r>
          </a:p>
        </p:txBody>
      </p:sp>
      <p:sp>
        <p:nvSpPr>
          <p:cNvPr id="32" name="">
            <a:extLst xmlns:a="http://schemas.openxmlformats.org/drawingml/2006/main">
              <a:ext uri="{FF2B5EF4-FFF2-40B4-BE49-F238E27FC236}">
                <a16:creationId xmlns:a16="http://schemas.microsoft.com/office/drawing/2014/main" id="{3F3313B8-B425-433C-BBEE-D05AF910F3B9}"/>
              </a:ext>
            </a:extLst>
          </p:cNvPr>
          <p:cNvSpPr>
            <a:spLocks xmlns:a="http://schemas.openxmlformats.org/drawingml/2006/main" noGrp="1"/>
          </p:cNvSpPr>
          <p:nvPr/>
        </p:nvSpPr>
        <p:spPr>
          <a:xfrm xmlns:a="http://schemas.openxmlformats.org/drawingml/2006/main">
            <a:off x="3448050" y="349567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a:t>
            </a:r>
          </a:p>
        </p:txBody>
      </p:sp>
      <p:sp>
        <p:nvSpPr>
          <p:cNvPr id="33" name="">
            <a:extLst xmlns:a="http://schemas.openxmlformats.org/drawingml/2006/main">
              <a:ext uri="{FF2B5EF4-FFF2-40B4-BE49-F238E27FC236}">
                <a16:creationId xmlns:a16="http://schemas.microsoft.com/office/drawing/2014/main" id="{453B2285-69F1-4D87-A5A3-60BDDD37900F}"/>
              </a:ext>
            </a:extLst>
          </p:cNvPr>
          <p:cNvSpPr>
            <a:spLocks xmlns:a="http://schemas.openxmlformats.org/drawingml/2006/main" noGrp="1"/>
          </p:cNvSpPr>
          <p:nvPr/>
        </p:nvSpPr>
        <p:spPr>
          <a:xfrm xmlns:a="http://schemas.openxmlformats.org/drawingml/2006/main">
            <a:off x="3448050" y="41148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a:t>
            </a:r>
          </a:p>
        </p:txBody>
      </p:sp>
      <p:sp>
        <p:nvSpPr>
          <p:cNvPr id="34" name="">
            <a:extLst xmlns:a="http://schemas.openxmlformats.org/drawingml/2006/main">
              <a:ext uri="{FF2B5EF4-FFF2-40B4-BE49-F238E27FC236}">
                <a16:creationId xmlns:a16="http://schemas.microsoft.com/office/drawing/2014/main" id="{3DB0D881-36FC-4CAE-A2B7-4CD4375BB283}"/>
              </a:ext>
            </a:extLst>
          </p:cNvPr>
          <p:cNvSpPr>
            <a:spLocks xmlns:a="http://schemas.openxmlformats.org/drawingml/2006/main" noGrp="1"/>
          </p:cNvSpPr>
          <p:nvPr/>
        </p:nvSpPr>
        <p:spPr>
          <a:xfrm xmlns:a="http://schemas.openxmlformats.org/drawingml/2006/main">
            <a:off x="3600450" y="4752975"/>
            <a:ext cx="19050" cy="409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7A7BDD12-37FB-4CB0-BA87-5D7061C91A4F}"/>
              </a:ext>
            </a:extLst>
          </p:cNvPr>
          <p:cNvSpPr>
            <a:spLocks xmlns:a="http://schemas.openxmlformats.org/drawingml/2006/main" noGrp="1"/>
          </p:cNvSpPr>
          <p:nvPr/>
        </p:nvSpPr>
        <p:spPr>
          <a:xfrm xmlns:a="http://schemas.openxmlformats.org/drawingml/2006/main">
            <a:off x="3600450" y="5143500"/>
            <a:ext cx="63912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C4E12C74-0F0E-43A7-9761-E6E3AED74EA6}"/>
              </a:ext>
            </a:extLst>
          </p:cNvPr>
          <p:cNvSpPr>
            <a:spLocks xmlns:a="http://schemas.openxmlformats.org/drawingml/2006/main" noGrp="1"/>
          </p:cNvSpPr>
          <p:nvPr/>
        </p:nvSpPr>
        <p:spPr>
          <a:xfrm xmlns:a="http://schemas.openxmlformats.org/drawingml/2006/main">
            <a:off x="9972675" y="2657475"/>
            <a:ext cx="19050" cy="2505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C2113C21-5A08-44E5-859D-23DE1EB3A5CE}"/>
              </a:ext>
            </a:extLst>
          </p:cNvPr>
          <p:cNvSpPr>
            <a:spLocks xmlns:a="http://schemas.openxmlformats.org/drawingml/2006/main" noGrp="1"/>
          </p:cNvSpPr>
          <p:nvPr/>
        </p:nvSpPr>
        <p:spPr>
          <a:xfrm xmlns:a="http://schemas.openxmlformats.org/drawingml/2006/main">
            <a:off x="4600575" y="2657475"/>
            <a:ext cx="53911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07DBAAC7-030E-4B41-8946-1508E7612E8B}"/>
              </a:ext>
            </a:extLst>
          </p:cNvPr>
          <p:cNvSpPr>
            <a:spLocks xmlns:a="http://schemas.openxmlformats.org/drawingml/2006/main" noGrp="1"/>
          </p:cNvSpPr>
          <p:nvPr/>
        </p:nvSpPr>
        <p:spPr>
          <a:xfrm xmlns:a="http://schemas.openxmlformats.org/drawingml/2006/main">
            <a:off x="6600825" y="23812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現場で得たデータを戻す</a:t>
            </a:r>
          </a:p>
        </p:txBody>
      </p:sp>
      <p:sp>
        <p:nvSpPr>
          <p:cNvPr id="39" name="">
            <a:extLst xmlns:a="http://schemas.openxmlformats.org/drawingml/2006/main">
              <a:ext uri="{FF2B5EF4-FFF2-40B4-BE49-F238E27FC236}">
                <a16:creationId xmlns:a16="http://schemas.microsoft.com/office/drawing/2014/main" id="{4DA7E910-9493-44C2-89B8-0E70C788A31C}"/>
              </a:ext>
            </a:extLst>
          </p:cNvPr>
          <p:cNvSpPr>
            <a:spLocks xmlns:a="http://schemas.openxmlformats.org/drawingml/2006/main" noGrp="1"/>
          </p:cNvSpPr>
          <p:nvPr/>
        </p:nvSpPr>
        <p:spPr>
          <a:xfrm xmlns:a="http://schemas.openxmlformats.org/drawingml/2006/main">
            <a:off x="5048250" y="486727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現場で稼働</a:t>
            </a:r>
          </a:p>
        </p:txBody>
      </p:sp>
      <p:sp>
        <p:nvSpPr>
          <p:cNvPr id="40" name="">
            <a:extLst xmlns:a="http://schemas.openxmlformats.org/drawingml/2006/main">
              <a:ext uri="{FF2B5EF4-FFF2-40B4-BE49-F238E27FC236}">
                <a16:creationId xmlns:a16="http://schemas.microsoft.com/office/drawing/2014/main" id="{2FD8A6D5-C02D-4E6F-A0D8-226C343A70CB}"/>
              </a:ext>
            </a:extLst>
          </p:cNvPr>
          <p:cNvSpPr>
            <a:spLocks xmlns:a="http://schemas.openxmlformats.org/drawingml/2006/main" noGrp="1"/>
          </p:cNvSpPr>
          <p:nvPr/>
        </p:nvSpPr>
        <p:spPr>
          <a:xfrm xmlns:a="http://schemas.openxmlformats.org/drawingml/2006/main">
            <a:off x="2266950" y="5886450"/>
            <a:ext cx="885825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DA7DB7FF-7200-44C5-8F0D-E04E3BC8A688}"/>
              </a:ext>
            </a:extLst>
          </p:cNvPr>
          <p:cNvSpPr>
            <a:spLocks xmlns:a="http://schemas.openxmlformats.org/drawingml/2006/main" noGrp="1"/>
          </p:cNvSpPr>
          <p:nvPr/>
        </p:nvSpPr>
        <p:spPr>
          <a:xfrm xmlns:a="http://schemas.openxmlformats.org/drawingml/2006/main">
            <a:off x="2266950" y="59626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特定の現場</a:t>
            </a:r>
          </a:p>
        </p:txBody>
      </p:sp>
      <p:sp>
        <p:nvSpPr>
          <p:cNvPr id="42" name="">
            <a:extLst xmlns:a="http://schemas.openxmlformats.org/drawingml/2006/main">
              <a:ext uri="{FF2B5EF4-FFF2-40B4-BE49-F238E27FC236}">
                <a16:creationId xmlns:a16="http://schemas.microsoft.com/office/drawing/2014/main" id="{B4683BBA-BE8E-453D-AEB8-9F7D84569C83}"/>
              </a:ext>
            </a:extLst>
          </p:cNvPr>
          <p:cNvSpPr>
            <a:spLocks xmlns:a="http://schemas.openxmlformats.org/drawingml/2006/main" noGrp="1"/>
          </p:cNvSpPr>
          <p:nvPr/>
        </p:nvSpPr>
        <p:spPr>
          <a:xfrm xmlns:a="http://schemas.openxmlformats.org/drawingml/2006/main">
            <a:off x="8648700" y="59626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複数業種・多数の現場  →</a:t>
            </a:r>
          </a:p>
        </p:txBody>
      </p:sp>
    </p:spTree>
    <p:extLst>
      <p:ext uri="{BB962C8B-B14F-4D97-AF65-F5344CB8AC3E}">
        <p14:creationId xmlns:p14="http://schemas.microsoft.com/office/powerpoint/2010/main" val="1363411328"/>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4146DD-A427-48C8-9F54-96D929BA55C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991558-0115-4F3F-8AF6-9F00B23DD14A}"/>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4AF22622-0F6B-4D87-8001-74881F1767B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16F08A7-69F0-4998-AEEA-E036CD6B450C}"/>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E0F92BD1-24F9-4B12-9C34-192888F27297}"/>
              </a:ext>
            </a:extLst>
          </p:cNvPr>
          <p:cNvSpPr>
            <a:spLocks xmlns:a="http://schemas.openxmlformats.org/drawingml/2006/main" noGrp="1"/>
          </p:cNvSpPr>
          <p:nvPr/>
        </p:nvSpPr>
        <p:spPr>
          <a:xfrm xmlns:a="http://schemas.openxmlformats.org/drawingml/2006/main">
            <a:off x="723900" y="200025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ロボットシステムのフィードバックループは、モデル開発・ハードウェア開発・現場統合の3つで完結する。</a:t>
            </a:r>
          </a:p>
        </p:txBody>
      </p:sp>
      <p:sp>
        <p:nvSpPr>
          <p:cNvPr id="6" name="">
            <a:extLst xmlns:a="http://schemas.openxmlformats.org/drawingml/2006/main">
              <a:ext uri="{FF2B5EF4-FFF2-40B4-BE49-F238E27FC236}">
                <a16:creationId xmlns:a16="http://schemas.microsoft.com/office/drawing/2014/main" id="{FF82FA35-24FB-4A30-915B-9F2A5F277C15}"/>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3872E8F-B614-473B-8F84-18E8AB456D25}"/>
              </a:ext>
            </a:extLst>
          </p:cNvPr>
          <p:cNvSpPr>
            <a:spLocks xmlns:a="http://schemas.openxmlformats.org/drawingml/2006/main" noGrp="1"/>
          </p:cNvSpPr>
          <p:nvPr/>
        </p:nvSpPr>
        <p:spPr>
          <a:xfrm xmlns:a="http://schemas.openxmlformats.org/drawingml/2006/main">
            <a:off x="723900" y="3238500"/>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に統合されたロボットの実機が稼働すること自体が、データ収集になる。フィジカルAIが物理世界に投入されはじめた瞬間から、データは「外部の企業がわざわざ収集するもの」から「ロボットの稼働を通じて自動的に蓄積されるもの」に変わる。</a:t>
            </a:r>
          </a:p>
        </p:txBody>
      </p:sp>
      <p:sp>
        <p:nvSpPr>
          <p:cNvPr id="8" name="">
            <a:extLst xmlns:a="http://schemas.openxmlformats.org/drawingml/2006/main">
              <a:ext uri="{FF2B5EF4-FFF2-40B4-BE49-F238E27FC236}">
                <a16:creationId xmlns:a16="http://schemas.microsoft.com/office/drawing/2014/main" id="{3BC1A1AC-E936-49EF-83DC-05A8E890BA2C}"/>
              </a:ext>
            </a:extLst>
          </p:cNvPr>
          <p:cNvSpPr>
            <a:spLocks xmlns:a="http://schemas.openxmlformats.org/drawingml/2006/main" noGrp="1"/>
          </p:cNvSpPr>
          <p:nvPr/>
        </p:nvSpPr>
        <p:spPr>
          <a:xfrm xmlns:a="http://schemas.openxmlformats.org/drawingml/2006/main">
            <a:off x="723900" y="481012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そのデータが直結したフィードバックとしてモデルの改善に使われる。一連のループを自社で持つ企業が最速でロボットを改善でき、最終的に生き残る企業になると考える。</a:t>
            </a:r>
          </a:p>
        </p:txBody>
      </p:sp>
    </p:spTree>
    <p:extLst>
      <p:ext uri="{BB962C8B-B14F-4D97-AF65-F5344CB8AC3E}">
        <p14:creationId xmlns:p14="http://schemas.microsoft.com/office/powerpoint/2010/main" val="1843209982"/>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D387AE3-3448-4FE3-ACE7-4795CC5F660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FF678F-9E1D-4313-8F34-FD6D0AAF02F7}"/>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だからこそ「現場データ収集」から始める</a:t>
            </a:r>
          </a:p>
        </p:txBody>
      </p:sp>
      <p:sp>
        <p:nvSpPr>
          <p:cNvPr id="3" name="">
            <a:extLst xmlns:a="http://schemas.openxmlformats.org/drawingml/2006/main">
              <a:ext uri="{FF2B5EF4-FFF2-40B4-BE49-F238E27FC236}">
                <a16:creationId xmlns:a16="http://schemas.microsoft.com/office/drawing/2014/main" id="{74C93B2F-432E-478B-A85F-D358A01063C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F9A3099-BBCD-4581-ADF7-72332C136CA1}"/>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5029EAE9-822E-448A-BB08-FB82DDEEBC17}"/>
              </a:ext>
            </a:extLst>
          </p:cNvPr>
          <p:cNvSpPr>
            <a:spLocks xmlns:a="http://schemas.openxmlformats.org/drawingml/2006/main" noGrp="1"/>
          </p:cNvSpPr>
          <p:nvPr/>
        </p:nvSpPr>
        <p:spPr>
          <a:xfrm xmlns:a="http://schemas.openxmlformats.org/drawingml/2006/main">
            <a:off x="723900" y="19526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独立したデータレイヤーが将来消滅するなら、データ収集企業に未来はないように聞こえるかもしれない。しかし私の考えは逆で、むしろデータ収集こそが最も有利な出発点である。</a:t>
            </a:r>
          </a:p>
        </p:txBody>
      </p:sp>
      <p:sp>
        <p:nvSpPr>
          <p:cNvPr id="6" name="">
            <a:extLst xmlns:a="http://schemas.openxmlformats.org/drawingml/2006/main">
              <a:ext uri="{FF2B5EF4-FFF2-40B4-BE49-F238E27FC236}">
                <a16:creationId xmlns:a16="http://schemas.microsoft.com/office/drawing/2014/main" id="{8B21C5D4-5320-4ADE-BBD6-01B89034E6A5}"/>
              </a:ext>
            </a:extLst>
          </p:cNvPr>
          <p:cNvSpPr>
            <a:spLocks xmlns:a="http://schemas.openxmlformats.org/drawingml/2006/main" noGrp="1"/>
          </p:cNvSpPr>
          <p:nvPr/>
        </p:nvSpPr>
        <p:spPr>
          <a:xfrm xmlns:a="http://schemas.openxmlformats.org/drawingml/2006/main">
            <a:off x="723900" y="3286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3D6ADA1-B5C1-44B5-975E-7A9DAAC7B144}"/>
              </a:ext>
            </a:extLst>
          </p:cNvPr>
          <p:cNvSpPr>
            <a:spLocks xmlns:a="http://schemas.openxmlformats.org/drawingml/2006/main" noGrp="1"/>
          </p:cNvSpPr>
          <p:nvPr/>
        </p:nvSpPr>
        <p:spPr>
          <a:xfrm xmlns:a="http://schemas.openxmlformats.org/drawingml/2006/main">
            <a:off x="723900" y="36195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統合層が現場と直接接触するのは当然である。しかし、一番上流のデータ収集層の中でも、現場データの収集を行う企業は現場と直接接触する。データ収集のために現場へ入り、将来ロボットを導入する可能性がある現場と直接の関係を築く。</a:t>
            </a:r>
          </a:p>
        </p:txBody>
      </p:sp>
      <p:sp>
        <p:nvSpPr>
          <p:cNvPr id="8" name="">
            <a:extLst xmlns:a="http://schemas.openxmlformats.org/drawingml/2006/main">
              <a:ext uri="{FF2B5EF4-FFF2-40B4-BE49-F238E27FC236}">
                <a16:creationId xmlns:a16="http://schemas.microsoft.com/office/drawing/2014/main" id="{1800432D-F8F2-49D5-A38B-7AC0910495A0}"/>
              </a:ext>
            </a:extLst>
          </p:cNvPr>
          <p:cNvSpPr>
            <a:spLocks xmlns:a="http://schemas.openxmlformats.org/drawingml/2006/main" noGrp="1"/>
          </p:cNvSpPr>
          <p:nvPr/>
        </p:nvSpPr>
        <p:spPr>
          <a:xfrm xmlns:a="http://schemas.openxmlformats.org/drawingml/2006/main">
            <a:off x="723900" y="5191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一般に、上流工程の企業が最下流の顧客と接することは珍しい。フィジカルAIでは現場の実データが不可欠であるため、上流と最下流が直接繋がる。</a:t>
            </a:r>
          </a:p>
        </p:txBody>
      </p:sp>
    </p:spTree>
    <p:extLst>
      <p:ext uri="{BB962C8B-B14F-4D97-AF65-F5344CB8AC3E}">
        <p14:creationId xmlns:p14="http://schemas.microsoft.com/office/powerpoint/2010/main" val="365157970"/>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30FF0D-60C4-4532-9523-B2E74D47EA1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965EF9-ACA3-4D3D-8A33-17DDE3A453F2}"/>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横方向の網羅性は、今の技術レベルでも実現可能</a:t>
            </a:r>
          </a:p>
        </p:txBody>
      </p:sp>
      <p:sp>
        <p:nvSpPr>
          <p:cNvPr id="3" name="">
            <a:extLst xmlns:a="http://schemas.openxmlformats.org/drawingml/2006/main">
              <a:ext uri="{FF2B5EF4-FFF2-40B4-BE49-F238E27FC236}">
                <a16:creationId xmlns:a16="http://schemas.microsoft.com/office/drawing/2014/main" id="{239F568D-088E-48EA-AEF1-D79D711777A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D0F4B2B-174B-4755-9308-2529D1494444}"/>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6E76EE41-62A7-4809-8B25-408D59FF01B4}"/>
              </a:ext>
            </a:extLst>
          </p:cNvPr>
          <p:cNvSpPr>
            <a:spLocks xmlns:a="http://schemas.openxmlformats.org/drawingml/2006/main" noGrp="1"/>
          </p:cNvSpPr>
          <p:nvPr/>
        </p:nvSpPr>
        <p:spPr>
          <a:xfrm xmlns:a="http://schemas.openxmlformats.org/drawingml/2006/main">
            <a:off x="723900" y="2047875"/>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統合層で横方向、つまり複数の業種・現場を網羅できている企業は、現時点で一社もない。ロボットの自律動作は業種・タスクごとに個別の技術開発が必要であり、横に広げることが極めて難しいからである。</a:t>
            </a:r>
          </a:p>
        </p:txBody>
      </p:sp>
      <p:sp>
        <p:nvSpPr>
          <p:cNvPr id="6" name="">
            <a:extLst xmlns:a="http://schemas.openxmlformats.org/drawingml/2006/main">
              <a:ext uri="{FF2B5EF4-FFF2-40B4-BE49-F238E27FC236}">
                <a16:creationId xmlns:a16="http://schemas.microsoft.com/office/drawing/2014/main" id="{E168EE21-B692-49AD-8E70-7A46EC9E154E}"/>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1549980-5001-4197-A96A-1095D6CF79D9}"/>
              </a:ext>
            </a:extLst>
          </p:cNvPr>
          <p:cNvSpPr>
            <a:spLocks xmlns:a="http://schemas.openxmlformats.org/drawingml/2006/main" noGrp="1"/>
          </p:cNvSpPr>
          <p:nvPr/>
        </p:nvSpPr>
        <p:spPr>
          <a:xfrm xmlns:a="http://schemas.openxmlformats.org/drawingml/2006/main">
            <a:off x="723900" y="40481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しかし、現場データ収集層であれば話は別である。カメラを装着した人間の作業を撮影するだけであり、業種をまたぐ技術的障壁がほとんどない。今の時点で横方向を網羅できる唯一のレイヤーが、データ収集層である。</a:t>
            </a:r>
          </a:p>
        </p:txBody>
      </p:sp>
    </p:spTree>
    <p:extLst>
      <p:ext uri="{BB962C8B-B14F-4D97-AF65-F5344CB8AC3E}">
        <p14:creationId xmlns:p14="http://schemas.microsoft.com/office/powerpoint/2010/main" val="511874764"/>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10BFF0C-9875-43B6-A61F-7A095CF698D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50011B-679F-4666-93AE-70EE39760525}"/>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0D9C7F2B-4235-46B2-B767-60F24BF19BE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824FDC8-F7B9-4852-83AE-CA98A5C71BD0}"/>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99371BEE-CF1C-4AD2-BD89-2E000854B3D0}"/>
              </a:ext>
            </a:extLst>
          </p:cNvPr>
          <p:cNvSpPr>
            <a:spLocks xmlns:a="http://schemas.openxmlformats.org/drawingml/2006/main" noGrp="1"/>
          </p:cNvSpPr>
          <p:nvPr/>
        </p:nvSpPr>
        <p:spPr>
          <a:xfrm xmlns:a="http://schemas.openxmlformats.org/drawingml/2006/main">
            <a:off x="723900" y="204787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飲食、小売、製造、配送、建築、美容、農業。途方もない数の現場があるが、有限であることには変わりない。先にどれだけ多くの現場と繋がることができるかが重要である。</a:t>
            </a:r>
          </a:p>
        </p:txBody>
      </p:sp>
      <p:sp>
        <p:nvSpPr>
          <p:cNvPr id="6" name="">
            <a:extLst xmlns:a="http://schemas.openxmlformats.org/drawingml/2006/main">
              <a:ext uri="{FF2B5EF4-FFF2-40B4-BE49-F238E27FC236}">
                <a16:creationId xmlns:a16="http://schemas.microsoft.com/office/drawing/2014/main" id="{805EB7A7-A769-4060-A1EF-487D3B367E06}"/>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42CB302-2DDD-4A76-9B59-A3C3D03C9E25}"/>
              </a:ext>
            </a:extLst>
          </p:cNvPr>
          <p:cNvSpPr>
            <a:spLocks xmlns:a="http://schemas.openxmlformats.org/drawingml/2006/main" noGrp="1"/>
          </p:cNvSpPr>
          <p:nvPr/>
        </p:nvSpPr>
        <p:spPr>
          <a:xfrm xmlns:a="http://schemas.openxmlformats.org/drawingml/2006/main">
            <a:off x="723900" y="38100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一つの現場が複数のデータ収集会社と契約することは考えにくい。撮影機材の管理、スタッフへの説明、プライバシーに関する合意など、一社と契約するだけでも現場側に相応の負担が発生するためである。</a:t>
            </a:r>
          </a:p>
        </p:txBody>
      </p:sp>
      <p:sp>
        <p:nvSpPr>
          <p:cNvPr id="8" name="">
            <a:extLst xmlns:a="http://schemas.openxmlformats.org/drawingml/2006/main">
              <a:ext uri="{FF2B5EF4-FFF2-40B4-BE49-F238E27FC236}">
                <a16:creationId xmlns:a16="http://schemas.microsoft.com/office/drawing/2014/main" id="{83B28433-8BA3-4AB4-B2D7-6E3BFD205B83}"/>
              </a:ext>
            </a:extLst>
          </p:cNvPr>
          <p:cNvSpPr>
            <a:spLocks xmlns:a="http://schemas.openxmlformats.org/drawingml/2006/main" noGrp="1"/>
          </p:cNvSpPr>
          <p:nvPr/>
        </p:nvSpPr>
        <p:spPr>
          <a:xfrm xmlns:a="http://schemas.openxmlformats.org/drawingml/2006/main">
            <a:off x="723900" y="53816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海外では急速に広まっている一方、日本ではまだほとんど浸透していない。</a:t>
            </a:r>
          </a:p>
        </p:txBody>
      </p:sp>
    </p:spTree>
    <p:extLst>
      <p:ext uri="{BB962C8B-B14F-4D97-AF65-F5344CB8AC3E}">
        <p14:creationId xmlns:p14="http://schemas.microsoft.com/office/powerpoint/2010/main" val="1653302482"/>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949728-2273-4394-93F9-CAAA7EE6974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1F3DB4-5E72-4CB4-8FB4-05154754F374}"/>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現場ネットワークは、ロボット企業にとって不可欠になる</a:t>
            </a:r>
          </a:p>
        </p:txBody>
      </p:sp>
      <p:sp>
        <p:nvSpPr>
          <p:cNvPr id="3" name="">
            <a:extLst xmlns:a="http://schemas.openxmlformats.org/drawingml/2006/main">
              <a:ext uri="{FF2B5EF4-FFF2-40B4-BE49-F238E27FC236}">
                <a16:creationId xmlns:a16="http://schemas.microsoft.com/office/drawing/2014/main" id="{103C9610-D191-4706-B29B-3E05063B21F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38CF375-B796-4AAD-97FE-62CC93174AF3}"/>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2C3D25E7-C1EE-4D4B-AC3F-6E99C254927E}"/>
              </a:ext>
            </a:extLst>
          </p:cNvPr>
          <p:cNvSpPr>
            <a:spLocks xmlns:a="http://schemas.openxmlformats.org/drawingml/2006/main" noGrp="1"/>
          </p:cNvSpPr>
          <p:nvPr/>
        </p:nvSpPr>
        <p:spPr>
          <a:xfrm xmlns:a="http://schemas.openxmlformats.org/drawingml/2006/main">
            <a:off x="723900" y="20955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遅かれ早かれ、ロボット企業は最終的な顧客である現場のネットワークを取りに来る。現場を含めたフィードバックループを作ることが、最速の勝ち筋だからである。</a:t>
            </a:r>
          </a:p>
        </p:txBody>
      </p:sp>
      <p:sp>
        <p:nvSpPr>
          <p:cNvPr id="6" name="">
            <a:extLst xmlns:a="http://schemas.openxmlformats.org/drawingml/2006/main">
              <a:ext uri="{FF2B5EF4-FFF2-40B4-BE49-F238E27FC236}">
                <a16:creationId xmlns:a16="http://schemas.microsoft.com/office/drawing/2014/main" id="{2F19F36E-9516-4014-B2BF-E4935FF90DA2}"/>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B4DFBD1-4FE1-4500-B369-05DC72975980}"/>
              </a:ext>
            </a:extLst>
          </p:cNvPr>
          <p:cNvSpPr>
            <a:spLocks xmlns:a="http://schemas.openxmlformats.org/drawingml/2006/main" noGrp="1"/>
          </p:cNvSpPr>
          <p:nvPr/>
        </p:nvSpPr>
        <p:spPr>
          <a:xfrm xmlns:a="http://schemas.openxmlformats.org/drawingml/2006/main">
            <a:off x="723900" y="385762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現場ネットワークを得るには、多業種にわたって様々な同意やコンプライアンス対応を積み重ねる必要がある。その積み重ねは、後発が容易に真似できない参入障壁になる。</a:t>
            </a:r>
          </a:p>
        </p:txBody>
      </p:sp>
      <p:sp>
        <p:nvSpPr>
          <p:cNvPr id="8" name="">
            <a:extLst xmlns:a="http://schemas.openxmlformats.org/drawingml/2006/main">
              <a:ext uri="{FF2B5EF4-FFF2-40B4-BE49-F238E27FC236}">
                <a16:creationId xmlns:a16="http://schemas.microsoft.com/office/drawing/2014/main" id="{747B5058-07B4-4F48-9560-61E98A47BA07}"/>
              </a:ext>
            </a:extLst>
          </p:cNvPr>
          <p:cNvSpPr>
            <a:spLocks xmlns:a="http://schemas.openxmlformats.org/drawingml/2006/main" noGrp="1"/>
          </p:cNvSpPr>
          <p:nvPr/>
        </p:nvSpPr>
        <p:spPr>
          <a:xfrm xmlns:a="http://schemas.openxmlformats.org/drawingml/2006/main">
            <a:off x="723900" y="53340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データだけでなく、現場との関係と、現場へ入り続けるための運用が蓄積される。</a:t>
            </a:r>
          </a:p>
        </p:txBody>
      </p:sp>
    </p:spTree>
    <p:extLst>
      <p:ext uri="{BB962C8B-B14F-4D97-AF65-F5344CB8AC3E}">
        <p14:creationId xmlns:p14="http://schemas.microsoft.com/office/powerpoint/2010/main" val="767908771"/>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4302DA6-B8B7-4B73-9EE9-CF0716CB446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01A314-E03F-4733-BEF4-C3298F997168}"/>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現場データの先行取得は、自ら現場統合者になるための布石</a:t>
            </a:r>
          </a:p>
        </p:txBody>
      </p:sp>
      <p:sp>
        <p:nvSpPr>
          <p:cNvPr id="3" name="">
            <a:extLst xmlns:a="http://schemas.openxmlformats.org/drawingml/2006/main">
              <a:ext uri="{FF2B5EF4-FFF2-40B4-BE49-F238E27FC236}">
                <a16:creationId xmlns:a16="http://schemas.microsoft.com/office/drawing/2014/main" id="{77B5EAC6-1023-4A9D-AEBA-E55719087E2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0575338-8042-455A-AF62-F6F12EE81F91}"/>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64995FA9-1980-4CF4-8426-FDEE9F4DB6AB}"/>
              </a:ext>
            </a:extLst>
          </p:cNvPr>
          <p:cNvSpPr>
            <a:spLocks xmlns:a="http://schemas.openxmlformats.org/drawingml/2006/main" noGrp="1"/>
          </p:cNvSpPr>
          <p:nvPr/>
        </p:nvSpPr>
        <p:spPr>
          <a:xfrm xmlns:a="http://schemas.openxmlformats.org/drawingml/2006/main">
            <a:off x="723900" y="20002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ロボットを各現場へ導入するには、導入判断や導入後の調整のために、既存の人間のワークフローを詳細に把握する必要がある。現場データを収集済みであれば、ロボット企業は一からワークフロー調査をやり直す必要がない。</a:t>
            </a:r>
          </a:p>
        </p:txBody>
      </p:sp>
      <p:sp>
        <p:nvSpPr>
          <p:cNvPr id="6" name="">
            <a:extLst xmlns:a="http://schemas.openxmlformats.org/drawingml/2006/main">
              <a:ext uri="{FF2B5EF4-FFF2-40B4-BE49-F238E27FC236}">
                <a16:creationId xmlns:a16="http://schemas.microsoft.com/office/drawing/2014/main" id="{A85A4111-1B35-4CE7-A2BB-9FE66A4FCE28}"/>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9D1E785-B389-44D8-8F97-133B33D134D3}"/>
              </a:ext>
            </a:extLst>
          </p:cNvPr>
          <p:cNvSpPr>
            <a:spLocks xmlns:a="http://schemas.openxmlformats.org/drawingml/2006/main" noGrp="1"/>
          </p:cNvSpPr>
          <p:nvPr/>
        </p:nvSpPr>
        <p:spPr>
          <a:xfrm xmlns:a="http://schemas.openxmlformats.org/drawingml/2006/main">
            <a:off x="723900" y="40481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そのため、協業の相手として自然に選ばれる立場になる。さらに、他のロボット企業の動きを待つまでもなく、自分たち自身がロボットの現場統合に乗り出せる。</a:t>
            </a:r>
          </a:p>
        </p:txBody>
      </p:sp>
      <p:sp>
        <p:nvSpPr>
          <p:cNvPr id="8" name="">
            <a:extLst xmlns:a="http://schemas.openxmlformats.org/drawingml/2006/main">
              <a:ext uri="{FF2B5EF4-FFF2-40B4-BE49-F238E27FC236}">
                <a16:creationId xmlns:a16="http://schemas.microsoft.com/office/drawing/2014/main" id="{A194FA42-48EE-4B03-8794-3A7655DBED96}"/>
              </a:ext>
            </a:extLst>
          </p:cNvPr>
          <p:cNvSpPr>
            <a:spLocks xmlns:a="http://schemas.openxmlformats.org/drawingml/2006/main" noGrp="1"/>
          </p:cNvSpPr>
          <p:nvPr/>
        </p:nvSpPr>
        <p:spPr>
          <a:xfrm xmlns:a="http://schemas.openxmlformats.org/drawingml/2006/main">
            <a:off x="723900" y="53816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現場データ収集から始めた企業が、最終的には現場統合を行う企業へと進化できる。これが私たちの長期的な構想である。</a:t>
            </a:r>
          </a:p>
        </p:txBody>
      </p:sp>
    </p:spTree>
    <p:extLst>
      <p:ext uri="{BB962C8B-B14F-4D97-AF65-F5344CB8AC3E}">
        <p14:creationId xmlns:p14="http://schemas.microsoft.com/office/powerpoint/2010/main" val="812661502"/>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B481872-54E4-4308-B1B3-01D51884D00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0B895B9-8BAF-4B55-8FCB-07E540EDB658}"/>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E0EEA79E-D949-4B59-8477-C647E008B95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087EF4C-A198-4610-ADCD-5939185247D3}"/>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357B0B1F-1BC3-48A2-ACFB-1AA888CCF2D2}"/>
              </a:ext>
            </a:extLst>
          </p:cNvPr>
          <p:cNvSpPr>
            <a:spLocks xmlns:a="http://schemas.openxmlformats.org/drawingml/2006/main" noGrp="1"/>
          </p:cNvSpPr>
          <p:nvPr/>
        </p:nvSpPr>
        <p:spPr>
          <a:xfrm xmlns:a="http://schemas.openxmlformats.org/drawingml/2006/main">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561E81C4-A9CA-4FB6-92C8-B2BAA416C0D9}"/>
              </a:ext>
            </a:extLst>
          </p:cNvPr>
          <p:cNvSpPr>
            <a:spLocks xmlns:a="http://schemas.openxmlformats.org/drawingml/2006/main" noGrp="1"/>
          </p:cNvSpPr>
          <p:nvPr/>
        </p:nvSpPr>
        <p:spPr>
          <a:xfrm xmlns:a="http://schemas.openxmlformats.org/drawingml/2006/main">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6FEBCB8B-C005-498B-8DB8-2BCDE6AD45EC}"/>
              </a:ext>
            </a:extLst>
          </p:cNvPr>
          <p:cNvSpPr>
            <a:spLocks xmlns:a="http://schemas.openxmlformats.org/drawingml/2006/main" noGrp="1"/>
          </p:cNvSpPr>
          <p:nvPr/>
        </p:nvSpPr>
        <p:spPr>
          <a:xfrm xmlns:a="http://schemas.openxmlformats.org/drawingml/2006/main">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C9DF4857-110C-4AE2-B022-402F07CDE8EF}"/>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6EF38F7-133D-4792-AC7D-7322B675884F}"/>
              </a:ext>
            </a:extLst>
          </p:cNvPr>
          <p:cNvSpPr>
            <a:spLocks xmlns:a="http://schemas.openxmlformats.org/drawingml/2006/main" noGrp="1"/>
          </p:cNvSpPr>
          <p:nvPr/>
        </p:nvSpPr>
        <p:spPr>
          <a:xfrm xmlns:a="http://schemas.openxmlformats.org/drawingml/2006/main">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8314D21C-E7D6-439E-B3FC-0C58999A92B0}"/>
              </a:ext>
            </a:extLst>
          </p:cNvPr>
          <p:cNvSpPr>
            <a:spLocks xmlns:a="http://schemas.openxmlformats.org/drawingml/2006/main" noGrp="1"/>
          </p:cNvSpPr>
          <p:nvPr/>
        </p:nvSpPr>
        <p:spPr>
          <a:xfrm xmlns:a="http://schemas.openxmlformats.org/drawingml/2006/main">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自らロボットの現場統合に乗り出す</a:t>
            </a:r>
          </a:p>
        </p:txBody>
      </p:sp>
      <p:sp>
        <p:nvSpPr>
          <p:cNvPr id="11" name="">
            <a:extLst xmlns:a="http://schemas.openxmlformats.org/drawingml/2006/main">
              <a:ext uri="{FF2B5EF4-FFF2-40B4-BE49-F238E27FC236}">
                <a16:creationId xmlns:a16="http://schemas.microsoft.com/office/drawing/2014/main" id="{67FA4322-CF68-4090-9435-DA0DD2A090DA}"/>
              </a:ext>
            </a:extLst>
          </p:cNvPr>
          <p:cNvSpPr>
            <a:spLocks xmlns:a="http://schemas.openxmlformats.org/drawingml/2006/main" noGrp="1"/>
          </p:cNvSpPr>
          <p:nvPr/>
        </p:nvSpPr>
        <p:spPr>
          <a:xfrm xmlns:a="http://schemas.openxmlformats.org/drawingml/2006/main">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蓄積した現場データ、現場ネットワーク、現場に関する知見を武器に、モデル開発・ハードウェア開発・現場統合のフィードバックループを自社で持つ企業へ進化する。</a:t>
            </a:r>
          </a:p>
        </p:txBody>
      </p:sp>
      <p:sp>
        <p:nvSpPr>
          <p:cNvPr id="12" name="">
            <a:extLst xmlns:a="http://schemas.openxmlformats.org/drawingml/2006/main">
              <a:ext uri="{FF2B5EF4-FFF2-40B4-BE49-F238E27FC236}">
                <a16:creationId xmlns:a16="http://schemas.microsoft.com/office/drawing/2014/main" id="{76DC86FB-87C2-47C0-B6AE-C1AC48E4484F}"/>
              </a:ext>
            </a:extLst>
          </p:cNvPr>
          <p:cNvSpPr>
            <a:spLocks xmlns:a="http://schemas.openxmlformats.org/drawingml/2006/main" noGrp="1"/>
          </p:cNvSpPr>
          <p:nvPr/>
        </p:nvSpPr>
        <p:spPr>
          <a:xfrm xmlns:a="http://schemas.openxmlformats.org/drawingml/2006/main">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1604288387"/>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010144E-262B-471C-95C8-14D95F879E3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979F272-6E37-4C08-AB58-21D12BEFF38B}"/>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C13D448B-A569-4729-B53F-A1919F2CEF6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F3088C3-A77C-4E0D-ADF4-27001C6259FA}"/>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702616DF-9991-4F9B-93BF-9E0A726FF935}"/>
              </a:ext>
            </a:extLst>
          </p:cNvPr>
          <p:cNvSpPr>
            <a:spLocks xmlns:a="http://schemas.openxmlformats.org/drawingml/2006/main" noGrp="1"/>
          </p:cNvSpPr>
          <p:nvPr/>
        </p:nvSpPr>
        <p:spPr>
          <a:xfrm xmlns:a="http://schemas.openxmlformats.org/drawingml/2006/main">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F9D81646-D3B1-4BA7-B798-FEF3EA441884}"/>
              </a:ext>
            </a:extLst>
          </p:cNvPr>
          <p:cNvSpPr>
            <a:spLocks xmlns:a="http://schemas.openxmlformats.org/drawingml/2006/main" noGrp="1"/>
          </p:cNvSpPr>
          <p:nvPr/>
        </p:nvSpPr>
        <p:spPr>
          <a:xfrm xmlns:a="http://schemas.openxmlformats.org/drawingml/2006/main">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644E5147-F619-4019-8D74-37EDFE6CF895}"/>
              </a:ext>
            </a:extLst>
          </p:cNvPr>
          <p:cNvSpPr>
            <a:spLocks xmlns:a="http://schemas.openxmlformats.org/drawingml/2006/main" noGrp="1"/>
          </p:cNvSpPr>
          <p:nvPr/>
        </p:nvSpPr>
        <p:spPr>
          <a:xfrm xmlns:a="http://schemas.openxmlformats.org/drawingml/2006/main">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92DDCC4F-5E37-496F-980B-E710E03522AA}"/>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D8A77FEC-4E21-4498-AFBE-53E650CC3483}"/>
              </a:ext>
            </a:extLst>
          </p:cNvPr>
          <p:cNvSpPr>
            <a:spLocks xmlns:a="http://schemas.openxmlformats.org/drawingml/2006/main" noGrp="1"/>
          </p:cNvSpPr>
          <p:nvPr/>
        </p:nvSpPr>
        <p:spPr>
          <a:xfrm xmlns:a="http://schemas.openxmlformats.org/drawingml/2006/main">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5128B12F-59C8-4844-9E9B-74B714455174}"/>
              </a:ext>
            </a:extLst>
          </p:cNvPr>
          <p:cNvSpPr>
            <a:spLocks xmlns:a="http://schemas.openxmlformats.org/drawingml/2006/main" noGrp="1"/>
          </p:cNvSpPr>
          <p:nvPr/>
        </p:nvSpPr>
        <p:spPr>
          <a:xfrm xmlns:a="http://schemas.openxmlformats.org/drawingml/2006/main">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6448A168-529C-4840-BDD3-199146E1B29B}"/>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73D0ECE-CCEA-4526-B966-9871B7831AF6}"/>
              </a:ext>
            </a:extLst>
          </p:cNvPr>
          <p:cNvSpPr>
            <a:spLocks xmlns:a="http://schemas.openxmlformats.org/drawingml/2006/main" noGrp="1"/>
          </p:cNvSpPr>
          <p:nvPr/>
        </p:nvSpPr>
        <p:spPr>
          <a:xfrm xmlns:a="http://schemas.openxmlformats.org/drawingml/2006/main">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47EA54D9-1A20-4D84-8AA6-C7B6E7F7E8B5}"/>
              </a:ext>
            </a:extLst>
          </p:cNvPr>
          <p:cNvSpPr>
            <a:spLocks xmlns:a="http://schemas.openxmlformats.org/drawingml/2006/main" noGrp="1"/>
          </p:cNvSpPr>
          <p:nvPr/>
        </p:nvSpPr>
        <p:spPr>
          <a:xfrm xmlns:a="http://schemas.openxmlformats.org/drawingml/2006/main">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B27180FD-4A47-4B85-BA24-B158948CA477}"/>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D6EF1C50-CE52-4D8E-A624-F30D978B96D4}"/>
              </a:ext>
            </a:extLst>
          </p:cNvPr>
          <p:cNvSpPr>
            <a:spLocks xmlns:a="http://schemas.openxmlformats.org/drawingml/2006/main" noGrp="1"/>
          </p:cNvSpPr>
          <p:nvPr/>
        </p:nvSpPr>
        <p:spPr>
          <a:xfrm xmlns:a="http://schemas.openxmlformats.org/drawingml/2006/main">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1D158DED-4D74-4815-A2EA-E45B247B5242}"/>
              </a:ext>
            </a:extLst>
          </p:cNvPr>
          <p:cNvSpPr>
            <a:spLocks xmlns:a="http://schemas.openxmlformats.org/drawingml/2006/main" noGrp="1"/>
          </p:cNvSpPr>
          <p:nvPr/>
        </p:nvSpPr>
        <p:spPr>
          <a:xfrm xmlns:a="http://schemas.openxmlformats.org/drawingml/2006/main">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0BB6D4DA-0B21-45AD-AFE9-B55CC51D739B}"/>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63C1519-6A72-4763-8A7F-17BA2C322B48}"/>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4D79F15-0ACA-494D-9DAE-04CA885813F7}"/>
              </a:ext>
            </a:extLst>
          </p:cNvPr>
          <p:cNvSpPr>
            <a:spLocks xmlns:a="http://schemas.openxmlformats.org/drawingml/2006/main" noGrp="1"/>
          </p:cNvSpPr>
          <p:nvPr/>
        </p:nvSpPr>
        <p:spPr>
          <a:xfrm xmlns:a="http://schemas.openxmlformats.org/drawingml/2006/main">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B35F0B12-9F3F-4AB8-B32E-50A9680CB62D}"/>
              </a:ext>
            </a:extLst>
          </p:cNvPr>
          <p:cNvSpPr>
            <a:spLocks xmlns:a="http://schemas.openxmlformats.org/drawingml/2006/main" noGrp="1"/>
          </p:cNvSpPr>
          <p:nvPr/>
        </p:nvSpPr>
        <p:spPr>
          <a:xfrm xmlns:a="http://schemas.openxmlformats.org/drawingml/2006/main">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731571E3-EC43-4EA5-9D91-1A80267F832A}"/>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1AB52B5-1102-48DD-96A5-67CE08F55651}"/>
              </a:ext>
            </a:extLst>
          </p:cNvPr>
          <p:cNvSpPr>
            <a:spLocks xmlns:a="http://schemas.openxmlformats.org/drawingml/2006/main" noGrp="1"/>
          </p:cNvSpPr>
          <p:nvPr/>
        </p:nvSpPr>
        <p:spPr>
          <a:xfrm xmlns:a="http://schemas.openxmlformats.org/drawingml/2006/main">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46451162"/>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CA451AE-C42B-4BE3-92A7-E448D941DF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8DCD42-C6F0-4D64-97C3-1B6486F9F45D}"/>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82C3575A-A847-4762-B8C2-CC03D19702B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4CE5D3D-D11C-4C0A-BAF2-C949017080AC}"/>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45F0AFD3-7169-4E63-BA39-D7E7947AD6B0}"/>
              </a:ext>
            </a:extLst>
          </p:cNvPr>
          <p:cNvSpPr>
            <a:spLocks xmlns:a="http://schemas.openxmlformats.org/drawingml/2006/main" noGrp="1"/>
          </p:cNvSpPr>
          <p:nvPr/>
        </p:nvSpPr>
        <p:spPr>
          <a:xfrm xmlns:a="http://schemas.openxmlformats.org/drawingml/2006/main">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飛び込み営業</a:t>
            </a:r>
          </a:p>
        </p:txBody>
      </p:sp>
      <p:sp>
        <p:nvSpPr>
          <p:cNvPr id="6" name="">
            <a:extLst xmlns:a="http://schemas.openxmlformats.org/drawingml/2006/main">
              <a:ext uri="{FF2B5EF4-FFF2-40B4-BE49-F238E27FC236}">
                <a16:creationId xmlns:a16="http://schemas.microsoft.com/office/drawing/2014/main" id="{AB4F7796-8F51-4C13-AA4A-F9200AF56F94}"/>
              </a:ext>
            </a:extLst>
          </p:cNvPr>
          <p:cNvSpPr>
            <a:spLocks xmlns:a="http://schemas.openxmlformats.org/drawingml/2006/main" noGrp="1"/>
          </p:cNvSpPr>
          <p:nvPr/>
        </p:nvSpPr>
        <p:spPr>
          <a:xfrm xmlns:a="http://schemas.openxmlformats.org/drawingml/2006/main">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FABFE61D-008B-4FBD-88BC-FCAD5E37BC27}"/>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12D869E-6387-4E4D-B49D-85DC2CA5584C}"/>
              </a:ext>
            </a:extLst>
          </p:cNvPr>
          <p:cNvSpPr>
            <a:spLocks xmlns:a="http://schemas.openxmlformats.org/drawingml/2006/main" noGrp="1"/>
          </p:cNvSpPr>
          <p:nvPr/>
        </p:nvSpPr>
        <p:spPr>
          <a:xfrm xmlns:a="http://schemas.openxmlformats.org/drawingml/2006/main">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a:t>
            </a:r>
          </a:p>
        </p:txBody>
      </p:sp>
      <p:sp>
        <p:nvSpPr>
          <p:cNvPr id="9" name="">
            <a:extLst xmlns:a="http://schemas.openxmlformats.org/drawingml/2006/main">
              <a:ext uri="{FF2B5EF4-FFF2-40B4-BE49-F238E27FC236}">
                <a16:creationId xmlns:a16="http://schemas.microsoft.com/office/drawing/2014/main" id="{F84A55B3-9CBD-4574-83A1-B4301B6F2772}"/>
              </a:ext>
            </a:extLst>
          </p:cNvPr>
          <p:cNvSpPr>
            <a:spLocks xmlns:a="http://schemas.openxmlformats.org/drawingml/2006/main" noGrp="1"/>
          </p:cNvSpPr>
          <p:nvPr/>
        </p:nvSpPr>
        <p:spPr>
          <a:xfrm xmlns:a="http://schemas.openxmlformats.org/drawingml/2006/main">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1C8DDED2-9060-4F35-80CD-491572C8E90B}"/>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0F94726-6752-4584-B045-12CE7240BCCD}"/>
              </a:ext>
            </a:extLst>
          </p:cNvPr>
          <p:cNvSpPr>
            <a:spLocks xmlns:a="http://schemas.openxmlformats.org/drawingml/2006/main" noGrp="1"/>
          </p:cNvSpPr>
          <p:nvPr/>
        </p:nvSpPr>
        <p:spPr>
          <a:xfrm xmlns:a="http://schemas.openxmlformats.org/drawingml/2006/main">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カフェチェーン</a:t>
            </a:r>
          </a:p>
        </p:txBody>
      </p:sp>
      <p:sp>
        <p:nvSpPr>
          <p:cNvPr id="12" name="">
            <a:extLst xmlns:a="http://schemas.openxmlformats.org/drawingml/2006/main">
              <a:ext uri="{FF2B5EF4-FFF2-40B4-BE49-F238E27FC236}">
                <a16:creationId xmlns:a16="http://schemas.microsoft.com/office/drawing/2014/main" id="{A83CBE08-946E-4B37-83C9-52302345BAFE}"/>
              </a:ext>
            </a:extLst>
          </p:cNvPr>
          <p:cNvSpPr>
            <a:spLocks xmlns:a="http://schemas.openxmlformats.org/drawingml/2006/main" noGrp="1"/>
          </p:cNvSpPr>
          <p:nvPr/>
        </p:nvSpPr>
        <p:spPr>
          <a:xfrm xmlns:a="http://schemas.openxmlformats.org/drawingml/2006/main">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02D2A719-D5C4-4BD1-AF0A-EF5BCFE5DA28}"/>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27423CB-C516-434E-878B-2C87972D5C05}"/>
              </a:ext>
            </a:extLst>
          </p:cNvPr>
          <p:cNvSpPr>
            <a:spLocks xmlns:a="http://schemas.openxmlformats.org/drawingml/2006/main" noGrp="1"/>
          </p:cNvSpPr>
          <p:nvPr/>
        </p:nvSpPr>
        <p:spPr>
          <a:xfrm xmlns:a="http://schemas.openxmlformats.org/drawingml/2006/main">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スーパーマーケット</a:t>
            </a:r>
          </a:p>
        </p:txBody>
      </p:sp>
      <p:sp>
        <p:nvSpPr>
          <p:cNvPr id="15" name="">
            <a:extLst xmlns:a="http://schemas.openxmlformats.org/drawingml/2006/main">
              <a:ext uri="{FF2B5EF4-FFF2-40B4-BE49-F238E27FC236}">
                <a16:creationId xmlns:a16="http://schemas.microsoft.com/office/drawing/2014/main" id="{51E904A2-2DE6-4FAD-B0B7-6DA395C4535D}"/>
              </a:ext>
            </a:extLst>
          </p:cNvPr>
          <p:cNvSpPr>
            <a:spLocks xmlns:a="http://schemas.openxmlformats.org/drawingml/2006/main" noGrp="1"/>
          </p:cNvSpPr>
          <p:nvPr/>
        </p:nvSpPr>
        <p:spPr>
          <a:xfrm xmlns:a="http://schemas.openxmlformats.org/drawingml/2006/main">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F3BF1F19-B330-4E0A-8193-CE0218A2EBEF}"/>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CBCCD67-45C5-4A92-BBCC-9A60B35E9D8C}"/>
              </a:ext>
            </a:extLst>
          </p:cNvPr>
          <p:cNvSpPr>
            <a:spLocks xmlns:a="http://schemas.openxmlformats.org/drawingml/2006/main" noGrp="1"/>
          </p:cNvSpPr>
          <p:nvPr/>
        </p:nvSpPr>
        <p:spPr>
          <a:xfrm xmlns:a="http://schemas.openxmlformats.org/drawingml/2006/main">
            <a:off x="723900" y="55721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直近の動き</a:t>
            </a:r>
          </a:p>
        </p:txBody>
      </p:sp>
      <p:sp>
        <p:nvSpPr>
          <p:cNvPr id="18" name="">
            <a:extLst xmlns:a="http://schemas.openxmlformats.org/drawingml/2006/main">
              <a:ext uri="{FF2B5EF4-FFF2-40B4-BE49-F238E27FC236}">
                <a16:creationId xmlns:a16="http://schemas.microsoft.com/office/drawing/2014/main" id="{1DE39F6D-ACB5-4240-B7A1-5DB6B496D4FA}"/>
              </a:ext>
            </a:extLst>
          </p:cNvPr>
          <p:cNvSpPr>
            <a:spLocks xmlns:a="http://schemas.openxmlformats.org/drawingml/2006/main" noGrp="1"/>
          </p:cNvSpPr>
          <p:nvPr/>
        </p:nvSpPr>
        <p:spPr>
          <a:xfrm xmlns:a="http://schemas.openxmlformats.org/drawingml/2006/main">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1897911895"/>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1C9BDAC-38D8-4AA8-B0F1-323B5DF1213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F4D2D13-7A55-4667-8C90-3D5D468C151F}"/>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F2428DDC-8985-42BD-9885-703062B231D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F2FCA87-66D4-450B-AE3C-D9207974D8B3}"/>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B4B09D5D-4EF2-4406-A1F3-2C5D912A8988}"/>
              </a:ext>
            </a:extLst>
          </p:cNvPr>
          <p:cNvSpPr>
            <a:spLocks xmlns:a="http://schemas.openxmlformats.org/drawingml/2006/main" noGrp="1"/>
          </p:cNvSpPr>
          <p:nvPr/>
        </p:nvSpPr>
        <p:spPr>
          <a:xfrm xmlns:a="http://schemas.openxmlformats.org/drawingml/2006/main">
            <a:off x="723900" y="18573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B9362DBE-D368-406C-9C35-41B3235720BF}"/>
              </a:ext>
            </a:extLst>
          </p:cNvPr>
          <p:cNvSpPr>
            <a:spLocks xmlns:a="http://schemas.openxmlformats.org/drawingml/2006/main" noGrp="1"/>
          </p:cNvSpPr>
          <p:nvPr/>
        </p:nvSpPr>
        <p:spPr>
          <a:xfrm xmlns:a="http://schemas.openxmlformats.org/drawingml/2006/main">
            <a:off x="723900" y="2286000"/>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FPVlabs、Claru、CortexAI、ScaleAI、ShaipAI、Hyphenbox、PeekAI等、海外8社とやり取りし、ベーカリーのサンプルデータを送付した。合意には至っていない。収集スケールが世界的に見てまだ小さく、低い優先度として扱われているためである。</a:t>
            </a:r>
          </a:p>
        </p:txBody>
      </p:sp>
      <p:sp>
        <p:nvSpPr>
          <p:cNvPr id="7" name="">
            <a:extLst xmlns:a="http://schemas.openxmlformats.org/drawingml/2006/main">
              <a:ext uri="{FF2B5EF4-FFF2-40B4-BE49-F238E27FC236}">
                <a16:creationId xmlns:a16="http://schemas.microsoft.com/office/drawing/2014/main" id="{6790EF34-514D-46DB-B8B3-A497C963E219}"/>
              </a:ext>
            </a:extLst>
          </p:cNvPr>
          <p:cNvSpPr>
            <a:spLocks xmlns:a="http://schemas.openxmlformats.org/drawingml/2006/main" noGrp="1"/>
          </p:cNvSpPr>
          <p:nvPr/>
        </p:nvSpPr>
        <p:spPr>
          <a:xfrm xmlns:a="http://schemas.openxmlformats.org/drawingml/2006/main">
            <a:off x="723900" y="3857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E257704-1CEE-43FA-8936-5199D90970EE}"/>
              </a:ext>
            </a:extLst>
          </p:cNvPr>
          <p:cNvSpPr>
            <a:spLocks xmlns:a="http://schemas.openxmlformats.org/drawingml/2006/main" noGrp="1"/>
          </p:cNvSpPr>
          <p:nvPr/>
        </p:nvSpPr>
        <p:spPr>
          <a:xfrm xmlns:a="http://schemas.openxmlformats.org/drawingml/2006/main">
            <a:off x="723900" y="4171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国内｜Nextremer</a:t>
            </a:r>
          </a:p>
        </p:txBody>
      </p:sp>
      <p:sp>
        <p:nvSpPr>
          <p:cNvPr id="9" name="">
            <a:extLst xmlns:a="http://schemas.openxmlformats.org/drawingml/2006/main">
              <a:ext uri="{FF2B5EF4-FFF2-40B4-BE49-F238E27FC236}">
                <a16:creationId xmlns:a16="http://schemas.microsoft.com/office/drawing/2014/main" id="{6BEE8C03-34A5-40B3-A821-49B5C26D5CC6}"/>
              </a:ext>
            </a:extLst>
          </p:cNvPr>
          <p:cNvSpPr>
            <a:spLocks xmlns:a="http://schemas.openxmlformats.org/drawingml/2006/main" noGrp="1"/>
          </p:cNvSpPr>
          <p:nvPr/>
        </p:nvSpPr>
        <p:spPr>
          <a:xfrm xmlns:a="http://schemas.openxmlformats.org/drawingml/2006/main">
            <a:off x="723900" y="45720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フィジカルAI向けデータの加工・販売サービスへの掲載を調整中。現場合意書のシステム構築と、現場合意の取り方を擦り合わせている。データ加工を経由することで、プライバシー処理の責任分散と、高度なアノテーション付きデータを求める販売先への接続が可能になる。</a:t>
            </a:r>
          </a:p>
        </p:txBody>
      </p:sp>
      <p:sp>
        <p:nvSpPr>
          <p:cNvPr id="10" name="">
            <a:extLst xmlns:a="http://schemas.openxmlformats.org/drawingml/2006/main">
              <a:ext uri="{FF2B5EF4-FFF2-40B4-BE49-F238E27FC236}">
                <a16:creationId xmlns:a16="http://schemas.microsoft.com/office/drawing/2014/main" id="{8F40CE67-21FD-4AB4-9240-AEC5F0112602}"/>
              </a:ext>
            </a:extLst>
          </p:cNvPr>
          <p:cNvSpPr>
            <a:spLocks xmlns:a="http://schemas.openxmlformats.org/drawingml/2006/main" noGrp="1"/>
          </p:cNvSpPr>
          <p:nvPr/>
        </p:nvSpPr>
        <p:spPr>
          <a:xfrm xmlns:a="http://schemas.openxmlformats.org/drawingml/2006/main">
            <a:off x="723900" y="57626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月10,000時間では50〜150TBに達するストレージも、Nextremerへ格納することで自社負担を抑えられる。</a:t>
            </a:r>
          </a:p>
        </p:txBody>
      </p:sp>
    </p:spTree>
    <p:extLst>
      <p:ext uri="{BB962C8B-B14F-4D97-AF65-F5344CB8AC3E}">
        <p14:creationId xmlns:p14="http://schemas.microsoft.com/office/powerpoint/2010/main" val="995710352"/>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9241634-E7E7-4738-AB92-192332CD7DC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B1D5CE1-B9A7-45FF-B0D9-4AE935344D32}"/>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55650BB4-E44B-4E06-92CA-65B701EC431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0B3819A-792F-4446-89F1-C542EB2B055F}"/>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537B50AB-5240-43F4-922C-9E4B8C2B721C}"/>
              </a:ext>
            </a:extLst>
          </p:cNvPr>
          <p:cNvSpPr>
            <a:spLocks xmlns:a="http://schemas.openxmlformats.org/drawingml/2006/main" noGrp="1"/>
          </p:cNvSpPr>
          <p:nvPr/>
        </p:nvSpPr>
        <p:spPr>
          <a:xfrm xmlns:a="http://schemas.openxmlformats.org/drawingml/2006/main">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森｜共同創業者</a:t>
            </a:r>
          </a:p>
        </p:txBody>
      </p:sp>
      <p:sp>
        <p:nvSpPr>
          <p:cNvPr id="6" name="">
            <a:extLst xmlns:a="http://schemas.openxmlformats.org/drawingml/2006/main">
              <a:ext uri="{FF2B5EF4-FFF2-40B4-BE49-F238E27FC236}">
                <a16:creationId xmlns:a16="http://schemas.microsoft.com/office/drawing/2014/main" id="{3C8B41FA-7EF1-4B6A-A222-52C2423D9F69}"/>
              </a:ext>
            </a:extLst>
          </p:cNvPr>
          <p:cNvSpPr>
            <a:spLocks xmlns:a="http://schemas.openxmlformats.org/drawingml/2006/main" noGrp="1"/>
          </p:cNvSpPr>
          <p:nvPr/>
        </p:nvSpPr>
        <p:spPr>
          <a:xfrm xmlns:a="http://schemas.openxmlformats.org/drawingml/2006/main">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7" name="">
            <a:extLst xmlns:a="http://schemas.openxmlformats.org/drawingml/2006/main">
              <a:ext uri="{FF2B5EF4-FFF2-40B4-BE49-F238E27FC236}">
                <a16:creationId xmlns:a16="http://schemas.microsoft.com/office/drawing/2014/main" id="{A430E0E7-1DDF-4A91-A703-8C3CEA1B368D}"/>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231CE25-7169-4DF5-81A5-400311B2A5CB}"/>
              </a:ext>
            </a:extLst>
          </p:cNvPr>
          <p:cNvSpPr>
            <a:spLocks xmlns:a="http://schemas.openxmlformats.org/drawingml/2006/main" noGrp="1"/>
          </p:cNvSpPr>
          <p:nvPr/>
        </p:nvSpPr>
        <p:spPr>
          <a:xfrm xmlns:a="http://schemas.openxmlformats.org/drawingml/2006/main">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河野｜共同創業者</a:t>
            </a:r>
          </a:p>
        </p:txBody>
      </p:sp>
      <p:sp>
        <p:nvSpPr>
          <p:cNvPr id="9" name="">
            <a:extLst xmlns:a="http://schemas.openxmlformats.org/drawingml/2006/main">
              <a:ext uri="{FF2B5EF4-FFF2-40B4-BE49-F238E27FC236}">
                <a16:creationId xmlns:a16="http://schemas.microsoft.com/office/drawing/2014/main" id="{2167CBFF-2086-480A-BECD-B91D6A016AB8}"/>
              </a:ext>
            </a:extLst>
          </p:cNvPr>
          <p:cNvSpPr>
            <a:spLocks xmlns:a="http://schemas.openxmlformats.org/drawingml/2006/main" noGrp="1"/>
          </p:cNvSpPr>
          <p:nvPr/>
        </p:nvSpPr>
        <p:spPr>
          <a:xfrm xmlns:a="http://schemas.openxmlformats.org/drawingml/2006/main">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神戸大学大学院情報学研究科の院生。フィジカルAIの中でもシミュレーション領域を研究しながら、事業の立ち上げに参画。</a:t>
            </a:r>
          </a:p>
        </p:txBody>
      </p:sp>
      <p:sp>
        <p:nvSpPr>
          <p:cNvPr id="10" name="">
            <a:extLst xmlns:a="http://schemas.openxmlformats.org/drawingml/2006/main">
              <a:ext uri="{FF2B5EF4-FFF2-40B4-BE49-F238E27FC236}">
                <a16:creationId xmlns:a16="http://schemas.microsoft.com/office/drawing/2014/main" id="{DB1F416E-BE4B-4B80-8E72-748F6922A65A}"/>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1126272-4237-4E3B-8190-77C78E8A1B79}"/>
              </a:ext>
            </a:extLst>
          </p:cNvPr>
          <p:cNvSpPr>
            <a:spLocks xmlns:a="http://schemas.openxmlformats.org/drawingml/2006/main" noGrp="1"/>
          </p:cNvSpPr>
          <p:nvPr/>
        </p:nvSpPr>
        <p:spPr>
          <a:xfrm xmlns:a="http://schemas.openxmlformats.org/drawingml/2006/main">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川島｜現場提供者</a:t>
            </a:r>
          </a:p>
        </p:txBody>
      </p:sp>
      <p:sp>
        <p:nvSpPr>
          <p:cNvPr id="12" name="">
            <a:extLst xmlns:a="http://schemas.openxmlformats.org/drawingml/2006/main">
              <a:ext uri="{FF2B5EF4-FFF2-40B4-BE49-F238E27FC236}">
                <a16:creationId xmlns:a16="http://schemas.microsoft.com/office/drawing/2014/main" id="{DBA71933-9F87-4670-B90E-E6FA542D36F0}"/>
              </a:ext>
            </a:extLst>
          </p:cNvPr>
          <p:cNvSpPr>
            <a:spLocks xmlns:a="http://schemas.openxmlformats.org/drawingml/2006/main" noGrp="1"/>
          </p:cNvSpPr>
          <p:nvPr/>
        </p:nvSpPr>
        <p:spPr>
          <a:xfrm xmlns:a="http://schemas.openxmlformats.org/drawingml/2006/main">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飛び込み営業を通じて出会ったベーカリー経営者。撮影先の拡大に協力し、保有するベーカリーで撮影テストを自由に行う許可を提供。</a:t>
            </a:r>
          </a:p>
        </p:txBody>
      </p:sp>
      <p:sp>
        <p:nvSpPr>
          <p:cNvPr id="13" name="">
            <a:extLst xmlns:a="http://schemas.openxmlformats.org/drawingml/2006/main">
              <a:ext uri="{FF2B5EF4-FFF2-40B4-BE49-F238E27FC236}">
                <a16:creationId xmlns:a16="http://schemas.microsoft.com/office/drawing/2014/main" id="{C7641898-F40C-4FF4-A137-50D04C243015}"/>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A7F3A98-880E-4163-8D71-7E1901A51205}"/>
              </a:ext>
            </a:extLst>
          </p:cNvPr>
          <p:cNvSpPr>
            <a:spLocks xmlns:a="http://schemas.openxmlformats.org/drawingml/2006/main" noGrp="1"/>
          </p:cNvSpPr>
          <p:nvPr/>
        </p:nvSpPr>
        <p:spPr>
          <a:xfrm xmlns:a="http://schemas.openxmlformats.org/drawingml/2006/main">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大崎｜事業支援</a:t>
            </a:r>
          </a:p>
        </p:txBody>
      </p:sp>
      <p:sp>
        <p:nvSpPr>
          <p:cNvPr id="15" name="">
            <a:extLst xmlns:a="http://schemas.openxmlformats.org/drawingml/2006/main">
              <a:ext uri="{FF2B5EF4-FFF2-40B4-BE49-F238E27FC236}">
                <a16:creationId xmlns:a16="http://schemas.microsoft.com/office/drawing/2014/main" id="{076A17E3-E4DF-4D57-89DB-46074F682AE6}"/>
              </a:ext>
            </a:extLst>
          </p:cNvPr>
          <p:cNvSpPr>
            <a:spLocks xmlns:a="http://schemas.openxmlformats.org/drawingml/2006/main" noGrp="1"/>
          </p:cNvSpPr>
          <p:nvPr/>
        </p:nvSpPr>
        <p:spPr>
          <a:xfrm xmlns:a="http://schemas.openxmlformats.org/drawingml/2006/main">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三菱UFJ銀行、関西スーパーマーケット常務取締役・管理本部長を経て、会社立ち上げ、契約・合意書、小売・製造のネットワークを使った現場開拓を支援。</a:t>
            </a:r>
          </a:p>
        </p:txBody>
      </p:sp>
    </p:spTree>
    <p:extLst>
      <p:ext uri="{BB962C8B-B14F-4D97-AF65-F5344CB8AC3E}">
        <p14:creationId xmlns:p14="http://schemas.microsoft.com/office/powerpoint/2010/main" val="1025715890"/>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2C22C22-380F-4600-A8BA-C010D78DC45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C3FD85-3CC1-4F2C-8645-F42DE390F885}"/>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4F62BFA1-02BF-4D3F-B5EF-F134B78FB37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3084078-D942-49B5-A180-EECCDECB7B79}"/>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f6c687aecb074743"/>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5C32EF2-5D41-42F0-B796-52980031B61E}"/>
              </a:ext>
            </a:extLst>
          </p:cNvPr>
          <p:cNvSpPr>
            <a:spLocks xmlns:a="http://schemas.openxmlformats.org/drawingml/2006/main" noGrp="1"/>
          </p:cNvSpPr>
          <p:nvPr/>
        </p:nvSpPr>
        <p:spPr>
          <a:xfrm xmlns:a="http://schemas.openxmlformats.org/drawingml/2006/main">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C5464705-0BF9-443E-8957-CF005DD060F8}"/>
              </a:ext>
            </a:extLst>
          </p:cNvPr>
          <p:cNvSpPr>
            <a:spLocks xmlns:a="http://schemas.openxmlformats.org/drawingml/2006/main" noGrp="1"/>
          </p:cNvSpPr>
          <p:nvPr/>
        </p:nvSpPr>
        <p:spPr>
          <a:xfrm xmlns:a="http://schemas.openxmlformats.org/drawingml/2006/main">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A7B15617-A7C0-4B70-BD40-35E0E8688BD7}"/>
              </a:ext>
            </a:extLst>
          </p:cNvPr>
          <p:cNvSpPr>
            <a:spLocks xmlns:a="http://schemas.openxmlformats.org/drawingml/2006/main" noGrp="1"/>
          </p:cNvSpPr>
          <p:nvPr/>
        </p:nvSpPr>
        <p:spPr>
          <a:xfrm xmlns:a="http://schemas.openxmlformats.org/drawingml/2006/main">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531d8cc9c0a4931"/>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04135087-3F3D-4D2D-996E-49089A52B592}"/>
              </a:ext>
            </a:extLst>
          </p:cNvPr>
          <p:cNvSpPr>
            <a:spLocks xmlns:a="http://schemas.openxmlformats.org/drawingml/2006/main" noGrp="1"/>
          </p:cNvSpPr>
          <p:nvPr/>
        </p:nvSpPr>
        <p:spPr>
          <a:xfrm xmlns:a="http://schemas.openxmlformats.org/drawingml/2006/main">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5B53675C-D8E0-480A-A2A5-9C8CB92D2B20}"/>
              </a:ext>
            </a:extLst>
          </p:cNvPr>
          <p:cNvSpPr>
            <a:spLocks xmlns:a="http://schemas.openxmlformats.org/drawingml/2006/main" noGrp="1"/>
          </p:cNvSpPr>
          <p:nvPr/>
        </p:nvSpPr>
        <p:spPr>
          <a:xfrm xmlns:a="http://schemas.openxmlformats.org/drawingml/2006/main">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帽子</a:t>
            </a:r>
          </a:p>
        </p:txBody>
      </p:sp>
      <p:sp>
        <p:nvSpPr>
          <p:cNvPr id="12" name="">
            <a:extLst xmlns:a="http://schemas.openxmlformats.org/drawingml/2006/main">
              <a:ext uri="{FF2B5EF4-FFF2-40B4-BE49-F238E27FC236}">
                <a16:creationId xmlns:a16="http://schemas.microsoft.com/office/drawing/2014/main" id="{9E672A4D-AD7F-44EF-A3E3-32452C688D62}"/>
              </a:ext>
            </a:extLst>
          </p:cNvPr>
          <p:cNvSpPr>
            <a:spLocks xmlns:a="http://schemas.openxmlformats.org/drawingml/2006/main" noGrp="1"/>
          </p:cNvSpPr>
          <p:nvPr/>
        </p:nvSpPr>
        <p:spPr>
          <a:xfrm xmlns:a="http://schemas.openxmlformats.org/drawingml/2006/main">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03b0865dc6d44e46"/>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ECB2E3FB-5F81-45DF-8938-72527432B983}"/>
              </a:ext>
            </a:extLst>
          </p:cNvPr>
          <p:cNvSpPr>
            <a:spLocks xmlns:a="http://schemas.openxmlformats.org/drawingml/2006/main" noGrp="1"/>
          </p:cNvSpPr>
          <p:nvPr/>
        </p:nvSpPr>
        <p:spPr>
          <a:xfrm xmlns:a="http://schemas.openxmlformats.org/drawingml/2006/main">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B4060E53-87EC-4FC2-AEEE-779665BAD993}"/>
              </a:ext>
            </a:extLst>
          </p:cNvPr>
          <p:cNvSpPr>
            <a:spLocks xmlns:a="http://schemas.openxmlformats.org/drawingml/2006/main" noGrp="1"/>
          </p:cNvSpPr>
          <p:nvPr/>
        </p:nvSpPr>
        <p:spPr>
          <a:xfrm xmlns:a="http://schemas.openxmlformats.org/drawingml/2006/main">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メガネ</a:t>
            </a:r>
          </a:p>
        </p:txBody>
      </p:sp>
      <p:sp>
        <p:nvSpPr>
          <p:cNvPr id="16" name="">
            <a:extLst xmlns:a="http://schemas.openxmlformats.org/drawingml/2006/main">
              <a:ext uri="{FF2B5EF4-FFF2-40B4-BE49-F238E27FC236}">
                <a16:creationId xmlns:a16="http://schemas.microsoft.com/office/drawing/2014/main" id="{E56117F8-BD0F-4E6A-9551-85335F215CCE}"/>
              </a:ext>
            </a:extLst>
          </p:cNvPr>
          <p:cNvSpPr>
            <a:spLocks xmlns:a="http://schemas.openxmlformats.org/drawingml/2006/main" noGrp="1"/>
          </p:cNvSpPr>
          <p:nvPr/>
        </p:nvSpPr>
        <p:spPr>
          <a:xfrm xmlns:a="http://schemas.openxmlformats.org/drawingml/2006/main">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A477E168-7CF4-4339-9FBA-4CECBBF95D38}"/>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27CBA74-56CB-4520-9C4D-EEEFE3407AFE}"/>
              </a:ext>
            </a:extLst>
          </p:cNvPr>
          <p:cNvSpPr>
            <a:spLocks xmlns:a="http://schemas.openxmlformats.org/drawingml/2006/main" noGrp="1"/>
          </p:cNvSpPr>
          <p:nvPr/>
        </p:nvSpPr>
        <p:spPr>
          <a:xfrm xmlns:a="http://schemas.openxmlformats.org/drawingml/2006/main">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522458743"/>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0148A3-D5F0-414A-8F19-694757544F1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3B9626-2A9B-4D68-A3FF-9CDBB038387D}"/>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652DEFE5-A1B6-4B9A-BCEC-80687E836AA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D40B663-1B69-4A62-9575-B51ACDC0BA2E}"/>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2" name=""/>
          <p:cNvGraphicFramePr/>
          <p:nvPr/>
        </p:nvGraphicFramePr>
        <p:xfrm>
          <a:off xmlns:a="http://schemas.openxmlformats.org/drawingml/2006/main" x="723900" y="1857375"/>
          <a:ext xmlns:a="http://schemas.openxmlformats.org/drawingml/2006/main" cx="10572750" cy="3238500"/>
        </p:xfrm>
        <a:graphic xmlns:a="http://schemas.openxmlformats.org/drawingml/2006/main">
          <a:graphicData uri="http://schemas.openxmlformats.org/drawingml/2006/table">
            <a:tbl>
              <a:tblPr/>
              <a:tblGrid>
                <a:gridCol w="3429000"/>
                <a:gridCol w="4476750"/>
                <a:gridCol w="2667000"/>
              </a:tblGrid>
              <a:tr h="539750">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1時間あたり</a:t>
                      </a:r>
                    </a:p>
                  </a:txBody>
                  <a:tcPr marL="91440" marR="91440" marT="45720" marB="45720">
                    <a:solidFill>
                      <a:srgbClr val="25333A"/>
                    </a:solidFill>
                  </a:tcPr>
                </a:tc>
              </a:tr>
              <a:tr h="539750">
                <a:tc>
                  <a:txBody>
                    <a:bodyPr/>
                    <a:lstStyle/>
                    <a:p>
                      <a:r>
                        <a:rPr sz="1350"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約73円</a:t>
                      </a:r>
                    </a:p>
                  </a:txBody>
                  <a:tcPr marL="91440" marR="91440" marT="45720" marB="45720">
                    <a:solidFill>
                      <a:srgbClr val="FFFFFF"/>
                    </a:solidFill>
                  </a:tcPr>
                </a:tc>
              </a:tr>
              <a:tr h="539750">
                <a:tc>
                  <a:txBody>
                    <a:bodyPr/>
                    <a:lstStyle/>
                    <a:p>
                      <a:r>
                        <a:rPr sz="1350"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019AF7E8-78DA-41EF-8690-B3DBCCB370DF}"/>
              </a:ext>
            </a:extLst>
          </p:cNvPr>
          <p:cNvSpPr>
            <a:spLocks xmlns:a="http://schemas.openxmlformats.org/drawingml/2006/main" noGrp="1"/>
          </p:cNvSpPr>
          <p:nvPr/>
        </p:nvSpPr>
        <p:spPr>
          <a:xfrm xmlns:a="http://schemas.openxmlformats.org/drawingml/2006/main">
            <a:off x="723900" y="5381625"/>
            <a:ext cx="781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110時間/月。流通総額に対するデバイス償却後の比率は約45.5%。</a:t>
            </a:r>
          </a:p>
        </p:txBody>
      </p:sp>
      <p:sp>
        <p:nvSpPr>
          <p:cNvPr id="7" name="">
            <a:extLst xmlns:a="http://schemas.openxmlformats.org/drawingml/2006/main">
              <a:ext uri="{FF2B5EF4-FFF2-40B4-BE49-F238E27FC236}">
                <a16:creationId xmlns:a16="http://schemas.microsoft.com/office/drawing/2014/main" id="{E8720E60-3DB0-4D56-8B1E-73E15A3E12C4}"/>
              </a:ext>
            </a:extLst>
          </p:cNvPr>
          <p:cNvSpPr>
            <a:spLocks xmlns:a="http://schemas.openxmlformats.org/drawingml/2006/main" noGrp="1"/>
          </p:cNvSpPr>
          <p:nvPr/>
        </p:nvSpPr>
        <p:spPr>
          <a:xfrm xmlns:a="http://schemas.openxmlformats.org/drawingml/2006/main">
            <a:off x="723900" y="604837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現場開拓・運用、人件費、法務、破損・紛失、転送費はここに含めていない。</a:t>
            </a:r>
          </a:p>
        </p:txBody>
      </p:sp>
    </p:spTree>
    <p:extLst>
      <p:ext uri="{BB962C8B-B14F-4D97-AF65-F5344CB8AC3E}">
        <p14:creationId xmlns:p14="http://schemas.microsoft.com/office/powerpoint/2010/main" val="1880045475"/>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8D52B4-DBA2-4A34-A07B-DD48BFFF3E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C7546C-D149-4311-BEDA-55FF66BDEA9E}"/>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AB0FCAF3-3B99-4989-9B23-C04B4BEADA2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83D9D62-515B-49D3-997E-C041E0FE0DCA}"/>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809750"/>
          <a:ext xmlns:a="http://schemas.openxmlformats.org/drawingml/2006/main" cx="10572750" cy="3429000"/>
        </p:xfrm>
        <a:graphic xmlns:a="http://schemas.openxmlformats.org/drawingml/2006/main">
          <a:graphicData uri="http://schemas.openxmlformats.org/drawingml/2006/table">
            <a:tbl>
              <a:tblPr/>
              <a:tblGrid>
                <a:gridCol w="3238500"/>
                <a:gridCol w="2286000"/>
                <a:gridCol w="2286000"/>
                <a:gridCol w="2762250"/>
              </a:tblGrid>
              <a:tr h="489857">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89857">
                <a:tc>
                  <a:txBody>
                    <a:bodyPr/>
                    <a:lstStyle/>
                    <a:p>
                      <a:r>
                        <a:rPr sz="1275"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91台</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727.2万円</a:t>
                      </a:r>
                    </a:p>
                  </a:txBody>
                  <a:tcPr marL="91440" marR="91440" marT="45720" marB="45720">
                    <a:solidFill>
                      <a:srgbClr val="DCE8EF"/>
                    </a:solidFill>
                  </a:tcPr>
                </a:tc>
              </a:tr>
              <a:tr h="489857">
                <a:tc>
                  <a:txBody>
                    <a:bodyPr/>
                    <a:lstStyle/>
                    <a:p>
                      <a:r>
                        <a:rPr sz="1275"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89CE049-FC68-42C3-A1CD-3E8698E4D048}"/>
              </a:ext>
            </a:extLst>
          </p:cNvPr>
          <p:cNvSpPr>
            <a:spLocks xmlns:a="http://schemas.openxmlformats.org/drawingml/2006/main" noGrp="1"/>
          </p:cNvSpPr>
          <p:nvPr/>
        </p:nvSpPr>
        <p:spPr>
          <a:xfrm xmlns:a="http://schemas.openxmlformats.org/drawingml/2006/main">
            <a:off x="723900" y="55245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月10,000時間を12か月継続：流通総額1.92億円、会社取り分9,600万円、デバイス償却後約8,726万円。</a:t>
            </a:r>
          </a:p>
        </p:txBody>
      </p:sp>
      <p:sp>
        <p:nvSpPr>
          <p:cNvPr id="7" name="">
            <a:extLst xmlns:a="http://schemas.openxmlformats.org/drawingml/2006/main">
              <a:ext uri="{FF2B5EF4-FFF2-40B4-BE49-F238E27FC236}">
                <a16:creationId xmlns:a16="http://schemas.microsoft.com/office/drawing/2014/main" id="{AC153F04-1367-4F6F-AF48-235AE95D272F}"/>
              </a:ext>
            </a:extLst>
          </p:cNvPr>
          <p:cNvSpPr>
            <a:spLocks xmlns:a="http://schemas.openxmlformats.org/drawingml/2006/main" noGrp="1"/>
          </p:cNvSpPr>
          <p:nvPr/>
        </p:nvSpPr>
        <p:spPr>
          <a:xfrm xmlns:a="http://schemas.openxmlformats.org/drawingml/2006/main">
            <a:off x="723900" y="60007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デバイス台数と売上は収集時間に比例するため、デバイスコスト比率はスケールしても大きく変わらない。</a:t>
            </a:r>
          </a:p>
        </p:txBody>
      </p:sp>
    </p:spTree>
    <p:extLst>
      <p:ext uri="{BB962C8B-B14F-4D97-AF65-F5344CB8AC3E}">
        <p14:creationId xmlns:p14="http://schemas.microsoft.com/office/powerpoint/2010/main" val="2132965151"/>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9932ED-8F5E-475F-9856-374FA474A95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869493-1A78-4DF7-A71C-13B906C83F7D}"/>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このモデル最大の武器：データのストック性</a:t>
            </a:r>
          </a:p>
        </p:txBody>
      </p:sp>
      <p:sp>
        <p:nvSpPr>
          <p:cNvPr id="3" name="">
            <a:extLst xmlns:a="http://schemas.openxmlformats.org/drawingml/2006/main">
              <a:ext uri="{FF2B5EF4-FFF2-40B4-BE49-F238E27FC236}">
                <a16:creationId xmlns:a16="http://schemas.microsoft.com/office/drawing/2014/main" id="{60CFF861-41CC-4EE7-B595-1DFB248BD90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953BEE0-42D1-4E73-A631-63E739372B5E}"/>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636D9678-5F9F-4C5D-A0D1-FE96A58877AD}"/>
              </a:ext>
            </a:extLst>
          </p:cNvPr>
          <p:cNvSpPr>
            <a:spLocks xmlns:a="http://schemas.openxmlformats.org/drawingml/2006/main" noGrp="1"/>
          </p:cNvSpPr>
          <p:nvPr/>
        </p:nvSpPr>
        <p:spPr>
          <a:xfrm xmlns:a="http://schemas.openxmlformats.org/drawingml/2006/main">
            <a:off x="723900" y="19526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データは在庫として積み上がり、過去に収集した分も売り続けられる。月ごとのフロー売上に加えて、累積時間がそのまま資産として蓄積される。</a:t>
            </a:r>
          </a:p>
        </p:txBody>
      </p:sp>
      <p:graphicFrame>
        <p:nvGraphicFramePr>
          <p:cNvPr id="13" name=""/>
          <p:cNvGraphicFramePr/>
          <p:nvPr/>
        </p:nvGraphicFramePr>
        <p:xfrm>
          <a:off xmlns:a="http://schemas.openxmlformats.org/drawingml/2006/main" x="723900" y="3190875"/>
          <a:ext xmlns:a="http://schemas.openxmlformats.org/drawingml/2006/main" cx="10572750" cy="1619250"/>
        </p:xfrm>
        <a:graphic xmlns:a="http://schemas.openxmlformats.org/drawingml/2006/main">
          <a:graphicData uri="http://schemas.openxmlformats.org/drawingml/2006/table">
            <a:tbl>
              <a:tblPr/>
              <a:tblGrid>
                <a:gridCol w="3810000"/>
                <a:gridCol w="2190750"/>
                <a:gridCol w="2190750"/>
                <a:gridCol w="2381250"/>
              </a:tblGrid>
              <a:tr h="539750">
                <a:tc>
                  <a:txBody>
                    <a:bodyPr/>
                    <a:lstStyle/>
                    <a:p>
                      <a:r>
                        <a:rPr sz="1125" b="1">
                          <a:solidFill>
                            <a:srgbClr val="FFFFFF"/>
                          </a:solidFill>
                          <a:latin typeface="Hiragino Sans"/>
                          <a:ea typeface="Hiragino Sans"/>
                          <a:cs typeface="Hiragino Sans"/>
                        </a:rPr>
                        <a:t>月10,000時間での平均販売回数</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1回</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2回</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3回</a:t>
                      </a:r>
                    </a:p>
                  </a:txBody>
                  <a:tcPr marL="91440" marR="91440" marT="45720" marB="45720">
                    <a:solidFill>
                      <a:srgbClr val="25333A"/>
                    </a:solidFill>
                  </a:tcPr>
                </a:tc>
              </a:tr>
              <a:tr h="539750">
                <a:tc>
                  <a:txBody>
                    <a:bodyPr/>
                    <a:lstStyle/>
                    <a:p>
                      <a:r>
                        <a:rPr sz="1350" b="1">
                          <a:solidFill>
                            <a:srgbClr val="15191B"/>
                          </a:solidFill>
                          <a:latin typeface="Hiragino Sans"/>
                          <a:ea typeface="Hiragino Sans"/>
                          <a:cs typeface="Hiragino Sans"/>
                        </a:rPr>
                        <a:t>月間の会社取り分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2,400万円</a:t>
                      </a:r>
                    </a:p>
                  </a:txBody>
                  <a:tcPr marL="91440" marR="91440" marT="45720" marB="45720">
                    <a:solidFill>
                      <a:srgbClr val="FFFFFF"/>
                    </a:solidFill>
                  </a:tcPr>
                </a:tc>
              </a:tr>
              <a:tr h="539750">
                <a:tc>
                  <a:txBody>
                    <a:bodyPr/>
                    <a:lstStyle/>
                    <a:p>
                      <a:r>
                        <a:rPr sz="1350" b="1">
                          <a:solidFill>
                            <a:srgbClr val="15191B"/>
                          </a:solidFill>
                          <a:latin typeface="Hiragino Sans"/>
                          <a:ea typeface="Hiragino Sans"/>
                          <a:cs typeface="Hiragino Sans"/>
                        </a:rPr>
                        <a:t>12か月の単純年換算</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9,600万円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1.92億円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2.88億円</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0DAF0AD5-B210-494A-81BD-EB137C1C16FD}"/>
              </a:ext>
            </a:extLst>
          </p:cNvPr>
          <p:cNvSpPr>
            <a:spLocks xmlns:a="http://schemas.openxmlformats.org/drawingml/2006/main" noGrp="1"/>
          </p:cNvSpPr>
          <p:nvPr/>
        </p:nvSpPr>
        <p:spPr>
          <a:xfrm xmlns:a="http://schemas.openxmlformats.org/drawingml/2006/main">
            <a:off x="723900" y="5143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15191B"/>
                </a:solidFill>
                <a:latin typeface="Hiragino Sans"/>
                <a:ea typeface="Hiragino Sans"/>
                <a:cs typeface="Hiragino Sans"/>
              </a:defRPr>
            </a:pPr>
            <a:r>
              <a:rPr sz="1425" b="0">
                <a:solidFill>
                  <a:srgbClr val="15191B"/>
                </a:solidFill>
                <a:latin typeface="Hiragino Sans"/>
                <a:ea typeface="Hiragino Sans"/>
                <a:cs typeface="Hiragino Sans"/>
              </a:rPr>
              <a:t>同一データを複数のバイヤーへ販売できる可能性がある。Nextremer経由でアノテーション付きデータとして高付加価値化される場合、単価が上がる可能性もある。</a:t>
            </a:r>
          </a:p>
        </p:txBody>
      </p:sp>
    </p:spTree>
    <p:extLst>
      <p:ext uri="{BB962C8B-B14F-4D97-AF65-F5344CB8AC3E}">
        <p14:creationId xmlns:p14="http://schemas.microsoft.com/office/powerpoint/2010/main" val="1494840747"/>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87F904-D80F-4256-8F3D-D2AC80CC80E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80EE55-D053-4DFC-905C-4D8BE14833E1}"/>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5102DDD2-8D10-45E5-B3A9-3F98DC6C9F9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6CBE8F6-C016-4C91-961B-84D30F39618E}"/>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F7AE5761-CBFA-4B03-90D8-D1CA8A0EF934}"/>
              </a:ext>
            </a:extLst>
          </p:cNvPr>
          <p:cNvSpPr>
            <a:spLocks xmlns:a="http://schemas.openxmlformats.org/drawingml/2006/main" noGrp="1"/>
          </p:cNvSpPr>
          <p:nvPr/>
        </p:nvSpPr>
        <p:spPr>
          <a:xfrm xmlns:a="http://schemas.openxmlformats.org/drawingml/2006/main">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AD7B19EE-055A-42B1-B45F-C8D12A8F5BDE}"/>
              </a:ext>
            </a:extLst>
          </p:cNvPr>
          <p:cNvSpPr>
            <a:spLocks xmlns:a="http://schemas.openxmlformats.org/drawingml/2006/main" noGrp="1"/>
          </p:cNvSpPr>
          <p:nvPr/>
        </p:nvSpPr>
        <p:spPr>
          <a:xfrm xmlns:a="http://schemas.openxmlformats.org/drawingml/2006/main">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082F73E9-9D70-41E6-9CC3-0D57ACDCBE8F}"/>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2752F1C-CF4C-4D1E-896B-96709DB1DC11}"/>
              </a:ext>
            </a:extLst>
          </p:cNvPr>
          <p:cNvSpPr>
            <a:spLocks xmlns:a="http://schemas.openxmlformats.org/drawingml/2006/main" noGrp="1"/>
          </p:cNvSpPr>
          <p:nvPr/>
        </p:nvSpPr>
        <p:spPr>
          <a:xfrm xmlns:a="http://schemas.openxmlformats.org/drawingml/2006/main">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FE8EC9D8-AA70-4866-9507-8E7C5EBCD079}"/>
              </a:ext>
            </a:extLst>
          </p:cNvPr>
          <p:cNvSpPr>
            <a:spLocks xmlns:a="http://schemas.openxmlformats.org/drawingml/2006/main" noGrp="1"/>
          </p:cNvSpPr>
          <p:nvPr/>
        </p:nvSpPr>
        <p:spPr>
          <a:xfrm xmlns:a="http://schemas.openxmlformats.org/drawingml/2006/main">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5FF801C3-1BB7-46A5-B59F-7116D766BC83}"/>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DA63EAC-A6E8-4D6A-8F21-E01F1308F2BE}"/>
              </a:ext>
            </a:extLst>
          </p:cNvPr>
          <p:cNvSpPr>
            <a:spLocks xmlns:a="http://schemas.openxmlformats.org/drawingml/2006/main" noGrp="1"/>
          </p:cNvSpPr>
          <p:nvPr/>
        </p:nvSpPr>
        <p:spPr>
          <a:xfrm xmlns:a="http://schemas.openxmlformats.org/drawingml/2006/main">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7507506F-B2DA-4B04-9AAF-50728FD76484}"/>
              </a:ext>
            </a:extLst>
          </p:cNvPr>
          <p:cNvSpPr>
            <a:spLocks xmlns:a="http://schemas.openxmlformats.org/drawingml/2006/main" noGrp="1"/>
          </p:cNvSpPr>
          <p:nvPr/>
        </p:nvSpPr>
        <p:spPr>
          <a:xfrm xmlns:a="http://schemas.openxmlformats.org/drawingml/2006/main">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DDDA6B02-B629-456C-B6E4-BAF14F1B25A7}"/>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D594010-075C-4551-9FB5-ACA25DAE8534}"/>
              </a:ext>
            </a:extLst>
          </p:cNvPr>
          <p:cNvSpPr>
            <a:spLocks xmlns:a="http://schemas.openxmlformats.org/drawingml/2006/main" noGrp="1"/>
          </p:cNvSpPr>
          <p:nvPr/>
        </p:nvSpPr>
        <p:spPr>
          <a:xfrm xmlns:a="http://schemas.openxmlformats.org/drawingml/2006/main">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CFFED463-ECC9-4211-9119-35A20FE1772C}"/>
              </a:ext>
            </a:extLst>
          </p:cNvPr>
          <p:cNvSpPr>
            <a:spLocks xmlns:a="http://schemas.openxmlformats.org/drawingml/2006/main" noGrp="1"/>
          </p:cNvSpPr>
          <p:nvPr/>
        </p:nvSpPr>
        <p:spPr>
          <a:xfrm xmlns:a="http://schemas.openxmlformats.org/drawingml/2006/main">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608070915"/>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A17F2B0-51F4-4A76-BEC9-0A2E73FC31E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4AF96D-47D3-47C4-AF39-6136308F1D56}"/>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843A28D1-E139-4370-B17F-7A9A02E0122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1C4C4C5-CBE1-4E8C-A20C-2FA9F129FD66}"/>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A3076097-EB21-4F9B-8CD8-750DF3D08176}"/>
              </a:ext>
            </a:extLst>
          </p:cNvPr>
          <p:cNvSpPr>
            <a:spLocks xmlns:a="http://schemas.openxmlformats.org/drawingml/2006/main" noGrp="1"/>
          </p:cNvSpPr>
          <p:nvPr/>
        </p:nvSpPr>
        <p:spPr>
          <a:xfrm xmlns:a="http://schemas.openxmlformats.org/drawingml/2006/main">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22FE2334-C6F3-4BAA-80C2-EB3F41147429}"/>
              </a:ext>
            </a:extLst>
          </p:cNvPr>
          <p:cNvSpPr>
            <a:spLocks xmlns:a="http://schemas.openxmlformats.org/drawingml/2006/main" noGrp="1"/>
          </p:cNvSpPr>
          <p:nvPr/>
        </p:nvSpPr>
        <p:spPr>
          <a:xfrm xmlns:a="http://schemas.openxmlformats.org/drawingml/2006/main">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AB5BD75E-A6B6-4590-8547-C168AB88D353}"/>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C344420-D0D7-40D2-B459-9DFF5CFF4493}"/>
              </a:ext>
            </a:extLst>
          </p:cNvPr>
          <p:cNvSpPr>
            <a:spLocks xmlns:a="http://schemas.openxmlformats.org/drawingml/2006/main" noGrp="1"/>
          </p:cNvSpPr>
          <p:nvPr/>
        </p:nvSpPr>
        <p:spPr>
          <a:xfrm xmlns:a="http://schemas.openxmlformats.org/drawingml/2006/main">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BCE30DCD-AD52-4014-9DCF-68D87B77021B}"/>
              </a:ext>
            </a:extLst>
          </p:cNvPr>
          <p:cNvSpPr>
            <a:spLocks xmlns:a="http://schemas.openxmlformats.org/drawingml/2006/main" noGrp="1"/>
          </p:cNvSpPr>
          <p:nvPr/>
        </p:nvSpPr>
        <p:spPr>
          <a:xfrm xmlns:a="http://schemas.openxmlformats.org/drawingml/2006/main">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894092FB-F3F0-4278-94C0-A1037720A3D2}"/>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F4E3C34-CC42-452D-BA26-687B32CE965D}"/>
              </a:ext>
            </a:extLst>
          </p:cNvPr>
          <p:cNvSpPr>
            <a:spLocks xmlns:a="http://schemas.openxmlformats.org/drawingml/2006/main" noGrp="1"/>
          </p:cNvSpPr>
          <p:nvPr/>
        </p:nvSpPr>
        <p:spPr>
          <a:xfrm xmlns:a="http://schemas.openxmlformats.org/drawingml/2006/main">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51142BF8-52CF-4D83-B568-6F548EEB69FC}"/>
              </a:ext>
            </a:extLst>
          </p:cNvPr>
          <p:cNvSpPr>
            <a:spLocks xmlns:a="http://schemas.openxmlformats.org/drawingml/2006/main" noGrp="1"/>
          </p:cNvSpPr>
          <p:nvPr/>
        </p:nvSpPr>
        <p:spPr>
          <a:xfrm xmlns:a="http://schemas.openxmlformats.org/drawingml/2006/main">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0C2AD0F3-289E-4C2D-A4D2-6F34B71A52B0}"/>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2055530766"/>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75599F6-9975-484F-8907-353A8512F91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155CAC-E388-4962-91C2-74E9D6CEA0E0}"/>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8CF6D9E1-3C9F-4497-A293-63809F8324D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7110F6E-430F-4D43-8FB6-056643B48CE3}"/>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F59F8808-8097-4E6A-B48F-CCC0D01868D0}"/>
              </a:ext>
            </a:extLst>
          </p:cNvPr>
          <p:cNvSpPr>
            <a:spLocks xmlns:a="http://schemas.openxmlformats.org/drawingml/2006/main" noGrp="1"/>
          </p:cNvSpPr>
          <p:nvPr/>
        </p:nvSpPr>
        <p:spPr>
          <a:xfrm xmlns:a="http://schemas.openxmlformats.org/drawingml/2006/main">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10月｜月間500時間</a:t>
            </a:r>
          </a:p>
        </p:txBody>
      </p:sp>
      <p:sp>
        <p:nvSpPr>
          <p:cNvPr id="6" name="">
            <a:extLst xmlns:a="http://schemas.openxmlformats.org/drawingml/2006/main">
              <a:ext uri="{FF2B5EF4-FFF2-40B4-BE49-F238E27FC236}">
                <a16:creationId xmlns:a16="http://schemas.microsoft.com/office/drawing/2014/main" id="{2AEC966E-CD96-4FB8-BBCC-ED06019155F8}"/>
              </a:ext>
            </a:extLst>
          </p:cNvPr>
          <p:cNvSpPr>
            <a:spLocks xmlns:a="http://schemas.openxmlformats.org/drawingml/2006/main" noGrp="1"/>
          </p:cNvSpPr>
          <p:nvPr/>
        </p:nvSpPr>
        <p:spPr>
          <a:xfrm xmlns:a="http://schemas.openxmlformats.org/drawingml/2006/main">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飲食店のネットワークで月間500時間。Nextremerとの合意と格納開始。海外販売先へ再度提供を打診し、撮影デバイス設計で協働できる企業へアプローチ。</a:t>
            </a:r>
          </a:p>
        </p:txBody>
      </p:sp>
      <p:sp>
        <p:nvSpPr>
          <p:cNvPr id="7" name="">
            <a:extLst xmlns:a="http://schemas.openxmlformats.org/drawingml/2006/main">
              <a:ext uri="{FF2B5EF4-FFF2-40B4-BE49-F238E27FC236}">
                <a16:creationId xmlns:a16="http://schemas.microsoft.com/office/drawing/2014/main" id="{F6D93716-A116-4286-B5C4-9E0988CD4B6D}"/>
              </a:ext>
            </a:extLst>
          </p:cNvPr>
          <p:cNvSpPr>
            <a:spLocks xmlns:a="http://schemas.openxmlformats.org/drawingml/2006/main" noGrp="1"/>
          </p:cNvSpPr>
          <p:nvPr/>
        </p:nvSpPr>
        <p:spPr>
          <a:xfrm xmlns:a="http://schemas.openxmlformats.org/drawingml/2006/main">
            <a:off x="723900" y="2857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5B0F64D-4E3E-416F-90F0-477852A6ACF9}"/>
              </a:ext>
            </a:extLst>
          </p:cNvPr>
          <p:cNvSpPr>
            <a:spLocks xmlns:a="http://schemas.openxmlformats.org/drawingml/2006/main" noGrp="1"/>
          </p:cNvSpPr>
          <p:nvPr/>
        </p:nvSpPr>
        <p:spPr>
          <a:xfrm xmlns:a="http://schemas.openxmlformats.org/drawingml/2006/main">
            <a:off x="723900" y="30480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11月｜500時間を維持</a:t>
            </a:r>
          </a:p>
        </p:txBody>
      </p:sp>
      <p:sp>
        <p:nvSpPr>
          <p:cNvPr id="9" name="">
            <a:extLst xmlns:a="http://schemas.openxmlformats.org/drawingml/2006/main">
              <a:ext uri="{FF2B5EF4-FFF2-40B4-BE49-F238E27FC236}">
                <a16:creationId xmlns:a16="http://schemas.microsoft.com/office/drawing/2014/main" id="{66B1B73D-1929-4AFF-9A59-7B466B665801}"/>
              </a:ext>
            </a:extLst>
          </p:cNvPr>
          <p:cNvSpPr>
            <a:spLocks xmlns:a="http://schemas.openxmlformats.org/drawingml/2006/main" noGrp="1"/>
          </p:cNvSpPr>
          <p:nvPr/>
        </p:nvSpPr>
        <p:spPr>
          <a:xfrm xmlns:a="http://schemas.openxmlformats.org/drawingml/2006/main">
            <a:off x="3714750" y="30289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撮影中の現場を可能な限り訪問し、不都合や拡大時の懸念を洗い出す。合意フローとデータ取扱いを法務チェック。</a:t>
            </a:r>
          </a:p>
        </p:txBody>
      </p:sp>
      <p:sp>
        <p:nvSpPr>
          <p:cNvPr id="10" name="">
            <a:extLst xmlns:a="http://schemas.openxmlformats.org/drawingml/2006/main">
              <a:ext uri="{FF2B5EF4-FFF2-40B4-BE49-F238E27FC236}">
                <a16:creationId xmlns:a16="http://schemas.microsoft.com/office/drawing/2014/main" id="{74206B0C-FEDE-484C-85CA-54FC87AE73DE}"/>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2C60F43-2BC2-4BA3-893F-7BE61594DB68}"/>
              </a:ext>
            </a:extLst>
          </p:cNvPr>
          <p:cNvSpPr>
            <a:spLocks xmlns:a="http://schemas.openxmlformats.org/drawingml/2006/main" noGrp="1"/>
          </p:cNvSpPr>
          <p:nvPr/>
        </p:nvSpPr>
        <p:spPr>
          <a:xfrm xmlns:a="http://schemas.openxmlformats.org/drawingml/2006/main">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12月｜月間1,000時間</a:t>
            </a:r>
          </a:p>
        </p:txBody>
      </p:sp>
      <p:sp>
        <p:nvSpPr>
          <p:cNvPr id="12" name="">
            <a:extLst xmlns:a="http://schemas.openxmlformats.org/drawingml/2006/main">
              <a:ext uri="{FF2B5EF4-FFF2-40B4-BE49-F238E27FC236}">
                <a16:creationId xmlns:a16="http://schemas.microsoft.com/office/drawing/2014/main" id="{9D1692DE-104D-451E-AFC0-83EA8D763A12}"/>
              </a:ext>
            </a:extLst>
          </p:cNvPr>
          <p:cNvSpPr>
            <a:spLocks xmlns:a="http://schemas.openxmlformats.org/drawingml/2006/main" noGrp="1"/>
          </p:cNvSpPr>
          <p:nvPr/>
        </p:nvSpPr>
        <p:spPr>
          <a:xfrm xmlns:a="http://schemas.openxmlformats.org/drawingml/2006/main">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既存現場からの紹介、SNSのDM・投稿で日本中の撮影先へアプローチ。飲食・小売業界を中心に拡大する。</a:t>
            </a:r>
          </a:p>
        </p:txBody>
      </p:sp>
      <p:sp>
        <p:nvSpPr>
          <p:cNvPr id="13" name="">
            <a:extLst xmlns:a="http://schemas.openxmlformats.org/drawingml/2006/main">
              <a:ext uri="{FF2B5EF4-FFF2-40B4-BE49-F238E27FC236}">
                <a16:creationId xmlns:a16="http://schemas.microsoft.com/office/drawing/2014/main" id="{0E40283C-7E1B-4ADC-A6CA-1C37DFD25470}"/>
              </a:ext>
            </a:extLst>
          </p:cNvPr>
          <p:cNvSpPr>
            <a:spLocks xmlns:a="http://schemas.openxmlformats.org/drawingml/2006/main" noGrp="1"/>
          </p:cNvSpPr>
          <p:nvPr/>
        </p:nvSpPr>
        <p:spPr>
          <a:xfrm xmlns:a="http://schemas.openxmlformats.org/drawingml/2006/main">
            <a:off x="723900" y="5238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573487096"/>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A3E0020-06C1-4C0A-ACBB-EA2EE446A76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C66789-FD27-495D-9CEA-4FA03370FCD4}"/>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4D514CFF-96C6-4C3E-B1AE-9919C09C3BA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46C6BD8-BB2A-46D3-980E-538D653F05AC}"/>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F9140FCB-957C-4E00-931D-94BEE4310E8C}"/>
              </a:ext>
            </a:extLst>
          </p:cNvPr>
          <p:cNvSpPr>
            <a:spLocks xmlns:a="http://schemas.openxmlformats.org/drawingml/2006/main" noGrp="1"/>
          </p:cNvSpPr>
          <p:nvPr/>
        </p:nvSpPr>
        <p:spPr>
          <a:xfrm xmlns:a="http://schemas.openxmlformats.org/drawingml/2006/main">
            <a:off x="723900" y="1666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Q1</a:t>
            </a:r>
          </a:p>
        </p:txBody>
      </p:sp>
      <p:sp>
        <p:nvSpPr>
          <p:cNvPr id="6" name="">
            <a:extLst xmlns:a="http://schemas.openxmlformats.org/drawingml/2006/main">
              <a:ext uri="{FF2B5EF4-FFF2-40B4-BE49-F238E27FC236}">
                <a16:creationId xmlns:a16="http://schemas.microsoft.com/office/drawing/2014/main" id="{892279BE-3013-4795-8039-43AEA9B6BCDB}"/>
              </a:ext>
            </a:extLst>
          </p:cNvPr>
          <p:cNvSpPr>
            <a:spLocks xmlns:a="http://schemas.openxmlformats.org/drawingml/2006/main" noGrp="1"/>
          </p:cNvSpPr>
          <p:nvPr/>
        </p:nvSpPr>
        <p:spPr>
          <a:xfrm xmlns:a="http://schemas.openxmlformats.org/drawingml/2006/main">
            <a:off x="3714750" y="1647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利益に応じて撮影機材を増やし、宿泊・リフォーム・清掃へ撮影先を拡大。デバイス開発と意匠・特許取得に向けた準備・出願。</a:t>
            </a:r>
          </a:p>
        </p:txBody>
      </p:sp>
      <p:sp>
        <p:nvSpPr>
          <p:cNvPr id="7" name="">
            <a:extLst xmlns:a="http://schemas.openxmlformats.org/drawingml/2006/main">
              <a:ext uri="{FF2B5EF4-FFF2-40B4-BE49-F238E27FC236}">
                <a16:creationId xmlns:a16="http://schemas.microsoft.com/office/drawing/2014/main" id="{4446518B-897D-4B2C-9197-752295018E74}"/>
              </a:ext>
            </a:extLst>
          </p:cNvPr>
          <p:cNvSpPr>
            <a:spLocks xmlns:a="http://schemas.openxmlformats.org/drawingml/2006/main" noGrp="1"/>
          </p:cNvSpPr>
          <p:nvPr/>
        </p:nvSpPr>
        <p:spPr>
          <a:xfrm xmlns:a="http://schemas.openxmlformats.org/drawingml/2006/main">
            <a:off x="723900" y="2524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6D45ED9-76C1-44C5-BF04-64AED101F25B}"/>
              </a:ext>
            </a:extLst>
          </p:cNvPr>
          <p:cNvSpPr>
            <a:spLocks xmlns:a="http://schemas.openxmlformats.org/drawingml/2006/main" noGrp="1"/>
          </p:cNvSpPr>
          <p:nvPr/>
        </p:nvSpPr>
        <p:spPr>
          <a:xfrm xmlns:a="http://schemas.openxmlformats.org/drawingml/2006/main">
            <a:off x="723900" y="2619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Q2</a:t>
            </a:r>
          </a:p>
        </p:txBody>
      </p:sp>
      <p:sp>
        <p:nvSpPr>
          <p:cNvPr id="9" name="">
            <a:extLst xmlns:a="http://schemas.openxmlformats.org/drawingml/2006/main">
              <a:ext uri="{FF2B5EF4-FFF2-40B4-BE49-F238E27FC236}">
                <a16:creationId xmlns:a16="http://schemas.microsoft.com/office/drawing/2014/main" id="{7A8B4AAA-7D78-43CF-AFDF-FC24AF06A007}"/>
              </a:ext>
            </a:extLst>
          </p:cNvPr>
          <p:cNvSpPr>
            <a:spLocks xmlns:a="http://schemas.openxmlformats.org/drawingml/2006/main" noGrp="1"/>
          </p:cNvSpPr>
          <p:nvPr/>
        </p:nvSpPr>
        <p:spPr>
          <a:xfrm xmlns:a="http://schemas.openxmlformats.org/drawingml/2006/main">
            <a:off x="3714750" y="2600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介護・医療へ撮影先を拡大。国内ロボット企業等と、プライバシー性の高い現場データを外部流出リスクを管理しながら活用する仕組みを構築。</a:t>
            </a:r>
          </a:p>
        </p:txBody>
      </p:sp>
      <p:sp>
        <p:nvSpPr>
          <p:cNvPr id="10" name="">
            <a:extLst xmlns:a="http://schemas.openxmlformats.org/drawingml/2006/main">
              <a:ext uri="{FF2B5EF4-FFF2-40B4-BE49-F238E27FC236}">
                <a16:creationId xmlns:a16="http://schemas.microsoft.com/office/drawing/2014/main" id="{C71B459E-6B3B-4EEB-A423-DC41B08CC30C}"/>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3C79D97-857A-44C3-A675-0F66F91A6BE5}"/>
              </a:ext>
            </a:extLst>
          </p:cNvPr>
          <p:cNvSpPr>
            <a:spLocks xmlns:a="http://schemas.openxmlformats.org/drawingml/2006/main" noGrp="1"/>
          </p:cNvSpPr>
          <p:nvPr/>
        </p:nvSpPr>
        <p:spPr>
          <a:xfrm xmlns:a="http://schemas.openxmlformats.org/drawingml/2006/main">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Q3</a:t>
            </a:r>
          </a:p>
        </p:txBody>
      </p:sp>
      <p:sp>
        <p:nvSpPr>
          <p:cNvPr id="12" name="">
            <a:extLst xmlns:a="http://schemas.openxmlformats.org/drawingml/2006/main">
              <a:ext uri="{FF2B5EF4-FFF2-40B4-BE49-F238E27FC236}">
                <a16:creationId xmlns:a16="http://schemas.microsoft.com/office/drawing/2014/main" id="{2E70E475-6A0C-43A1-A90F-1C65118B9606}"/>
              </a:ext>
            </a:extLst>
          </p:cNvPr>
          <p:cNvSpPr>
            <a:spLocks xmlns:a="http://schemas.openxmlformats.org/drawingml/2006/main" noGrp="1"/>
          </p:cNvSpPr>
          <p:nvPr/>
        </p:nvSpPr>
        <p:spPr>
          <a:xfrm xmlns:a="http://schemas.openxmlformats.org/drawingml/2006/main">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撮影先を拡大。国内の垂直統合型ロボティクス企業、政府プロジェクトなどへ現場データ収集を打診。</a:t>
            </a:r>
          </a:p>
        </p:txBody>
      </p:sp>
      <p:sp>
        <p:nvSpPr>
          <p:cNvPr id="13" name="">
            <a:extLst xmlns:a="http://schemas.openxmlformats.org/drawingml/2006/main">
              <a:ext uri="{FF2B5EF4-FFF2-40B4-BE49-F238E27FC236}">
                <a16:creationId xmlns:a16="http://schemas.microsoft.com/office/drawing/2014/main" id="{82998C7C-2F88-4FDF-BDFC-8864B76490F7}"/>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BBE5D60-875F-47B0-B53F-2F4C8A929FAD}"/>
              </a:ext>
            </a:extLst>
          </p:cNvPr>
          <p:cNvSpPr>
            <a:spLocks xmlns:a="http://schemas.openxmlformats.org/drawingml/2006/main" noGrp="1"/>
          </p:cNvSpPr>
          <p:nvPr/>
        </p:nvSpPr>
        <p:spPr>
          <a:xfrm xmlns:a="http://schemas.openxmlformats.org/drawingml/2006/main">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CF5FC867-0168-4B03-8E58-B4FE9CB8D1EA}"/>
              </a:ext>
            </a:extLst>
          </p:cNvPr>
          <p:cNvSpPr>
            <a:spLocks xmlns:a="http://schemas.openxmlformats.org/drawingml/2006/main" noGrp="1"/>
          </p:cNvSpPr>
          <p:nvPr/>
        </p:nvSpPr>
        <p:spPr>
          <a:xfrm xmlns:a="http://schemas.openxmlformats.org/drawingml/2006/main">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撮影先を拡大。蓄積したデータを元に国内大学と提携し、AIモデル開発と現場環境のReal2Sim等の研究開発を開始。</a:t>
            </a:r>
          </a:p>
        </p:txBody>
      </p:sp>
    </p:spTree>
    <p:extLst>
      <p:ext uri="{BB962C8B-B14F-4D97-AF65-F5344CB8AC3E}">
        <p14:creationId xmlns:p14="http://schemas.microsoft.com/office/powerpoint/2010/main" val="1332321582"/>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B6DA635-D359-436D-83D6-F78D5DC788E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79BDA5-1A6D-4861-80CC-9B7254D42B3D}"/>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C9CC2C76-CD04-49E4-A714-94045FB1E95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3FBD71F-D59D-4AB3-A335-1BB99156B346}"/>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1D24151B-2B43-4E90-8BCB-9C51D9C8685D}"/>
              </a:ext>
            </a:extLst>
          </p:cNvPr>
          <p:cNvSpPr>
            <a:spLocks xmlns:a="http://schemas.openxmlformats.org/drawingml/2006/main" noGrp="1"/>
          </p:cNvSpPr>
          <p:nvPr/>
        </p:nvSpPr>
        <p:spPr>
          <a:xfrm xmlns:a="http://schemas.openxmlformats.org/drawingml/2006/main">
            <a:off x="7239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Q1〜Q2</a:t>
            </a:r>
          </a:p>
        </p:txBody>
      </p:sp>
      <p:sp>
        <p:nvSpPr>
          <p:cNvPr id="6" name="">
            <a:extLst xmlns:a="http://schemas.openxmlformats.org/drawingml/2006/main">
              <a:ext uri="{FF2B5EF4-FFF2-40B4-BE49-F238E27FC236}">
                <a16:creationId xmlns:a16="http://schemas.microsoft.com/office/drawing/2014/main" id="{A669DC2D-1272-4B37-858A-53DF75ED5763}"/>
              </a:ext>
            </a:extLst>
          </p:cNvPr>
          <p:cNvSpPr>
            <a:spLocks xmlns:a="http://schemas.openxmlformats.org/drawingml/2006/main" noGrp="1"/>
          </p:cNvSpPr>
          <p:nvPr/>
        </p:nvSpPr>
        <p:spPr>
          <a:xfrm xmlns:a="http://schemas.openxmlformats.org/drawingml/2006/main">
            <a:off x="723900" y="2428875"/>
            <a:ext cx="4762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撮影先と現場実装先を拡大する。ロボット企業と、ロボットの実証実験を行える現場のマッチングを開始する。大学と提携して行う研究についても、現場のマッチングを実施する。</a:t>
            </a:r>
          </a:p>
        </p:txBody>
      </p:sp>
      <p:sp>
        <p:nvSpPr>
          <p:cNvPr id="7" name="">
            <a:extLst xmlns:a="http://schemas.openxmlformats.org/drawingml/2006/main">
              <a:ext uri="{FF2B5EF4-FFF2-40B4-BE49-F238E27FC236}">
                <a16:creationId xmlns:a16="http://schemas.microsoft.com/office/drawing/2014/main" id="{B8E101EB-BA6E-4C05-A41A-CA3475358704}"/>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FCF88F0-226D-44E1-A068-DA5CCC46E923}"/>
              </a:ext>
            </a:extLst>
          </p:cNvPr>
          <p:cNvSpPr>
            <a:spLocks xmlns:a="http://schemas.openxmlformats.org/drawingml/2006/main" noGrp="1"/>
          </p:cNvSpPr>
          <p:nvPr/>
        </p:nvSpPr>
        <p:spPr>
          <a:xfrm xmlns:a="http://schemas.openxmlformats.org/drawingml/2006/main">
            <a:off x="64770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Q3〜Q4</a:t>
            </a:r>
          </a:p>
        </p:txBody>
      </p:sp>
      <p:sp>
        <p:nvSpPr>
          <p:cNvPr id="9" name="">
            <a:extLst xmlns:a="http://schemas.openxmlformats.org/drawingml/2006/main">
              <a:ext uri="{FF2B5EF4-FFF2-40B4-BE49-F238E27FC236}">
                <a16:creationId xmlns:a16="http://schemas.microsoft.com/office/drawing/2014/main" id="{15AF2864-8EFF-4CB7-AD65-72270A47329A}"/>
              </a:ext>
            </a:extLst>
          </p:cNvPr>
          <p:cNvSpPr>
            <a:spLocks xmlns:a="http://schemas.openxmlformats.org/drawingml/2006/main" noGrp="1"/>
          </p:cNvSpPr>
          <p:nvPr/>
        </p:nvSpPr>
        <p:spPr>
          <a:xfrm xmlns:a="http://schemas.openxmlformats.org/drawingml/2006/main">
            <a:off x="6477000" y="2428875"/>
            <a:ext cx="4667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業種を絞り、実際にロボットの現場統合を開始する。蓄積したデータや経験を元に、どのような現場がロボット導入に適しているか、優先順位をつける。</a:t>
            </a:r>
          </a:p>
        </p:txBody>
      </p:sp>
      <p:sp>
        <p:nvSpPr>
          <p:cNvPr id="10" name="">
            <a:extLst xmlns:a="http://schemas.openxmlformats.org/drawingml/2006/main">
              <a:ext uri="{FF2B5EF4-FFF2-40B4-BE49-F238E27FC236}">
                <a16:creationId xmlns:a16="http://schemas.microsoft.com/office/drawing/2014/main" id="{3B31E695-853E-4E10-A153-704D2B9FFF74}"/>
              </a:ext>
            </a:extLst>
          </p:cNvPr>
          <p:cNvSpPr>
            <a:spLocks xmlns:a="http://schemas.openxmlformats.org/drawingml/2006/main" noGrp="1"/>
          </p:cNvSpPr>
          <p:nvPr/>
        </p:nvSpPr>
        <p:spPr>
          <a:xfrm xmlns:a="http://schemas.openxmlformats.org/drawingml/2006/main">
            <a:off x="723900" y="5715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現場データ収集から始めた企業が、現場統合を行う企業へ進化する。</a:t>
            </a:r>
          </a:p>
        </p:txBody>
      </p:sp>
    </p:spTree>
    <p:extLst>
      <p:ext uri="{BB962C8B-B14F-4D97-AF65-F5344CB8AC3E}">
        <p14:creationId xmlns:p14="http://schemas.microsoft.com/office/powerpoint/2010/main" val="1230062919"/>
      </p:ext>
    </p:extLst>
  </p:cSld>
</p:sld>
</file>

<file path=ppt/slides/slide2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7739CBB-4F20-4F3C-81D4-1FFC713E9DB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02309E-7CE7-46C5-927F-245C54EFCF1A}"/>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8BC80E5D-3893-4212-BC17-BD654BB0D60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1DF69E2-1855-4BCA-AD14-D665D186B876}"/>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26</a:t>
            </a:r>
          </a:p>
        </p:txBody>
      </p:sp>
      <p:sp>
        <p:nvSpPr>
          <p:cNvPr id="5" name="">
            <a:extLst xmlns:a="http://schemas.openxmlformats.org/drawingml/2006/main">
              <a:ext uri="{FF2B5EF4-FFF2-40B4-BE49-F238E27FC236}">
                <a16:creationId xmlns:a16="http://schemas.microsoft.com/office/drawing/2014/main" id="{F5622665-2B2B-40AA-BB23-C29448C863B3}"/>
              </a:ext>
            </a:extLst>
          </p:cNvPr>
          <p:cNvSpPr>
            <a:spLocks xmlns:a="http://schemas.openxmlformats.org/drawingml/2006/main" noGrp="1"/>
          </p:cNvSpPr>
          <p:nvPr/>
        </p:nvSpPr>
        <p:spPr>
          <a:xfrm xmlns:a="http://schemas.openxmlformats.org/drawingml/2006/main">
            <a:off x="723900" y="2047875"/>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315C78"/>
                </a:solidFill>
                <a:latin typeface="Hiragino Sans"/>
                <a:ea typeface="Hiragino Sans"/>
                <a:cs typeface="Hiragino Sans"/>
              </a:defRPr>
            </a:pPr>
            <a:r>
              <a:rPr sz="2250" b="1">
                <a:solidFill>
                  <a:srgbClr val="315C78"/>
                </a:solidFill>
                <a:latin typeface="Hiragino Sans"/>
                <a:ea typeface="Hiragino Sans"/>
                <a:cs typeface="Hiragino Sans"/>
              </a:rPr>
              <a:t>第2段階への移行</a:t>
            </a:r>
          </a:p>
        </p:txBody>
      </p:sp>
      <p:sp>
        <p:nvSpPr>
          <p:cNvPr id="6" name="">
            <a:extLst xmlns:a="http://schemas.openxmlformats.org/drawingml/2006/main">
              <a:ext uri="{FF2B5EF4-FFF2-40B4-BE49-F238E27FC236}">
                <a16:creationId xmlns:a16="http://schemas.microsoft.com/office/drawing/2014/main" id="{3D068624-D6F4-43E9-8963-F598F9F26745}"/>
              </a:ext>
            </a:extLst>
          </p:cNvPr>
          <p:cNvSpPr>
            <a:spLocks xmlns:a="http://schemas.openxmlformats.org/drawingml/2006/main" noGrp="1"/>
          </p:cNvSpPr>
          <p:nvPr/>
        </p:nvSpPr>
        <p:spPr>
          <a:xfrm xmlns:a="http://schemas.openxmlformats.org/drawingml/2006/main">
            <a:off x="723900" y="29527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5191B"/>
                </a:solidFill>
                <a:latin typeface="Hiragino Sans"/>
                <a:ea typeface="Hiragino Sans"/>
                <a:cs typeface="Hiragino Sans"/>
              </a:defRPr>
            </a:pPr>
            <a:r>
              <a:rPr sz="2025" b="1">
                <a:solidFill>
                  <a:srgbClr val="15191B"/>
                </a:solidFill>
                <a:latin typeface="Hiragino Sans"/>
                <a:ea typeface="Hiragino Sans"/>
                <a:cs typeface="Hiragino Sans"/>
              </a:rPr>
              <a:t>現場実装先と、各現場の豊富な作業データを所有する。</a:t>
            </a:r>
          </a:p>
        </p:txBody>
      </p:sp>
      <p:sp>
        <p:nvSpPr>
          <p:cNvPr id="7" name="">
            <a:extLst xmlns:a="http://schemas.openxmlformats.org/drawingml/2006/main">
              <a:ext uri="{FF2B5EF4-FFF2-40B4-BE49-F238E27FC236}">
                <a16:creationId xmlns:a16="http://schemas.microsoft.com/office/drawing/2014/main" id="{DB0F54C0-90E6-46BD-83F5-7518DA00484C}"/>
              </a:ext>
            </a:extLst>
          </p:cNvPr>
          <p:cNvSpPr>
            <a:spLocks xmlns:a="http://schemas.openxmlformats.org/drawingml/2006/main" noGrp="1"/>
          </p:cNvSpPr>
          <p:nvPr/>
        </p:nvSpPr>
        <p:spPr>
          <a:xfrm xmlns:a="http://schemas.openxmlformats.org/drawingml/2006/main">
            <a:off x="723900" y="3810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03DB8A3-147B-4F6F-98DA-D12EDC80E026}"/>
              </a:ext>
            </a:extLst>
          </p:cNvPr>
          <p:cNvSpPr>
            <a:spLocks xmlns:a="http://schemas.openxmlformats.org/drawingml/2006/main" noGrp="1"/>
          </p:cNvSpPr>
          <p:nvPr/>
        </p:nvSpPr>
        <p:spPr>
          <a:xfrm xmlns:a="http://schemas.openxmlformats.org/drawingml/2006/main">
            <a:off x="723900" y="42386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モデル開発・ハードウェア開発・現場統合のフィードバックループを</a:t>
            </a:r>
          </a:p>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自社で回すフィジカルAI企業へと転身する。</a:t>
            </a:r>
          </a:p>
        </p:txBody>
      </p:sp>
      <p:sp>
        <p:nvSpPr>
          <p:cNvPr id="9" name="">
            <a:extLst xmlns:a="http://schemas.openxmlformats.org/drawingml/2006/main">
              <a:ext uri="{FF2B5EF4-FFF2-40B4-BE49-F238E27FC236}">
                <a16:creationId xmlns:a16="http://schemas.microsoft.com/office/drawing/2014/main" id="{0B173EC5-1551-444A-AD1E-2A93EB49C4CE}"/>
              </a:ext>
            </a:extLst>
          </p:cNvPr>
          <p:cNvSpPr>
            <a:spLocks xmlns:a="http://schemas.openxmlformats.org/drawingml/2006/main" noGrp="1"/>
          </p:cNvSpPr>
          <p:nvPr/>
        </p:nvSpPr>
        <p:spPr>
          <a:xfrm xmlns:a="http://schemas.openxmlformats.org/drawingml/2006/main">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現場データ収集から始めるフィジカルAIプレーヤー</a:t>
            </a:r>
          </a:p>
        </p:txBody>
      </p:sp>
    </p:spTree>
    <p:extLst>
      <p:ext uri="{BB962C8B-B14F-4D97-AF65-F5344CB8AC3E}">
        <p14:creationId xmlns:p14="http://schemas.microsoft.com/office/powerpoint/2010/main" val="233715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2026-09-14T21:56:06.2490000Z</dcterms:created>
  <dcterms:modified xsi:type="dcterms:W3CDTF">2026-09-14T21:56:06.2490000Z</dcterms:modified>
</coreProperties>
</file>
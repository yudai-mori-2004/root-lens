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5dc8e04613149bd" /><Relationship Type="http://schemas.openxmlformats.org/officeDocument/2006/relationships/extended-properties" Target="/docProps/app.xml" Id="R4c06358994304fb7" /><Relationship Type="http://schemas.openxmlformats.org/officeDocument/2006/relationships/officeDocument" Target="/ppt/presentation.xml" Id="R9ccadb6823a54354" /></Relationships>
</file>

<file path=ppt/presentation.xml><?xml version="1.0" encoding="utf-8"?>
<p:presentation xmlns:p="http://schemas.openxmlformats.org/presentationml/2006/main">
  <p:sldMasterIdLst>
    <p:sldMasterId xmlns:r="http://schemas.openxmlformats.org/officeDocument/2006/relationships" id="2147483648" r:id="Rb3c8af1134e14556"/>
  </p:sldMasterIdLst>
  <p:notesMasterIdLst>
    <p:notesMasterId xmlns:r="http://schemas.openxmlformats.org/officeDocument/2006/relationships" r:id="R6b697ce65eb74409"/>
  </p:notesMasterIdLst>
  <p:sldIdLst>
    <p:sldId xmlns:r="http://schemas.openxmlformats.org/officeDocument/2006/relationships" id="256" r:id="R9010988dd329491a"/>
    <p:sldId xmlns:r="http://schemas.openxmlformats.org/officeDocument/2006/relationships" id="257" r:id="Rcd6dfc2272fe4e1d"/>
    <p:sldId xmlns:r="http://schemas.openxmlformats.org/officeDocument/2006/relationships" id="258" r:id="R16dffb3b87b4463d"/>
    <p:sldId xmlns:r="http://schemas.openxmlformats.org/officeDocument/2006/relationships" id="259" r:id="R46140f04610944b1"/>
    <p:sldId xmlns:r="http://schemas.openxmlformats.org/officeDocument/2006/relationships" id="260" r:id="R8cbc2c4d468c45ff"/>
    <p:sldId xmlns:r="http://schemas.openxmlformats.org/officeDocument/2006/relationships" id="261" r:id="R08a75167b4d54d9e"/>
    <p:sldId xmlns:r="http://schemas.openxmlformats.org/officeDocument/2006/relationships" id="262" r:id="Ra89da4c0f52b489a"/>
    <p:sldId xmlns:r="http://schemas.openxmlformats.org/officeDocument/2006/relationships" id="263" r:id="R7bf9596f7ca84912"/>
    <p:sldId xmlns:r="http://schemas.openxmlformats.org/officeDocument/2006/relationships" id="264" r:id="R4a4f37045f004ef1"/>
    <p:sldId xmlns:r="http://schemas.openxmlformats.org/officeDocument/2006/relationships" id="265" r:id="R2a859f00af7c463b"/>
    <p:sldId xmlns:r="http://schemas.openxmlformats.org/officeDocument/2006/relationships" id="266" r:id="Rd9d93aef07a4434d"/>
    <p:sldId xmlns:r="http://schemas.openxmlformats.org/officeDocument/2006/relationships" id="267" r:id="Ra4a629ec062a4062"/>
    <p:sldId xmlns:r="http://schemas.openxmlformats.org/officeDocument/2006/relationships" id="268" r:id="Rdd1b4ddef136484c"/>
    <p:sldId xmlns:r="http://schemas.openxmlformats.org/officeDocument/2006/relationships" id="269" r:id="R23289aeff10e4b25"/>
    <p:sldId xmlns:r="http://schemas.openxmlformats.org/officeDocument/2006/relationships" id="270" r:id="R3c72bb848d214051"/>
    <p:sldId xmlns:r="http://schemas.openxmlformats.org/officeDocument/2006/relationships" id="271" r:id="Re30bc520ec6943f2"/>
    <p:sldId xmlns:r="http://schemas.openxmlformats.org/officeDocument/2006/relationships" id="272" r:id="Rcedc6f4b90724cbb"/>
    <p:sldId xmlns:r="http://schemas.openxmlformats.org/officeDocument/2006/relationships" id="273" r:id="R79cf566e952d4a0a"/>
    <p:sldId xmlns:r="http://schemas.openxmlformats.org/officeDocument/2006/relationships" id="274" r:id="R8c2f0f2a786d404c"/>
    <p:sldId xmlns:r="http://schemas.openxmlformats.org/officeDocument/2006/relationships" id="275" r:id="Rb6927d378bcb43f0"/>
    <p:sldId xmlns:r="http://schemas.openxmlformats.org/officeDocument/2006/relationships" id="276" r:id="R55398e535f9b4a0d"/>
    <p:sldId xmlns:r="http://schemas.openxmlformats.org/officeDocument/2006/relationships" id="277" r:id="R51b6d3f4ede04857"/>
    <p:sldId xmlns:r="http://schemas.openxmlformats.org/officeDocument/2006/relationships" id="278" r:id="R6edef80f75d84d21"/>
    <p:sldId xmlns:r="http://schemas.openxmlformats.org/officeDocument/2006/relationships" id="279" r:id="Rb94ec20caddc4670"/>
    <p:sldId xmlns:r="http://schemas.openxmlformats.org/officeDocument/2006/relationships" id="280" r:id="R38dd177df6404b60"/>
    <p:sldId xmlns:r="http://schemas.openxmlformats.org/officeDocument/2006/relationships" id="281" r:id="Rf69b9eae573f4ab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d100765167d4e5d" /><Relationship Type="http://schemas.openxmlformats.org/officeDocument/2006/relationships/slideMaster" Target="/ppt/slideMasters/slideMaster1.xml" Id="Rb3c8af1134e14556" /><Relationship Type="http://schemas.openxmlformats.org/officeDocument/2006/relationships/notesMaster" Target="/ppt/notesMasters/notesMaster1.xml" Id="R6b697ce65eb74409" /><Relationship Type="http://schemas.openxmlformats.org/officeDocument/2006/relationships/presProps" Target="/ppt/presProps.xml" Id="Refae16f66d0f4781" /><Relationship Type="http://schemas.openxmlformats.org/officeDocument/2006/relationships/tableStyles" Target="/ppt/tableStyles.xml" Id="Ra5c88f667c514e6e" /><Relationship Type="http://schemas.openxmlformats.org/officeDocument/2006/relationships/slide" Target="/ppt/slides/slide1.xml" Id="R9010988dd329491a" /><Relationship Type="http://schemas.openxmlformats.org/officeDocument/2006/relationships/slide" Target="/ppt/slides/slide2.xml" Id="Rcd6dfc2272fe4e1d" /><Relationship Type="http://schemas.openxmlformats.org/officeDocument/2006/relationships/slide" Target="/ppt/slides/slide3.xml" Id="R16dffb3b87b4463d" /><Relationship Type="http://schemas.openxmlformats.org/officeDocument/2006/relationships/slide" Target="/ppt/slides/slide4.xml" Id="R46140f04610944b1" /><Relationship Type="http://schemas.openxmlformats.org/officeDocument/2006/relationships/slide" Target="/ppt/slides/slide5.xml" Id="R8cbc2c4d468c45ff" /><Relationship Type="http://schemas.openxmlformats.org/officeDocument/2006/relationships/slide" Target="/ppt/slides/slide6.xml" Id="R08a75167b4d54d9e" /><Relationship Type="http://schemas.openxmlformats.org/officeDocument/2006/relationships/slide" Target="/ppt/slides/slide7.xml" Id="Ra89da4c0f52b489a" /><Relationship Type="http://schemas.openxmlformats.org/officeDocument/2006/relationships/slide" Target="/ppt/slides/slide8.xml" Id="R7bf9596f7ca84912" /><Relationship Type="http://schemas.openxmlformats.org/officeDocument/2006/relationships/slide" Target="/ppt/slides/slide9.xml" Id="R4a4f37045f004ef1" /><Relationship Type="http://schemas.openxmlformats.org/officeDocument/2006/relationships/slide" Target="/ppt/slides/slide10.xml" Id="R2a859f00af7c463b" /><Relationship Type="http://schemas.openxmlformats.org/officeDocument/2006/relationships/slide" Target="/ppt/slides/slide11.xml" Id="Rd9d93aef07a4434d" /><Relationship Type="http://schemas.openxmlformats.org/officeDocument/2006/relationships/slide" Target="/ppt/slides/slide12.xml" Id="Ra4a629ec062a4062" /><Relationship Type="http://schemas.openxmlformats.org/officeDocument/2006/relationships/slide" Target="/ppt/slides/slide13.xml" Id="Rdd1b4ddef136484c" /><Relationship Type="http://schemas.openxmlformats.org/officeDocument/2006/relationships/slide" Target="/ppt/slides/slide14.xml" Id="R23289aeff10e4b25" /><Relationship Type="http://schemas.openxmlformats.org/officeDocument/2006/relationships/slide" Target="/ppt/slides/slide15.xml" Id="R3c72bb848d214051" /><Relationship Type="http://schemas.openxmlformats.org/officeDocument/2006/relationships/slide" Target="/ppt/slides/slide16.xml" Id="Re30bc520ec6943f2" /><Relationship Type="http://schemas.openxmlformats.org/officeDocument/2006/relationships/slide" Target="/ppt/slides/slide17.xml" Id="Rcedc6f4b90724cbb" /><Relationship Type="http://schemas.openxmlformats.org/officeDocument/2006/relationships/slide" Target="/ppt/slides/slide18.xml" Id="R79cf566e952d4a0a" /><Relationship Type="http://schemas.openxmlformats.org/officeDocument/2006/relationships/slide" Target="/ppt/slides/slide19.xml" Id="R8c2f0f2a786d404c" /><Relationship Type="http://schemas.openxmlformats.org/officeDocument/2006/relationships/slide" Target="/ppt/slides/slide20.xml" Id="Rb6927d378bcb43f0" /><Relationship Type="http://schemas.openxmlformats.org/officeDocument/2006/relationships/slide" Target="/ppt/slides/slide21.xml" Id="R55398e535f9b4a0d" /><Relationship Type="http://schemas.openxmlformats.org/officeDocument/2006/relationships/slide" Target="/ppt/slides/slide22.xml" Id="R51b6d3f4ede04857" /><Relationship Type="http://schemas.openxmlformats.org/officeDocument/2006/relationships/slide" Target="/ppt/slides/slide23.xml" Id="R6edef80f75d84d21" /><Relationship Type="http://schemas.openxmlformats.org/officeDocument/2006/relationships/slide" Target="/ppt/slides/slide24.xml" Id="Rb94ec20caddc4670" /><Relationship Type="http://schemas.openxmlformats.org/officeDocument/2006/relationships/slide" Target="/ppt/slides/slide25.xml" Id="R38dd177df6404b60" /><Relationship Type="http://schemas.openxmlformats.org/officeDocument/2006/relationships/slide" Target="/ppt/slides/slide26.xml" Id="Rf69b9eae573f4ab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322bdc629d44d2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e50c58e0c144995" /><Relationship Type="http://schemas.openxmlformats.org/officeDocument/2006/relationships/notesMaster" Target="/ppt/notesMasters/notesMaster1.xml" Id="R29f2c76b4f164cae" /></Relationships>
</file>

<file path=ppt/notesSlides/_rels/notesSlide2.xml.rels>&#65279;<?xml version="1.0" encoding="utf-8"?><Relationships xmlns="http://schemas.openxmlformats.org/package/2006/relationships"><Relationship Type="http://schemas.openxmlformats.org/officeDocument/2006/relationships/slide" Target="/ppt/slides/slide2.xml" Id="Raf28d89097204389" /><Relationship Type="http://schemas.openxmlformats.org/officeDocument/2006/relationships/notesMaster" Target="/ppt/notesMasters/notesMaster1.xml" Id="Re4f2d5646b5246a0" /></Relationships>
</file>

<file path=ppt/notesSlides/_rels/notesSlide3.xml.rels>&#65279;<?xml version="1.0" encoding="utf-8"?><Relationships xmlns="http://schemas.openxmlformats.org/package/2006/relationships"><Relationship Type="http://schemas.openxmlformats.org/officeDocument/2006/relationships/slide" Target="/ppt/slides/slide3.xml" Id="R52bc04b75eb44275" /><Relationship Type="http://schemas.openxmlformats.org/officeDocument/2006/relationships/notesMaster" Target="/ppt/notesMasters/notesMaster1.xml" Id="Rdb70cf1a8dbf4cb9" /></Relationships>
</file>

<file path=ppt/notesSlides/_rels/notesSlide4.xml.rels>&#65279;<?xml version="1.0" encoding="utf-8"?><Relationships xmlns="http://schemas.openxmlformats.org/package/2006/relationships"><Relationship Type="http://schemas.openxmlformats.org/officeDocument/2006/relationships/slide" Target="/ppt/slides/slide4.xml" Id="Rec6a77b11f2446c7" /><Relationship Type="http://schemas.openxmlformats.org/officeDocument/2006/relationships/notesMaster" Target="/ppt/notesMasters/notesMaster1.xml" Id="R36b736f45369401e" /></Relationships>
</file>

<file path=ppt/notesSlides/_rels/notesSlide5.xml.rels>&#65279;<?xml version="1.0" encoding="utf-8"?><Relationships xmlns="http://schemas.openxmlformats.org/package/2006/relationships"><Relationship Type="http://schemas.openxmlformats.org/officeDocument/2006/relationships/slide" Target="/ppt/slides/slide5.xml" Id="R94c563dcb2a7407a" /><Relationship Type="http://schemas.openxmlformats.org/officeDocument/2006/relationships/notesMaster" Target="/ppt/notesMasters/notesMaster1.xml" Id="R6f5be186da8e41ef" /></Relationships>
</file>

<file path=ppt/notesSlides/_rels/notesSlide6.xml.rels>&#65279;<?xml version="1.0" encoding="utf-8"?><Relationships xmlns="http://schemas.openxmlformats.org/package/2006/relationships"><Relationship Type="http://schemas.openxmlformats.org/officeDocument/2006/relationships/slide" Target="/ppt/slides/slide6.xml" Id="R0c14b0bd47324724" /><Relationship Type="http://schemas.openxmlformats.org/officeDocument/2006/relationships/notesMaster" Target="/ppt/notesMasters/notesMaster1.xml" Id="R03df751cd6974d34" /></Relationships>
</file>

<file path=ppt/notesSlides/_rels/notesSlide7.xml.rels>&#65279;<?xml version="1.0" encoding="utf-8"?><Relationships xmlns="http://schemas.openxmlformats.org/package/2006/relationships"><Relationship Type="http://schemas.openxmlformats.org/officeDocument/2006/relationships/slide" Target="/ppt/slides/slide7.xml" Id="Rc8e07d0e823b4aa5" /><Relationship Type="http://schemas.openxmlformats.org/officeDocument/2006/relationships/notesMaster" Target="/ppt/notesMasters/notesMaster1.xml" Id="R243d5bd8eb134d72" /></Relationships>
</file>

<file path=ppt/notesSlides/_rels/notesSlide8.xml.rels>&#65279;<?xml version="1.0" encoding="utf-8"?><Relationships xmlns="http://schemas.openxmlformats.org/package/2006/relationships"><Relationship Type="http://schemas.openxmlformats.org/officeDocument/2006/relationships/slide" Target="/ppt/slides/slide8.xml" Id="Rcc5986fbf8894f34" /><Relationship Type="http://schemas.openxmlformats.org/officeDocument/2006/relationships/notesMaster" Target="/ppt/notesMasters/notesMaster1.xml" Id="R2c3d3c0bc74a4863" /></Relationships>
</file>

<file path=ppt/notesSlides/_rels/notesSlide9.xml.rels>&#65279;<?xml version="1.0" encoding="utf-8"?><Relationships xmlns="http://schemas.openxmlformats.org/package/2006/relationships"><Relationship Type="http://schemas.openxmlformats.org/officeDocument/2006/relationships/slide" Target="/ppt/slides/slide9.xml" Id="R3b4f42c12ef14cac" /><Relationship Type="http://schemas.openxmlformats.org/officeDocument/2006/relationships/notesMaster" Target="/ppt/notesMasters/notesMaster1.xml" Id="Ra2adc249c207492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40460d174814b7d" /><Relationship Type="http://schemas.openxmlformats.org/officeDocument/2006/relationships/notesMaster" Target="/ppt/notesMasters/notesMaster1.xml" Id="R51235bcfc1cf4e2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e7608c5ec3f4c4f" /><Relationship Type="http://schemas.openxmlformats.org/officeDocument/2006/relationships/notesMaster" Target="/ppt/notesMasters/notesMaster1.xml" Id="R2f0a3c43fe61490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619c59d793c4cdf" /><Relationship Type="http://schemas.openxmlformats.org/officeDocument/2006/relationships/notesMaster" Target="/ppt/notesMasters/notesMaster1.xml" Id="R6e4252da951249e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be63493caeb4692" /><Relationship Type="http://schemas.openxmlformats.org/officeDocument/2006/relationships/notesMaster" Target="/ppt/notesMasters/notesMaster1.xml" Id="R09cf520959b14ba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6f63a3733664d12" /><Relationship Type="http://schemas.openxmlformats.org/officeDocument/2006/relationships/notesMaster" Target="/ppt/notesMasters/notesMaster1.xml" Id="R390081702dc94c5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8726d1bdd374bd1" /><Relationship Type="http://schemas.openxmlformats.org/officeDocument/2006/relationships/notesMaster" Target="/ppt/notesMasters/notesMaster1.xml" Id="R1db2d0fd610e44d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e35cfc6f2d347e5" /><Relationship Type="http://schemas.openxmlformats.org/officeDocument/2006/relationships/notesMaster" Target="/ppt/notesMasters/notesMaster1.xml" Id="R24f7336a0f344bd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3abf7a21e314cec" /><Relationship Type="http://schemas.openxmlformats.org/officeDocument/2006/relationships/notesMaster" Target="/ppt/notesMasters/notesMaster1.xml" Id="Ra948d55dd5b04b4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97b30ffd5ed4937" /><Relationship Type="http://schemas.openxmlformats.org/officeDocument/2006/relationships/notesMaster" Target="/ppt/notesMasters/notesMaster1.xml" Id="R9f21d73a4e95401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a700a53eb2f41a8" /><Relationship Type="http://schemas.openxmlformats.org/officeDocument/2006/relationships/notesMaster" Target="/ppt/notesMasters/notesMaster1.xml" Id="R7d7617ec5c984a9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3d5d64c9a38475a" /><Relationship Type="http://schemas.openxmlformats.org/officeDocument/2006/relationships/notesMaster" Target="/ppt/notesMasters/notesMaster1.xml" Id="R1163eb0fd767454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50b3379771444d3" /><Relationship Type="http://schemas.openxmlformats.org/officeDocument/2006/relationships/notesMaster" Target="/ppt/notesMasters/notesMaster1.xml" Id="Rfbc7f41ee2ee4c6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984fbaf36354fa1" /><Relationship Type="http://schemas.openxmlformats.org/officeDocument/2006/relationships/notesMaster" Target="/ppt/notesMasters/notesMaster1.xml" Id="R3cedf1ef6fc044b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7aecde104ba471d" /><Relationship Type="http://schemas.openxmlformats.org/officeDocument/2006/relationships/notesMaster" Target="/ppt/notesMasters/notesMaster1.xml" Id="R3c1a134c5bad4f1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0dfbec38ac24041" /><Relationship Type="http://schemas.openxmlformats.org/officeDocument/2006/relationships/notesMaster" Target="/ppt/notesMasters/notesMaster1.xml" Id="Rbf20c161f0fe461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f807953cb9a40e4" /><Relationship Type="http://schemas.openxmlformats.org/officeDocument/2006/relationships/notesMaster" Target="/ppt/notesMasters/notesMaster1.xml" Id="Rb1237c3189eb440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29d82c71469467e" /><Relationship Type="http://schemas.openxmlformats.org/officeDocument/2006/relationships/notesMaster" Target="/ppt/notesMasters/notesMaster1.xml" Id="R45d558ff72e34ee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私たちは、現場データ収集から始めるフィジカルAIプレーヤーになる企業です。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図の横幅は、その企業が接続している現場の範囲を表します。垂直統合型は特定の現場に絞るため横幅が短く、複数の技術レイヤーを自社で担うため縦に長くなります。水平統合型は一つの技術レイヤーを担いながら、多数の業種・現場へ接続するため横に広くなります。現場と直接接触するのは、一番下の現場統合層と、一番上流の現場データ収集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多くのフィジカルAI企業はロボットと現場を垂直統合する形で研究開発を進めています。特定の業種・タスクに絞り、完全な自律運用が難しい場合は遠隔操作での商用化から始める企業もあれば、自律運用の幅を地道に広げる企業もあります。代表例は1XとSunday Roboticsです。</a:t>
            </a:r>
          </a:p>
          <a:p xmlns:a="http://schemas.openxmlformats.org/drawingml/2006/main">
            <a:r>
              <a:t/>
            </a:r>
          </a:p>
          <a:p xmlns:a="http://schemas.openxmlformats.org/drawingml/2006/main">
            <a:r>
              <a:t>一方、水平統合型は、そのバリューチェーンをレイヤーごとに分解した企業群です。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データ収集層には、人間の作業データ、テレオペレーション、合成データ、生データの加工があり、さらに上流では収集専用デバイスの開発も広がり始めています。基盤モデル開発はPhysical Intelligence（PI）やNVIDIAが挙げられ、桁違いの投資ができる企業に限られます。シミュレーション・デジタルツインは、実データの必要量を下げながらモデル開発まで進める近接レイヤーです。</a:t>
            </a:r>
          </a:p>
          <a:p xmlns:a="http://schemas.openxmlformats.org/drawingml/2006/main">
            <a:r>
              <a:t/>
            </a:r>
          </a:p>
          <a:p xmlns:a="http://schemas.openxmlformats.org/drawingml/2006/main">
            <a:r>
              <a:t>ハードウェアは中国系企業が安価なロボットの供給で強く、現場統合層は既存のロボットやモデルを使って現場への導入を優先します。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私の考えでは、モデル開発・ハードウェア開発・現場統合という3つの領域を自社のループとして持ち、実際に現場でロボットを稼働させている企業が主流になります。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は独立したレイヤーとして存在するデータ収集も、現場へロボットが投入されれば、このループの中に吸収されると考えています。ロボットの稼働そのものがデータ収集になり、そのデータがモデル改善へ直結するためです。モデル、ハードウェア、現場統合を自社のループとして持つ企業ほど、改善速度が上が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独立したデータレイヤーが将来なくなるからこそ、今の段階ではデータ収集が有利な出発点になります。現場統合層が現場と接するのは当然ですが、一番上流の現場データ収集企業も、撮影のために現場へ入り、将来ロボットが使われる現場と直接の関係を作れます。上流工程と最下流の顧客が直接繋がる、フィジカルAI特有の構造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現場統合はタスクごとに技術開発が必要ですが、人間の作業を撮影するデータ収集は、今の技術でも業種をまたいで広げられます。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現場は多いですが有限です。現場側の負担を考えると、一つの現場が複数の収集会社と契約するとは考えにくく、先行者優位が強いと見ています。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ロボット企業が現場を含むフィードバックループを作るには、現場ネットワークが必要です。多業種で合意やコンプライアンス対応を積み重ねること自体が参入障壁になります。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現場データを先に持つことは、ロボット企業との協業だけでなく、自分たちが現場統合へ進むための布石になります。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私たちの構想は2段階です。まず現場データネットワークを広げ、次にそのデータとネットワークを使って自ら現場統合へ進みます。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撮影先と販売先の両面を開拓する必要があります。現在は若干現場開拓が先行しています。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飛び込み営業からベーカリーでの実撮影へ進み、カフェチェーン、スーパーマーケットへ現場開拓を広げています。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海外8社とは、ベーカリーで収集したサンプルデータのやり取りまで進みました。合意に至っていないのは、私たちの収集スケールが世界的にはまだ小さく、低い優先度として扱われているためです。</a:t>
            </a:r>
          </a:p>
          <a:p xmlns:a="http://schemas.openxmlformats.org/drawingml/2006/main">
            <a:r>
              <a:t/>
            </a:r>
          </a:p>
          <a:p xmlns:a="http://schemas.openxmlformats.org/drawingml/2006/main">
            <a:r>
              <a:t>国内ではNextremerと、現場合意、加工、販売、ストレージを含む運用フローを擦り合わせています。データ加工レイヤーを経由することで、プライバシー処理の責任を分散し、高度なアノテーション付きデータを求める販売先へ接続でき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現在4名で活動しています。共同創業者2名に加え、現場提供者の川島さんと、経営管理・法務・業界ネットワークを支援する大崎さんが参画しています。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初期のスマートフォンヘッドマウントから、3Dモデルをゼロから設計した帽子型、スマートグラスへ進化させました。ベーカリーで試すと『これならつけてもいい』という反応が増え、軽さや見た目の違和感が現場の許可を想定以上に左右すると分かりました。</a:t>
            </a:r>
          </a:p>
          <a:p xmlns:a="http://schemas.openxmlformats.org/drawingml/2006/main">
            <a:r>
              <a:t/>
            </a:r>
          </a:p>
          <a:p xmlns:a="http://schemas.openxmlformats.org/drawingml/2006/main">
            <a:r>
              <a:t>専用の軽量撮影デバイスを試験的に購入し、負担の少ない形状で熱とバッテリーの問題を解決する撮影デバイスの開発も始めています。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販売単価は1,600円/hを下限とし、売上の50%を現場へ還元します。デバイス償却後は1時間あたり約727円です。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500時間、1,000時間、10,000時間で比較しても、デバイス償却の比率はほぼ一定です。規模の経済が効くかどうかは、主に人件費と固定費で決まります。一度契約した現場が継続的にデータを出し続ける構造を作れれば、新規開拓コストを抑えながら収集時間を伸ばせます。</a:t>
            </a:r>
          </a:p>
          <a:p xmlns:a="http://schemas.openxmlformats.org/drawingml/2006/main">
            <a:r>
              <a:t/>
            </a:r>
          </a:p>
          <a:p xmlns:a="http://schemas.openxmlformats.org/drawingml/2006/main">
            <a:r>
              <a:t>原本のVC向け試算では、月10,000時間時に現場開拓・運用を4〜6人、人件費を月150〜250万円程度と置くと、営業利益は年6,000万円前後です。ここは実際の獲得サイクルと現場運用を通じて検証します。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同一データを複数のバイヤーへ販売できれば、月10,000時間体制で平均2回販売なら会社取り分は月1,600万円、3回なら月2,400万円になります。12か月続ければ12万時間のデータ資産が残ります。</a:t>
            </a:r>
          </a:p>
          <a:p xmlns:a="http://schemas.openxmlformats.org/drawingml/2006/main">
            <a:r>
              <a:t/>
            </a:r>
          </a:p>
          <a:p xmlns:a="http://schemas.openxmlformats.org/drawingml/2006/main">
            <a:r>
              <a:t>複数回販売やアノテーションによる単価上昇は可能性の段階ですが、データが在庫として残り、累積時間が資産になること自体が、この事業の重要な性質です。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デバイス費以外には、ストレージ、現場運用の人件費、破損・紛失、法務のコストがあります。本命は現場開拓と維持の人件費です。飛び込み営業、契約、配布・回収、スタッフへの説明、トラブル対応、データチェックが、収集時間に対してどこまでリニアに増えるかがユニットエコノミクスの分岐点になります。</a:t>
            </a:r>
          </a:p>
          <a:p xmlns:a="http://schemas.openxmlformats.org/drawingml/2006/main">
            <a:r>
              <a:t/>
            </a:r>
          </a:p>
          <a:p xmlns:a="http://schemas.openxmlformats.org/drawingml/2006/main">
            <a:r>
              <a:t>川島さんのベーカリーでは、一度契約した現場が継続的にデータを出し続けるかを、収集時間の推移から検証しています。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月10,000時間へ拡大する際のボトルネックは、現場開拓、現場運用、買い手側の受け入れ規模です。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2026年Q4は、10月に500時間、12月に1,000時間を目標とし、現場運用と販売先の条件を確認します。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2027年は撮影先とデバイスを拡大します。Q1は宿泊・リフォーム・清掃とデバイスの意匠・特許、Q2は介護・医療とプライバシー性の高いデータの活用、Q3は国内の垂直統合型ロボティクス企業や政府プロジェクトへの打診、Q4は国内大学とAIモデル開発・Real2Simの研究開発へ進む流れ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2028年前半は、ロボット企業と実証実験を行える現場を繋ぎ、大学との研究にも現場を提供します。後半は、蓄積したデータと経験からロボット導入に適した現場へ優先順位をつけ、業種を絞って実際の現場統合を始め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セクション3で述べた第2段階への移行です。現場データ収集で得た現場実装先、作業データ、現場の知見を使い、モデル開発・ハードウェア開発・現場統合のフィードバックループを自社で回す企業へ進み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d69050c5fe9411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98d9520214940ff" /><Relationship Type="http://schemas.openxmlformats.org/officeDocument/2006/relationships/slideLayout" Target="/ppt/slideLayouts/slideLayout1.xml" Id="R8198a7ca55534de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198a7ca55534de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933daf8c5da439d" /><Relationship Type="http://schemas.openxmlformats.org/officeDocument/2006/relationships/notesSlide" Target="/ppt/notesSlides/notesSlide1.xml" Id="R5936e1c53531422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e0371e98e664bb1" /><Relationship Type="http://schemas.openxmlformats.org/officeDocument/2006/relationships/notesSlide" Target="/ppt/notesSlides/notesSlide2.xml" Id="Rf76b021364174c9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242156018e94f7c" /><Relationship Type="http://schemas.openxmlformats.org/officeDocument/2006/relationships/notesSlide" Target="/ppt/notesSlides/notesSlide3.xml" Id="R232d5c5e86f146b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87c1318bb70476e" /><Relationship Type="http://schemas.openxmlformats.org/officeDocument/2006/relationships/notesSlide" Target="/ppt/notesSlides/notesSlide4.xml" Id="R185f4c6baeea4d9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bbb00a7c5e44d60" /><Relationship Type="http://schemas.openxmlformats.org/officeDocument/2006/relationships/notesSlide" Target="/ppt/notesSlides/notesSlide5.xml" Id="R8db73c61dede4bf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a21ae70d8ad414e" /><Relationship Type="http://schemas.openxmlformats.org/officeDocument/2006/relationships/notesSlide" Target="/ppt/notesSlides/notesSlide6.xml" Id="Rd091cd50d7a84f4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7b20b8e9fba4b29" /><Relationship Type="http://schemas.openxmlformats.org/officeDocument/2006/relationships/notesSlide" Target="/ppt/notesSlides/notesSlide7.xml" Id="R546f38af29a2469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43fd795e9b644b3" /><Relationship Type="http://schemas.openxmlformats.org/officeDocument/2006/relationships/notesSlide" Target="/ppt/notesSlides/notesSlide8.xml" Id="R37315ae690db414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8d6c98e6f494bcc" /><Relationship Type="http://schemas.openxmlformats.org/officeDocument/2006/relationships/notesSlide" Target="/ppt/notesSlides/notesSlide9.xml" Id="Re67402405d51489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5168c29891a4d95" /><Relationship Type="http://schemas.openxmlformats.org/officeDocument/2006/relationships/notesSlide" Target="/ppt/notesSlides/notesSlide10.xml" Id="R9e8d51d726ae4a7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f842dd1751a46f2" /><Relationship Type="http://schemas.openxmlformats.org/officeDocument/2006/relationships/notesSlide" Target="/ppt/notesSlides/notesSlide11.xml" Id="Raa828f53612043b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0f6d857407d42b8" /><Relationship Type="http://schemas.openxmlformats.org/officeDocument/2006/relationships/notesSlide" Target="/ppt/notesSlides/notesSlide12.xml" Id="R827475d0f341424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972665e79e94624" /><Relationship Type="http://schemas.openxmlformats.org/officeDocument/2006/relationships/notesSlide" Target="/ppt/notesSlides/notesSlide13.xml" Id="Ra463fffb4a5a45c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82a6b4815b84e09" /><Relationship Type="http://schemas.openxmlformats.org/officeDocument/2006/relationships/notesSlide" Target="/ppt/notesSlides/notesSlide14.xml" Id="R78b3acd03c23458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e9eaa47f3a542c4" /><Relationship Type="http://schemas.openxmlformats.org/officeDocument/2006/relationships/notesSlide" Target="/ppt/notesSlides/notesSlide15.xml" Id="Rc3296bd8f94b4e1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db1f10a70954e9c" /><Relationship Type="http://schemas.openxmlformats.org/officeDocument/2006/relationships/notesSlide" Target="/ppt/notesSlides/notesSlide16.xml" Id="Rc7c3ce9d4c75463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af2d083a5714823" /><Relationship Type="http://schemas.openxmlformats.org/officeDocument/2006/relationships/image" Target="/ppt/media/image.jpeg" Id="R5cb0582811294042" /><Relationship Type="http://schemas.openxmlformats.org/officeDocument/2006/relationships/image" Target="/ppt/media/image2.jpeg" Id="Rb7804b2db7814dcf" /><Relationship Type="http://schemas.openxmlformats.org/officeDocument/2006/relationships/image" Target="/ppt/media/image3.jpeg" Id="R10c260cea4f945b4" /><Relationship Type="http://schemas.openxmlformats.org/officeDocument/2006/relationships/notesSlide" Target="/ppt/notesSlides/notesSlide17.xml" Id="Rb123434991014d3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86c2f0a5c90412d" /><Relationship Type="http://schemas.openxmlformats.org/officeDocument/2006/relationships/notesSlide" Target="/ppt/notesSlides/notesSlide18.xml" Id="R64e74e66b4a34b2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b386be6aa624983" /><Relationship Type="http://schemas.openxmlformats.org/officeDocument/2006/relationships/notesSlide" Target="/ppt/notesSlides/notesSlide19.xml" Id="Rb9fab13b2e444c5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c6835a125b84a57" /><Relationship Type="http://schemas.openxmlformats.org/officeDocument/2006/relationships/notesSlide" Target="/ppt/notesSlides/notesSlide20.xml" Id="R86677c49fee0414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93e72c936ce4bce" /><Relationship Type="http://schemas.openxmlformats.org/officeDocument/2006/relationships/notesSlide" Target="/ppt/notesSlides/notesSlide21.xml" Id="Rc721b23c57cd461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603e5eed75b42ac" /><Relationship Type="http://schemas.openxmlformats.org/officeDocument/2006/relationships/notesSlide" Target="/ppt/notesSlides/notesSlide22.xml" Id="R11a801a251ea467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1cbe433f62a4d6b" /><Relationship Type="http://schemas.openxmlformats.org/officeDocument/2006/relationships/notesSlide" Target="/ppt/notesSlides/notesSlide23.xml" Id="R3755ade7a091401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9f3802ec6d8647f2" /><Relationship Type="http://schemas.openxmlformats.org/officeDocument/2006/relationships/notesSlide" Target="/ppt/notesSlides/notesSlide24.xml" Id="R6780a63ff7264c6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1cc0e6ed71c24dd0" /><Relationship Type="http://schemas.openxmlformats.org/officeDocument/2006/relationships/notesSlide" Target="/ppt/notesSlides/notesSlide25.xml" Id="R7c9527c2ec7244c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b9e9d9af0c354701" /><Relationship Type="http://schemas.openxmlformats.org/officeDocument/2006/relationships/notesSlide" Target="/ppt/notesSlides/notesSlide26.xml" Id="R68ab8010ee2249d6" /></Relationships>
</file>

<file path=ppt/slides/slide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0AAC345-465C-48D2-9C11-62B06448DA9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D02D9B2-5F84-40EB-B0AA-1892C63D6B13}"/>
              </a:ext>
            </a:extLst>
          </p:cNvPr>
          <p:cNvSpPr>
            <a:spLocks xmlns:a="http://schemas.openxmlformats.org/drawingml/2006/main" noGrp="1"/>
          </p:cNvSpPr>
          <p:nvPr/>
        </p:nvSpPr>
        <p:spPr>
          <a:xfrm xmlns:a="http://schemas.openxmlformats.org/drawingml/2006/main" rot="0">
            <a:off x="666750" y="1171575"/>
            <a:ext cx="4572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300" b="1">
                <a:solidFill>
                  <a:srgbClr val="15191B"/>
                </a:solidFill>
                <a:latin typeface="Hiragino Sans"/>
                <a:ea typeface="Hiragino Sans"/>
                <a:cs typeface="Hiragino Sans"/>
              </a:defRPr>
            </a:pPr>
            <a:r>
              <a:rPr sz="3300" b="1">
                <a:solidFill>
                  <a:srgbClr val="15191B"/>
                </a:solidFill>
                <a:latin typeface="Hiragino Sans"/>
                <a:ea typeface="Hiragino Sans"/>
                <a:cs typeface="Hiragino Sans"/>
              </a:rPr>
              <a:t>RootLens</a:t>
            </a:r>
          </a:p>
        </p:txBody>
      </p:sp>
      <p:sp>
        <p:nvSpPr>
          <p:cNvPr id="3" name="">
            <a:extLst xmlns:a="http://schemas.openxmlformats.org/drawingml/2006/main">
              <a:ext uri="{FF2B5EF4-FFF2-40B4-BE49-F238E27FC236}">
                <a16:creationId xmlns:a16="http://schemas.microsoft.com/office/drawing/2014/main" id="{8661B7E5-57BD-478C-AB71-84C6121E96F1}"/>
              </a:ext>
            </a:extLst>
          </p:cNvPr>
          <p:cNvSpPr>
            <a:spLocks xmlns:a="http://schemas.openxmlformats.org/drawingml/2006/main" noGrp="1"/>
          </p:cNvSpPr>
          <p:nvPr/>
        </p:nvSpPr>
        <p:spPr>
          <a:xfrm xmlns:a="http://schemas.openxmlformats.org/drawingml/2006/main" rot="0">
            <a:off x="666750" y="2543175"/>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現場データ収集から始める</a:t>
            </a:r>
          </a:p>
          <a:p xmlns:a="http://schemas.openxmlformats.org/drawingml/2006/main">
            <a:pPr algn="l">
              <a:defRPr sz="4050" b="1">
                <a:solidFill>
                  <a:srgbClr val="15191B"/>
                </a:solidFill>
                <a:latin typeface="Hiragino Sans"/>
                <a:ea typeface="Hiragino Sans"/>
                <a:cs typeface="Hiragino Sans"/>
              </a:defRPr>
            </a:pPr>
            <a:r>
              <a:rPr sz="4050" b="1">
                <a:solidFill>
                  <a:srgbClr val="15191B"/>
                </a:solidFill>
                <a:latin typeface="Hiragino Sans"/>
                <a:ea typeface="Hiragino Sans"/>
                <a:cs typeface="Hiragino Sans"/>
              </a:rPr>
              <a:t>フィジカルAIプレーヤー</a:t>
            </a:r>
          </a:p>
        </p:txBody>
      </p:sp>
      <p:sp>
        <p:nvSpPr>
          <p:cNvPr id="4" name="">
            <a:extLst xmlns:a="http://schemas.openxmlformats.org/drawingml/2006/main">
              <a:ext uri="{FF2B5EF4-FFF2-40B4-BE49-F238E27FC236}">
                <a16:creationId xmlns:a16="http://schemas.microsoft.com/office/drawing/2014/main" id="{A59F96C9-002E-447E-BCB0-27ADC5B8D551}"/>
              </a:ext>
            </a:extLst>
          </p:cNvPr>
          <p:cNvSpPr>
            <a:spLocks xmlns:a="http://schemas.openxmlformats.org/drawingml/2006/main" noGrp="1"/>
          </p:cNvSpPr>
          <p:nvPr/>
        </p:nvSpPr>
        <p:spPr>
          <a:xfrm xmlns:a="http://schemas.openxmlformats.org/drawingml/2006/main">
            <a:off x="666750" y="497205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BB54309-37B0-4D9B-9737-E87820225CD1}"/>
              </a:ext>
            </a:extLst>
          </p:cNvPr>
          <p:cNvSpPr>
            <a:spLocks xmlns:a="http://schemas.openxmlformats.org/drawingml/2006/main" noGrp="1"/>
          </p:cNvSpPr>
          <p:nvPr/>
        </p:nvSpPr>
        <p:spPr>
          <a:xfrm xmlns:a="http://schemas.openxmlformats.org/drawingml/2006/main" rot="0">
            <a:off x="666750" y="52387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会社紹介資料</a:t>
            </a:r>
          </a:p>
        </p:txBody>
      </p:sp>
      <p:sp>
        <p:nvSpPr>
          <p:cNvPr id="6" name="">
            <a:extLst xmlns:a="http://schemas.openxmlformats.org/drawingml/2006/main">
              <a:ext uri="{FF2B5EF4-FFF2-40B4-BE49-F238E27FC236}">
                <a16:creationId xmlns:a16="http://schemas.microsoft.com/office/drawing/2014/main" id="{8B5D720E-459E-4A98-AA1E-3A955B0AC255}"/>
              </a:ext>
            </a:extLst>
          </p:cNvPr>
          <p:cNvSpPr>
            <a:spLocks xmlns:a="http://schemas.openxmlformats.org/drawingml/2006/main" noGrp="1"/>
          </p:cNvSpPr>
          <p:nvPr/>
        </p:nvSpPr>
        <p:spPr>
          <a:xfrm xmlns:a="http://schemas.openxmlformats.org/drawingml/2006/main" rot="0">
            <a:off x="10096500" y="5238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2026.09</a:t>
            </a:r>
          </a:p>
        </p:txBody>
      </p:sp>
    </p:spTree>
    <p:extLst>
      <p:ext uri="{BB962C8B-B14F-4D97-AF65-F5344CB8AC3E}">
        <p14:creationId xmlns:p14="http://schemas.microsoft.com/office/powerpoint/2010/main" val="274008189"/>
      </p:ext>
    </p:extLst>
  </p:cSld>
</p:sld>
</file>

<file path=ppt/slides/slide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22ACE462-999A-4420-B37B-5D65551BDAF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DE292D8-F636-492E-B9AD-C12D82D00640}"/>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フィジカルAI業界の構造</a:t>
            </a:r>
          </a:p>
        </p:txBody>
      </p:sp>
      <p:sp>
        <p:nvSpPr>
          <p:cNvPr id="3" name="">
            <a:extLst xmlns:a="http://schemas.openxmlformats.org/drawingml/2006/main">
              <a:ext uri="{FF2B5EF4-FFF2-40B4-BE49-F238E27FC236}">
                <a16:creationId xmlns:a16="http://schemas.microsoft.com/office/drawing/2014/main" id="{513ED169-3FFA-4D0B-9DB7-C50DB7D05D49}"/>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D4EBB8C-1C7A-479F-BDCA-A01EF784BD08}"/>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02</a:t>
            </a:r>
          </a:p>
        </p:txBody>
      </p:sp>
      <p:sp>
        <p:nvSpPr>
          <p:cNvPr id="5" name="">
            <a:extLst xmlns:a="http://schemas.openxmlformats.org/drawingml/2006/main">
              <a:ext uri="{FF2B5EF4-FFF2-40B4-BE49-F238E27FC236}">
                <a16:creationId xmlns:a16="http://schemas.microsoft.com/office/drawing/2014/main" id="{75FC8A3F-F3C4-4D08-BAF4-DEC835FC7B24}"/>
              </a:ext>
            </a:extLst>
          </p:cNvPr>
          <p:cNvSpPr>
            <a:spLocks xmlns:a="http://schemas.openxmlformats.org/drawingml/2006/main" noGrp="1"/>
          </p:cNvSpPr>
          <p:nvPr/>
        </p:nvSpPr>
        <p:spPr>
          <a:xfrm xmlns:a="http://schemas.openxmlformats.org/drawingml/2006/main" rot="0">
            <a:off x="2590800" y="16859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横幅：接続する現場の範囲</a:t>
            </a:r>
          </a:p>
        </p:txBody>
      </p:sp>
      <p:sp>
        <p:nvSpPr>
          <p:cNvPr id="6" name="">
            <a:extLst xmlns:a="http://schemas.openxmlformats.org/drawingml/2006/main">
              <a:ext uri="{FF2B5EF4-FFF2-40B4-BE49-F238E27FC236}">
                <a16:creationId xmlns:a16="http://schemas.microsoft.com/office/drawing/2014/main" id="{E8A80A30-552A-465B-94C3-DFDD65F9C8C7}"/>
              </a:ext>
            </a:extLst>
          </p:cNvPr>
          <p:cNvSpPr>
            <a:spLocks xmlns:a="http://schemas.openxmlformats.org/drawingml/2006/main" noGrp="1"/>
          </p:cNvSpPr>
          <p:nvPr/>
        </p:nvSpPr>
        <p:spPr>
          <a:xfrm xmlns:a="http://schemas.openxmlformats.org/drawingml/2006/main">
            <a:off x="2590800" y="2009775"/>
            <a:ext cx="83820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CB6032F-3EAD-4D42-A91F-65E7C6B31D6A}"/>
              </a:ext>
            </a:extLst>
          </p:cNvPr>
          <p:cNvSpPr>
            <a:spLocks xmlns:a="http://schemas.openxmlformats.org/drawingml/2006/main" noGrp="1"/>
          </p:cNvSpPr>
          <p:nvPr/>
        </p:nvSpPr>
        <p:spPr>
          <a:xfrm xmlns:a="http://schemas.openxmlformats.org/drawingml/2006/main">
            <a:off x="259080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566C56D-13E5-4B61-8854-9BE6FD4FDC6D}"/>
              </a:ext>
            </a:extLst>
          </p:cNvPr>
          <p:cNvSpPr>
            <a:spLocks xmlns:a="http://schemas.openxmlformats.org/drawingml/2006/main" noGrp="1"/>
          </p:cNvSpPr>
          <p:nvPr/>
        </p:nvSpPr>
        <p:spPr>
          <a:xfrm xmlns:a="http://schemas.openxmlformats.org/drawingml/2006/main">
            <a:off x="1095375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AB8CDEB-5C72-4431-9254-7F57CCB459AE}"/>
              </a:ext>
            </a:extLst>
          </p:cNvPr>
          <p:cNvSpPr>
            <a:spLocks xmlns:a="http://schemas.openxmlformats.org/drawingml/2006/main" noGrp="1"/>
          </p:cNvSpPr>
          <p:nvPr/>
        </p:nvSpPr>
        <p:spPr>
          <a:xfrm xmlns:a="http://schemas.openxmlformats.org/drawingml/2006/main">
            <a:off x="2590800" y="23050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AD1904BB-8B32-48B6-BCD1-2D5C2B0BDA2B}"/>
              </a:ext>
            </a:extLst>
          </p:cNvPr>
          <p:cNvSpPr>
            <a:spLocks xmlns:a="http://schemas.openxmlformats.org/drawingml/2006/main" noGrp="1"/>
          </p:cNvSpPr>
          <p:nvPr/>
        </p:nvSpPr>
        <p:spPr>
          <a:xfrm xmlns:a="http://schemas.openxmlformats.org/drawingml/2006/main" rot="0">
            <a:off x="723900" y="24479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11" name="">
            <a:extLst xmlns:a="http://schemas.openxmlformats.org/drawingml/2006/main">
              <a:ext uri="{FF2B5EF4-FFF2-40B4-BE49-F238E27FC236}">
                <a16:creationId xmlns:a16="http://schemas.microsoft.com/office/drawing/2014/main" id="{115B636B-98D4-4954-9121-61DF6AD40E17}"/>
              </a:ext>
            </a:extLst>
          </p:cNvPr>
          <p:cNvSpPr>
            <a:spLocks xmlns:a="http://schemas.openxmlformats.org/drawingml/2006/main" noGrp="1"/>
          </p:cNvSpPr>
          <p:nvPr/>
        </p:nvSpPr>
        <p:spPr>
          <a:xfrm xmlns:a="http://schemas.openxmlformats.org/drawingml/2006/main">
            <a:off x="2590800" y="29908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9471855D-8EDA-4CF0-8367-26CB77EB323E}"/>
              </a:ext>
            </a:extLst>
          </p:cNvPr>
          <p:cNvSpPr>
            <a:spLocks xmlns:a="http://schemas.openxmlformats.org/drawingml/2006/main" noGrp="1"/>
          </p:cNvSpPr>
          <p:nvPr/>
        </p:nvSpPr>
        <p:spPr>
          <a:xfrm xmlns:a="http://schemas.openxmlformats.org/drawingml/2006/main" rot="0">
            <a:off x="723900" y="304800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3" name="">
            <a:extLst xmlns:a="http://schemas.openxmlformats.org/drawingml/2006/main">
              <a:ext uri="{FF2B5EF4-FFF2-40B4-BE49-F238E27FC236}">
                <a16:creationId xmlns:a16="http://schemas.microsoft.com/office/drawing/2014/main" id="{D22583A1-93C6-4FD0-81EC-9F06D0FE5450}"/>
              </a:ext>
            </a:extLst>
          </p:cNvPr>
          <p:cNvSpPr>
            <a:spLocks xmlns:a="http://schemas.openxmlformats.org/drawingml/2006/main" noGrp="1"/>
          </p:cNvSpPr>
          <p:nvPr/>
        </p:nvSpPr>
        <p:spPr>
          <a:xfrm xmlns:a="http://schemas.openxmlformats.org/drawingml/2006/main">
            <a:off x="2590800" y="36766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CBAD4B55-F579-4C07-B12D-9DA6EC99F996}"/>
              </a:ext>
            </a:extLst>
          </p:cNvPr>
          <p:cNvSpPr>
            <a:spLocks xmlns:a="http://schemas.openxmlformats.org/drawingml/2006/main" noGrp="1"/>
          </p:cNvSpPr>
          <p:nvPr/>
        </p:nvSpPr>
        <p:spPr>
          <a:xfrm xmlns:a="http://schemas.openxmlformats.org/drawingml/2006/main" rot="0">
            <a:off x="723900" y="38195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5" name="">
            <a:extLst xmlns:a="http://schemas.openxmlformats.org/drawingml/2006/main">
              <a:ext uri="{FF2B5EF4-FFF2-40B4-BE49-F238E27FC236}">
                <a16:creationId xmlns:a16="http://schemas.microsoft.com/office/drawing/2014/main" id="{37E51056-C28D-4959-BBF1-C28163F065EE}"/>
              </a:ext>
            </a:extLst>
          </p:cNvPr>
          <p:cNvSpPr>
            <a:spLocks xmlns:a="http://schemas.openxmlformats.org/drawingml/2006/main" noGrp="1"/>
          </p:cNvSpPr>
          <p:nvPr/>
        </p:nvSpPr>
        <p:spPr>
          <a:xfrm xmlns:a="http://schemas.openxmlformats.org/drawingml/2006/main">
            <a:off x="2590800" y="43624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82731173-D7FC-4346-9177-A4D4BA71AB8B}"/>
              </a:ext>
            </a:extLst>
          </p:cNvPr>
          <p:cNvSpPr>
            <a:spLocks xmlns:a="http://schemas.openxmlformats.org/drawingml/2006/main" noGrp="1"/>
          </p:cNvSpPr>
          <p:nvPr/>
        </p:nvSpPr>
        <p:spPr>
          <a:xfrm xmlns:a="http://schemas.openxmlformats.org/drawingml/2006/main" rot="0">
            <a:off x="723900" y="45053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7" name="">
            <a:extLst xmlns:a="http://schemas.openxmlformats.org/drawingml/2006/main">
              <a:ext uri="{FF2B5EF4-FFF2-40B4-BE49-F238E27FC236}">
                <a16:creationId xmlns:a16="http://schemas.microsoft.com/office/drawing/2014/main" id="{747E0159-9C10-444C-847E-D6D4799C012E}"/>
              </a:ext>
            </a:extLst>
          </p:cNvPr>
          <p:cNvSpPr>
            <a:spLocks xmlns:a="http://schemas.openxmlformats.org/drawingml/2006/main" noGrp="1"/>
          </p:cNvSpPr>
          <p:nvPr/>
        </p:nvSpPr>
        <p:spPr>
          <a:xfrm xmlns:a="http://schemas.openxmlformats.org/drawingml/2006/main">
            <a:off x="11191875" y="2305050"/>
            <a:ext cx="19050" cy="26098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7353B64-02CB-40C4-99D7-090BDF8A952B}"/>
              </a:ext>
            </a:extLst>
          </p:cNvPr>
          <p:cNvSpPr>
            <a:spLocks xmlns:a="http://schemas.openxmlformats.org/drawingml/2006/main" noGrp="1"/>
          </p:cNvSpPr>
          <p:nvPr/>
        </p:nvSpPr>
        <p:spPr>
          <a:xfrm xmlns:a="http://schemas.openxmlformats.org/drawingml/2006/main">
            <a:off x="11134725" y="23050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55F709D-2BA6-4F97-B593-CD855B743AFA}"/>
              </a:ext>
            </a:extLst>
          </p:cNvPr>
          <p:cNvSpPr>
            <a:spLocks xmlns:a="http://schemas.openxmlformats.org/drawingml/2006/main" noGrp="1"/>
          </p:cNvSpPr>
          <p:nvPr/>
        </p:nvSpPr>
        <p:spPr>
          <a:xfrm xmlns:a="http://schemas.openxmlformats.org/drawingml/2006/main">
            <a:off x="11134725" y="48958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0277A45-037D-4957-B461-1E2176895115}"/>
              </a:ext>
            </a:extLst>
          </p:cNvPr>
          <p:cNvSpPr>
            <a:spLocks xmlns:a="http://schemas.openxmlformats.org/drawingml/2006/main" noGrp="1"/>
          </p:cNvSpPr>
          <p:nvPr/>
        </p:nvSpPr>
        <p:spPr>
          <a:xfrm xmlns:a="http://schemas.openxmlformats.org/drawingml/2006/main" rot="5400000">
            <a:off x="10668000" y="373380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050" b="1">
                <a:solidFill>
                  <a:srgbClr val="315C78"/>
                </a:solidFill>
                <a:latin typeface="Hiragino Sans"/>
                <a:ea typeface="Hiragino Sans"/>
                <a:cs typeface="Hiragino Sans"/>
              </a:defRPr>
            </a:pPr>
            <a:r>
              <a:rPr sz="1050" b="1">
                <a:solidFill>
                  <a:srgbClr val="315C78"/>
                </a:solidFill>
                <a:latin typeface="Hiragino Sans"/>
                <a:ea typeface="Hiragino Sans"/>
                <a:cs typeface="Hiragino Sans"/>
              </a:rPr>
              <a:t>縦幅：担うレイヤーの範囲</a:t>
            </a:r>
          </a:p>
        </p:txBody>
      </p:sp>
      <p:sp>
        <p:nvSpPr>
          <p:cNvPr id="21" name="">
            <a:extLst xmlns:a="http://schemas.openxmlformats.org/drawingml/2006/main">
              <a:ext uri="{FF2B5EF4-FFF2-40B4-BE49-F238E27FC236}">
                <a16:creationId xmlns:a16="http://schemas.microsoft.com/office/drawing/2014/main" id="{C1F70FEE-59A4-4F21-9E28-8E91BF6EC36D}"/>
              </a:ext>
            </a:extLst>
          </p:cNvPr>
          <p:cNvSpPr>
            <a:spLocks xmlns:a="http://schemas.openxmlformats.org/drawingml/2006/main" noGrp="1"/>
          </p:cNvSpPr>
          <p:nvPr/>
        </p:nvSpPr>
        <p:spPr>
          <a:xfrm xmlns:a="http://schemas.openxmlformats.org/drawingml/2006/main" rot="0">
            <a:off x="723900" y="53530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22" name="">
            <a:extLst xmlns:a="http://schemas.openxmlformats.org/drawingml/2006/main">
              <a:ext uri="{FF2B5EF4-FFF2-40B4-BE49-F238E27FC236}">
                <a16:creationId xmlns:a16="http://schemas.microsoft.com/office/drawing/2014/main" id="{874390AA-4BB8-4BAD-8618-8D97DAAF4C84}"/>
              </a:ext>
            </a:extLst>
          </p:cNvPr>
          <p:cNvSpPr>
            <a:spLocks xmlns:a="http://schemas.openxmlformats.org/drawingml/2006/main" noGrp="1"/>
          </p:cNvSpPr>
          <p:nvPr/>
        </p:nvSpPr>
        <p:spPr>
          <a:xfrm xmlns:a="http://schemas.openxmlformats.org/drawingml/2006/main">
            <a:off x="2590800" y="5257800"/>
            <a:ext cx="838200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CB623904-FD4D-4C03-BAB3-F2ABDB104BEF}"/>
              </a:ext>
            </a:extLst>
          </p:cNvPr>
          <p:cNvSpPr>
            <a:spLocks xmlns:a="http://schemas.openxmlformats.org/drawingml/2006/main" noGrp="1"/>
          </p:cNvSpPr>
          <p:nvPr/>
        </p:nvSpPr>
        <p:spPr>
          <a:xfrm xmlns:a="http://schemas.openxmlformats.org/drawingml/2006/main" rot="0">
            <a:off x="2590800" y="53816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飲食　　小売　　製造　　物流　　建築　　医療　　その他の現場</a:t>
            </a:r>
          </a:p>
        </p:txBody>
      </p:sp>
      <p:sp>
        <p:nvSpPr>
          <p:cNvPr id="24" name="">
            <a:extLst xmlns:a="http://schemas.openxmlformats.org/drawingml/2006/main">
              <a:ext uri="{FF2B5EF4-FFF2-40B4-BE49-F238E27FC236}">
                <a16:creationId xmlns:a16="http://schemas.microsoft.com/office/drawing/2014/main" id="{C0574289-E07B-4F33-B529-4937D5634DA4}"/>
              </a:ext>
            </a:extLst>
          </p:cNvPr>
          <p:cNvSpPr>
            <a:spLocks xmlns:a="http://schemas.openxmlformats.org/drawingml/2006/main" noGrp="1"/>
          </p:cNvSpPr>
          <p:nvPr/>
        </p:nvSpPr>
        <p:spPr>
          <a:xfrm xmlns:a="http://schemas.openxmlformats.org/drawingml/2006/main">
            <a:off x="2990850" y="23050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5" name="">
            <a:extLst xmlns:a="http://schemas.openxmlformats.org/drawingml/2006/main">
              <a:ext uri="{FF2B5EF4-FFF2-40B4-BE49-F238E27FC236}">
                <a16:creationId xmlns:a16="http://schemas.microsoft.com/office/drawing/2014/main" id="{F1196CD6-17F5-4874-9D9B-C6D4B908030C}"/>
              </a:ext>
            </a:extLst>
          </p:cNvPr>
          <p:cNvSpPr>
            <a:spLocks xmlns:a="http://schemas.openxmlformats.org/drawingml/2006/main" noGrp="1"/>
          </p:cNvSpPr>
          <p:nvPr/>
        </p:nvSpPr>
        <p:spPr>
          <a:xfrm xmlns:a="http://schemas.openxmlformats.org/drawingml/2006/main" rot="0">
            <a:off x="5248275" y="2371725"/>
            <a:ext cx="5153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水平統合型　　一つのレイヤーで、多数の現場を占める</a:t>
            </a:r>
          </a:p>
        </p:txBody>
      </p:sp>
      <p:sp>
        <p:nvSpPr>
          <p:cNvPr id="26" name="">
            <a:extLst xmlns:a="http://schemas.openxmlformats.org/drawingml/2006/main">
              <a:ext uri="{FF2B5EF4-FFF2-40B4-BE49-F238E27FC236}">
                <a16:creationId xmlns:a16="http://schemas.microsoft.com/office/drawing/2014/main" id="{46A4FB95-D692-4169-BA6D-7A8DCDF7A3DC}"/>
              </a:ext>
            </a:extLst>
          </p:cNvPr>
          <p:cNvSpPr>
            <a:spLocks xmlns:a="http://schemas.openxmlformats.org/drawingml/2006/main" noGrp="1"/>
          </p:cNvSpPr>
          <p:nvPr/>
        </p:nvSpPr>
        <p:spPr>
          <a:xfrm xmlns:a="http://schemas.openxmlformats.org/drawingml/2006/main" rot="0">
            <a:off x="5248275" y="2600325"/>
            <a:ext cx="51530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DeepReach / BuildAI</a:t>
            </a:r>
          </a:p>
        </p:txBody>
      </p:sp>
      <p:sp>
        <p:nvSpPr>
          <p:cNvPr id="27" name="">
            <a:extLst xmlns:a="http://schemas.openxmlformats.org/drawingml/2006/main">
              <a:ext uri="{FF2B5EF4-FFF2-40B4-BE49-F238E27FC236}">
                <a16:creationId xmlns:a16="http://schemas.microsoft.com/office/drawing/2014/main" id="{C940E7A2-4E3D-4454-857B-84FDD4D79E79}"/>
              </a:ext>
            </a:extLst>
          </p:cNvPr>
          <p:cNvSpPr>
            <a:spLocks xmlns:a="http://schemas.openxmlformats.org/drawingml/2006/main" noGrp="1"/>
          </p:cNvSpPr>
          <p:nvPr/>
        </p:nvSpPr>
        <p:spPr>
          <a:xfrm xmlns:a="http://schemas.openxmlformats.org/drawingml/2006/main">
            <a:off x="2990850" y="29908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28" name="">
            <a:extLst xmlns:a="http://schemas.openxmlformats.org/drawingml/2006/main">
              <a:ext uri="{FF2B5EF4-FFF2-40B4-BE49-F238E27FC236}">
                <a16:creationId xmlns:a16="http://schemas.microsoft.com/office/drawing/2014/main" id="{A9F8CDD3-EDFC-4B95-B2FA-934EA298146C}"/>
              </a:ext>
            </a:extLst>
          </p:cNvPr>
          <p:cNvSpPr>
            <a:spLocks xmlns:a="http://schemas.openxmlformats.org/drawingml/2006/main" noGrp="1"/>
          </p:cNvSpPr>
          <p:nvPr/>
        </p:nvSpPr>
        <p:spPr>
          <a:xfrm xmlns:a="http://schemas.openxmlformats.org/drawingml/2006/main" rot="0">
            <a:off x="5248275" y="31432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PI / SkilledAI / NVIDIA</a:t>
            </a:r>
          </a:p>
        </p:txBody>
      </p:sp>
      <p:sp>
        <p:nvSpPr>
          <p:cNvPr id="29" name="">
            <a:extLst xmlns:a="http://schemas.openxmlformats.org/drawingml/2006/main">
              <a:ext uri="{FF2B5EF4-FFF2-40B4-BE49-F238E27FC236}">
                <a16:creationId xmlns:a16="http://schemas.microsoft.com/office/drawing/2014/main" id="{F6E6ACF2-969C-4FC0-8F60-18ECCD698AA2}"/>
              </a:ext>
            </a:extLst>
          </p:cNvPr>
          <p:cNvSpPr>
            <a:spLocks xmlns:a="http://schemas.openxmlformats.org/drawingml/2006/main" noGrp="1"/>
          </p:cNvSpPr>
          <p:nvPr/>
        </p:nvSpPr>
        <p:spPr>
          <a:xfrm xmlns:a="http://schemas.openxmlformats.org/drawingml/2006/main">
            <a:off x="2990850" y="36766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0" name="">
            <a:extLst xmlns:a="http://schemas.openxmlformats.org/drawingml/2006/main">
              <a:ext uri="{FF2B5EF4-FFF2-40B4-BE49-F238E27FC236}">
                <a16:creationId xmlns:a16="http://schemas.microsoft.com/office/drawing/2014/main" id="{8790D16F-909C-4819-AD9C-3B231FB01AE6}"/>
              </a:ext>
            </a:extLst>
          </p:cNvPr>
          <p:cNvSpPr>
            <a:spLocks xmlns:a="http://schemas.openxmlformats.org/drawingml/2006/main" noGrp="1"/>
          </p:cNvSpPr>
          <p:nvPr/>
        </p:nvSpPr>
        <p:spPr>
          <a:xfrm xmlns:a="http://schemas.openxmlformats.org/drawingml/2006/main" rot="0">
            <a:off x="5248275" y="38290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Unitree</a:t>
            </a:r>
          </a:p>
        </p:txBody>
      </p:sp>
      <p:sp>
        <p:nvSpPr>
          <p:cNvPr id="31" name="">
            <a:extLst xmlns:a="http://schemas.openxmlformats.org/drawingml/2006/main">
              <a:ext uri="{FF2B5EF4-FFF2-40B4-BE49-F238E27FC236}">
                <a16:creationId xmlns:a16="http://schemas.microsoft.com/office/drawing/2014/main" id="{FCBD73D9-A731-443A-8C9D-2983B4908F24}"/>
              </a:ext>
            </a:extLst>
          </p:cNvPr>
          <p:cNvSpPr>
            <a:spLocks xmlns:a="http://schemas.openxmlformats.org/drawingml/2006/main" noGrp="1"/>
          </p:cNvSpPr>
          <p:nvPr/>
        </p:nvSpPr>
        <p:spPr>
          <a:xfrm xmlns:a="http://schemas.openxmlformats.org/drawingml/2006/main">
            <a:off x="2990850" y="4362450"/>
            <a:ext cx="7581900" cy="5524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2" name="">
            <a:extLst xmlns:a="http://schemas.openxmlformats.org/drawingml/2006/main">
              <a:ext uri="{FF2B5EF4-FFF2-40B4-BE49-F238E27FC236}">
                <a16:creationId xmlns:a16="http://schemas.microsoft.com/office/drawing/2014/main" id="{A6F8CED8-CB9A-4488-A94D-5C1CCE62291F}"/>
              </a:ext>
            </a:extLst>
          </p:cNvPr>
          <p:cNvSpPr>
            <a:spLocks xmlns:a="http://schemas.openxmlformats.org/drawingml/2006/main" noGrp="1"/>
          </p:cNvSpPr>
          <p:nvPr/>
        </p:nvSpPr>
        <p:spPr>
          <a:xfrm xmlns:a="http://schemas.openxmlformats.org/drawingml/2006/main" rot="0">
            <a:off x="5248275" y="45148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HIVE Robotics / Formic</a:t>
            </a:r>
          </a:p>
        </p:txBody>
      </p:sp>
      <p:sp>
        <p:nvSpPr>
          <p:cNvPr id="33" name="">
            <a:extLst xmlns:a="http://schemas.openxmlformats.org/drawingml/2006/main">
              <a:ext uri="{FF2B5EF4-FFF2-40B4-BE49-F238E27FC236}">
                <a16:creationId xmlns:a16="http://schemas.microsoft.com/office/drawing/2014/main" id="{B51D39CE-87C4-4CB9-A5F1-2B4CCE4D32F7}"/>
              </a:ext>
            </a:extLst>
          </p:cNvPr>
          <p:cNvSpPr>
            <a:spLocks xmlns:a="http://schemas.openxmlformats.org/drawingml/2006/main" noGrp="1"/>
          </p:cNvSpPr>
          <p:nvPr/>
        </p:nvSpPr>
        <p:spPr>
          <a:xfrm xmlns:a="http://schemas.openxmlformats.org/drawingml/2006/main">
            <a:off x="2990850" y="2305050"/>
            <a:ext cx="2047875" cy="26098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34" name="">
            <a:extLst xmlns:a="http://schemas.openxmlformats.org/drawingml/2006/main">
              <a:ext uri="{FF2B5EF4-FFF2-40B4-BE49-F238E27FC236}">
                <a16:creationId xmlns:a16="http://schemas.microsoft.com/office/drawing/2014/main" id="{939C11E3-069C-4C5F-9BCB-61F3878A8827}"/>
              </a:ext>
            </a:extLst>
          </p:cNvPr>
          <p:cNvSpPr>
            <a:spLocks xmlns:a="http://schemas.openxmlformats.org/drawingml/2006/main" noGrp="1"/>
          </p:cNvSpPr>
          <p:nvPr/>
        </p:nvSpPr>
        <p:spPr>
          <a:xfrm xmlns:a="http://schemas.openxmlformats.org/drawingml/2006/main" rot="0">
            <a:off x="3162300" y="2571750"/>
            <a:ext cx="17049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垂直統合型</a:t>
            </a:r>
          </a:p>
        </p:txBody>
      </p:sp>
      <p:sp>
        <p:nvSpPr>
          <p:cNvPr id="35" name="">
            <a:extLst xmlns:a="http://schemas.openxmlformats.org/drawingml/2006/main">
              <a:ext uri="{FF2B5EF4-FFF2-40B4-BE49-F238E27FC236}">
                <a16:creationId xmlns:a16="http://schemas.microsoft.com/office/drawing/2014/main" id="{07F34F33-91D0-4DDB-B755-212F27AB3149}"/>
              </a:ext>
            </a:extLst>
          </p:cNvPr>
          <p:cNvSpPr>
            <a:spLocks xmlns:a="http://schemas.openxmlformats.org/drawingml/2006/main" noGrp="1"/>
          </p:cNvSpPr>
          <p:nvPr/>
        </p:nvSpPr>
        <p:spPr>
          <a:xfrm xmlns:a="http://schemas.openxmlformats.org/drawingml/2006/main" rot="0">
            <a:off x="3162300" y="3133725"/>
            <a:ext cx="17049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特定の現場を</a:t>
            </a:r>
          </a:p>
          <a:p xmlns:a="http://schemas.openxmlformats.org/drawingml/2006/main">
            <a:pPr algn="ctr">
              <a:defRPr sz="1275" b="1">
                <a:solidFill>
                  <a:srgbClr val="15191B"/>
                </a:solidFill>
                <a:latin typeface="Hiragino Sans"/>
                <a:ea typeface="Hiragino Sans"/>
                <a:cs typeface="Hiragino Sans"/>
              </a:defRPr>
            </a:pPr>
            <a:r>
              <a:rPr sz="1275" b="1">
                <a:solidFill>
                  <a:srgbClr val="15191B"/>
                </a:solidFill>
                <a:latin typeface="Hiragino Sans"/>
                <a:ea typeface="Hiragino Sans"/>
                <a:cs typeface="Hiragino Sans"/>
              </a:rPr>
              <a:t>複数レイヤーで担う</a:t>
            </a:r>
          </a:p>
        </p:txBody>
      </p:sp>
      <p:sp>
        <p:nvSpPr>
          <p:cNvPr id="36" name="">
            <a:extLst xmlns:a="http://schemas.openxmlformats.org/drawingml/2006/main">
              <a:ext uri="{FF2B5EF4-FFF2-40B4-BE49-F238E27FC236}">
                <a16:creationId xmlns:a16="http://schemas.microsoft.com/office/drawing/2014/main" id="{26D898D8-71D0-481B-87FC-55ED15645E9B}"/>
              </a:ext>
            </a:extLst>
          </p:cNvPr>
          <p:cNvSpPr>
            <a:spLocks xmlns:a="http://schemas.openxmlformats.org/drawingml/2006/main" noGrp="1"/>
          </p:cNvSpPr>
          <p:nvPr/>
        </p:nvSpPr>
        <p:spPr>
          <a:xfrm xmlns:a="http://schemas.openxmlformats.org/drawingml/2006/main" rot="0">
            <a:off x="3162300" y="4067175"/>
            <a:ext cx="17049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1X</a:t>
            </a:r>
          </a:p>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Sunday Robotics</a:t>
            </a:r>
          </a:p>
          <a:p xmlns:a="http://schemas.openxmlformats.org/drawingml/2006/main">
            <a:pPr algn="ctr">
              <a:defRPr sz="975" b="1">
                <a:solidFill>
                  <a:srgbClr val="58646A"/>
                </a:solidFill>
                <a:latin typeface="Hiragino Sans"/>
                <a:ea typeface="Hiragino Sans"/>
                <a:cs typeface="Hiragino Sans"/>
              </a:defRPr>
            </a:pPr>
            <a:r>
              <a:rPr sz="975" b="1">
                <a:solidFill>
                  <a:srgbClr val="58646A"/>
                </a:solidFill>
                <a:latin typeface="Hiragino Sans"/>
                <a:ea typeface="Hiragino Sans"/>
                <a:cs typeface="Hiragino Sans"/>
              </a:rPr>
              <a:t>ATOM</a:t>
            </a:r>
          </a:p>
        </p:txBody>
      </p:sp>
    </p:spTree>
    <p:extLst>
      <p:ext uri="{BB962C8B-B14F-4D97-AF65-F5344CB8AC3E}">
        <p14:creationId xmlns:p14="http://schemas.microsoft.com/office/powerpoint/2010/main" val="10729799"/>
      </p:ext>
    </p:extLst>
  </p:cSld>
</p:sld>
</file>

<file path=ppt/slides/slide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F1C9BE6-3EBD-4A79-8259-8D371034A38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8D2BFB3-4E03-4264-8576-417315ABD108}"/>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垂直統合型と水平統合型</a:t>
            </a:r>
          </a:p>
        </p:txBody>
      </p:sp>
      <p:sp>
        <p:nvSpPr>
          <p:cNvPr id="3" name="">
            <a:extLst xmlns:a="http://schemas.openxmlformats.org/drawingml/2006/main">
              <a:ext uri="{FF2B5EF4-FFF2-40B4-BE49-F238E27FC236}">
                <a16:creationId xmlns:a16="http://schemas.microsoft.com/office/drawing/2014/main" id="{67B39220-13FF-46C9-9593-B49F9B12FED9}"/>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CD15917-F84B-46DD-9791-59D2E5B64388}"/>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03</a:t>
            </a:r>
          </a:p>
        </p:txBody>
      </p:sp>
      <p:sp>
        <p:nvSpPr>
          <p:cNvPr id="5" name="">
            <a:extLst xmlns:a="http://schemas.openxmlformats.org/drawingml/2006/main">
              <a:ext uri="{FF2B5EF4-FFF2-40B4-BE49-F238E27FC236}">
                <a16:creationId xmlns:a16="http://schemas.microsoft.com/office/drawing/2014/main" id="{CF1CF74E-900E-412E-8E7B-AE4C96FBB031}"/>
              </a:ext>
            </a:extLst>
          </p:cNvPr>
          <p:cNvSpPr>
            <a:spLocks xmlns:a="http://schemas.openxmlformats.org/drawingml/2006/main" noGrp="1"/>
          </p:cNvSpPr>
          <p:nvPr/>
        </p:nvSpPr>
        <p:spPr>
          <a:xfrm xmlns:a="http://schemas.openxmlformats.org/drawingml/2006/main" rot="0">
            <a:off x="7239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垂直統合型</a:t>
            </a:r>
          </a:p>
        </p:txBody>
      </p:sp>
      <p:sp>
        <p:nvSpPr>
          <p:cNvPr id="6" name="">
            <a:extLst xmlns:a="http://schemas.openxmlformats.org/drawingml/2006/main">
              <a:ext uri="{FF2B5EF4-FFF2-40B4-BE49-F238E27FC236}">
                <a16:creationId xmlns:a16="http://schemas.microsoft.com/office/drawing/2014/main" id="{989D6942-A008-4BA6-83F0-9DEEB4F11CAA}"/>
              </a:ext>
            </a:extLst>
          </p:cNvPr>
          <p:cNvSpPr>
            <a:spLocks xmlns:a="http://schemas.openxmlformats.org/drawingml/2006/main" noGrp="1"/>
          </p:cNvSpPr>
          <p:nvPr/>
        </p:nvSpPr>
        <p:spPr>
          <a:xfrm xmlns:a="http://schemas.openxmlformats.org/drawingml/2006/main" rot="0">
            <a:off x="723900" y="2381250"/>
            <a:ext cx="47625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特定の業種・タスクに絞り、決め打ちで</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現場で実際に動くロボットを作る。</a:t>
            </a:r>
          </a:p>
          <a:p xmlns:a="http://schemas.openxmlformats.org/drawingml/2006/main">
            <a:r>
              <a:t/>
            </a:r>
          </a:p>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完全な自律運用が難しい場合は、遠隔操作で働くレベルから商用化する企業もあれば、自律運用の幅を地道に広げる企業もある。</a:t>
            </a:r>
          </a:p>
        </p:txBody>
      </p:sp>
      <p:sp>
        <p:nvSpPr>
          <p:cNvPr id="7" name="">
            <a:extLst xmlns:a="http://schemas.openxmlformats.org/drawingml/2006/main">
              <a:ext uri="{FF2B5EF4-FFF2-40B4-BE49-F238E27FC236}">
                <a16:creationId xmlns:a16="http://schemas.microsoft.com/office/drawing/2014/main" id="{DFA2AA48-7BA9-4A7B-BCB6-27E6248F1068}"/>
              </a:ext>
            </a:extLst>
          </p:cNvPr>
          <p:cNvSpPr>
            <a:spLocks xmlns:a="http://schemas.openxmlformats.org/drawingml/2006/main" noGrp="1"/>
          </p:cNvSpPr>
          <p:nvPr/>
        </p:nvSpPr>
        <p:spPr>
          <a:xfrm xmlns:a="http://schemas.openxmlformats.org/drawingml/2006/main" rot="0">
            <a:off x="723900" y="466725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8646A"/>
                </a:solidFill>
                <a:latin typeface="Hiragino Sans"/>
                <a:ea typeface="Hiragino Sans"/>
                <a:cs typeface="Hiragino Sans"/>
              </a:defRPr>
            </a:pPr>
            <a:r>
              <a:rPr sz="1125" b="1">
                <a:solidFill>
                  <a:srgbClr val="58646A"/>
                </a:solidFill>
                <a:latin typeface="Hiragino Sans"/>
                <a:ea typeface="Hiragino Sans"/>
                <a:cs typeface="Hiragino Sans"/>
              </a:rPr>
              <a:t>代表例</a:t>
            </a:r>
          </a:p>
        </p:txBody>
      </p:sp>
      <p:sp>
        <p:nvSpPr>
          <p:cNvPr id="8" name="">
            <a:extLst xmlns:a="http://schemas.openxmlformats.org/drawingml/2006/main">
              <a:ext uri="{FF2B5EF4-FFF2-40B4-BE49-F238E27FC236}">
                <a16:creationId xmlns:a16="http://schemas.microsoft.com/office/drawing/2014/main" id="{D937839A-1603-411B-B796-491B6C178A61}"/>
              </a:ext>
            </a:extLst>
          </p:cNvPr>
          <p:cNvSpPr>
            <a:spLocks xmlns:a="http://schemas.openxmlformats.org/drawingml/2006/main" noGrp="1"/>
          </p:cNvSpPr>
          <p:nvPr/>
        </p:nvSpPr>
        <p:spPr>
          <a:xfrm xmlns:a="http://schemas.openxmlformats.org/drawingml/2006/main" rot="0">
            <a:off x="723900" y="50006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1X / Sunday Robotics</a:t>
            </a:r>
          </a:p>
        </p:txBody>
      </p:sp>
      <p:sp>
        <p:nvSpPr>
          <p:cNvPr id="9" name="">
            <a:extLst xmlns:a="http://schemas.openxmlformats.org/drawingml/2006/main">
              <a:ext uri="{FF2B5EF4-FFF2-40B4-BE49-F238E27FC236}">
                <a16:creationId xmlns:a16="http://schemas.microsoft.com/office/drawing/2014/main" id="{3BC41C30-26AE-4EF1-A689-94F01E6E0162}"/>
              </a:ext>
            </a:extLst>
          </p:cNvPr>
          <p:cNvSpPr>
            <a:spLocks xmlns:a="http://schemas.openxmlformats.org/drawingml/2006/main" noGrp="1"/>
          </p:cNvSpPr>
          <p:nvPr/>
        </p:nvSpPr>
        <p:spPr>
          <a:xfrm xmlns:a="http://schemas.openxmlformats.org/drawingml/2006/main">
            <a:off x="5972175" y="1952625"/>
            <a:ext cx="9525" cy="38576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92E905C-BA6A-4AF0-9AEC-1A7857644458}"/>
              </a:ext>
            </a:extLst>
          </p:cNvPr>
          <p:cNvSpPr>
            <a:spLocks xmlns:a="http://schemas.openxmlformats.org/drawingml/2006/main" noGrp="1"/>
          </p:cNvSpPr>
          <p:nvPr/>
        </p:nvSpPr>
        <p:spPr>
          <a:xfrm xmlns:a="http://schemas.openxmlformats.org/drawingml/2006/main" rot="0">
            <a:off x="6477000" y="192405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水平統合型</a:t>
            </a:r>
          </a:p>
        </p:txBody>
      </p:sp>
      <p:sp>
        <p:nvSpPr>
          <p:cNvPr id="11" name="">
            <a:extLst xmlns:a="http://schemas.openxmlformats.org/drawingml/2006/main">
              <a:ext uri="{FF2B5EF4-FFF2-40B4-BE49-F238E27FC236}">
                <a16:creationId xmlns:a16="http://schemas.microsoft.com/office/drawing/2014/main" id="{2C18583F-C779-4294-8C72-1D9682780645}"/>
              </a:ext>
            </a:extLst>
          </p:cNvPr>
          <p:cNvSpPr>
            <a:spLocks xmlns:a="http://schemas.openxmlformats.org/drawingml/2006/main" noGrp="1"/>
          </p:cNvSpPr>
          <p:nvPr/>
        </p:nvSpPr>
        <p:spPr>
          <a:xfrm xmlns:a="http://schemas.openxmlformats.org/drawingml/2006/main" rot="0">
            <a:off x="6477000" y="2381250"/>
            <a:ext cx="4667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垂直統合型のバリューチェーンを分解するイメージであり、現在多くのレイヤーが存在する。データ収集・加工、基盤モデル・シミュレーション、ハードウェア、現場統合が、それぞれ独立した事業として広がっている。</a:t>
            </a:r>
          </a:p>
        </p:txBody>
      </p:sp>
      <p:sp>
        <p:nvSpPr>
          <p:cNvPr id="12" name="">
            <a:extLst xmlns:a="http://schemas.openxmlformats.org/drawingml/2006/main">
              <a:ext uri="{FF2B5EF4-FFF2-40B4-BE49-F238E27FC236}">
                <a16:creationId xmlns:a16="http://schemas.microsoft.com/office/drawing/2014/main" id="{E0175873-4DC7-4C0F-BB24-ECD151DB8ADA}"/>
              </a:ext>
            </a:extLst>
          </p:cNvPr>
          <p:cNvSpPr>
            <a:spLocks xmlns:a="http://schemas.openxmlformats.org/drawingml/2006/main" noGrp="1"/>
          </p:cNvSpPr>
          <p:nvPr/>
        </p:nvSpPr>
        <p:spPr>
          <a:xfrm xmlns:a="http://schemas.openxmlformats.org/drawingml/2006/main" rot="0">
            <a:off x="6477000" y="4476750"/>
            <a:ext cx="466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実際には、垂直統合と水平展開の両方の性質を持つ企業もある。</a:t>
            </a:r>
          </a:p>
        </p:txBody>
      </p:sp>
    </p:spTree>
    <p:extLst>
      <p:ext uri="{BB962C8B-B14F-4D97-AF65-F5344CB8AC3E}">
        <p14:creationId xmlns:p14="http://schemas.microsoft.com/office/powerpoint/2010/main" val="706780533"/>
      </p:ext>
    </p:extLst>
  </p:cSld>
</p:sld>
</file>

<file path=ppt/slides/slide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3615AE0-78D5-470A-B34B-10D7D93EBB7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C234750-3418-47DF-9B0B-79EBFDC1B206}"/>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水平統合型に存在するレイヤー</a:t>
            </a:r>
          </a:p>
        </p:txBody>
      </p:sp>
      <p:sp>
        <p:nvSpPr>
          <p:cNvPr id="3" name="">
            <a:extLst xmlns:a="http://schemas.openxmlformats.org/drawingml/2006/main">
              <a:ext uri="{FF2B5EF4-FFF2-40B4-BE49-F238E27FC236}">
                <a16:creationId xmlns:a16="http://schemas.microsoft.com/office/drawing/2014/main" id="{3B59EDBF-B019-4299-A2E1-0ADBC18D8D0D}"/>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D0FC511-5CFE-4DD1-BC8A-4DBD7D543119}"/>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04</a:t>
            </a:r>
          </a:p>
        </p:txBody>
      </p:sp>
      <p:sp>
        <p:nvSpPr>
          <p:cNvPr id="5" name="">
            <a:extLst xmlns:a="http://schemas.openxmlformats.org/drawingml/2006/main">
              <a:ext uri="{FF2B5EF4-FFF2-40B4-BE49-F238E27FC236}">
                <a16:creationId xmlns:a16="http://schemas.microsoft.com/office/drawing/2014/main" id="{FB7D3A2B-987F-42ED-BB53-54CFC2E2DAB0}"/>
              </a:ext>
            </a:extLst>
          </p:cNvPr>
          <p:cNvSpPr>
            <a:spLocks xmlns:a="http://schemas.openxmlformats.org/drawingml/2006/main" noGrp="1"/>
          </p:cNvSpPr>
          <p:nvPr/>
        </p:nvSpPr>
        <p:spPr>
          <a:xfrm xmlns:a="http://schemas.openxmlformats.org/drawingml/2006/main" rot="0">
            <a:off x="723900" y="1809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データ収集層</a:t>
            </a:r>
          </a:p>
        </p:txBody>
      </p:sp>
      <p:sp>
        <p:nvSpPr>
          <p:cNvPr id="6" name="">
            <a:extLst xmlns:a="http://schemas.openxmlformats.org/drawingml/2006/main">
              <a:ext uri="{FF2B5EF4-FFF2-40B4-BE49-F238E27FC236}">
                <a16:creationId xmlns:a16="http://schemas.microsoft.com/office/drawing/2014/main" id="{F6303398-F3F4-4247-B5F2-E2B8ACA12FE6}"/>
              </a:ext>
            </a:extLst>
          </p:cNvPr>
          <p:cNvSpPr>
            <a:spLocks xmlns:a="http://schemas.openxmlformats.org/drawingml/2006/main" noGrp="1"/>
          </p:cNvSpPr>
          <p:nvPr/>
        </p:nvSpPr>
        <p:spPr>
          <a:xfrm xmlns:a="http://schemas.openxmlformats.org/drawingml/2006/main" rot="0">
            <a:off x="3714750" y="1790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人間の作業データ、テレオペレーション、合成データ、生データの加工。さらに上流では、収集に特化したデバイス開発も広がりはじめている。</a:t>
            </a:r>
          </a:p>
        </p:txBody>
      </p:sp>
      <p:sp>
        <p:nvSpPr>
          <p:cNvPr id="7" name="">
            <a:extLst xmlns:a="http://schemas.openxmlformats.org/drawingml/2006/main">
              <a:ext uri="{FF2B5EF4-FFF2-40B4-BE49-F238E27FC236}">
                <a16:creationId xmlns:a16="http://schemas.microsoft.com/office/drawing/2014/main" id="{CB78B8FD-B387-4500-8562-3DE4BBD8AD36}"/>
              </a:ext>
            </a:extLst>
          </p:cNvPr>
          <p:cNvSpPr>
            <a:spLocks xmlns:a="http://schemas.openxmlformats.org/drawingml/2006/main" noGrp="1"/>
          </p:cNvSpPr>
          <p:nvPr/>
        </p:nvSpPr>
        <p:spPr>
          <a:xfrm xmlns:a="http://schemas.openxmlformats.org/drawingml/2006/main">
            <a:off x="723900" y="2743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19E0728-B9F0-4076-B346-9F54075CB79A}"/>
              </a:ext>
            </a:extLst>
          </p:cNvPr>
          <p:cNvSpPr>
            <a:spLocks xmlns:a="http://schemas.openxmlformats.org/drawingml/2006/main" noGrp="1"/>
          </p:cNvSpPr>
          <p:nvPr/>
        </p:nvSpPr>
        <p:spPr>
          <a:xfrm xmlns:a="http://schemas.openxmlformats.org/drawingml/2006/main" rot="0">
            <a:off x="723900" y="2857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基盤モデル・シミュレーション</a:t>
            </a:r>
          </a:p>
        </p:txBody>
      </p:sp>
      <p:sp>
        <p:nvSpPr>
          <p:cNvPr id="9" name="">
            <a:extLst xmlns:a="http://schemas.openxmlformats.org/drawingml/2006/main">
              <a:ext uri="{FF2B5EF4-FFF2-40B4-BE49-F238E27FC236}">
                <a16:creationId xmlns:a16="http://schemas.microsoft.com/office/drawing/2014/main" id="{29A4918F-1A17-4CD8-96A4-922FC6EBC935}"/>
              </a:ext>
            </a:extLst>
          </p:cNvPr>
          <p:cNvSpPr>
            <a:spLocks xmlns:a="http://schemas.openxmlformats.org/drawingml/2006/main" noGrp="1"/>
          </p:cNvSpPr>
          <p:nvPr/>
        </p:nvSpPr>
        <p:spPr>
          <a:xfrm xmlns:a="http://schemas.openxmlformats.org/drawingml/2006/main" rot="0">
            <a:off x="3714750" y="2838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PIやNVIDIA。近いレイヤーには、現実世界を再現し、必要な実データ量を下げながらモデル開発まで進めるシミュレーション・デジタルツインがある。</a:t>
            </a:r>
          </a:p>
        </p:txBody>
      </p:sp>
      <p:sp>
        <p:nvSpPr>
          <p:cNvPr id="10" name="">
            <a:extLst xmlns:a="http://schemas.openxmlformats.org/drawingml/2006/main">
              <a:ext uri="{FF2B5EF4-FFF2-40B4-BE49-F238E27FC236}">
                <a16:creationId xmlns:a16="http://schemas.microsoft.com/office/drawing/2014/main" id="{AF93BD56-4369-4CDA-87A2-08B7CCD07E86}"/>
              </a:ext>
            </a:extLst>
          </p:cNvPr>
          <p:cNvSpPr>
            <a:spLocks xmlns:a="http://schemas.openxmlformats.org/drawingml/2006/main" noGrp="1"/>
          </p:cNvSpPr>
          <p:nvPr/>
        </p:nvSpPr>
        <p:spPr>
          <a:xfrm xmlns:a="http://schemas.openxmlformats.org/drawingml/2006/main">
            <a:off x="723900" y="38862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7793EFF-0437-4C55-9CD4-D0076F89F186}"/>
              </a:ext>
            </a:extLst>
          </p:cNvPr>
          <p:cNvSpPr>
            <a:spLocks xmlns:a="http://schemas.openxmlformats.org/drawingml/2006/main" noGrp="1"/>
          </p:cNvSpPr>
          <p:nvPr/>
        </p:nvSpPr>
        <p:spPr>
          <a:xfrm xmlns:a="http://schemas.openxmlformats.org/drawingml/2006/main" rot="0">
            <a:off x="723900" y="4000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ハードウェア開発層</a:t>
            </a:r>
          </a:p>
        </p:txBody>
      </p:sp>
      <p:sp>
        <p:nvSpPr>
          <p:cNvPr id="12" name="">
            <a:extLst xmlns:a="http://schemas.openxmlformats.org/drawingml/2006/main">
              <a:ext uri="{FF2B5EF4-FFF2-40B4-BE49-F238E27FC236}">
                <a16:creationId xmlns:a16="http://schemas.microsoft.com/office/drawing/2014/main" id="{8E7651E2-A9B7-44D8-AA84-38E9A1676697}"/>
              </a:ext>
            </a:extLst>
          </p:cNvPr>
          <p:cNvSpPr>
            <a:spLocks xmlns:a="http://schemas.openxmlformats.org/drawingml/2006/main" noGrp="1"/>
          </p:cNvSpPr>
          <p:nvPr/>
        </p:nvSpPr>
        <p:spPr>
          <a:xfrm xmlns:a="http://schemas.openxmlformats.org/drawingml/2006/main" rot="0">
            <a:off x="3714750" y="3981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特に中国系企業が安価なロボットを提供する面で強く、Unitree等が筆頭である。</a:t>
            </a:r>
          </a:p>
        </p:txBody>
      </p:sp>
      <p:sp>
        <p:nvSpPr>
          <p:cNvPr id="13" name="">
            <a:extLst xmlns:a="http://schemas.openxmlformats.org/drawingml/2006/main">
              <a:ext uri="{FF2B5EF4-FFF2-40B4-BE49-F238E27FC236}">
                <a16:creationId xmlns:a16="http://schemas.microsoft.com/office/drawing/2014/main" id="{F4DA1AC9-242B-49FF-B411-4E9397D6CDA7}"/>
              </a:ext>
            </a:extLst>
          </p:cNvPr>
          <p:cNvSpPr>
            <a:spLocks xmlns:a="http://schemas.openxmlformats.org/drawingml/2006/main" noGrp="1"/>
          </p:cNvSpPr>
          <p:nvPr/>
        </p:nvSpPr>
        <p:spPr>
          <a:xfrm xmlns:a="http://schemas.openxmlformats.org/drawingml/2006/main">
            <a:off x="723900" y="47434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D30365B-A6EF-4C0F-A7D9-01A878411F49}"/>
              </a:ext>
            </a:extLst>
          </p:cNvPr>
          <p:cNvSpPr>
            <a:spLocks xmlns:a="http://schemas.openxmlformats.org/drawingml/2006/main" noGrp="1"/>
          </p:cNvSpPr>
          <p:nvPr/>
        </p:nvSpPr>
        <p:spPr>
          <a:xfrm xmlns:a="http://schemas.openxmlformats.org/drawingml/2006/main" rot="0">
            <a:off x="723900" y="4857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現場統合層</a:t>
            </a:r>
          </a:p>
        </p:txBody>
      </p:sp>
      <p:sp>
        <p:nvSpPr>
          <p:cNvPr id="15" name="">
            <a:extLst xmlns:a="http://schemas.openxmlformats.org/drawingml/2006/main">
              <a:ext uri="{FF2B5EF4-FFF2-40B4-BE49-F238E27FC236}">
                <a16:creationId xmlns:a16="http://schemas.microsoft.com/office/drawing/2014/main" id="{AA8E83B8-686D-4F67-97B8-638344BA2D84}"/>
              </a:ext>
            </a:extLst>
          </p:cNvPr>
          <p:cNvSpPr>
            <a:spLocks xmlns:a="http://schemas.openxmlformats.org/drawingml/2006/main" noGrp="1"/>
          </p:cNvSpPr>
          <p:nvPr/>
        </p:nvSpPr>
        <p:spPr>
          <a:xfrm xmlns:a="http://schemas.openxmlformats.org/drawingml/2006/main" rot="0">
            <a:off x="3714750" y="4838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既存のロボットやモデルを積極的に利用し、現場への統合を優先する。国内にもスタートアップが多い。</a:t>
            </a:r>
          </a:p>
        </p:txBody>
      </p:sp>
    </p:spTree>
    <p:extLst>
      <p:ext uri="{BB962C8B-B14F-4D97-AF65-F5344CB8AC3E}">
        <p14:creationId xmlns:p14="http://schemas.microsoft.com/office/powerpoint/2010/main" val="1476315386"/>
      </p:ext>
    </p:extLst>
  </p:cSld>
</p:sld>
</file>

<file path=ppt/slides/slide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47953A4F-E661-45A5-A930-945D9FCDC7E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5EC2EC6-FDE0-4C92-93CC-5D9BAAA9D10B}"/>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私の仮説：現場を含むフィードバックループ</a:t>
            </a:r>
          </a:p>
        </p:txBody>
      </p:sp>
      <p:sp>
        <p:nvSpPr>
          <p:cNvPr id="3" name="">
            <a:extLst xmlns:a="http://schemas.openxmlformats.org/drawingml/2006/main">
              <a:ext uri="{FF2B5EF4-FFF2-40B4-BE49-F238E27FC236}">
                <a16:creationId xmlns:a16="http://schemas.microsoft.com/office/drawing/2014/main" id="{C050F118-6997-442C-8753-6159861BDA81}"/>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EAA4DC4-8E67-4EA3-86FD-E2FDBB65A911}"/>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05</a:t>
            </a:r>
          </a:p>
        </p:txBody>
      </p:sp>
      <p:sp>
        <p:nvSpPr>
          <p:cNvPr id="5" name="">
            <a:extLst xmlns:a="http://schemas.openxmlformats.org/drawingml/2006/main">
              <a:ext uri="{FF2B5EF4-FFF2-40B4-BE49-F238E27FC236}">
                <a16:creationId xmlns:a16="http://schemas.microsoft.com/office/drawing/2014/main" id="{BF83D313-E118-46A6-81EC-CF9FE49894C1}"/>
              </a:ext>
            </a:extLst>
          </p:cNvPr>
          <p:cNvSpPr>
            <a:spLocks xmlns:a="http://schemas.openxmlformats.org/drawingml/2006/main" noGrp="1"/>
          </p:cNvSpPr>
          <p:nvPr/>
        </p:nvSpPr>
        <p:spPr>
          <a:xfrm xmlns:a="http://schemas.openxmlformats.org/drawingml/2006/main" rot="0">
            <a:off x="2590800" y="16859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横幅：接続する現場の範囲</a:t>
            </a:r>
          </a:p>
        </p:txBody>
      </p:sp>
      <p:sp>
        <p:nvSpPr>
          <p:cNvPr id="6" name="">
            <a:extLst xmlns:a="http://schemas.openxmlformats.org/drawingml/2006/main">
              <a:ext uri="{FF2B5EF4-FFF2-40B4-BE49-F238E27FC236}">
                <a16:creationId xmlns:a16="http://schemas.microsoft.com/office/drawing/2014/main" id="{C7350CEC-26F4-433F-A307-830A4A136315}"/>
              </a:ext>
            </a:extLst>
          </p:cNvPr>
          <p:cNvSpPr>
            <a:spLocks xmlns:a="http://schemas.openxmlformats.org/drawingml/2006/main" noGrp="1"/>
          </p:cNvSpPr>
          <p:nvPr/>
        </p:nvSpPr>
        <p:spPr>
          <a:xfrm xmlns:a="http://schemas.openxmlformats.org/drawingml/2006/main">
            <a:off x="2590800" y="2009775"/>
            <a:ext cx="83820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BA19535-A206-4B2A-8BFA-46A14A939906}"/>
              </a:ext>
            </a:extLst>
          </p:cNvPr>
          <p:cNvSpPr>
            <a:spLocks xmlns:a="http://schemas.openxmlformats.org/drawingml/2006/main" noGrp="1"/>
          </p:cNvSpPr>
          <p:nvPr/>
        </p:nvSpPr>
        <p:spPr>
          <a:xfrm xmlns:a="http://schemas.openxmlformats.org/drawingml/2006/main">
            <a:off x="259080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4BBB010-0ECA-4F2B-85EC-C383A5706CB4}"/>
              </a:ext>
            </a:extLst>
          </p:cNvPr>
          <p:cNvSpPr>
            <a:spLocks xmlns:a="http://schemas.openxmlformats.org/drawingml/2006/main" noGrp="1"/>
          </p:cNvSpPr>
          <p:nvPr/>
        </p:nvSpPr>
        <p:spPr>
          <a:xfrm xmlns:a="http://schemas.openxmlformats.org/drawingml/2006/main">
            <a:off x="10953750" y="1952625"/>
            <a:ext cx="19050" cy="1333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BE9FEDE-3434-400C-AB21-1D9152FAB49F}"/>
              </a:ext>
            </a:extLst>
          </p:cNvPr>
          <p:cNvSpPr>
            <a:spLocks xmlns:a="http://schemas.openxmlformats.org/drawingml/2006/main" noGrp="1"/>
          </p:cNvSpPr>
          <p:nvPr/>
        </p:nvSpPr>
        <p:spPr>
          <a:xfrm xmlns:a="http://schemas.openxmlformats.org/drawingml/2006/main">
            <a:off x="2590800" y="23050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0" name="">
            <a:extLst xmlns:a="http://schemas.openxmlformats.org/drawingml/2006/main">
              <a:ext uri="{FF2B5EF4-FFF2-40B4-BE49-F238E27FC236}">
                <a16:creationId xmlns:a16="http://schemas.microsoft.com/office/drawing/2014/main" id="{D86816B6-32DF-4EEB-8523-358C1A632149}"/>
              </a:ext>
            </a:extLst>
          </p:cNvPr>
          <p:cNvSpPr>
            <a:spLocks xmlns:a="http://schemas.openxmlformats.org/drawingml/2006/main" noGrp="1"/>
          </p:cNvSpPr>
          <p:nvPr/>
        </p:nvSpPr>
        <p:spPr>
          <a:xfrm xmlns:a="http://schemas.openxmlformats.org/drawingml/2006/main" rot="0">
            <a:off x="723900" y="24479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データ収集・加工</a:t>
            </a:r>
          </a:p>
        </p:txBody>
      </p:sp>
      <p:sp>
        <p:nvSpPr>
          <p:cNvPr id="11" name="">
            <a:extLst xmlns:a="http://schemas.openxmlformats.org/drawingml/2006/main">
              <a:ext uri="{FF2B5EF4-FFF2-40B4-BE49-F238E27FC236}">
                <a16:creationId xmlns:a16="http://schemas.microsoft.com/office/drawing/2014/main" id="{3305D6A4-936B-458A-981A-1A5B21D0DFCA}"/>
              </a:ext>
            </a:extLst>
          </p:cNvPr>
          <p:cNvSpPr>
            <a:spLocks xmlns:a="http://schemas.openxmlformats.org/drawingml/2006/main" noGrp="1"/>
          </p:cNvSpPr>
          <p:nvPr/>
        </p:nvSpPr>
        <p:spPr>
          <a:xfrm xmlns:a="http://schemas.openxmlformats.org/drawingml/2006/main">
            <a:off x="2590800" y="29908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2" name="">
            <a:extLst xmlns:a="http://schemas.openxmlformats.org/drawingml/2006/main">
              <a:ext uri="{FF2B5EF4-FFF2-40B4-BE49-F238E27FC236}">
                <a16:creationId xmlns:a16="http://schemas.microsoft.com/office/drawing/2014/main" id="{A5891FDB-7BF0-4C50-9508-9384C2B9BB97}"/>
              </a:ext>
            </a:extLst>
          </p:cNvPr>
          <p:cNvSpPr>
            <a:spLocks xmlns:a="http://schemas.openxmlformats.org/drawingml/2006/main" noGrp="1"/>
          </p:cNvSpPr>
          <p:nvPr/>
        </p:nvSpPr>
        <p:spPr>
          <a:xfrm xmlns:a="http://schemas.openxmlformats.org/drawingml/2006/main" rot="0">
            <a:off x="723900" y="3048000"/>
            <a:ext cx="1409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基盤モデル・</a:t>
            </a:r>
          </a:p>
          <a:p xmlns:a="http://schemas.openxmlformats.org/drawingml/2006/main">
            <a:pPr algn="r">
              <a:defRPr sz="1050" b="1">
                <a:solidFill>
                  <a:srgbClr val="58646A"/>
                </a:solidFill>
                <a:latin typeface="Hiragino Sans"/>
                <a:ea typeface="Hiragino Sans"/>
                <a:cs typeface="Hiragino Sans"/>
              </a:defRPr>
            </a:pPr>
            <a:r>
              <a:rPr sz="1050" b="1">
                <a:solidFill>
                  <a:srgbClr val="58646A"/>
                </a:solidFill>
                <a:latin typeface="Hiragino Sans"/>
                <a:ea typeface="Hiragino Sans"/>
                <a:cs typeface="Hiragino Sans"/>
              </a:rPr>
              <a:t>シミュレーション</a:t>
            </a:r>
          </a:p>
        </p:txBody>
      </p:sp>
      <p:sp>
        <p:nvSpPr>
          <p:cNvPr id="13" name="">
            <a:extLst xmlns:a="http://schemas.openxmlformats.org/drawingml/2006/main">
              <a:ext uri="{FF2B5EF4-FFF2-40B4-BE49-F238E27FC236}">
                <a16:creationId xmlns:a16="http://schemas.microsoft.com/office/drawing/2014/main" id="{B17C8012-89B8-4F24-9252-7FF9DB7446D2}"/>
              </a:ext>
            </a:extLst>
          </p:cNvPr>
          <p:cNvSpPr>
            <a:spLocks xmlns:a="http://schemas.openxmlformats.org/drawingml/2006/main" noGrp="1"/>
          </p:cNvSpPr>
          <p:nvPr/>
        </p:nvSpPr>
        <p:spPr>
          <a:xfrm xmlns:a="http://schemas.openxmlformats.org/drawingml/2006/main">
            <a:off x="2590800" y="36766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4" name="">
            <a:extLst xmlns:a="http://schemas.openxmlformats.org/drawingml/2006/main">
              <a:ext uri="{FF2B5EF4-FFF2-40B4-BE49-F238E27FC236}">
                <a16:creationId xmlns:a16="http://schemas.microsoft.com/office/drawing/2014/main" id="{D2960B6D-B89E-4353-B875-F64B23A15E5D}"/>
              </a:ext>
            </a:extLst>
          </p:cNvPr>
          <p:cNvSpPr>
            <a:spLocks xmlns:a="http://schemas.openxmlformats.org/drawingml/2006/main" noGrp="1"/>
          </p:cNvSpPr>
          <p:nvPr/>
        </p:nvSpPr>
        <p:spPr>
          <a:xfrm xmlns:a="http://schemas.openxmlformats.org/drawingml/2006/main" rot="0">
            <a:off x="723900" y="38195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ハードウェア</a:t>
            </a:r>
          </a:p>
        </p:txBody>
      </p:sp>
      <p:sp>
        <p:nvSpPr>
          <p:cNvPr id="15" name="">
            <a:extLst xmlns:a="http://schemas.openxmlformats.org/drawingml/2006/main">
              <a:ext uri="{FF2B5EF4-FFF2-40B4-BE49-F238E27FC236}">
                <a16:creationId xmlns:a16="http://schemas.microsoft.com/office/drawing/2014/main" id="{08886740-EE5C-4475-86CA-E01C7716C338}"/>
              </a:ext>
            </a:extLst>
          </p:cNvPr>
          <p:cNvSpPr>
            <a:spLocks xmlns:a="http://schemas.openxmlformats.org/drawingml/2006/main" noGrp="1"/>
          </p:cNvSpPr>
          <p:nvPr/>
        </p:nvSpPr>
        <p:spPr>
          <a:xfrm xmlns:a="http://schemas.openxmlformats.org/drawingml/2006/main">
            <a:off x="2590800" y="4362450"/>
            <a:ext cx="83820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6" name="">
            <a:extLst xmlns:a="http://schemas.openxmlformats.org/drawingml/2006/main">
              <a:ext uri="{FF2B5EF4-FFF2-40B4-BE49-F238E27FC236}">
                <a16:creationId xmlns:a16="http://schemas.microsoft.com/office/drawing/2014/main" id="{0F2C540A-D092-494C-A22F-773601440F23}"/>
              </a:ext>
            </a:extLst>
          </p:cNvPr>
          <p:cNvSpPr>
            <a:spLocks xmlns:a="http://schemas.openxmlformats.org/drawingml/2006/main" noGrp="1"/>
          </p:cNvSpPr>
          <p:nvPr/>
        </p:nvSpPr>
        <p:spPr>
          <a:xfrm xmlns:a="http://schemas.openxmlformats.org/drawingml/2006/main" rot="0">
            <a:off x="723900" y="450532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200" b="1">
                <a:solidFill>
                  <a:srgbClr val="58646A"/>
                </a:solidFill>
                <a:latin typeface="Hiragino Sans"/>
                <a:ea typeface="Hiragino Sans"/>
                <a:cs typeface="Hiragino Sans"/>
              </a:defRPr>
            </a:pPr>
            <a:r>
              <a:rPr sz="1200" b="1">
                <a:solidFill>
                  <a:srgbClr val="58646A"/>
                </a:solidFill>
                <a:latin typeface="Hiragino Sans"/>
                <a:ea typeface="Hiragino Sans"/>
                <a:cs typeface="Hiragino Sans"/>
              </a:rPr>
              <a:t>現場統合</a:t>
            </a:r>
          </a:p>
        </p:txBody>
      </p:sp>
      <p:sp>
        <p:nvSpPr>
          <p:cNvPr id="17" name="">
            <a:extLst xmlns:a="http://schemas.openxmlformats.org/drawingml/2006/main">
              <a:ext uri="{FF2B5EF4-FFF2-40B4-BE49-F238E27FC236}">
                <a16:creationId xmlns:a16="http://schemas.microsoft.com/office/drawing/2014/main" id="{A06259A6-9FC4-4170-9AA3-C4AFDAA5B03E}"/>
              </a:ext>
            </a:extLst>
          </p:cNvPr>
          <p:cNvSpPr>
            <a:spLocks xmlns:a="http://schemas.openxmlformats.org/drawingml/2006/main" noGrp="1"/>
          </p:cNvSpPr>
          <p:nvPr/>
        </p:nvSpPr>
        <p:spPr>
          <a:xfrm xmlns:a="http://schemas.openxmlformats.org/drawingml/2006/main">
            <a:off x="11191875" y="2305050"/>
            <a:ext cx="19050" cy="26098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12BAAF3-9A63-4EA0-AC5C-BAFF88EE47F1}"/>
              </a:ext>
            </a:extLst>
          </p:cNvPr>
          <p:cNvSpPr>
            <a:spLocks xmlns:a="http://schemas.openxmlformats.org/drawingml/2006/main" noGrp="1"/>
          </p:cNvSpPr>
          <p:nvPr/>
        </p:nvSpPr>
        <p:spPr>
          <a:xfrm xmlns:a="http://schemas.openxmlformats.org/drawingml/2006/main">
            <a:off x="11134725" y="23050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B6E7547-01D5-45DE-AFC6-674A08DF9B58}"/>
              </a:ext>
            </a:extLst>
          </p:cNvPr>
          <p:cNvSpPr>
            <a:spLocks xmlns:a="http://schemas.openxmlformats.org/drawingml/2006/main" noGrp="1"/>
          </p:cNvSpPr>
          <p:nvPr/>
        </p:nvSpPr>
        <p:spPr>
          <a:xfrm xmlns:a="http://schemas.openxmlformats.org/drawingml/2006/main">
            <a:off x="11134725" y="4895850"/>
            <a:ext cx="1333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4F911B4-25CC-4AED-81B5-FEC0E92AB8B0}"/>
              </a:ext>
            </a:extLst>
          </p:cNvPr>
          <p:cNvSpPr>
            <a:spLocks xmlns:a="http://schemas.openxmlformats.org/drawingml/2006/main" noGrp="1"/>
          </p:cNvSpPr>
          <p:nvPr/>
        </p:nvSpPr>
        <p:spPr>
          <a:xfrm xmlns:a="http://schemas.openxmlformats.org/drawingml/2006/main" rot="5400000">
            <a:off x="10668000" y="373380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050" b="1">
                <a:solidFill>
                  <a:srgbClr val="315C78"/>
                </a:solidFill>
                <a:latin typeface="Hiragino Sans"/>
                <a:ea typeface="Hiragino Sans"/>
                <a:cs typeface="Hiragino Sans"/>
              </a:defRPr>
            </a:pPr>
            <a:r>
              <a:rPr sz="1050" b="1">
                <a:solidFill>
                  <a:srgbClr val="315C78"/>
                </a:solidFill>
                <a:latin typeface="Hiragino Sans"/>
                <a:ea typeface="Hiragino Sans"/>
                <a:cs typeface="Hiragino Sans"/>
              </a:rPr>
              <a:t>縦幅：担うレイヤーの範囲</a:t>
            </a:r>
          </a:p>
        </p:txBody>
      </p:sp>
      <p:sp>
        <p:nvSpPr>
          <p:cNvPr id="21" name="">
            <a:extLst xmlns:a="http://schemas.openxmlformats.org/drawingml/2006/main">
              <a:ext uri="{FF2B5EF4-FFF2-40B4-BE49-F238E27FC236}">
                <a16:creationId xmlns:a16="http://schemas.microsoft.com/office/drawing/2014/main" id="{43596FB9-606A-4194-9DE6-F371BF7E94D4}"/>
              </a:ext>
            </a:extLst>
          </p:cNvPr>
          <p:cNvSpPr>
            <a:spLocks xmlns:a="http://schemas.openxmlformats.org/drawingml/2006/main" noGrp="1"/>
          </p:cNvSpPr>
          <p:nvPr/>
        </p:nvSpPr>
        <p:spPr>
          <a:xfrm xmlns:a="http://schemas.openxmlformats.org/drawingml/2006/main" rot="0">
            <a:off x="723900" y="53530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75" b="1">
                <a:solidFill>
                  <a:srgbClr val="58646A"/>
                </a:solidFill>
                <a:latin typeface="Hiragino Sans"/>
                <a:ea typeface="Hiragino Sans"/>
                <a:cs typeface="Hiragino Sans"/>
              </a:defRPr>
            </a:pPr>
            <a:r>
              <a:rPr sz="1275" b="1">
                <a:solidFill>
                  <a:srgbClr val="58646A"/>
                </a:solidFill>
                <a:latin typeface="Hiragino Sans"/>
                <a:ea typeface="Hiragino Sans"/>
                <a:cs typeface="Hiragino Sans"/>
              </a:rPr>
              <a:t>現場</a:t>
            </a:r>
          </a:p>
        </p:txBody>
      </p:sp>
      <p:sp>
        <p:nvSpPr>
          <p:cNvPr id="22" name="">
            <a:extLst xmlns:a="http://schemas.openxmlformats.org/drawingml/2006/main">
              <a:ext uri="{FF2B5EF4-FFF2-40B4-BE49-F238E27FC236}">
                <a16:creationId xmlns:a16="http://schemas.microsoft.com/office/drawing/2014/main" id="{3C0A9DD3-549F-4283-9111-88FE12B48A64}"/>
              </a:ext>
            </a:extLst>
          </p:cNvPr>
          <p:cNvSpPr>
            <a:spLocks xmlns:a="http://schemas.openxmlformats.org/drawingml/2006/main" noGrp="1"/>
          </p:cNvSpPr>
          <p:nvPr/>
        </p:nvSpPr>
        <p:spPr>
          <a:xfrm xmlns:a="http://schemas.openxmlformats.org/drawingml/2006/main">
            <a:off x="2590800" y="5257800"/>
            <a:ext cx="8382000" cy="49530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2CA06FF3-24FB-42CC-80D2-610EDCC2CD71}"/>
              </a:ext>
            </a:extLst>
          </p:cNvPr>
          <p:cNvSpPr>
            <a:spLocks xmlns:a="http://schemas.openxmlformats.org/drawingml/2006/main" noGrp="1"/>
          </p:cNvSpPr>
          <p:nvPr/>
        </p:nvSpPr>
        <p:spPr>
          <a:xfrm xmlns:a="http://schemas.openxmlformats.org/drawingml/2006/main" rot="0">
            <a:off x="2590800" y="53816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iragino Sans"/>
                <a:ea typeface="Hiragino Sans"/>
                <a:cs typeface="Hiragino Sans"/>
              </a:defRPr>
            </a:pPr>
            <a:r>
              <a:rPr sz="1200" b="1">
                <a:solidFill>
                  <a:srgbClr val="FFFFFF"/>
                </a:solidFill>
                <a:latin typeface="Hiragino Sans"/>
                <a:ea typeface="Hiragino Sans"/>
                <a:cs typeface="Hiragino Sans"/>
              </a:rPr>
              <a:t>飲食　　小売　　製造　　物流　　建築　　医療　　その他の現場</a:t>
            </a:r>
          </a:p>
        </p:txBody>
      </p:sp>
      <p:sp>
        <p:nvSpPr>
          <p:cNvPr id="24" name="">
            <a:extLst xmlns:a="http://schemas.openxmlformats.org/drawingml/2006/main">
              <a:ext uri="{FF2B5EF4-FFF2-40B4-BE49-F238E27FC236}">
                <a16:creationId xmlns:a16="http://schemas.microsoft.com/office/drawing/2014/main" id="{D5A7F799-BB8F-43D3-97AD-D0E9517529F9}"/>
              </a:ext>
            </a:extLst>
          </p:cNvPr>
          <p:cNvSpPr>
            <a:spLocks xmlns:a="http://schemas.openxmlformats.org/drawingml/2006/main" noGrp="1"/>
          </p:cNvSpPr>
          <p:nvPr/>
        </p:nvSpPr>
        <p:spPr>
          <a:xfrm xmlns:a="http://schemas.openxmlformats.org/drawingml/2006/main">
            <a:off x="2990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5A5E27A7-EA1E-4711-A2DB-B507E5881684}"/>
              </a:ext>
            </a:extLst>
          </p:cNvPr>
          <p:cNvSpPr>
            <a:spLocks xmlns:a="http://schemas.openxmlformats.org/drawingml/2006/main" noGrp="1"/>
          </p:cNvSpPr>
          <p:nvPr/>
        </p:nvSpPr>
        <p:spPr>
          <a:xfrm xmlns:a="http://schemas.openxmlformats.org/drawingml/2006/main">
            <a:off x="2990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25D16989-D846-4DCA-82F8-D53F562E6D67}"/>
              </a:ext>
            </a:extLst>
          </p:cNvPr>
          <p:cNvSpPr>
            <a:spLocks xmlns:a="http://schemas.openxmlformats.org/drawingml/2006/main" noGrp="1"/>
          </p:cNvSpPr>
          <p:nvPr/>
        </p:nvSpPr>
        <p:spPr>
          <a:xfrm xmlns:a="http://schemas.openxmlformats.org/drawingml/2006/main">
            <a:off x="3181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FE883062-A538-403F-BE7A-960CD2F466A5}"/>
              </a:ext>
            </a:extLst>
          </p:cNvPr>
          <p:cNvSpPr>
            <a:spLocks xmlns:a="http://schemas.openxmlformats.org/drawingml/2006/main" noGrp="1"/>
          </p:cNvSpPr>
          <p:nvPr/>
        </p:nvSpPr>
        <p:spPr>
          <a:xfrm xmlns:a="http://schemas.openxmlformats.org/drawingml/2006/main">
            <a:off x="3181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4A2367D-592E-46C9-81D8-9C19C9807493}"/>
              </a:ext>
            </a:extLst>
          </p:cNvPr>
          <p:cNvSpPr>
            <a:spLocks xmlns:a="http://schemas.openxmlformats.org/drawingml/2006/main" noGrp="1"/>
          </p:cNvSpPr>
          <p:nvPr/>
        </p:nvSpPr>
        <p:spPr>
          <a:xfrm xmlns:a="http://schemas.openxmlformats.org/drawingml/2006/main">
            <a:off x="3371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E516259C-22A3-48F9-87D2-0A7DAEFDAC99}"/>
              </a:ext>
            </a:extLst>
          </p:cNvPr>
          <p:cNvSpPr>
            <a:spLocks xmlns:a="http://schemas.openxmlformats.org/drawingml/2006/main" noGrp="1"/>
          </p:cNvSpPr>
          <p:nvPr/>
        </p:nvSpPr>
        <p:spPr>
          <a:xfrm xmlns:a="http://schemas.openxmlformats.org/drawingml/2006/main">
            <a:off x="3371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CBDDCF6C-595C-4E37-9957-E6BD98B5CB16}"/>
              </a:ext>
            </a:extLst>
          </p:cNvPr>
          <p:cNvSpPr>
            <a:spLocks xmlns:a="http://schemas.openxmlformats.org/drawingml/2006/main" noGrp="1"/>
          </p:cNvSpPr>
          <p:nvPr/>
        </p:nvSpPr>
        <p:spPr>
          <a:xfrm xmlns:a="http://schemas.openxmlformats.org/drawingml/2006/main">
            <a:off x="3562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27FF7D6C-0A47-442E-9EF0-D2A96AF62241}"/>
              </a:ext>
            </a:extLst>
          </p:cNvPr>
          <p:cNvSpPr>
            <a:spLocks xmlns:a="http://schemas.openxmlformats.org/drawingml/2006/main" noGrp="1"/>
          </p:cNvSpPr>
          <p:nvPr/>
        </p:nvSpPr>
        <p:spPr>
          <a:xfrm xmlns:a="http://schemas.openxmlformats.org/drawingml/2006/main">
            <a:off x="3562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620ECABD-3F19-4543-B055-02CF78A6EAD1}"/>
              </a:ext>
            </a:extLst>
          </p:cNvPr>
          <p:cNvSpPr>
            <a:spLocks xmlns:a="http://schemas.openxmlformats.org/drawingml/2006/main" noGrp="1"/>
          </p:cNvSpPr>
          <p:nvPr/>
        </p:nvSpPr>
        <p:spPr>
          <a:xfrm xmlns:a="http://schemas.openxmlformats.org/drawingml/2006/main">
            <a:off x="3752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FB8339FF-9F70-4ADE-83F9-9D7BB14EB7BE}"/>
              </a:ext>
            </a:extLst>
          </p:cNvPr>
          <p:cNvSpPr>
            <a:spLocks xmlns:a="http://schemas.openxmlformats.org/drawingml/2006/main" noGrp="1"/>
          </p:cNvSpPr>
          <p:nvPr/>
        </p:nvSpPr>
        <p:spPr>
          <a:xfrm xmlns:a="http://schemas.openxmlformats.org/drawingml/2006/main">
            <a:off x="3752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9D9ED7D2-F5E5-4948-A685-F5DDEC9F9EEF}"/>
              </a:ext>
            </a:extLst>
          </p:cNvPr>
          <p:cNvSpPr>
            <a:spLocks xmlns:a="http://schemas.openxmlformats.org/drawingml/2006/main" noGrp="1"/>
          </p:cNvSpPr>
          <p:nvPr/>
        </p:nvSpPr>
        <p:spPr>
          <a:xfrm xmlns:a="http://schemas.openxmlformats.org/drawingml/2006/main">
            <a:off x="3943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5181AC44-5ED7-4B44-A2C1-F4355020AF2D}"/>
              </a:ext>
            </a:extLst>
          </p:cNvPr>
          <p:cNvSpPr>
            <a:spLocks xmlns:a="http://schemas.openxmlformats.org/drawingml/2006/main" noGrp="1"/>
          </p:cNvSpPr>
          <p:nvPr/>
        </p:nvSpPr>
        <p:spPr>
          <a:xfrm xmlns:a="http://schemas.openxmlformats.org/drawingml/2006/main">
            <a:off x="3943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1C7833F8-477E-4EF4-A751-8D90221B503A}"/>
              </a:ext>
            </a:extLst>
          </p:cNvPr>
          <p:cNvSpPr>
            <a:spLocks xmlns:a="http://schemas.openxmlformats.org/drawingml/2006/main" noGrp="1"/>
          </p:cNvSpPr>
          <p:nvPr/>
        </p:nvSpPr>
        <p:spPr>
          <a:xfrm xmlns:a="http://schemas.openxmlformats.org/drawingml/2006/main">
            <a:off x="4133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8867768F-34B1-46B8-8A94-D0773A29A6CA}"/>
              </a:ext>
            </a:extLst>
          </p:cNvPr>
          <p:cNvSpPr>
            <a:spLocks xmlns:a="http://schemas.openxmlformats.org/drawingml/2006/main" noGrp="1"/>
          </p:cNvSpPr>
          <p:nvPr/>
        </p:nvSpPr>
        <p:spPr>
          <a:xfrm xmlns:a="http://schemas.openxmlformats.org/drawingml/2006/main">
            <a:off x="4133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B7D1A664-ED0E-4FD3-B6EE-1C919AB35B84}"/>
              </a:ext>
            </a:extLst>
          </p:cNvPr>
          <p:cNvSpPr>
            <a:spLocks xmlns:a="http://schemas.openxmlformats.org/drawingml/2006/main" noGrp="1"/>
          </p:cNvSpPr>
          <p:nvPr/>
        </p:nvSpPr>
        <p:spPr>
          <a:xfrm xmlns:a="http://schemas.openxmlformats.org/drawingml/2006/main">
            <a:off x="4324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9E8AE1B0-9D6E-459D-B575-1871919CAFA3}"/>
              </a:ext>
            </a:extLst>
          </p:cNvPr>
          <p:cNvSpPr>
            <a:spLocks xmlns:a="http://schemas.openxmlformats.org/drawingml/2006/main" noGrp="1"/>
          </p:cNvSpPr>
          <p:nvPr/>
        </p:nvSpPr>
        <p:spPr>
          <a:xfrm xmlns:a="http://schemas.openxmlformats.org/drawingml/2006/main">
            <a:off x="4324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A9BF7A8D-7CA3-413C-9B73-20F0739DE2C3}"/>
              </a:ext>
            </a:extLst>
          </p:cNvPr>
          <p:cNvSpPr>
            <a:spLocks xmlns:a="http://schemas.openxmlformats.org/drawingml/2006/main" noGrp="1"/>
          </p:cNvSpPr>
          <p:nvPr/>
        </p:nvSpPr>
        <p:spPr>
          <a:xfrm xmlns:a="http://schemas.openxmlformats.org/drawingml/2006/main">
            <a:off x="4514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42B4EE74-D1FF-4F1C-B6F8-41F5D33D226B}"/>
              </a:ext>
            </a:extLst>
          </p:cNvPr>
          <p:cNvSpPr>
            <a:spLocks xmlns:a="http://schemas.openxmlformats.org/drawingml/2006/main" noGrp="1"/>
          </p:cNvSpPr>
          <p:nvPr/>
        </p:nvSpPr>
        <p:spPr>
          <a:xfrm xmlns:a="http://schemas.openxmlformats.org/drawingml/2006/main">
            <a:off x="4514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53B2A2FC-D38F-4801-A115-7A8C4394DFAF}"/>
              </a:ext>
            </a:extLst>
          </p:cNvPr>
          <p:cNvSpPr>
            <a:spLocks xmlns:a="http://schemas.openxmlformats.org/drawingml/2006/main" noGrp="1"/>
          </p:cNvSpPr>
          <p:nvPr/>
        </p:nvSpPr>
        <p:spPr>
          <a:xfrm xmlns:a="http://schemas.openxmlformats.org/drawingml/2006/main">
            <a:off x="4705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8F98AB48-28AD-4666-AB3D-A8F710E47A81}"/>
              </a:ext>
            </a:extLst>
          </p:cNvPr>
          <p:cNvSpPr>
            <a:spLocks xmlns:a="http://schemas.openxmlformats.org/drawingml/2006/main" noGrp="1"/>
          </p:cNvSpPr>
          <p:nvPr/>
        </p:nvSpPr>
        <p:spPr>
          <a:xfrm xmlns:a="http://schemas.openxmlformats.org/drawingml/2006/main">
            <a:off x="4705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00001C0F-EB20-4A4C-B814-D5BDA9EC84E7}"/>
              </a:ext>
            </a:extLst>
          </p:cNvPr>
          <p:cNvSpPr>
            <a:spLocks xmlns:a="http://schemas.openxmlformats.org/drawingml/2006/main" noGrp="1"/>
          </p:cNvSpPr>
          <p:nvPr/>
        </p:nvSpPr>
        <p:spPr>
          <a:xfrm xmlns:a="http://schemas.openxmlformats.org/drawingml/2006/main">
            <a:off x="48958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D7391BC5-64F7-4B6A-B96F-9F66CCE072EE}"/>
              </a:ext>
            </a:extLst>
          </p:cNvPr>
          <p:cNvSpPr>
            <a:spLocks xmlns:a="http://schemas.openxmlformats.org/drawingml/2006/main" noGrp="1"/>
          </p:cNvSpPr>
          <p:nvPr/>
        </p:nvSpPr>
        <p:spPr>
          <a:xfrm xmlns:a="http://schemas.openxmlformats.org/drawingml/2006/main">
            <a:off x="48958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50B79DA5-9632-4AA9-9B5A-50DEE16C2053}"/>
              </a:ext>
            </a:extLst>
          </p:cNvPr>
          <p:cNvSpPr>
            <a:spLocks xmlns:a="http://schemas.openxmlformats.org/drawingml/2006/main" noGrp="1"/>
          </p:cNvSpPr>
          <p:nvPr/>
        </p:nvSpPr>
        <p:spPr>
          <a:xfrm xmlns:a="http://schemas.openxmlformats.org/drawingml/2006/main">
            <a:off x="5086350" y="23050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4FD9A148-B123-46DD-8BA4-69122544E4FE}"/>
              </a:ext>
            </a:extLst>
          </p:cNvPr>
          <p:cNvSpPr>
            <a:spLocks xmlns:a="http://schemas.openxmlformats.org/drawingml/2006/main" noGrp="1"/>
          </p:cNvSpPr>
          <p:nvPr/>
        </p:nvSpPr>
        <p:spPr>
          <a:xfrm xmlns:a="http://schemas.openxmlformats.org/drawingml/2006/main">
            <a:off x="5086350" y="2838450"/>
            <a:ext cx="1143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0BF9372E-EC89-4A41-BDA9-814E3D565E94}"/>
              </a:ext>
            </a:extLst>
          </p:cNvPr>
          <p:cNvSpPr>
            <a:spLocks xmlns:a="http://schemas.openxmlformats.org/drawingml/2006/main" noGrp="1"/>
          </p:cNvSpPr>
          <p:nvPr/>
        </p:nvSpPr>
        <p:spPr>
          <a:xfrm xmlns:a="http://schemas.openxmlformats.org/drawingml/2006/main">
            <a:off x="5276850" y="23050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140D5048-A910-4C40-9FE4-1F1C0A9B63D3}"/>
              </a:ext>
            </a:extLst>
          </p:cNvPr>
          <p:cNvSpPr>
            <a:spLocks xmlns:a="http://schemas.openxmlformats.org/drawingml/2006/main" noGrp="1"/>
          </p:cNvSpPr>
          <p:nvPr/>
        </p:nvSpPr>
        <p:spPr>
          <a:xfrm xmlns:a="http://schemas.openxmlformats.org/drawingml/2006/main">
            <a:off x="5276850" y="2838450"/>
            <a:ext cx="9525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A929596F-9E3C-43BC-BD80-3207DACE7CA5}"/>
              </a:ext>
            </a:extLst>
          </p:cNvPr>
          <p:cNvSpPr>
            <a:spLocks xmlns:a="http://schemas.openxmlformats.org/drawingml/2006/main" noGrp="1"/>
          </p:cNvSpPr>
          <p:nvPr/>
        </p:nvSpPr>
        <p:spPr>
          <a:xfrm xmlns:a="http://schemas.openxmlformats.org/drawingml/2006/main">
            <a:off x="2990850" y="2305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272BC466-41BE-4977-B154-CA65ED9D2B8E}"/>
              </a:ext>
            </a:extLst>
          </p:cNvPr>
          <p:cNvSpPr>
            <a:spLocks xmlns:a="http://schemas.openxmlformats.org/drawingml/2006/main" noGrp="1"/>
          </p:cNvSpPr>
          <p:nvPr/>
        </p:nvSpPr>
        <p:spPr>
          <a:xfrm xmlns:a="http://schemas.openxmlformats.org/drawingml/2006/main">
            <a:off x="5353050" y="2305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BF1ABF29-C56E-4E56-9FBE-3FB5F52618D5}"/>
              </a:ext>
            </a:extLst>
          </p:cNvPr>
          <p:cNvSpPr>
            <a:spLocks xmlns:a="http://schemas.openxmlformats.org/drawingml/2006/main" noGrp="1"/>
          </p:cNvSpPr>
          <p:nvPr/>
        </p:nvSpPr>
        <p:spPr>
          <a:xfrm xmlns:a="http://schemas.openxmlformats.org/drawingml/2006/main">
            <a:off x="2990850" y="24955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DFD9C594-4EAD-4134-B485-6045B4BD9AC1}"/>
              </a:ext>
            </a:extLst>
          </p:cNvPr>
          <p:cNvSpPr>
            <a:spLocks xmlns:a="http://schemas.openxmlformats.org/drawingml/2006/main" noGrp="1"/>
          </p:cNvSpPr>
          <p:nvPr/>
        </p:nvSpPr>
        <p:spPr>
          <a:xfrm xmlns:a="http://schemas.openxmlformats.org/drawingml/2006/main">
            <a:off x="5353050" y="24955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C7E4A61D-A3F9-43BC-857A-258D7F848555}"/>
              </a:ext>
            </a:extLst>
          </p:cNvPr>
          <p:cNvSpPr>
            <a:spLocks xmlns:a="http://schemas.openxmlformats.org/drawingml/2006/main" noGrp="1"/>
          </p:cNvSpPr>
          <p:nvPr/>
        </p:nvSpPr>
        <p:spPr>
          <a:xfrm xmlns:a="http://schemas.openxmlformats.org/drawingml/2006/main">
            <a:off x="2990850" y="2686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0715FE9A-4AFA-47D0-871B-C4E1049267AC}"/>
              </a:ext>
            </a:extLst>
          </p:cNvPr>
          <p:cNvSpPr>
            <a:spLocks xmlns:a="http://schemas.openxmlformats.org/drawingml/2006/main" noGrp="1"/>
          </p:cNvSpPr>
          <p:nvPr/>
        </p:nvSpPr>
        <p:spPr>
          <a:xfrm xmlns:a="http://schemas.openxmlformats.org/drawingml/2006/main">
            <a:off x="5353050" y="2686050"/>
            <a:ext cx="19050" cy="1143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511DF5AD-4224-410D-A590-86F20AD6CF2B}"/>
              </a:ext>
            </a:extLst>
          </p:cNvPr>
          <p:cNvSpPr>
            <a:spLocks xmlns:a="http://schemas.openxmlformats.org/drawingml/2006/main" noGrp="1"/>
          </p:cNvSpPr>
          <p:nvPr/>
        </p:nvSpPr>
        <p:spPr>
          <a:xfrm xmlns:a="http://schemas.openxmlformats.org/drawingml/2006/main">
            <a:off x="2990850" y="2990850"/>
            <a:ext cx="2381250" cy="1924050"/>
          </a:xfrm>
          <a:prstGeom xmlns:a="http://schemas.openxmlformats.org/drawingml/2006/main" prst="rect">
            <a:avLst/>
          </a:prstGeom>
          <a:solidFill xmlns:a="http://schemas.openxmlformats.org/drawingml/2006/main">
            <a:srgbClr val="DCE8EF"/>
          </a:solidFill>
          <a:ln xmlns:a="http://schemas.openxmlformats.org/drawingml/2006/main" w="19050">
            <a:solidFill>
              <a:srgbClr val="315C78"/>
            </a:solidFill>
          </a:ln>
        </p:spPr>
      </p:sp>
      <p:sp>
        <p:nvSpPr>
          <p:cNvPr id="57" name="">
            <a:extLst xmlns:a="http://schemas.openxmlformats.org/drawingml/2006/main">
              <a:ext uri="{FF2B5EF4-FFF2-40B4-BE49-F238E27FC236}">
                <a16:creationId xmlns:a16="http://schemas.microsoft.com/office/drawing/2014/main" id="{AA93D2D8-D5B3-4817-91C9-9BD9F0941DAF}"/>
              </a:ext>
            </a:extLst>
          </p:cNvPr>
          <p:cNvSpPr>
            <a:spLocks xmlns:a="http://schemas.openxmlformats.org/drawingml/2006/main" noGrp="1"/>
          </p:cNvSpPr>
          <p:nvPr/>
        </p:nvSpPr>
        <p:spPr>
          <a:xfrm xmlns:a="http://schemas.openxmlformats.org/drawingml/2006/main" rot="0">
            <a:off x="3181350" y="3143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モデル開発</a:t>
            </a:r>
          </a:p>
        </p:txBody>
      </p:sp>
      <p:sp>
        <p:nvSpPr>
          <p:cNvPr id="58" name="">
            <a:extLst xmlns:a="http://schemas.openxmlformats.org/drawingml/2006/main">
              <a:ext uri="{FF2B5EF4-FFF2-40B4-BE49-F238E27FC236}">
                <a16:creationId xmlns:a16="http://schemas.microsoft.com/office/drawing/2014/main" id="{E2F99F72-C36A-42E0-BC3A-42F1E76A0402}"/>
              </a:ext>
            </a:extLst>
          </p:cNvPr>
          <p:cNvSpPr>
            <a:spLocks xmlns:a="http://schemas.openxmlformats.org/drawingml/2006/main" noGrp="1"/>
          </p:cNvSpPr>
          <p:nvPr/>
        </p:nvSpPr>
        <p:spPr>
          <a:xfrm xmlns:a="http://schemas.openxmlformats.org/drawingml/2006/main" rot="0">
            <a:off x="3181350" y="38290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ハードウェア開発</a:t>
            </a:r>
          </a:p>
        </p:txBody>
      </p:sp>
      <p:sp>
        <p:nvSpPr>
          <p:cNvPr id="59" name="">
            <a:extLst xmlns:a="http://schemas.openxmlformats.org/drawingml/2006/main">
              <a:ext uri="{FF2B5EF4-FFF2-40B4-BE49-F238E27FC236}">
                <a16:creationId xmlns:a16="http://schemas.microsoft.com/office/drawing/2014/main" id="{6568D05C-C873-479B-BED5-15DD7EFBB714}"/>
              </a:ext>
            </a:extLst>
          </p:cNvPr>
          <p:cNvSpPr>
            <a:spLocks xmlns:a="http://schemas.openxmlformats.org/drawingml/2006/main" noGrp="1"/>
          </p:cNvSpPr>
          <p:nvPr/>
        </p:nvSpPr>
        <p:spPr>
          <a:xfrm xmlns:a="http://schemas.openxmlformats.org/drawingml/2006/main" rot="0">
            <a:off x="3181350" y="45148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現場統合</a:t>
            </a:r>
          </a:p>
        </p:txBody>
      </p:sp>
      <p:sp>
        <p:nvSpPr>
          <p:cNvPr id="60" name="">
            <a:extLst xmlns:a="http://schemas.openxmlformats.org/drawingml/2006/main">
              <a:ext uri="{FF2B5EF4-FFF2-40B4-BE49-F238E27FC236}">
                <a16:creationId xmlns:a16="http://schemas.microsoft.com/office/drawing/2014/main" id="{4F6DD1D9-D986-497D-8CC3-97F5291643FC}"/>
              </a:ext>
            </a:extLst>
          </p:cNvPr>
          <p:cNvSpPr>
            <a:spLocks xmlns:a="http://schemas.openxmlformats.org/drawingml/2006/main" noGrp="1"/>
          </p:cNvSpPr>
          <p:nvPr/>
        </p:nvSpPr>
        <p:spPr>
          <a:xfrm xmlns:a="http://schemas.openxmlformats.org/drawingml/2006/main">
            <a:off x="5372100" y="3257550"/>
            <a:ext cx="3429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9C06150D-8D8C-4788-8127-766DE160DB92}"/>
              </a:ext>
            </a:extLst>
          </p:cNvPr>
          <p:cNvSpPr>
            <a:spLocks xmlns:a="http://schemas.openxmlformats.org/drawingml/2006/main" noGrp="1"/>
          </p:cNvSpPr>
          <p:nvPr/>
        </p:nvSpPr>
        <p:spPr>
          <a:xfrm xmlns:a="http://schemas.openxmlformats.org/drawingml/2006/main">
            <a:off x="5695950" y="3257550"/>
            <a:ext cx="19050" cy="13716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2" name="">
            <a:extLst xmlns:a="http://schemas.openxmlformats.org/drawingml/2006/main">
              <a:ext uri="{FF2B5EF4-FFF2-40B4-BE49-F238E27FC236}">
                <a16:creationId xmlns:a16="http://schemas.microsoft.com/office/drawing/2014/main" id="{AB1279DF-7E7B-4E76-B002-3F74AE02CFA3}"/>
              </a:ext>
            </a:extLst>
          </p:cNvPr>
          <p:cNvSpPr>
            <a:spLocks xmlns:a="http://schemas.openxmlformats.org/drawingml/2006/main" noGrp="1"/>
          </p:cNvSpPr>
          <p:nvPr/>
        </p:nvSpPr>
        <p:spPr>
          <a:xfrm xmlns:a="http://schemas.openxmlformats.org/drawingml/2006/main">
            <a:off x="5372100" y="4629150"/>
            <a:ext cx="342900"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942A9091-02D8-45CD-BC34-41669B32FE18}"/>
              </a:ext>
            </a:extLst>
          </p:cNvPr>
          <p:cNvSpPr>
            <a:spLocks xmlns:a="http://schemas.openxmlformats.org/drawingml/2006/main" noGrp="1"/>
          </p:cNvSpPr>
          <p:nvPr/>
        </p:nvSpPr>
        <p:spPr>
          <a:xfrm xmlns:a="http://schemas.openxmlformats.org/drawingml/2006/main" rot="0">
            <a:off x="5867400" y="3457575"/>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現場で得たデータを戻す</a:t>
            </a:r>
          </a:p>
        </p:txBody>
      </p:sp>
      <p:sp>
        <p:nvSpPr>
          <p:cNvPr id="64" name="">
            <a:extLst xmlns:a="http://schemas.openxmlformats.org/drawingml/2006/main">
              <a:ext uri="{FF2B5EF4-FFF2-40B4-BE49-F238E27FC236}">
                <a16:creationId xmlns:a16="http://schemas.microsoft.com/office/drawing/2014/main" id="{38E26636-7DAA-4AB4-87DF-906AFA17176C}"/>
              </a:ext>
            </a:extLst>
          </p:cNvPr>
          <p:cNvSpPr>
            <a:spLocks xmlns:a="http://schemas.openxmlformats.org/drawingml/2006/main" noGrp="1"/>
          </p:cNvSpPr>
          <p:nvPr/>
        </p:nvSpPr>
        <p:spPr>
          <a:xfrm xmlns:a="http://schemas.openxmlformats.org/drawingml/2006/main" rot="0">
            <a:off x="6019800" y="451485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8646A"/>
                </a:solidFill>
                <a:latin typeface="Hiragino Sans"/>
                <a:ea typeface="Hiragino Sans"/>
                <a:cs typeface="Hiragino Sans"/>
              </a:defRPr>
            </a:pPr>
            <a:r>
              <a:rPr sz="1125" b="1">
                <a:solidFill>
                  <a:srgbClr val="58646A"/>
                </a:solidFill>
                <a:latin typeface="Hiragino Sans"/>
                <a:ea typeface="Hiragino Sans"/>
                <a:cs typeface="Hiragino Sans"/>
              </a:rPr>
              <a:t>現場で稼働</a:t>
            </a:r>
          </a:p>
        </p:txBody>
      </p:sp>
    </p:spTree>
    <p:extLst>
      <p:ext uri="{BB962C8B-B14F-4D97-AF65-F5344CB8AC3E}">
        <p14:creationId xmlns:p14="http://schemas.microsoft.com/office/powerpoint/2010/main" val="549032634"/>
      </p:ext>
    </p:extLst>
  </p:cSld>
</p:sld>
</file>

<file path=ppt/slides/slide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AA741F5-0524-49FC-BB33-5164FC0978F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A2016D1-01B5-40D6-B5BD-7E47CCB1D5D1}"/>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データ収集は、将来このループの中に吸収される</a:t>
            </a:r>
          </a:p>
        </p:txBody>
      </p:sp>
      <p:sp>
        <p:nvSpPr>
          <p:cNvPr id="3" name="">
            <a:extLst xmlns:a="http://schemas.openxmlformats.org/drawingml/2006/main">
              <a:ext uri="{FF2B5EF4-FFF2-40B4-BE49-F238E27FC236}">
                <a16:creationId xmlns:a16="http://schemas.microsoft.com/office/drawing/2014/main" id="{B2F8591F-4539-4820-9730-042E168E05AA}"/>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AE69C3C-852A-4597-ABAF-711D9AE36055}"/>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06</a:t>
            </a:r>
          </a:p>
        </p:txBody>
      </p:sp>
      <p:sp>
        <p:nvSpPr>
          <p:cNvPr id="5" name="">
            <a:extLst xmlns:a="http://schemas.openxmlformats.org/drawingml/2006/main">
              <a:ext uri="{FF2B5EF4-FFF2-40B4-BE49-F238E27FC236}">
                <a16:creationId xmlns:a16="http://schemas.microsoft.com/office/drawing/2014/main" id="{04214327-30EB-4348-BBED-56E471E8EBD6}"/>
              </a:ext>
            </a:extLst>
          </p:cNvPr>
          <p:cNvSpPr>
            <a:spLocks xmlns:a="http://schemas.openxmlformats.org/drawingml/2006/main" noGrp="1"/>
          </p:cNvSpPr>
          <p:nvPr/>
        </p:nvSpPr>
        <p:spPr>
          <a:xfrm xmlns:a="http://schemas.openxmlformats.org/drawingml/2006/main" rot="0">
            <a:off x="723900" y="2000250"/>
            <a:ext cx="1000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15191B"/>
                </a:solidFill>
                <a:latin typeface="Hiragino Sans"/>
                <a:ea typeface="Hiragino Sans"/>
                <a:cs typeface="Hiragino Sans"/>
              </a:defRPr>
            </a:pPr>
            <a:r>
              <a:rPr sz="1950" b="1">
                <a:solidFill>
                  <a:srgbClr val="15191B"/>
                </a:solidFill>
                <a:latin typeface="Hiragino Sans"/>
                <a:ea typeface="Hiragino Sans"/>
                <a:cs typeface="Hiragino Sans"/>
              </a:rPr>
              <a:t>ロボットシステムのフィードバックループは、モデル開発・ハードウェア開発・現場統合の3つで完結する。</a:t>
            </a:r>
          </a:p>
        </p:txBody>
      </p:sp>
      <p:sp>
        <p:nvSpPr>
          <p:cNvPr id="6" name="">
            <a:extLst xmlns:a="http://schemas.openxmlformats.org/drawingml/2006/main">
              <a:ext uri="{FF2B5EF4-FFF2-40B4-BE49-F238E27FC236}">
                <a16:creationId xmlns:a16="http://schemas.microsoft.com/office/drawing/2014/main" id="{93B8B0E5-D15C-4D14-A785-B48039167BC5}"/>
              </a:ext>
            </a:extLst>
          </p:cNvPr>
          <p:cNvSpPr>
            <a:spLocks xmlns:a="http://schemas.openxmlformats.org/drawingml/2006/main" noGrp="1"/>
          </p:cNvSpPr>
          <p:nvPr/>
        </p:nvSpPr>
        <p:spPr>
          <a:xfrm xmlns:a="http://schemas.openxmlformats.org/drawingml/2006/main">
            <a:off x="723900" y="2905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42B3657-12B7-443F-AF66-2B213AE25BD5}"/>
              </a:ext>
            </a:extLst>
          </p:cNvPr>
          <p:cNvSpPr>
            <a:spLocks xmlns:a="http://schemas.openxmlformats.org/drawingml/2006/main" noGrp="1"/>
          </p:cNvSpPr>
          <p:nvPr/>
        </p:nvSpPr>
        <p:spPr>
          <a:xfrm xmlns:a="http://schemas.openxmlformats.org/drawingml/2006/main" rot="0">
            <a:off x="723900" y="3238500"/>
            <a:ext cx="10572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現場に統合されたロボットの実機が稼働すること自体が、データ収集になる。フィジカルAIが物理世界に投入されはじめた瞬間から、データは「外部の企業がわざわざ収集するもの」から「ロボットの稼働を通じて自動的に蓄積されるもの」に変わる。</a:t>
            </a:r>
          </a:p>
        </p:txBody>
      </p:sp>
      <p:sp>
        <p:nvSpPr>
          <p:cNvPr id="8" name="">
            <a:extLst xmlns:a="http://schemas.openxmlformats.org/drawingml/2006/main">
              <a:ext uri="{FF2B5EF4-FFF2-40B4-BE49-F238E27FC236}">
                <a16:creationId xmlns:a16="http://schemas.microsoft.com/office/drawing/2014/main" id="{1165992A-CA74-4839-9CEF-508C9CC729B2}"/>
              </a:ext>
            </a:extLst>
          </p:cNvPr>
          <p:cNvSpPr>
            <a:spLocks xmlns:a="http://schemas.openxmlformats.org/drawingml/2006/main" noGrp="1"/>
          </p:cNvSpPr>
          <p:nvPr/>
        </p:nvSpPr>
        <p:spPr>
          <a:xfrm xmlns:a="http://schemas.openxmlformats.org/drawingml/2006/main" rot="0">
            <a:off x="723900" y="4810125"/>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そのデータが直結したフィードバックとしてモデルの改善に使われる。一連のループを自社で持つ企業が最速でロボットを改善でき、最終的に生き残る企業になると考える。</a:t>
            </a:r>
          </a:p>
        </p:txBody>
      </p:sp>
    </p:spTree>
    <p:extLst>
      <p:ext uri="{BB962C8B-B14F-4D97-AF65-F5344CB8AC3E}">
        <p14:creationId xmlns:p14="http://schemas.microsoft.com/office/powerpoint/2010/main" val="2051631385"/>
      </p:ext>
    </p:extLst>
  </p:cSld>
</p:sld>
</file>

<file path=ppt/slides/slide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7EE53AB-3506-46B8-BB96-DFFEA4A9943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30F0E5E-2F73-4637-9A6E-1E21BDC4F6E1}"/>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だからこそ「現場データ収集」から始める</a:t>
            </a:r>
          </a:p>
        </p:txBody>
      </p:sp>
      <p:sp>
        <p:nvSpPr>
          <p:cNvPr id="3" name="">
            <a:extLst xmlns:a="http://schemas.openxmlformats.org/drawingml/2006/main">
              <a:ext uri="{FF2B5EF4-FFF2-40B4-BE49-F238E27FC236}">
                <a16:creationId xmlns:a16="http://schemas.microsoft.com/office/drawing/2014/main" id="{D803FC03-EB18-44AB-AAF9-49648AC6595B}"/>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FDC0A52-6A33-4879-AA74-8C15681F5513}"/>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07</a:t>
            </a:r>
          </a:p>
        </p:txBody>
      </p:sp>
      <p:sp>
        <p:nvSpPr>
          <p:cNvPr id="5" name="">
            <a:extLst xmlns:a="http://schemas.openxmlformats.org/drawingml/2006/main">
              <a:ext uri="{FF2B5EF4-FFF2-40B4-BE49-F238E27FC236}">
                <a16:creationId xmlns:a16="http://schemas.microsoft.com/office/drawing/2014/main" id="{914789A3-FF43-4A7E-A3BB-AD7DE24F7CA6}"/>
              </a:ext>
            </a:extLst>
          </p:cNvPr>
          <p:cNvSpPr>
            <a:spLocks xmlns:a="http://schemas.openxmlformats.org/drawingml/2006/main" noGrp="1"/>
          </p:cNvSpPr>
          <p:nvPr/>
        </p:nvSpPr>
        <p:spPr>
          <a:xfrm xmlns:a="http://schemas.openxmlformats.org/drawingml/2006/main" rot="0">
            <a:off x="723900" y="195262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独立したデータレイヤーが将来消滅するなら、データ収集企業に未来はないように聞こえるかもしれない。</a:t>
            </a:r>
          </a:p>
          <a:p xmlns:a="http://schemas.openxmlformats.org/drawingml/2006/main">
            <a:pPr algn="l">
              <a:defRPr sz="1650" b="1">
                <a:solidFill>
                  <a:srgbClr val="15191B"/>
                </a:solidFill>
                <a:latin typeface="Hiragino Sans"/>
                <a:ea typeface="Hiragino Sans"/>
                <a:cs typeface="Hiragino Sans"/>
              </a:defRPr>
            </a:pPr>
            <a:r>
              <a:rPr sz="1650" b="1">
                <a:solidFill>
                  <a:srgbClr val="15191B"/>
                </a:solidFill>
                <a:latin typeface="Hiragino Sans"/>
                <a:ea typeface="Hiragino Sans"/>
                <a:cs typeface="Hiragino Sans"/>
              </a:rPr>
              <a:t>しかし私の考えは逆で、むしろデータ収集こそが最も有利な出発点である。</a:t>
            </a:r>
          </a:p>
        </p:txBody>
      </p:sp>
      <p:sp>
        <p:nvSpPr>
          <p:cNvPr id="6" name="">
            <a:extLst xmlns:a="http://schemas.openxmlformats.org/drawingml/2006/main">
              <a:ext uri="{FF2B5EF4-FFF2-40B4-BE49-F238E27FC236}">
                <a16:creationId xmlns:a16="http://schemas.microsoft.com/office/drawing/2014/main" id="{9BEE5848-4346-4319-BF25-9566DA4FD9F1}"/>
              </a:ext>
            </a:extLst>
          </p:cNvPr>
          <p:cNvSpPr>
            <a:spLocks xmlns:a="http://schemas.openxmlformats.org/drawingml/2006/main" noGrp="1"/>
          </p:cNvSpPr>
          <p:nvPr/>
        </p:nvSpPr>
        <p:spPr>
          <a:xfrm xmlns:a="http://schemas.openxmlformats.org/drawingml/2006/main">
            <a:off x="723900" y="3286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287DFCE-AB4B-4C0F-85F1-026630027C73}"/>
              </a:ext>
            </a:extLst>
          </p:cNvPr>
          <p:cNvSpPr>
            <a:spLocks xmlns:a="http://schemas.openxmlformats.org/drawingml/2006/main" noGrp="1"/>
          </p:cNvSpPr>
          <p:nvPr/>
        </p:nvSpPr>
        <p:spPr>
          <a:xfrm xmlns:a="http://schemas.openxmlformats.org/drawingml/2006/main" rot="0">
            <a:off x="723900" y="3619500"/>
            <a:ext cx="1057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現場統合層が現場と直接接触するのは当然である。しかし、一番上流のデータ収集層の中でも、現場データの収集を行う企業は現場と直接接触する。データ収集のために現場へ入り、将来ロボットを導入する可能性がある現場と直接の関係を築く。</a:t>
            </a:r>
          </a:p>
        </p:txBody>
      </p:sp>
      <p:sp>
        <p:nvSpPr>
          <p:cNvPr id="8" name="">
            <a:extLst xmlns:a="http://schemas.openxmlformats.org/drawingml/2006/main">
              <a:ext uri="{FF2B5EF4-FFF2-40B4-BE49-F238E27FC236}">
                <a16:creationId xmlns:a16="http://schemas.microsoft.com/office/drawing/2014/main" id="{0BF54597-B2F0-40AD-92FA-E2F011EA38BE}"/>
              </a:ext>
            </a:extLst>
          </p:cNvPr>
          <p:cNvSpPr>
            <a:spLocks xmlns:a="http://schemas.openxmlformats.org/drawingml/2006/main" noGrp="1"/>
          </p:cNvSpPr>
          <p:nvPr/>
        </p:nvSpPr>
        <p:spPr>
          <a:xfrm xmlns:a="http://schemas.openxmlformats.org/drawingml/2006/main" rot="0">
            <a:off x="723900" y="51911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一般に、上流工程の企業が最下流の顧客と接することは珍しい。フィジカルAIでは現場の実データが不可欠であるため、上流と最下流が直接繋がる。</a:t>
            </a:r>
          </a:p>
        </p:txBody>
      </p:sp>
    </p:spTree>
    <p:extLst>
      <p:ext uri="{BB962C8B-B14F-4D97-AF65-F5344CB8AC3E}">
        <p14:creationId xmlns:p14="http://schemas.microsoft.com/office/powerpoint/2010/main" val="1919777616"/>
      </p:ext>
    </p:extLst>
  </p:cSld>
</p:sld>
</file>

<file path=ppt/slides/slide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830D391-142A-4351-92C3-F60685FD12D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9297C36-9146-4017-93D6-3A4C531F1D46}"/>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横方向の網羅性は、今の技術レベルでも実現可能</a:t>
            </a:r>
          </a:p>
        </p:txBody>
      </p:sp>
      <p:sp>
        <p:nvSpPr>
          <p:cNvPr id="3" name="">
            <a:extLst xmlns:a="http://schemas.openxmlformats.org/drawingml/2006/main">
              <a:ext uri="{FF2B5EF4-FFF2-40B4-BE49-F238E27FC236}">
                <a16:creationId xmlns:a16="http://schemas.microsoft.com/office/drawing/2014/main" id="{3401CFA7-5761-4308-BFEB-280C341E296A}"/>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F3036DA-977E-4585-A28A-C7F1CC47E125}"/>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08</a:t>
            </a:r>
          </a:p>
        </p:txBody>
      </p:sp>
      <p:sp>
        <p:nvSpPr>
          <p:cNvPr id="5" name="">
            <a:extLst xmlns:a="http://schemas.openxmlformats.org/drawingml/2006/main">
              <a:ext uri="{FF2B5EF4-FFF2-40B4-BE49-F238E27FC236}">
                <a16:creationId xmlns:a16="http://schemas.microsoft.com/office/drawing/2014/main" id="{2B2C5121-CD8B-4A6F-A2E8-58DFBED21141}"/>
              </a:ext>
            </a:extLst>
          </p:cNvPr>
          <p:cNvSpPr>
            <a:spLocks xmlns:a="http://schemas.openxmlformats.org/drawingml/2006/main" noGrp="1"/>
          </p:cNvSpPr>
          <p:nvPr/>
        </p:nvSpPr>
        <p:spPr>
          <a:xfrm xmlns:a="http://schemas.openxmlformats.org/drawingml/2006/main" rot="0">
            <a:off x="723900" y="2047875"/>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現場統合層で横方向、つまり複数の業種・現場を網羅できている企業は、現時点で一社もない。ロボットの自律動作は業種・タスクごとに個別の技術開発が必要であり、横に広げることが極めて難しいからである。</a:t>
            </a:r>
          </a:p>
        </p:txBody>
      </p:sp>
      <p:sp>
        <p:nvSpPr>
          <p:cNvPr id="6" name="">
            <a:extLst xmlns:a="http://schemas.openxmlformats.org/drawingml/2006/main">
              <a:ext uri="{FF2B5EF4-FFF2-40B4-BE49-F238E27FC236}">
                <a16:creationId xmlns:a16="http://schemas.microsoft.com/office/drawing/2014/main" id="{9DEF0EF1-E1B0-4DA3-AEDE-90358B4382D8}"/>
              </a:ext>
            </a:extLst>
          </p:cNvPr>
          <p:cNvSpPr>
            <a:spLocks xmlns:a="http://schemas.openxmlformats.org/drawingml/2006/main" noGrp="1"/>
          </p:cNvSpPr>
          <p:nvPr/>
        </p:nvSpPr>
        <p:spPr>
          <a:xfrm xmlns:a="http://schemas.openxmlformats.org/drawingml/2006/main">
            <a:off x="723900" y="37147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AC13D2A-5846-4A69-9757-8C7AAB6CFBDE}"/>
              </a:ext>
            </a:extLst>
          </p:cNvPr>
          <p:cNvSpPr>
            <a:spLocks xmlns:a="http://schemas.openxmlformats.org/drawingml/2006/main" noGrp="1"/>
          </p:cNvSpPr>
          <p:nvPr/>
        </p:nvSpPr>
        <p:spPr>
          <a:xfrm xmlns:a="http://schemas.openxmlformats.org/drawingml/2006/main" rot="0">
            <a:off x="723900" y="4048125"/>
            <a:ext cx="10572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しかし、現場データ収集層であれば話は別である。カメラを装着した人間の作業を撮影するだけであり、業種をまたぐ技術的障壁がほとんどない。今の時点で横方向を網羅できる唯一のレイヤーが、データ収集層である。</a:t>
            </a:r>
          </a:p>
        </p:txBody>
      </p:sp>
    </p:spTree>
    <p:extLst>
      <p:ext uri="{BB962C8B-B14F-4D97-AF65-F5344CB8AC3E}">
        <p14:creationId xmlns:p14="http://schemas.microsoft.com/office/powerpoint/2010/main" val="442068260"/>
      </p:ext>
    </p:extLst>
  </p:cSld>
</p:sld>
</file>

<file path=ppt/slides/slide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73EFB8E-1F6D-42CE-A64C-4933FB333B2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13F47E9-53B5-4AAA-AC9F-3AFD0EE77163}"/>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現場は有限の資産であり、先行者優位が極めて強い</a:t>
            </a:r>
          </a:p>
        </p:txBody>
      </p:sp>
      <p:sp>
        <p:nvSpPr>
          <p:cNvPr id="3" name="">
            <a:extLst xmlns:a="http://schemas.openxmlformats.org/drawingml/2006/main">
              <a:ext uri="{FF2B5EF4-FFF2-40B4-BE49-F238E27FC236}">
                <a16:creationId xmlns:a16="http://schemas.microsoft.com/office/drawing/2014/main" id="{F68A422E-4551-4199-9940-C24430D1388D}"/>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9D30B03-E684-4045-9C6F-98C10CC804E3}"/>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09</a:t>
            </a:r>
          </a:p>
        </p:txBody>
      </p:sp>
      <p:sp>
        <p:nvSpPr>
          <p:cNvPr id="5" name="">
            <a:extLst xmlns:a="http://schemas.openxmlformats.org/drawingml/2006/main">
              <a:ext uri="{FF2B5EF4-FFF2-40B4-BE49-F238E27FC236}">
                <a16:creationId xmlns:a16="http://schemas.microsoft.com/office/drawing/2014/main" id="{3D3E4143-947A-4D20-8CDD-735F9AB968F6}"/>
              </a:ext>
            </a:extLst>
          </p:cNvPr>
          <p:cNvSpPr>
            <a:spLocks xmlns:a="http://schemas.openxmlformats.org/drawingml/2006/main" noGrp="1"/>
          </p:cNvSpPr>
          <p:nvPr/>
        </p:nvSpPr>
        <p:spPr>
          <a:xfrm xmlns:a="http://schemas.openxmlformats.org/drawingml/2006/main" rot="0">
            <a:off x="723900" y="2047875"/>
            <a:ext cx="1057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5191B"/>
                </a:solidFill>
                <a:latin typeface="Hiragino Sans"/>
                <a:ea typeface="Hiragino Sans"/>
                <a:cs typeface="Hiragino Sans"/>
              </a:defRPr>
            </a:pPr>
            <a:r>
              <a:rPr sz="1800" b="1">
                <a:solidFill>
                  <a:srgbClr val="15191B"/>
                </a:solidFill>
                <a:latin typeface="Hiragino Sans"/>
                <a:ea typeface="Hiragino Sans"/>
                <a:cs typeface="Hiragino Sans"/>
              </a:rPr>
              <a:t>飲食、小売、製造、配送、建築、美容、農業。途方もない数の現場があるが、有限であることには変わりない。先にどれだけ多くの現場と繋がることができるかが重要である。</a:t>
            </a:r>
          </a:p>
        </p:txBody>
      </p:sp>
      <p:sp>
        <p:nvSpPr>
          <p:cNvPr id="6" name="">
            <a:extLst xmlns:a="http://schemas.openxmlformats.org/drawingml/2006/main">
              <a:ext uri="{FF2B5EF4-FFF2-40B4-BE49-F238E27FC236}">
                <a16:creationId xmlns:a16="http://schemas.microsoft.com/office/drawing/2014/main" id="{67301C75-DA42-404C-8C71-7BB13CB83C72}"/>
              </a:ext>
            </a:extLst>
          </p:cNvPr>
          <p:cNvSpPr>
            <a:spLocks xmlns:a="http://schemas.openxmlformats.org/drawingml/2006/main" noGrp="1"/>
          </p:cNvSpPr>
          <p:nvPr/>
        </p:nvSpPr>
        <p:spPr>
          <a:xfrm xmlns:a="http://schemas.openxmlformats.org/drawingml/2006/main">
            <a:off x="723900" y="3476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FB78212-8CFB-4C57-8BC0-DB192C18DDE5}"/>
              </a:ext>
            </a:extLst>
          </p:cNvPr>
          <p:cNvSpPr>
            <a:spLocks xmlns:a="http://schemas.openxmlformats.org/drawingml/2006/main" noGrp="1"/>
          </p:cNvSpPr>
          <p:nvPr/>
        </p:nvSpPr>
        <p:spPr>
          <a:xfrm xmlns:a="http://schemas.openxmlformats.org/drawingml/2006/main" rot="0">
            <a:off x="723900" y="3810000"/>
            <a:ext cx="1057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15191B"/>
                </a:solidFill>
                <a:latin typeface="Hiragino Sans"/>
                <a:ea typeface="Hiragino Sans"/>
                <a:cs typeface="Hiragino Sans"/>
              </a:defRPr>
            </a:pPr>
            <a:r>
              <a:rPr sz="1650" b="0">
                <a:solidFill>
                  <a:srgbClr val="15191B"/>
                </a:solidFill>
                <a:latin typeface="Hiragino Sans"/>
                <a:ea typeface="Hiragino Sans"/>
                <a:cs typeface="Hiragino Sans"/>
              </a:rPr>
              <a:t>一つの現場が複数のデータ収集会社と契約することは考えにくい。撮影機材の管理、スタッフへの説明、プライバシーに関する合意など、一社と契約するだけでも現場側に相応の負担が発生するためである。</a:t>
            </a:r>
          </a:p>
        </p:txBody>
      </p:sp>
      <p:sp>
        <p:nvSpPr>
          <p:cNvPr id="8" name="">
            <a:extLst xmlns:a="http://schemas.openxmlformats.org/drawingml/2006/main">
              <a:ext uri="{FF2B5EF4-FFF2-40B4-BE49-F238E27FC236}">
                <a16:creationId xmlns:a16="http://schemas.microsoft.com/office/drawing/2014/main" id="{99A7ED32-2EEF-4247-8982-BB021CC4078D}"/>
              </a:ext>
            </a:extLst>
          </p:cNvPr>
          <p:cNvSpPr>
            <a:spLocks xmlns:a="http://schemas.openxmlformats.org/drawingml/2006/main" noGrp="1"/>
          </p:cNvSpPr>
          <p:nvPr/>
        </p:nvSpPr>
        <p:spPr>
          <a:xfrm xmlns:a="http://schemas.openxmlformats.org/drawingml/2006/main" rot="0">
            <a:off x="723900" y="538162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海外では急速に広まっている一方、日本ではまだほとんど浸透していない。</a:t>
            </a:r>
          </a:p>
        </p:txBody>
      </p:sp>
    </p:spTree>
    <p:extLst>
      <p:ext uri="{BB962C8B-B14F-4D97-AF65-F5344CB8AC3E}">
        <p14:creationId xmlns:p14="http://schemas.microsoft.com/office/powerpoint/2010/main" val="1563329385"/>
      </p:ext>
    </p:extLst>
  </p:cSld>
</p:sld>
</file>

<file path=ppt/slides/slide1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B160B27-3FCE-4175-A951-395B60CB18A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D1165EB-8854-441B-8FD9-8CECDE751D1D}"/>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現場ネットワークは、ロボット企業にとって不可欠になる</a:t>
            </a:r>
          </a:p>
        </p:txBody>
      </p:sp>
      <p:sp>
        <p:nvSpPr>
          <p:cNvPr id="3" name="">
            <a:extLst xmlns:a="http://schemas.openxmlformats.org/drawingml/2006/main">
              <a:ext uri="{FF2B5EF4-FFF2-40B4-BE49-F238E27FC236}">
                <a16:creationId xmlns:a16="http://schemas.microsoft.com/office/drawing/2014/main" id="{5525D8FE-C72C-42AE-AC6F-70C99C13DB1F}"/>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CBD21DE-BC98-4E44-9416-13C829E95333}"/>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10</a:t>
            </a:r>
          </a:p>
        </p:txBody>
      </p:sp>
      <p:sp>
        <p:nvSpPr>
          <p:cNvPr id="5" name="">
            <a:extLst xmlns:a="http://schemas.openxmlformats.org/drawingml/2006/main">
              <a:ext uri="{FF2B5EF4-FFF2-40B4-BE49-F238E27FC236}">
                <a16:creationId xmlns:a16="http://schemas.microsoft.com/office/drawing/2014/main" id="{ADFCFBB8-9B2A-4A95-9F6F-0BEBF747041B}"/>
              </a:ext>
            </a:extLst>
          </p:cNvPr>
          <p:cNvSpPr>
            <a:spLocks xmlns:a="http://schemas.openxmlformats.org/drawingml/2006/main" noGrp="1"/>
          </p:cNvSpPr>
          <p:nvPr/>
        </p:nvSpPr>
        <p:spPr>
          <a:xfrm xmlns:a="http://schemas.openxmlformats.org/drawingml/2006/main" rot="0">
            <a:off x="723900" y="2095500"/>
            <a:ext cx="1057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5191B"/>
                </a:solidFill>
                <a:latin typeface="Hiragino Sans"/>
                <a:ea typeface="Hiragino Sans"/>
                <a:cs typeface="Hiragino Sans"/>
              </a:defRPr>
            </a:pPr>
            <a:r>
              <a:rPr sz="1800" b="1">
                <a:solidFill>
                  <a:srgbClr val="15191B"/>
                </a:solidFill>
                <a:latin typeface="Hiragino Sans"/>
                <a:ea typeface="Hiragino Sans"/>
                <a:cs typeface="Hiragino Sans"/>
              </a:rPr>
              <a:t>遅かれ早かれ、ロボット企業は最終的な顧客である現場のネットワークを取りに来る。現場を含めたフィードバックループを作ることが、最速の勝ち筋だからである。</a:t>
            </a:r>
          </a:p>
        </p:txBody>
      </p:sp>
      <p:sp>
        <p:nvSpPr>
          <p:cNvPr id="6" name="">
            <a:extLst xmlns:a="http://schemas.openxmlformats.org/drawingml/2006/main">
              <a:ext uri="{FF2B5EF4-FFF2-40B4-BE49-F238E27FC236}">
                <a16:creationId xmlns:a16="http://schemas.microsoft.com/office/drawing/2014/main" id="{C70D7692-9D20-4291-BCB4-8B196CAC65F1}"/>
              </a:ext>
            </a:extLst>
          </p:cNvPr>
          <p:cNvSpPr>
            <a:spLocks xmlns:a="http://schemas.openxmlformats.org/drawingml/2006/main" noGrp="1"/>
          </p:cNvSpPr>
          <p:nvPr/>
        </p:nvSpPr>
        <p:spPr>
          <a:xfrm xmlns:a="http://schemas.openxmlformats.org/drawingml/2006/main">
            <a:off x="723900" y="3476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6CF5C52-6674-4CE2-B57A-68EB378A8E9D}"/>
              </a:ext>
            </a:extLst>
          </p:cNvPr>
          <p:cNvSpPr>
            <a:spLocks xmlns:a="http://schemas.openxmlformats.org/drawingml/2006/main" noGrp="1"/>
          </p:cNvSpPr>
          <p:nvPr/>
        </p:nvSpPr>
        <p:spPr>
          <a:xfrm xmlns:a="http://schemas.openxmlformats.org/drawingml/2006/main" rot="0">
            <a:off x="723900" y="3857625"/>
            <a:ext cx="1057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現場ネットワークを得るには、多業種にわたって様々な同意やコンプライアンス対応を積み重ねる必要がある。その積み重ねは、後発が容易に真似できない参入障壁になる。</a:t>
            </a:r>
          </a:p>
        </p:txBody>
      </p:sp>
      <p:sp>
        <p:nvSpPr>
          <p:cNvPr id="8" name="">
            <a:extLst xmlns:a="http://schemas.openxmlformats.org/drawingml/2006/main">
              <a:ext uri="{FF2B5EF4-FFF2-40B4-BE49-F238E27FC236}">
                <a16:creationId xmlns:a16="http://schemas.microsoft.com/office/drawing/2014/main" id="{69D95E09-FE97-4802-A272-6716ADD05557}"/>
              </a:ext>
            </a:extLst>
          </p:cNvPr>
          <p:cNvSpPr>
            <a:spLocks xmlns:a="http://schemas.openxmlformats.org/drawingml/2006/main" noGrp="1"/>
          </p:cNvSpPr>
          <p:nvPr/>
        </p:nvSpPr>
        <p:spPr>
          <a:xfrm xmlns:a="http://schemas.openxmlformats.org/drawingml/2006/main" rot="0">
            <a:off x="723900" y="53340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58646A"/>
                </a:solidFill>
                <a:latin typeface="Hiragino Sans"/>
                <a:ea typeface="Hiragino Sans"/>
                <a:cs typeface="Hiragino Sans"/>
              </a:defRPr>
            </a:pPr>
            <a:r>
              <a:rPr sz="1575" b="0">
                <a:solidFill>
                  <a:srgbClr val="58646A"/>
                </a:solidFill>
                <a:latin typeface="Hiragino Sans"/>
                <a:ea typeface="Hiragino Sans"/>
                <a:cs typeface="Hiragino Sans"/>
              </a:rPr>
              <a:t>データだけでなく、現場との関係と、現場へ入り続けるための運用が蓄積される。</a:t>
            </a:r>
          </a:p>
        </p:txBody>
      </p:sp>
    </p:spTree>
    <p:extLst>
      <p:ext uri="{BB962C8B-B14F-4D97-AF65-F5344CB8AC3E}">
        <p14:creationId xmlns:p14="http://schemas.microsoft.com/office/powerpoint/2010/main" val="2108063604"/>
      </p:ext>
    </p:extLst>
  </p:cSld>
</p:sld>
</file>

<file path=ppt/slides/slide1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7F0F897-3BBE-4313-903B-8FCF89611E1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7BACA29-5274-41C8-971E-DA96213AAFEF}"/>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現場データの先行取得は、自ら現場統合者になるための布石</a:t>
            </a:r>
          </a:p>
        </p:txBody>
      </p:sp>
      <p:sp>
        <p:nvSpPr>
          <p:cNvPr id="3" name="">
            <a:extLst xmlns:a="http://schemas.openxmlformats.org/drawingml/2006/main">
              <a:ext uri="{FF2B5EF4-FFF2-40B4-BE49-F238E27FC236}">
                <a16:creationId xmlns:a16="http://schemas.microsoft.com/office/drawing/2014/main" id="{06BDB0F7-CA8A-44B4-BDD5-9BF672F2446C}"/>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318534F-9B9B-4B09-BCEE-295CA3F9B912}"/>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11</a:t>
            </a:r>
          </a:p>
        </p:txBody>
      </p:sp>
      <p:sp>
        <p:nvSpPr>
          <p:cNvPr id="5" name="">
            <a:extLst xmlns:a="http://schemas.openxmlformats.org/drawingml/2006/main">
              <a:ext uri="{FF2B5EF4-FFF2-40B4-BE49-F238E27FC236}">
                <a16:creationId xmlns:a16="http://schemas.microsoft.com/office/drawing/2014/main" id="{B209BD66-F6BF-4CAD-8AF4-F40BE38CC948}"/>
              </a:ext>
            </a:extLst>
          </p:cNvPr>
          <p:cNvSpPr>
            <a:spLocks xmlns:a="http://schemas.openxmlformats.org/drawingml/2006/main" noGrp="1"/>
          </p:cNvSpPr>
          <p:nvPr/>
        </p:nvSpPr>
        <p:spPr>
          <a:xfrm xmlns:a="http://schemas.openxmlformats.org/drawingml/2006/main" rot="0">
            <a:off x="723900" y="2000250"/>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15191B"/>
                </a:solidFill>
                <a:latin typeface="Hiragino Sans"/>
                <a:ea typeface="Hiragino Sans"/>
                <a:cs typeface="Hiragino Sans"/>
              </a:defRPr>
            </a:pPr>
            <a:r>
              <a:rPr sz="1650" b="0">
                <a:solidFill>
                  <a:srgbClr val="15191B"/>
                </a:solidFill>
                <a:latin typeface="Hiragino Sans"/>
                <a:ea typeface="Hiragino Sans"/>
                <a:cs typeface="Hiragino Sans"/>
              </a:rPr>
              <a:t>ロボットを各現場へ導入するには、導入判断や導入後の調整のために、既存の人間のワークフローを詳細に把握する必要がある。現場データを収集済みであれば、ロボット企業は一からワークフロー調査をやり直す必要がない。</a:t>
            </a:r>
          </a:p>
        </p:txBody>
      </p:sp>
      <p:sp>
        <p:nvSpPr>
          <p:cNvPr id="6" name="">
            <a:extLst xmlns:a="http://schemas.openxmlformats.org/drawingml/2006/main">
              <a:ext uri="{FF2B5EF4-FFF2-40B4-BE49-F238E27FC236}">
                <a16:creationId xmlns:a16="http://schemas.microsoft.com/office/drawing/2014/main" id="{56CC1C18-BB89-4358-890B-2488434CE2D9}"/>
              </a:ext>
            </a:extLst>
          </p:cNvPr>
          <p:cNvSpPr>
            <a:spLocks xmlns:a="http://schemas.openxmlformats.org/drawingml/2006/main" noGrp="1"/>
          </p:cNvSpPr>
          <p:nvPr/>
        </p:nvSpPr>
        <p:spPr>
          <a:xfrm xmlns:a="http://schemas.openxmlformats.org/drawingml/2006/main">
            <a:off x="723900" y="37147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BA14245-40BD-4613-8135-D33CE5DA261B}"/>
              </a:ext>
            </a:extLst>
          </p:cNvPr>
          <p:cNvSpPr>
            <a:spLocks xmlns:a="http://schemas.openxmlformats.org/drawingml/2006/main" noGrp="1"/>
          </p:cNvSpPr>
          <p:nvPr/>
        </p:nvSpPr>
        <p:spPr>
          <a:xfrm xmlns:a="http://schemas.openxmlformats.org/drawingml/2006/main" rot="0">
            <a:off x="723900" y="404812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そのため、協業の相手として自然に選ばれる立場になる。さらに、他のロボット企業の動きを待つまでもなく、自分たち自身がロボットの現場統合に乗り出せる。</a:t>
            </a:r>
          </a:p>
        </p:txBody>
      </p:sp>
      <p:sp>
        <p:nvSpPr>
          <p:cNvPr id="8" name="">
            <a:extLst xmlns:a="http://schemas.openxmlformats.org/drawingml/2006/main">
              <a:ext uri="{FF2B5EF4-FFF2-40B4-BE49-F238E27FC236}">
                <a16:creationId xmlns:a16="http://schemas.microsoft.com/office/drawing/2014/main" id="{EFB58B56-F1A8-42C7-AF9B-3CDD1A38BCFD}"/>
              </a:ext>
            </a:extLst>
          </p:cNvPr>
          <p:cNvSpPr>
            <a:spLocks xmlns:a="http://schemas.openxmlformats.org/drawingml/2006/main" noGrp="1"/>
          </p:cNvSpPr>
          <p:nvPr/>
        </p:nvSpPr>
        <p:spPr>
          <a:xfrm xmlns:a="http://schemas.openxmlformats.org/drawingml/2006/main" rot="0">
            <a:off x="723900" y="538162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現場データ収集から始めた企業が、最終的には現場統合を行う企業へと進化できる。これが私たちの長期的な構想である。</a:t>
            </a:r>
          </a:p>
        </p:txBody>
      </p:sp>
    </p:spTree>
    <p:extLst>
      <p:ext uri="{BB962C8B-B14F-4D97-AF65-F5344CB8AC3E}">
        <p14:creationId xmlns:p14="http://schemas.microsoft.com/office/powerpoint/2010/main" val="788283676"/>
      </p:ext>
    </p:extLst>
  </p:cSld>
</p:sld>
</file>

<file path=ppt/slides/slide1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EEAA61B-4FF0-43F5-9F0B-D5B46DE465B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459C65E-F8DE-4CDB-BC2C-FCD7ED099CF2}"/>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RootLensの方向性</a:t>
            </a:r>
          </a:p>
        </p:txBody>
      </p:sp>
      <p:sp>
        <p:nvSpPr>
          <p:cNvPr id="3" name="">
            <a:extLst xmlns:a="http://schemas.openxmlformats.org/drawingml/2006/main">
              <a:ext uri="{FF2B5EF4-FFF2-40B4-BE49-F238E27FC236}">
                <a16:creationId xmlns:a16="http://schemas.microsoft.com/office/drawing/2014/main" id="{69935610-2ECF-487C-A99E-22F5C15E68C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E1C953E-F489-41CA-B3B1-1A6BD6E7EAB9}"/>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12</a:t>
            </a:r>
          </a:p>
        </p:txBody>
      </p:sp>
      <p:sp>
        <p:nvSpPr>
          <p:cNvPr id="5" name="">
            <a:extLst xmlns:a="http://schemas.openxmlformats.org/drawingml/2006/main">
              <a:ext uri="{FF2B5EF4-FFF2-40B4-BE49-F238E27FC236}">
                <a16:creationId xmlns:a16="http://schemas.microsoft.com/office/drawing/2014/main" id="{7EB3C56F-DA6E-4D8C-8ADE-C7F900706D70}"/>
              </a:ext>
            </a:extLst>
          </p:cNvPr>
          <p:cNvSpPr>
            <a:spLocks xmlns:a="http://schemas.openxmlformats.org/drawingml/2006/main" noGrp="1"/>
          </p:cNvSpPr>
          <p:nvPr/>
        </p:nvSpPr>
        <p:spPr>
          <a:xfrm xmlns:a="http://schemas.openxmlformats.org/drawingml/2006/main" rot="0">
            <a:off x="7239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第1段階</a:t>
            </a:r>
          </a:p>
        </p:txBody>
      </p:sp>
      <p:sp>
        <p:nvSpPr>
          <p:cNvPr id="6" name="">
            <a:extLst xmlns:a="http://schemas.openxmlformats.org/drawingml/2006/main">
              <a:ext uri="{FF2B5EF4-FFF2-40B4-BE49-F238E27FC236}">
                <a16:creationId xmlns:a16="http://schemas.microsoft.com/office/drawing/2014/main" id="{DF1837ED-A2DB-493E-9FDB-D85CE910AD4B}"/>
              </a:ext>
            </a:extLst>
          </p:cNvPr>
          <p:cNvSpPr>
            <a:spLocks xmlns:a="http://schemas.openxmlformats.org/drawingml/2006/main" noGrp="1"/>
          </p:cNvSpPr>
          <p:nvPr/>
        </p:nvSpPr>
        <p:spPr>
          <a:xfrm xmlns:a="http://schemas.openxmlformats.org/drawingml/2006/main" rot="0">
            <a:off x="723900" y="2428875"/>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現場データネットワークを広げる</a:t>
            </a:r>
          </a:p>
        </p:txBody>
      </p:sp>
      <p:sp>
        <p:nvSpPr>
          <p:cNvPr id="7" name="">
            <a:extLst xmlns:a="http://schemas.openxmlformats.org/drawingml/2006/main">
              <a:ext uri="{FF2B5EF4-FFF2-40B4-BE49-F238E27FC236}">
                <a16:creationId xmlns:a16="http://schemas.microsoft.com/office/drawing/2014/main" id="{3CA815D6-173C-4540-A5DD-213B96C3D17B}"/>
              </a:ext>
            </a:extLst>
          </p:cNvPr>
          <p:cNvSpPr>
            <a:spLocks xmlns:a="http://schemas.openxmlformats.org/drawingml/2006/main" noGrp="1"/>
          </p:cNvSpPr>
          <p:nvPr/>
        </p:nvSpPr>
        <p:spPr>
          <a:xfrm xmlns:a="http://schemas.openxmlformats.org/drawingml/2006/main" rot="0">
            <a:off x="723900" y="3095625"/>
            <a:ext cx="4762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データ収集・販売による収益を確保する。現場との関係構築と、多業種へのコンプライアンス対応を通じて、後発が真似できない参入障壁を積み上げる。</a:t>
            </a:r>
          </a:p>
        </p:txBody>
      </p:sp>
      <p:sp>
        <p:nvSpPr>
          <p:cNvPr id="8" name="">
            <a:extLst xmlns:a="http://schemas.openxmlformats.org/drawingml/2006/main">
              <a:ext uri="{FF2B5EF4-FFF2-40B4-BE49-F238E27FC236}">
                <a16:creationId xmlns:a16="http://schemas.microsoft.com/office/drawing/2014/main" id="{762DE990-9750-4055-85AB-4622DFF5141E}"/>
              </a:ext>
            </a:extLst>
          </p:cNvPr>
          <p:cNvSpPr>
            <a:spLocks xmlns:a="http://schemas.openxmlformats.org/drawingml/2006/main" noGrp="1"/>
          </p:cNvSpPr>
          <p:nvPr/>
        </p:nvSpPr>
        <p:spPr>
          <a:xfrm xmlns:a="http://schemas.openxmlformats.org/drawingml/2006/main">
            <a:off x="5981700" y="1952625"/>
            <a:ext cx="9525" cy="338137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E3E0C76-B632-4C55-AE85-E957387F84FE}"/>
              </a:ext>
            </a:extLst>
          </p:cNvPr>
          <p:cNvSpPr>
            <a:spLocks xmlns:a="http://schemas.openxmlformats.org/drawingml/2006/main" noGrp="1"/>
          </p:cNvSpPr>
          <p:nvPr/>
        </p:nvSpPr>
        <p:spPr>
          <a:xfrm xmlns:a="http://schemas.openxmlformats.org/drawingml/2006/main" rot="0">
            <a:off x="6477000" y="1952625"/>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第2段階</a:t>
            </a:r>
          </a:p>
        </p:txBody>
      </p:sp>
      <p:sp>
        <p:nvSpPr>
          <p:cNvPr id="10" name="">
            <a:extLst xmlns:a="http://schemas.openxmlformats.org/drawingml/2006/main">
              <a:ext uri="{FF2B5EF4-FFF2-40B4-BE49-F238E27FC236}">
                <a16:creationId xmlns:a16="http://schemas.microsoft.com/office/drawing/2014/main" id="{B4D5DC89-967C-433E-9F1F-C101E6B888D8}"/>
              </a:ext>
            </a:extLst>
          </p:cNvPr>
          <p:cNvSpPr>
            <a:spLocks xmlns:a="http://schemas.openxmlformats.org/drawingml/2006/main" noGrp="1"/>
          </p:cNvSpPr>
          <p:nvPr/>
        </p:nvSpPr>
        <p:spPr>
          <a:xfrm xmlns:a="http://schemas.openxmlformats.org/drawingml/2006/main" rot="0">
            <a:off x="6477000" y="242887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自らロボットの現場統合に乗り出す</a:t>
            </a:r>
          </a:p>
        </p:txBody>
      </p:sp>
      <p:sp>
        <p:nvSpPr>
          <p:cNvPr id="11" name="">
            <a:extLst xmlns:a="http://schemas.openxmlformats.org/drawingml/2006/main">
              <a:ext uri="{FF2B5EF4-FFF2-40B4-BE49-F238E27FC236}">
                <a16:creationId xmlns:a16="http://schemas.microsoft.com/office/drawing/2014/main" id="{746EDAAA-D542-4CFF-90C8-801CEC2A5358}"/>
              </a:ext>
            </a:extLst>
          </p:cNvPr>
          <p:cNvSpPr>
            <a:spLocks xmlns:a="http://schemas.openxmlformats.org/drawingml/2006/main" noGrp="1"/>
          </p:cNvSpPr>
          <p:nvPr/>
        </p:nvSpPr>
        <p:spPr>
          <a:xfrm xmlns:a="http://schemas.openxmlformats.org/drawingml/2006/main" rot="0">
            <a:off x="6477000" y="3286125"/>
            <a:ext cx="4667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5191B"/>
                </a:solidFill>
                <a:latin typeface="Hiragino Sans"/>
                <a:ea typeface="Hiragino Sans"/>
                <a:cs typeface="Hiragino Sans"/>
              </a:defRPr>
            </a:pPr>
            <a:r>
              <a:rPr sz="1575" b="0">
                <a:solidFill>
                  <a:srgbClr val="15191B"/>
                </a:solidFill>
                <a:latin typeface="Hiragino Sans"/>
                <a:ea typeface="Hiragino Sans"/>
                <a:cs typeface="Hiragino Sans"/>
              </a:rPr>
              <a:t>蓄積した現場データ、現場ネットワーク、現場に関する知見を武器に、モデル開発・ハードウェア開発・現場統合のフィードバックループを自社で持つ企業へ進化する。</a:t>
            </a:r>
          </a:p>
        </p:txBody>
      </p:sp>
      <p:sp>
        <p:nvSpPr>
          <p:cNvPr id="12" name="">
            <a:extLst xmlns:a="http://schemas.openxmlformats.org/drawingml/2006/main">
              <a:ext uri="{FF2B5EF4-FFF2-40B4-BE49-F238E27FC236}">
                <a16:creationId xmlns:a16="http://schemas.microsoft.com/office/drawing/2014/main" id="{B2B04057-06FF-4DD3-81D4-F04D26F441F6}"/>
              </a:ext>
            </a:extLst>
          </p:cNvPr>
          <p:cNvSpPr>
            <a:spLocks xmlns:a="http://schemas.openxmlformats.org/drawingml/2006/main" noGrp="1"/>
          </p:cNvSpPr>
          <p:nvPr/>
        </p:nvSpPr>
        <p:spPr>
          <a:xfrm xmlns:a="http://schemas.openxmlformats.org/drawingml/2006/main" rot="0">
            <a:off x="723900" y="55721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この方向性を一言で表したのが、「現場データ収集から始めるフィジカルAIプレーヤー」である。</a:t>
            </a:r>
          </a:p>
        </p:txBody>
      </p:sp>
    </p:spTree>
    <p:extLst>
      <p:ext uri="{BB962C8B-B14F-4D97-AF65-F5344CB8AC3E}">
        <p14:creationId xmlns:p14="http://schemas.microsoft.com/office/powerpoint/2010/main" val="1029854171"/>
      </p:ext>
    </p:extLst>
  </p:cSld>
</p:sld>
</file>

<file path=ppt/slides/slide1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77B3D20A-D874-4926-9EE7-7465365A775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E499AE1-2DF7-4504-967F-18CCD3BCFA14}"/>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事業構造と両面市場</a:t>
            </a:r>
          </a:p>
        </p:txBody>
      </p:sp>
      <p:sp>
        <p:nvSpPr>
          <p:cNvPr id="3" name="">
            <a:extLst xmlns:a="http://schemas.openxmlformats.org/drawingml/2006/main">
              <a:ext uri="{FF2B5EF4-FFF2-40B4-BE49-F238E27FC236}">
                <a16:creationId xmlns:a16="http://schemas.microsoft.com/office/drawing/2014/main" id="{7170A36C-BA05-4983-BF3B-3DD7908A7FBA}"/>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8F05485-1D0C-4B17-9037-47A9BDF52352}"/>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13</a:t>
            </a:r>
          </a:p>
        </p:txBody>
      </p:sp>
      <p:sp>
        <p:nvSpPr>
          <p:cNvPr id="5" name="">
            <a:extLst xmlns:a="http://schemas.openxmlformats.org/drawingml/2006/main">
              <a:ext uri="{FF2B5EF4-FFF2-40B4-BE49-F238E27FC236}">
                <a16:creationId xmlns:a16="http://schemas.microsoft.com/office/drawing/2014/main" id="{87971173-2CAD-4107-9124-A8067E46FFC1}"/>
              </a:ext>
            </a:extLst>
          </p:cNvPr>
          <p:cNvSpPr>
            <a:spLocks xmlns:a="http://schemas.openxmlformats.org/drawingml/2006/main" noGrp="1"/>
          </p:cNvSpPr>
          <p:nvPr/>
        </p:nvSpPr>
        <p:spPr>
          <a:xfrm xmlns:a="http://schemas.openxmlformats.org/drawingml/2006/main" rot="0">
            <a:off x="866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撮影先</a:t>
            </a:r>
          </a:p>
        </p:txBody>
      </p:sp>
      <p:sp>
        <p:nvSpPr>
          <p:cNvPr id="6" name="">
            <a:extLst xmlns:a="http://schemas.openxmlformats.org/drawingml/2006/main">
              <a:ext uri="{FF2B5EF4-FFF2-40B4-BE49-F238E27FC236}">
                <a16:creationId xmlns:a16="http://schemas.microsoft.com/office/drawing/2014/main" id="{4B71302D-D317-4689-BDF8-EFA181BBB174}"/>
              </a:ext>
            </a:extLst>
          </p:cNvPr>
          <p:cNvSpPr>
            <a:spLocks xmlns:a="http://schemas.openxmlformats.org/drawingml/2006/main" noGrp="1"/>
          </p:cNvSpPr>
          <p:nvPr/>
        </p:nvSpPr>
        <p:spPr>
          <a:xfrm xmlns:a="http://schemas.openxmlformats.org/drawingml/2006/main" rot="0">
            <a:off x="50577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RootLens</a:t>
            </a:r>
          </a:p>
        </p:txBody>
      </p:sp>
      <p:sp>
        <p:nvSpPr>
          <p:cNvPr id="7" name="">
            <a:extLst xmlns:a="http://schemas.openxmlformats.org/drawingml/2006/main">
              <a:ext uri="{FF2B5EF4-FFF2-40B4-BE49-F238E27FC236}">
                <a16:creationId xmlns:a16="http://schemas.microsoft.com/office/drawing/2014/main" id="{0FB864CA-1CD7-4E28-AD04-3DCE5D9D7FB3}"/>
              </a:ext>
            </a:extLst>
          </p:cNvPr>
          <p:cNvSpPr>
            <a:spLocks xmlns:a="http://schemas.openxmlformats.org/drawingml/2006/main" noGrp="1"/>
          </p:cNvSpPr>
          <p:nvPr/>
        </p:nvSpPr>
        <p:spPr>
          <a:xfrm xmlns:a="http://schemas.openxmlformats.org/drawingml/2006/main" rot="0">
            <a:off x="9096375" y="19335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販売先</a:t>
            </a:r>
          </a:p>
        </p:txBody>
      </p:sp>
      <p:sp>
        <p:nvSpPr>
          <p:cNvPr id="8" name="">
            <a:extLst xmlns:a="http://schemas.openxmlformats.org/drawingml/2006/main">
              <a:ext uri="{FF2B5EF4-FFF2-40B4-BE49-F238E27FC236}">
                <a16:creationId xmlns:a16="http://schemas.microsoft.com/office/drawing/2014/main" id="{040B6F00-ED22-401F-9F51-B7A1BF2ABD07}"/>
              </a:ext>
            </a:extLst>
          </p:cNvPr>
          <p:cNvSpPr>
            <a:spLocks xmlns:a="http://schemas.openxmlformats.org/drawingml/2006/main" noGrp="1"/>
          </p:cNvSpPr>
          <p:nvPr/>
        </p:nvSpPr>
        <p:spPr>
          <a:xfrm xmlns:a="http://schemas.openxmlformats.org/drawingml/2006/main">
            <a:off x="72390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9" name="">
            <a:extLst xmlns:a="http://schemas.openxmlformats.org/drawingml/2006/main">
              <a:ext uri="{FF2B5EF4-FFF2-40B4-BE49-F238E27FC236}">
                <a16:creationId xmlns:a16="http://schemas.microsoft.com/office/drawing/2014/main" id="{6B578561-3D08-4E82-BBAF-5F26DB5665C0}"/>
              </a:ext>
            </a:extLst>
          </p:cNvPr>
          <p:cNvSpPr>
            <a:spLocks xmlns:a="http://schemas.openxmlformats.org/drawingml/2006/main" noGrp="1"/>
          </p:cNvSpPr>
          <p:nvPr/>
        </p:nvSpPr>
        <p:spPr>
          <a:xfrm xmlns:a="http://schemas.openxmlformats.org/drawingml/2006/main" rot="0">
            <a:off x="100965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175" b="1">
                <a:solidFill>
                  <a:srgbClr val="15191B"/>
                </a:solidFill>
                <a:latin typeface="Hiragino Sans"/>
                <a:ea typeface="Hiragino Sans"/>
                <a:cs typeface="Hiragino Sans"/>
              </a:defRPr>
            </a:pPr>
            <a:r>
              <a:rPr sz="2175" b="1">
                <a:solidFill>
                  <a:srgbClr val="15191B"/>
                </a:solidFill>
                <a:latin typeface="Hiragino Sans"/>
                <a:ea typeface="Hiragino Sans"/>
                <a:cs typeface="Hiragino Sans"/>
              </a:rPr>
              <a:t>現場</a:t>
            </a:r>
          </a:p>
        </p:txBody>
      </p:sp>
      <p:sp>
        <p:nvSpPr>
          <p:cNvPr id="10" name="">
            <a:extLst xmlns:a="http://schemas.openxmlformats.org/drawingml/2006/main">
              <a:ext uri="{FF2B5EF4-FFF2-40B4-BE49-F238E27FC236}">
                <a16:creationId xmlns:a16="http://schemas.microsoft.com/office/drawing/2014/main" id="{EF242291-5BA0-484F-8FDE-4664E3AA47DE}"/>
              </a:ext>
            </a:extLst>
          </p:cNvPr>
          <p:cNvSpPr>
            <a:spLocks xmlns:a="http://schemas.openxmlformats.org/drawingml/2006/main" noGrp="1"/>
          </p:cNvSpPr>
          <p:nvPr/>
        </p:nvSpPr>
        <p:spPr>
          <a:xfrm xmlns:a="http://schemas.openxmlformats.org/drawingml/2006/main" rot="0">
            <a:off x="1009650" y="3305175"/>
            <a:ext cx="200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作業データを撮影</a:t>
            </a:r>
          </a:p>
          <a:p xmlns:a="http://schemas.openxmlformats.org/drawingml/2006/main">
            <a:pPr algn="ctr">
              <a:defRPr sz="1425" b="0">
                <a:solidFill>
                  <a:srgbClr val="58646A"/>
                </a:solidFill>
                <a:latin typeface="Hiragino Sans"/>
                <a:ea typeface="Hiragino Sans"/>
                <a:cs typeface="Hiragino Sans"/>
              </a:defRPr>
            </a:pPr>
            <a:r>
              <a:rPr sz="1425" b="0">
                <a:solidFill>
                  <a:srgbClr val="58646A"/>
                </a:solidFill>
                <a:latin typeface="Hiragino Sans"/>
                <a:ea typeface="Hiragino Sans"/>
                <a:cs typeface="Hiragino Sans"/>
              </a:rPr>
              <a:t>スタッフ・店舗の合意</a:t>
            </a:r>
          </a:p>
        </p:txBody>
      </p:sp>
      <p:sp>
        <p:nvSpPr>
          <p:cNvPr id="11" name="">
            <a:extLst xmlns:a="http://schemas.openxmlformats.org/drawingml/2006/main">
              <a:ext uri="{FF2B5EF4-FFF2-40B4-BE49-F238E27FC236}">
                <a16:creationId xmlns:a16="http://schemas.microsoft.com/office/drawing/2014/main" id="{A1BFB800-4158-4CC2-A209-8F15EDD55313}"/>
              </a:ext>
            </a:extLst>
          </p:cNvPr>
          <p:cNvSpPr>
            <a:spLocks xmlns:a="http://schemas.openxmlformats.org/drawingml/2006/main" noGrp="1"/>
          </p:cNvSpPr>
          <p:nvPr/>
        </p:nvSpPr>
        <p:spPr>
          <a:xfrm xmlns:a="http://schemas.openxmlformats.org/drawingml/2006/main">
            <a:off x="4810125" y="2400300"/>
            <a:ext cx="2571750" cy="1885950"/>
          </a:xfrm>
          <a:prstGeom xmlns:a="http://schemas.openxmlformats.org/drawingml/2006/main" prst="rect">
            <a:avLst/>
          </a:prstGeom>
          <a:solidFill xmlns:a="http://schemas.openxmlformats.org/drawingml/2006/main">
            <a:srgbClr val="25333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354D3F2-C411-4BEC-9E57-22997C43D5B9}"/>
              </a:ext>
            </a:extLst>
          </p:cNvPr>
          <p:cNvSpPr>
            <a:spLocks xmlns:a="http://schemas.openxmlformats.org/drawingml/2006/main" noGrp="1"/>
          </p:cNvSpPr>
          <p:nvPr/>
        </p:nvSpPr>
        <p:spPr>
          <a:xfrm xmlns:a="http://schemas.openxmlformats.org/drawingml/2006/main" rot="0">
            <a:off x="5095875"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1">
                <a:solidFill>
                  <a:srgbClr val="FFFFFF"/>
                </a:solidFill>
                <a:latin typeface="Hiragino Sans"/>
                <a:ea typeface="Hiragino Sans"/>
                <a:cs typeface="Hiragino Sans"/>
              </a:defRPr>
            </a:pPr>
            <a:r>
              <a:rPr sz="1800" b="1">
                <a:solidFill>
                  <a:srgbClr val="FFFFFF"/>
                </a:solidFill>
                <a:latin typeface="Hiragino Sans"/>
                <a:ea typeface="Hiragino Sans"/>
                <a:cs typeface="Hiragino Sans"/>
              </a:rPr>
              <a:t>収集・管理</a:t>
            </a:r>
          </a:p>
        </p:txBody>
      </p:sp>
      <p:sp>
        <p:nvSpPr>
          <p:cNvPr id="13" name="">
            <a:extLst xmlns:a="http://schemas.openxmlformats.org/drawingml/2006/main">
              <a:ext uri="{FF2B5EF4-FFF2-40B4-BE49-F238E27FC236}">
                <a16:creationId xmlns:a16="http://schemas.microsoft.com/office/drawing/2014/main" id="{B47EF844-B5FA-4C61-82BA-2C3B986B6FEE}"/>
              </a:ext>
            </a:extLst>
          </p:cNvPr>
          <p:cNvSpPr>
            <a:spLocks xmlns:a="http://schemas.openxmlformats.org/drawingml/2006/main" noGrp="1"/>
          </p:cNvSpPr>
          <p:nvPr/>
        </p:nvSpPr>
        <p:spPr>
          <a:xfrm xmlns:a="http://schemas.openxmlformats.org/drawingml/2006/main" rot="0">
            <a:off x="5095875"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現場運用</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データ品質</a:t>
            </a:r>
          </a:p>
          <a:p xmlns:a="http://schemas.openxmlformats.org/drawingml/2006/main">
            <a:pPr algn="ctr">
              <a:defRPr sz="1350" b="0">
                <a:solidFill>
                  <a:srgbClr val="E6ECEF"/>
                </a:solidFill>
                <a:latin typeface="Hiragino Sans"/>
                <a:ea typeface="Hiragino Sans"/>
                <a:cs typeface="Hiragino Sans"/>
              </a:defRPr>
            </a:pPr>
            <a:r>
              <a:rPr sz="1350" b="0">
                <a:solidFill>
                  <a:srgbClr val="E6ECEF"/>
                </a:solidFill>
                <a:latin typeface="Hiragino Sans"/>
                <a:ea typeface="Hiragino Sans"/>
                <a:cs typeface="Hiragino Sans"/>
              </a:rPr>
              <a:t>販売フロー</a:t>
            </a:r>
          </a:p>
        </p:txBody>
      </p:sp>
      <p:sp>
        <p:nvSpPr>
          <p:cNvPr id="14" name="">
            <a:extLst xmlns:a="http://schemas.openxmlformats.org/drawingml/2006/main">
              <a:ext uri="{FF2B5EF4-FFF2-40B4-BE49-F238E27FC236}">
                <a16:creationId xmlns:a16="http://schemas.microsoft.com/office/drawing/2014/main" id="{7F9B30B9-DFE5-4414-B18B-4FC21FCB3F97}"/>
              </a:ext>
            </a:extLst>
          </p:cNvPr>
          <p:cNvSpPr>
            <a:spLocks xmlns:a="http://schemas.openxmlformats.org/drawingml/2006/main" noGrp="1"/>
          </p:cNvSpPr>
          <p:nvPr/>
        </p:nvSpPr>
        <p:spPr>
          <a:xfrm xmlns:a="http://schemas.openxmlformats.org/drawingml/2006/main">
            <a:off x="8896350" y="2400300"/>
            <a:ext cx="2571750" cy="1885950"/>
          </a:xfrm>
          <a:prstGeom xmlns:a="http://schemas.openxmlformats.org/drawingml/2006/main" prst="rect">
            <a:avLst/>
          </a:prstGeom>
          <a:solidFill xmlns:a="http://schemas.openxmlformats.org/drawingml/2006/main">
            <a:srgbClr val="FFFFFF"/>
          </a:solidFill>
          <a:ln xmlns:a="http://schemas.openxmlformats.org/drawingml/2006/main" w="9525">
            <a:solidFill>
              <a:srgbClr val="AAB6BC"/>
            </a:solidFill>
          </a:ln>
        </p:spPr>
      </p:sp>
      <p:sp>
        <p:nvSpPr>
          <p:cNvPr id="15" name="">
            <a:extLst xmlns:a="http://schemas.openxmlformats.org/drawingml/2006/main">
              <a:ext uri="{FF2B5EF4-FFF2-40B4-BE49-F238E27FC236}">
                <a16:creationId xmlns:a16="http://schemas.microsoft.com/office/drawing/2014/main" id="{DEF61FCD-E5FF-4546-88C4-F3D45027635B}"/>
              </a:ext>
            </a:extLst>
          </p:cNvPr>
          <p:cNvSpPr>
            <a:spLocks xmlns:a="http://schemas.openxmlformats.org/drawingml/2006/main" noGrp="1"/>
          </p:cNvSpPr>
          <p:nvPr/>
        </p:nvSpPr>
        <p:spPr>
          <a:xfrm xmlns:a="http://schemas.openxmlformats.org/drawingml/2006/main" rot="0">
            <a:off x="9182100" y="2695575"/>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950" b="1">
                <a:solidFill>
                  <a:srgbClr val="15191B"/>
                </a:solidFill>
                <a:latin typeface="Hiragino Sans"/>
                <a:ea typeface="Hiragino Sans"/>
                <a:cs typeface="Hiragino Sans"/>
              </a:defRPr>
            </a:pPr>
            <a:r>
              <a:rPr sz="1950" b="1">
                <a:solidFill>
                  <a:srgbClr val="15191B"/>
                </a:solidFill>
                <a:latin typeface="Hiragino Sans"/>
                <a:ea typeface="Hiragino Sans"/>
                <a:cs typeface="Hiragino Sans"/>
              </a:rPr>
              <a:t>データバイヤー</a:t>
            </a:r>
          </a:p>
        </p:txBody>
      </p:sp>
      <p:sp>
        <p:nvSpPr>
          <p:cNvPr id="16" name="">
            <a:extLst xmlns:a="http://schemas.openxmlformats.org/drawingml/2006/main">
              <a:ext uri="{FF2B5EF4-FFF2-40B4-BE49-F238E27FC236}">
                <a16:creationId xmlns:a16="http://schemas.microsoft.com/office/drawing/2014/main" id="{2E0D86FF-AC48-4F53-ACD6-46DE7DEAFDDD}"/>
              </a:ext>
            </a:extLst>
          </p:cNvPr>
          <p:cNvSpPr>
            <a:spLocks xmlns:a="http://schemas.openxmlformats.org/drawingml/2006/main" noGrp="1"/>
          </p:cNvSpPr>
          <p:nvPr/>
        </p:nvSpPr>
        <p:spPr>
          <a:xfrm xmlns:a="http://schemas.openxmlformats.org/drawingml/2006/main" rot="0">
            <a:off x="9182100" y="3248025"/>
            <a:ext cx="2000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モデル開発企業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データ加工企業</a:t>
            </a:r>
          </a:p>
          <a:p xmlns:a="http://schemas.openxmlformats.org/drawingml/2006/main">
            <a:pPr algn="ctr">
              <a:defRPr sz="1350" b="0">
                <a:solidFill>
                  <a:srgbClr val="58646A"/>
                </a:solidFill>
                <a:latin typeface="Hiragino Sans"/>
                <a:ea typeface="Hiragino Sans"/>
                <a:cs typeface="Hiragino Sans"/>
              </a:defRPr>
            </a:pPr>
            <a:r>
              <a:rPr sz="1350" b="0">
                <a:solidFill>
                  <a:srgbClr val="58646A"/>
                </a:solidFill>
                <a:latin typeface="Hiragino Sans"/>
                <a:ea typeface="Hiragino Sans"/>
                <a:cs typeface="Hiragino Sans"/>
              </a:rPr>
              <a:t>ロボット企業</a:t>
            </a:r>
          </a:p>
        </p:txBody>
      </p:sp>
      <p:sp>
        <p:nvSpPr>
          <p:cNvPr id="17" name="">
            <a:extLst xmlns:a="http://schemas.openxmlformats.org/drawingml/2006/main">
              <a:ext uri="{FF2B5EF4-FFF2-40B4-BE49-F238E27FC236}">
                <a16:creationId xmlns:a16="http://schemas.microsoft.com/office/drawing/2014/main" id="{2C6731AE-22EF-472C-B30D-5835E76E208C}"/>
              </a:ext>
            </a:extLst>
          </p:cNvPr>
          <p:cNvSpPr>
            <a:spLocks xmlns:a="http://schemas.openxmlformats.org/drawingml/2006/main" noGrp="1"/>
          </p:cNvSpPr>
          <p:nvPr/>
        </p:nvSpPr>
        <p:spPr>
          <a:xfrm xmlns:a="http://schemas.openxmlformats.org/drawingml/2006/main">
            <a:off x="3295650"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1BDFE8F-7ACE-4B36-BDD4-39047F561DFC}"/>
              </a:ext>
            </a:extLst>
          </p:cNvPr>
          <p:cNvSpPr>
            <a:spLocks xmlns:a="http://schemas.openxmlformats.org/drawingml/2006/main" noGrp="1"/>
          </p:cNvSpPr>
          <p:nvPr/>
        </p:nvSpPr>
        <p:spPr>
          <a:xfrm xmlns:a="http://schemas.openxmlformats.org/drawingml/2006/main">
            <a:off x="7381875" y="3343275"/>
            <a:ext cx="1514475" cy="1905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AC44101-BE04-4F08-8719-EF6DFDA90BEE}"/>
              </a:ext>
            </a:extLst>
          </p:cNvPr>
          <p:cNvSpPr>
            <a:spLocks xmlns:a="http://schemas.openxmlformats.org/drawingml/2006/main" noGrp="1"/>
          </p:cNvSpPr>
          <p:nvPr/>
        </p:nvSpPr>
        <p:spPr>
          <a:xfrm xmlns:a="http://schemas.openxmlformats.org/drawingml/2006/main" rot="0">
            <a:off x="3209925" y="3533775"/>
            <a:ext cx="1676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売上の50%を還元</a:t>
            </a:r>
          </a:p>
        </p:txBody>
      </p:sp>
      <p:sp>
        <p:nvSpPr>
          <p:cNvPr id="20" name="">
            <a:extLst xmlns:a="http://schemas.openxmlformats.org/drawingml/2006/main">
              <a:ext uri="{FF2B5EF4-FFF2-40B4-BE49-F238E27FC236}">
                <a16:creationId xmlns:a16="http://schemas.microsoft.com/office/drawing/2014/main" id="{5591672E-9A5D-47D7-8B08-E8414079B287}"/>
              </a:ext>
            </a:extLst>
          </p:cNvPr>
          <p:cNvSpPr>
            <a:spLocks xmlns:a="http://schemas.openxmlformats.org/drawingml/2006/main" noGrp="1"/>
          </p:cNvSpPr>
          <p:nvPr/>
        </p:nvSpPr>
        <p:spPr>
          <a:xfrm xmlns:a="http://schemas.openxmlformats.org/drawingml/2006/main" rot="0">
            <a:off x="7458075" y="3533775"/>
            <a:ext cx="1352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データを販売</a:t>
            </a:r>
          </a:p>
        </p:txBody>
      </p:sp>
      <p:sp>
        <p:nvSpPr>
          <p:cNvPr id="21" name="">
            <a:extLst xmlns:a="http://schemas.openxmlformats.org/drawingml/2006/main">
              <a:ext uri="{FF2B5EF4-FFF2-40B4-BE49-F238E27FC236}">
                <a16:creationId xmlns:a16="http://schemas.microsoft.com/office/drawing/2014/main" id="{9C16496A-DC81-4DBA-ADF2-CA1420582BEE}"/>
              </a:ext>
            </a:extLst>
          </p:cNvPr>
          <p:cNvSpPr>
            <a:spLocks xmlns:a="http://schemas.openxmlformats.org/drawingml/2006/main" noGrp="1"/>
          </p:cNvSpPr>
          <p:nvPr/>
        </p:nvSpPr>
        <p:spPr>
          <a:xfrm xmlns:a="http://schemas.openxmlformats.org/drawingml/2006/main">
            <a:off x="723900" y="4800600"/>
            <a:ext cx="107442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25597369-5BDA-4011-9561-B46200172F00}"/>
              </a:ext>
            </a:extLst>
          </p:cNvPr>
          <p:cNvSpPr>
            <a:spLocks xmlns:a="http://schemas.openxmlformats.org/drawingml/2006/main" noGrp="1"/>
          </p:cNvSpPr>
          <p:nvPr/>
        </p:nvSpPr>
        <p:spPr>
          <a:xfrm xmlns:a="http://schemas.openxmlformats.org/drawingml/2006/main" rot="0">
            <a:off x="723900" y="5191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15191B"/>
                </a:solidFill>
                <a:latin typeface="Hiragino Sans"/>
                <a:ea typeface="Hiragino Sans"/>
                <a:cs typeface="Hiragino Sans"/>
              </a:defRPr>
            </a:pPr>
            <a:r>
              <a:rPr sz="1725" b="1">
                <a:solidFill>
                  <a:srgbClr val="15191B"/>
                </a:solidFill>
                <a:latin typeface="Hiragino Sans"/>
                <a:ea typeface="Hiragino Sans"/>
                <a:cs typeface="Hiragino Sans"/>
              </a:rPr>
              <a:t>撮影先と販売先という2種類の市場を開拓する必要があり、両面を同時に開拓することは簡単ではない。現段階では、若干現場開拓が先行している。</a:t>
            </a:r>
          </a:p>
        </p:txBody>
      </p:sp>
    </p:spTree>
    <p:extLst>
      <p:ext uri="{BB962C8B-B14F-4D97-AF65-F5344CB8AC3E}">
        <p14:creationId xmlns:p14="http://schemas.microsoft.com/office/powerpoint/2010/main" val="307296259"/>
      </p:ext>
    </p:extLst>
  </p:cSld>
</p:sld>
</file>

<file path=ppt/slides/slide1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5051D35-1922-4E49-ADE0-95E75E5F004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CB579F9-C8CE-46A5-9ED3-89FDE1F345B4}"/>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これまでの活動実績｜現場開拓</a:t>
            </a:r>
          </a:p>
        </p:txBody>
      </p:sp>
      <p:sp>
        <p:nvSpPr>
          <p:cNvPr id="3" name="">
            <a:extLst xmlns:a="http://schemas.openxmlformats.org/drawingml/2006/main">
              <a:ext uri="{FF2B5EF4-FFF2-40B4-BE49-F238E27FC236}">
                <a16:creationId xmlns:a16="http://schemas.microsoft.com/office/drawing/2014/main" id="{6D7BF323-83FC-47DD-A986-5F428AEB651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8FF324A-6E87-4818-A1F0-605E8855B2F0}"/>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14</a:t>
            </a:r>
          </a:p>
        </p:txBody>
      </p:sp>
      <p:sp>
        <p:nvSpPr>
          <p:cNvPr id="5" name="">
            <a:extLst xmlns:a="http://schemas.openxmlformats.org/drawingml/2006/main">
              <a:ext uri="{FF2B5EF4-FFF2-40B4-BE49-F238E27FC236}">
                <a16:creationId xmlns:a16="http://schemas.microsoft.com/office/drawing/2014/main" id="{34201B11-7DB5-441D-AAD9-660AC338FC22}"/>
              </a:ext>
            </a:extLst>
          </p:cNvPr>
          <p:cNvSpPr>
            <a:spLocks xmlns:a="http://schemas.openxmlformats.org/drawingml/2006/main" noGrp="1"/>
          </p:cNvSpPr>
          <p:nvPr/>
        </p:nvSpPr>
        <p:spPr>
          <a:xfrm xmlns:a="http://schemas.openxmlformats.org/drawingml/2006/main" rot="0">
            <a:off x="723900" y="180975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飛び込み営業</a:t>
            </a:r>
          </a:p>
        </p:txBody>
      </p:sp>
      <p:sp>
        <p:nvSpPr>
          <p:cNvPr id="6" name="">
            <a:extLst xmlns:a="http://schemas.openxmlformats.org/drawingml/2006/main">
              <a:ext uri="{FF2B5EF4-FFF2-40B4-BE49-F238E27FC236}">
                <a16:creationId xmlns:a16="http://schemas.microsoft.com/office/drawing/2014/main" id="{692ACF96-12DB-4F0A-9176-C2C6FC0C43DE}"/>
              </a:ext>
            </a:extLst>
          </p:cNvPr>
          <p:cNvSpPr>
            <a:spLocks xmlns:a="http://schemas.openxmlformats.org/drawingml/2006/main" noGrp="1"/>
          </p:cNvSpPr>
          <p:nvPr/>
        </p:nvSpPr>
        <p:spPr>
          <a:xfrm xmlns:a="http://schemas.openxmlformats.org/drawingml/2006/main" rot="0">
            <a:off x="3714750" y="179070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30件ほどの現場へ訪問。そこで出会ったベーカリー経営者の許可のもと、店舗で実際にデータ収集をテストした。</a:t>
            </a:r>
          </a:p>
        </p:txBody>
      </p:sp>
      <p:sp>
        <p:nvSpPr>
          <p:cNvPr id="7" name="">
            <a:extLst xmlns:a="http://schemas.openxmlformats.org/drawingml/2006/main">
              <a:ext uri="{FF2B5EF4-FFF2-40B4-BE49-F238E27FC236}">
                <a16:creationId xmlns:a16="http://schemas.microsoft.com/office/drawing/2014/main" id="{7F54F08B-FDFE-4411-A036-282B58BF2297}"/>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74D890E-C45B-4047-913F-4C56B984045A}"/>
              </a:ext>
            </a:extLst>
          </p:cNvPr>
          <p:cNvSpPr>
            <a:spLocks xmlns:a="http://schemas.openxmlformats.org/drawingml/2006/main" noGrp="1"/>
          </p:cNvSpPr>
          <p:nvPr/>
        </p:nvSpPr>
        <p:spPr>
          <a:xfrm xmlns:a="http://schemas.openxmlformats.org/drawingml/2006/main" rot="0">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ベーカリー</a:t>
            </a:r>
          </a:p>
        </p:txBody>
      </p:sp>
      <p:sp>
        <p:nvSpPr>
          <p:cNvPr id="9" name="">
            <a:extLst xmlns:a="http://schemas.openxmlformats.org/drawingml/2006/main">
              <a:ext uri="{FF2B5EF4-FFF2-40B4-BE49-F238E27FC236}">
                <a16:creationId xmlns:a16="http://schemas.microsoft.com/office/drawing/2014/main" id="{2224AE4E-ED18-4F0D-B00E-96362251AF92}"/>
              </a:ext>
            </a:extLst>
          </p:cNvPr>
          <p:cNvSpPr>
            <a:spLocks xmlns:a="http://schemas.openxmlformats.org/drawingml/2006/main" noGrp="1"/>
          </p:cNvSpPr>
          <p:nvPr/>
        </p:nvSpPr>
        <p:spPr>
          <a:xfrm xmlns:a="http://schemas.openxmlformats.org/drawingml/2006/main" rot="0">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スタッフから逐一フィードバックを受け、撮影機材を改善。合計50時間ほどのデータを収集した。</a:t>
            </a:r>
          </a:p>
        </p:txBody>
      </p:sp>
      <p:sp>
        <p:nvSpPr>
          <p:cNvPr id="10" name="">
            <a:extLst xmlns:a="http://schemas.openxmlformats.org/drawingml/2006/main">
              <a:ext uri="{FF2B5EF4-FFF2-40B4-BE49-F238E27FC236}">
                <a16:creationId xmlns:a16="http://schemas.microsoft.com/office/drawing/2014/main" id="{83D0C676-629A-41C6-9E6C-52D38E2DE649}"/>
              </a:ext>
            </a:extLst>
          </p:cNvPr>
          <p:cNvSpPr>
            <a:spLocks xmlns:a="http://schemas.openxmlformats.org/drawingml/2006/main" noGrp="1"/>
          </p:cNvSpPr>
          <p:nvPr/>
        </p:nvSpPr>
        <p:spPr>
          <a:xfrm xmlns:a="http://schemas.openxmlformats.org/drawingml/2006/main">
            <a:off x="723900" y="35242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8C628E1-B891-4C36-A128-6BF5652E8243}"/>
              </a:ext>
            </a:extLst>
          </p:cNvPr>
          <p:cNvSpPr>
            <a:spLocks xmlns:a="http://schemas.openxmlformats.org/drawingml/2006/main" noGrp="1"/>
          </p:cNvSpPr>
          <p:nvPr/>
        </p:nvSpPr>
        <p:spPr>
          <a:xfrm xmlns:a="http://schemas.openxmlformats.org/drawingml/2006/main" rot="0">
            <a:off x="723900" y="36195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カフェチェーン</a:t>
            </a:r>
          </a:p>
        </p:txBody>
      </p:sp>
      <p:sp>
        <p:nvSpPr>
          <p:cNvPr id="12" name="">
            <a:extLst xmlns:a="http://schemas.openxmlformats.org/drawingml/2006/main">
              <a:ext uri="{FF2B5EF4-FFF2-40B4-BE49-F238E27FC236}">
                <a16:creationId xmlns:a16="http://schemas.microsoft.com/office/drawing/2014/main" id="{1B74E954-5D7E-4FC1-9E20-C37584DA080C}"/>
              </a:ext>
            </a:extLst>
          </p:cNvPr>
          <p:cNvSpPr>
            <a:spLocks xmlns:a="http://schemas.openxmlformats.org/drawingml/2006/main" noGrp="1"/>
          </p:cNvSpPr>
          <p:nvPr/>
        </p:nvSpPr>
        <p:spPr>
          <a:xfrm xmlns:a="http://schemas.openxmlformats.org/drawingml/2006/main" rot="0">
            <a:off x="3714750" y="36004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SNSのDMを通じて複数の飲食店に連絡し、神戸の一社と合意の手続きを進めている。</a:t>
            </a:r>
          </a:p>
        </p:txBody>
      </p:sp>
      <p:sp>
        <p:nvSpPr>
          <p:cNvPr id="13" name="">
            <a:extLst xmlns:a="http://schemas.openxmlformats.org/drawingml/2006/main">
              <a:ext uri="{FF2B5EF4-FFF2-40B4-BE49-F238E27FC236}">
                <a16:creationId xmlns:a16="http://schemas.microsoft.com/office/drawing/2014/main" id="{9D69BB58-1ED1-4A63-A394-129B595D7CCD}"/>
              </a:ext>
            </a:extLst>
          </p:cNvPr>
          <p:cNvSpPr>
            <a:spLocks xmlns:a="http://schemas.openxmlformats.org/drawingml/2006/main" noGrp="1"/>
          </p:cNvSpPr>
          <p:nvPr/>
        </p:nvSpPr>
        <p:spPr>
          <a:xfrm xmlns:a="http://schemas.openxmlformats.org/drawingml/2006/main">
            <a:off x="723900" y="4429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A82CBA0-7DCA-4D55-AA2B-B8604943A119}"/>
              </a:ext>
            </a:extLst>
          </p:cNvPr>
          <p:cNvSpPr>
            <a:spLocks xmlns:a="http://schemas.openxmlformats.org/drawingml/2006/main" noGrp="1"/>
          </p:cNvSpPr>
          <p:nvPr/>
        </p:nvSpPr>
        <p:spPr>
          <a:xfrm xmlns:a="http://schemas.openxmlformats.org/drawingml/2006/main" rot="0">
            <a:off x="723900" y="4524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スーパーマーケット</a:t>
            </a:r>
          </a:p>
        </p:txBody>
      </p:sp>
      <p:sp>
        <p:nvSpPr>
          <p:cNvPr id="15" name="">
            <a:extLst xmlns:a="http://schemas.openxmlformats.org/drawingml/2006/main">
              <a:ext uri="{FF2B5EF4-FFF2-40B4-BE49-F238E27FC236}">
                <a16:creationId xmlns:a16="http://schemas.microsoft.com/office/drawing/2014/main" id="{D9278D76-8619-4D8E-A871-731A01AA2B68}"/>
              </a:ext>
            </a:extLst>
          </p:cNvPr>
          <p:cNvSpPr>
            <a:spLocks xmlns:a="http://schemas.openxmlformats.org/drawingml/2006/main" noGrp="1"/>
          </p:cNvSpPr>
          <p:nvPr/>
        </p:nvSpPr>
        <p:spPr>
          <a:xfrm xmlns:a="http://schemas.openxmlformats.org/drawingml/2006/main" rot="0">
            <a:off x="3714750" y="4505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大崎の紹介で関西のとみづやと接触し、撮影協力について9月17日に直接説明する予定。</a:t>
            </a:r>
          </a:p>
        </p:txBody>
      </p:sp>
      <p:sp>
        <p:nvSpPr>
          <p:cNvPr id="16" name="">
            <a:extLst xmlns:a="http://schemas.openxmlformats.org/drawingml/2006/main">
              <a:ext uri="{FF2B5EF4-FFF2-40B4-BE49-F238E27FC236}">
                <a16:creationId xmlns:a16="http://schemas.microsoft.com/office/drawing/2014/main" id="{C1342822-2420-4332-97AA-8F26A2332B8A}"/>
              </a:ext>
            </a:extLst>
          </p:cNvPr>
          <p:cNvSpPr>
            <a:spLocks xmlns:a="http://schemas.openxmlformats.org/drawingml/2006/main" noGrp="1"/>
          </p:cNvSpPr>
          <p:nvPr/>
        </p:nvSpPr>
        <p:spPr>
          <a:xfrm xmlns:a="http://schemas.openxmlformats.org/drawingml/2006/main">
            <a:off x="723900" y="53340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B45520D-3AC8-4574-A703-3EFC28421AA7}"/>
              </a:ext>
            </a:extLst>
          </p:cNvPr>
          <p:cNvSpPr>
            <a:spLocks xmlns:a="http://schemas.openxmlformats.org/drawingml/2006/main" noGrp="1"/>
          </p:cNvSpPr>
          <p:nvPr/>
        </p:nvSpPr>
        <p:spPr>
          <a:xfrm xmlns:a="http://schemas.openxmlformats.org/drawingml/2006/main" rot="0">
            <a:off x="723900" y="557212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15C78"/>
                </a:solidFill>
                <a:latin typeface="Hiragino Sans"/>
                <a:ea typeface="Hiragino Sans"/>
                <a:cs typeface="Hiragino Sans"/>
              </a:defRPr>
            </a:pPr>
            <a:r>
              <a:rPr sz="1350" b="1">
                <a:solidFill>
                  <a:srgbClr val="315C78"/>
                </a:solidFill>
                <a:latin typeface="Hiragino Sans"/>
                <a:ea typeface="Hiragino Sans"/>
                <a:cs typeface="Hiragino Sans"/>
              </a:rPr>
              <a:t>直近の動き</a:t>
            </a:r>
          </a:p>
        </p:txBody>
      </p:sp>
      <p:sp>
        <p:nvSpPr>
          <p:cNvPr id="18" name="">
            <a:extLst xmlns:a="http://schemas.openxmlformats.org/drawingml/2006/main">
              <a:ext uri="{FF2B5EF4-FFF2-40B4-BE49-F238E27FC236}">
                <a16:creationId xmlns:a16="http://schemas.microsoft.com/office/drawing/2014/main" id="{CCB4BBFD-0E44-466D-94A1-6B2F5D59D668}"/>
              </a:ext>
            </a:extLst>
          </p:cNvPr>
          <p:cNvSpPr>
            <a:spLocks xmlns:a="http://schemas.openxmlformats.org/drawingml/2006/main" noGrp="1"/>
          </p:cNvSpPr>
          <p:nvPr/>
        </p:nvSpPr>
        <p:spPr>
          <a:xfrm xmlns:a="http://schemas.openxmlformats.org/drawingml/2006/main" rot="0">
            <a:off x="3714750" y="5553075"/>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DENSO WAVEを直接訪問し、産業ロボット領域での協働の可能性を探る。</a:t>
            </a:r>
          </a:p>
        </p:txBody>
      </p:sp>
    </p:spTree>
    <p:extLst>
      <p:ext uri="{BB962C8B-B14F-4D97-AF65-F5344CB8AC3E}">
        <p14:creationId xmlns:p14="http://schemas.microsoft.com/office/powerpoint/2010/main" val="1117607130"/>
      </p:ext>
    </p:extLst>
  </p:cSld>
</p:sld>
</file>

<file path=ppt/slides/slide1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E9DB12D-BE00-41CB-8D05-5CBD40763F2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08D4CB6-9326-4DC6-A9CA-FD8D35CFC100}"/>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これまでの活動実績｜販売先開拓</a:t>
            </a:r>
          </a:p>
        </p:txBody>
      </p:sp>
      <p:sp>
        <p:nvSpPr>
          <p:cNvPr id="3" name="">
            <a:extLst xmlns:a="http://schemas.openxmlformats.org/drawingml/2006/main">
              <a:ext uri="{FF2B5EF4-FFF2-40B4-BE49-F238E27FC236}">
                <a16:creationId xmlns:a16="http://schemas.microsoft.com/office/drawing/2014/main" id="{63C8A7B8-528C-4B7B-AB0A-E90F710114BA}"/>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E7C9E14-DC3D-49B0-93F0-1B0051CE0264}"/>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15</a:t>
            </a:r>
          </a:p>
        </p:txBody>
      </p:sp>
      <p:sp>
        <p:nvSpPr>
          <p:cNvPr id="5" name="">
            <a:extLst xmlns:a="http://schemas.openxmlformats.org/drawingml/2006/main">
              <a:ext uri="{FF2B5EF4-FFF2-40B4-BE49-F238E27FC236}">
                <a16:creationId xmlns:a16="http://schemas.microsoft.com/office/drawing/2014/main" id="{1975799D-6D82-4B47-A857-7CBCF08D7664}"/>
              </a:ext>
            </a:extLst>
          </p:cNvPr>
          <p:cNvSpPr>
            <a:spLocks xmlns:a="http://schemas.openxmlformats.org/drawingml/2006/main" noGrp="1"/>
          </p:cNvSpPr>
          <p:nvPr/>
        </p:nvSpPr>
        <p:spPr>
          <a:xfrm xmlns:a="http://schemas.openxmlformats.org/drawingml/2006/main" rot="0">
            <a:off x="723900" y="185737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海外</a:t>
            </a:r>
          </a:p>
        </p:txBody>
      </p:sp>
      <p:sp>
        <p:nvSpPr>
          <p:cNvPr id="6" name="">
            <a:extLst xmlns:a="http://schemas.openxmlformats.org/drawingml/2006/main">
              <a:ext uri="{FF2B5EF4-FFF2-40B4-BE49-F238E27FC236}">
                <a16:creationId xmlns:a16="http://schemas.microsoft.com/office/drawing/2014/main" id="{EFE7780B-198C-4A0F-8164-4145F8A8C0B7}"/>
              </a:ext>
            </a:extLst>
          </p:cNvPr>
          <p:cNvSpPr>
            <a:spLocks xmlns:a="http://schemas.openxmlformats.org/drawingml/2006/main" noGrp="1"/>
          </p:cNvSpPr>
          <p:nvPr/>
        </p:nvSpPr>
        <p:spPr>
          <a:xfrm xmlns:a="http://schemas.openxmlformats.org/drawingml/2006/main" rot="0">
            <a:off x="723900" y="2286000"/>
            <a:ext cx="1057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FPVlabs、Claru、CortexAI、ScaleAI、ShaipAI、Hyphenbox、PeekAI等、海外8社とやり取りし、ベーカリーのサンプルデータを送付した。合意には至っていない。収集スケールが世界的に見てまだ小さく、低い優先度として扱われているためである。</a:t>
            </a:r>
          </a:p>
        </p:txBody>
      </p:sp>
      <p:sp>
        <p:nvSpPr>
          <p:cNvPr id="7" name="">
            <a:extLst xmlns:a="http://schemas.openxmlformats.org/drawingml/2006/main">
              <a:ext uri="{FF2B5EF4-FFF2-40B4-BE49-F238E27FC236}">
                <a16:creationId xmlns:a16="http://schemas.microsoft.com/office/drawing/2014/main" id="{363C0AD7-D676-40EC-8C10-B30E3BFFED85}"/>
              </a:ext>
            </a:extLst>
          </p:cNvPr>
          <p:cNvSpPr>
            <a:spLocks xmlns:a="http://schemas.openxmlformats.org/drawingml/2006/main" noGrp="1"/>
          </p:cNvSpPr>
          <p:nvPr/>
        </p:nvSpPr>
        <p:spPr>
          <a:xfrm xmlns:a="http://schemas.openxmlformats.org/drawingml/2006/main">
            <a:off x="723900" y="38576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295C7FA-DF1B-4A62-9BBC-5988C55B6D69}"/>
              </a:ext>
            </a:extLst>
          </p:cNvPr>
          <p:cNvSpPr>
            <a:spLocks xmlns:a="http://schemas.openxmlformats.org/drawingml/2006/main" noGrp="1"/>
          </p:cNvSpPr>
          <p:nvPr/>
        </p:nvSpPr>
        <p:spPr>
          <a:xfrm xmlns:a="http://schemas.openxmlformats.org/drawingml/2006/main" rot="0">
            <a:off x="723900" y="41719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国内｜Nextremer</a:t>
            </a:r>
          </a:p>
        </p:txBody>
      </p:sp>
      <p:sp>
        <p:nvSpPr>
          <p:cNvPr id="9" name="">
            <a:extLst xmlns:a="http://schemas.openxmlformats.org/drawingml/2006/main">
              <a:ext uri="{FF2B5EF4-FFF2-40B4-BE49-F238E27FC236}">
                <a16:creationId xmlns:a16="http://schemas.microsoft.com/office/drawing/2014/main" id="{B2DA01FE-CF38-4D69-B9D1-EE173972DB00}"/>
              </a:ext>
            </a:extLst>
          </p:cNvPr>
          <p:cNvSpPr>
            <a:spLocks xmlns:a="http://schemas.openxmlformats.org/drawingml/2006/main" noGrp="1"/>
          </p:cNvSpPr>
          <p:nvPr/>
        </p:nvSpPr>
        <p:spPr>
          <a:xfrm xmlns:a="http://schemas.openxmlformats.org/drawingml/2006/main" rot="0">
            <a:off x="723900" y="4572000"/>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フィジカルAI向けデータの加工・販売サービスへの掲載を調整中。現場合意書のシステム構築と、現場合意の取り方を擦り合わせている。データ加工を経由することで、プライバシー処理の責任分散と、高度なアノテーション付きデータを求める販売先への接続が可能になる。</a:t>
            </a:r>
          </a:p>
        </p:txBody>
      </p:sp>
      <p:sp>
        <p:nvSpPr>
          <p:cNvPr id="10" name="">
            <a:extLst xmlns:a="http://schemas.openxmlformats.org/drawingml/2006/main">
              <a:ext uri="{FF2B5EF4-FFF2-40B4-BE49-F238E27FC236}">
                <a16:creationId xmlns:a16="http://schemas.microsoft.com/office/drawing/2014/main" id="{B473E921-D685-4F81-AF47-6D1F1B33045C}"/>
              </a:ext>
            </a:extLst>
          </p:cNvPr>
          <p:cNvSpPr>
            <a:spLocks xmlns:a="http://schemas.openxmlformats.org/drawingml/2006/main" noGrp="1"/>
          </p:cNvSpPr>
          <p:nvPr/>
        </p:nvSpPr>
        <p:spPr>
          <a:xfrm xmlns:a="http://schemas.openxmlformats.org/drawingml/2006/main" rot="0">
            <a:off x="723900" y="576262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月10,000時間では50〜150TBに達するストレージも、Nextremerへ格納することで自社負担を抑えられる。</a:t>
            </a:r>
          </a:p>
        </p:txBody>
      </p:sp>
    </p:spTree>
    <p:extLst>
      <p:ext uri="{BB962C8B-B14F-4D97-AF65-F5344CB8AC3E}">
        <p14:creationId xmlns:p14="http://schemas.microsoft.com/office/powerpoint/2010/main" val="1407028741"/>
      </p:ext>
    </p:extLst>
  </p:cSld>
</p:sld>
</file>

<file path=ppt/slides/slide1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2A1E034-521C-4DF5-B390-B482CFC8994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2F206DE-2AAB-4F36-BB1B-11C66B1B0C0D}"/>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チーム体制</a:t>
            </a:r>
          </a:p>
        </p:txBody>
      </p:sp>
      <p:sp>
        <p:nvSpPr>
          <p:cNvPr id="3" name="">
            <a:extLst xmlns:a="http://schemas.openxmlformats.org/drawingml/2006/main">
              <a:ext uri="{FF2B5EF4-FFF2-40B4-BE49-F238E27FC236}">
                <a16:creationId xmlns:a16="http://schemas.microsoft.com/office/drawing/2014/main" id="{A5169ADA-88D2-4B5C-8D37-F49756D234D9}"/>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65BAEC9-805A-4455-8DCF-43CC5DA5688B}"/>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16</a:t>
            </a:r>
          </a:p>
        </p:txBody>
      </p:sp>
      <p:sp>
        <p:nvSpPr>
          <p:cNvPr id="5" name="">
            <a:extLst xmlns:a="http://schemas.openxmlformats.org/drawingml/2006/main">
              <a:ext uri="{FF2B5EF4-FFF2-40B4-BE49-F238E27FC236}">
                <a16:creationId xmlns:a16="http://schemas.microsoft.com/office/drawing/2014/main" id="{C43D628F-6B91-4A13-98A7-EB7D6A84DC87}"/>
              </a:ext>
            </a:extLst>
          </p:cNvPr>
          <p:cNvSpPr>
            <a:spLocks xmlns:a="http://schemas.openxmlformats.org/drawingml/2006/main" noGrp="1"/>
          </p:cNvSpPr>
          <p:nvPr/>
        </p:nvSpPr>
        <p:spPr>
          <a:xfrm xmlns:a="http://schemas.openxmlformats.org/drawingml/2006/main" rot="0">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森｜共同創業者</a:t>
            </a:r>
          </a:p>
        </p:txBody>
      </p:sp>
      <p:sp>
        <p:nvSpPr>
          <p:cNvPr id="6" name="">
            <a:extLst xmlns:a="http://schemas.openxmlformats.org/drawingml/2006/main">
              <a:ext uri="{FF2B5EF4-FFF2-40B4-BE49-F238E27FC236}">
                <a16:creationId xmlns:a16="http://schemas.microsoft.com/office/drawing/2014/main" id="{D6F4BFA2-7142-47B2-94DF-405082FEEE58}"/>
              </a:ext>
            </a:extLst>
          </p:cNvPr>
          <p:cNvSpPr>
            <a:spLocks xmlns:a="http://schemas.openxmlformats.org/drawingml/2006/main" noGrp="1"/>
          </p:cNvSpPr>
          <p:nvPr/>
        </p:nvSpPr>
        <p:spPr>
          <a:xfrm xmlns:a="http://schemas.openxmlformats.org/drawingml/2006/main" rot="0">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大阪大学基礎工学部卒業後、本事業を立ち上げ。現場開拓、販売先開拓、撮影デバイスの設計・開発、事業全体の推進を担う。</a:t>
            </a:r>
          </a:p>
        </p:txBody>
      </p:sp>
      <p:sp>
        <p:nvSpPr>
          <p:cNvPr id="7" name="">
            <a:extLst xmlns:a="http://schemas.openxmlformats.org/drawingml/2006/main">
              <a:ext uri="{FF2B5EF4-FFF2-40B4-BE49-F238E27FC236}">
                <a16:creationId xmlns:a16="http://schemas.microsoft.com/office/drawing/2014/main" id="{E5C002A5-5354-4E3E-AE2E-EA8F244785A5}"/>
              </a:ext>
            </a:extLst>
          </p:cNvPr>
          <p:cNvSpPr>
            <a:spLocks xmlns:a="http://schemas.openxmlformats.org/drawingml/2006/main" noGrp="1"/>
          </p:cNvSpPr>
          <p:nvPr/>
        </p:nvSpPr>
        <p:spPr>
          <a:xfrm xmlns:a="http://schemas.openxmlformats.org/drawingml/2006/main">
            <a:off x="723900" y="2619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10A31D1-DD97-4F4C-9E6D-15836339C767}"/>
              </a:ext>
            </a:extLst>
          </p:cNvPr>
          <p:cNvSpPr>
            <a:spLocks xmlns:a="http://schemas.openxmlformats.org/drawingml/2006/main" noGrp="1"/>
          </p:cNvSpPr>
          <p:nvPr/>
        </p:nvSpPr>
        <p:spPr>
          <a:xfrm xmlns:a="http://schemas.openxmlformats.org/drawingml/2006/main" rot="0">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河野｜共同創業者</a:t>
            </a:r>
          </a:p>
        </p:txBody>
      </p:sp>
      <p:sp>
        <p:nvSpPr>
          <p:cNvPr id="9" name="">
            <a:extLst xmlns:a="http://schemas.openxmlformats.org/drawingml/2006/main">
              <a:ext uri="{FF2B5EF4-FFF2-40B4-BE49-F238E27FC236}">
                <a16:creationId xmlns:a16="http://schemas.microsoft.com/office/drawing/2014/main" id="{82579DE8-90DE-4DB1-A059-2F7DE192386E}"/>
              </a:ext>
            </a:extLst>
          </p:cNvPr>
          <p:cNvSpPr>
            <a:spLocks xmlns:a="http://schemas.openxmlformats.org/drawingml/2006/main" noGrp="1"/>
          </p:cNvSpPr>
          <p:nvPr/>
        </p:nvSpPr>
        <p:spPr>
          <a:xfrm xmlns:a="http://schemas.openxmlformats.org/drawingml/2006/main" rot="0">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神戸大学大学院情報学研究科の院生。フィジカルAIの中でもシミュレーション領域を研究しながら、事業の立ち上げに参画。</a:t>
            </a:r>
          </a:p>
        </p:txBody>
      </p:sp>
      <p:sp>
        <p:nvSpPr>
          <p:cNvPr id="10" name="">
            <a:extLst xmlns:a="http://schemas.openxmlformats.org/drawingml/2006/main">
              <a:ext uri="{FF2B5EF4-FFF2-40B4-BE49-F238E27FC236}">
                <a16:creationId xmlns:a16="http://schemas.microsoft.com/office/drawing/2014/main" id="{5C9DC213-1DDD-4695-A449-2FE243A85DE8}"/>
              </a:ext>
            </a:extLst>
          </p:cNvPr>
          <p:cNvSpPr>
            <a:spLocks xmlns:a="http://schemas.openxmlformats.org/drawingml/2006/main" noGrp="1"/>
          </p:cNvSpPr>
          <p:nvPr/>
        </p:nvSpPr>
        <p:spPr>
          <a:xfrm xmlns:a="http://schemas.openxmlformats.org/drawingml/2006/main">
            <a:off x="723900" y="35718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E498006-846A-4279-9612-E63DCC148717}"/>
              </a:ext>
            </a:extLst>
          </p:cNvPr>
          <p:cNvSpPr>
            <a:spLocks xmlns:a="http://schemas.openxmlformats.org/drawingml/2006/main" noGrp="1"/>
          </p:cNvSpPr>
          <p:nvPr/>
        </p:nvSpPr>
        <p:spPr>
          <a:xfrm xmlns:a="http://schemas.openxmlformats.org/drawingml/2006/main" rot="0">
            <a:off x="723900" y="3667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川島｜現場提供者</a:t>
            </a:r>
          </a:p>
        </p:txBody>
      </p:sp>
      <p:sp>
        <p:nvSpPr>
          <p:cNvPr id="12" name="">
            <a:extLst xmlns:a="http://schemas.openxmlformats.org/drawingml/2006/main">
              <a:ext uri="{FF2B5EF4-FFF2-40B4-BE49-F238E27FC236}">
                <a16:creationId xmlns:a16="http://schemas.microsoft.com/office/drawing/2014/main" id="{6C8AC2CE-09D3-4AC3-B031-7B9057736C9A}"/>
              </a:ext>
            </a:extLst>
          </p:cNvPr>
          <p:cNvSpPr>
            <a:spLocks xmlns:a="http://schemas.openxmlformats.org/drawingml/2006/main" noGrp="1"/>
          </p:cNvSpPr>
          <p:nvPr/>
        </p:nvSpPr>
        <p:spPr>
          <a:xfrm xmlns:a="http://schemas.openxmlformats.org/drawingml/2006/main" rot="0">
            <a:off x="3714750" y="3648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飛び込み営業を通じて出会ったベーカリー経営者。撮影先の拡大に協力し、保有するベーカリーで撮影テストを自由に行う許可を提供。</a:t>
            </a:r>
          </a:p>
        </p:txBody>
      </p:sp>
      <p:sp>
        <p:nvSpPr>
          <p:cNvPr id="13" name="">
            <a:extLst xmlns:a="http://schemas.openxmlformats.org/drawingml/2006/main">
              <a:ext uri="{FF2B5EF4-FFF2-40B4-BE49-F238E27FC236}">
                <a16:creationId xmlns:a16="http://schemas.microsoft.com/office/drawing/2014/main" id="{CD5F5122-267D-45F1-827C-937EB47C66DC}"/>
              </a:ext>
            </a:extLst>
          </p:cNvPr>
          <p:cNvSpPr>
            <a:spLocks xmlns:a="http://schemas.openxmlformats.org/drawingml/2006/main" noGrp="1"/>
          </p:cNvSpPr>
          <p:nvPr/>
        </p:nvSpPr>
        <p:spPr>
          <a:xfrm xmlns:a="http://schemas.openxmlformats.org/drawingml/2006/main">
            <a:off x="723900" y="4524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801067D-1CD7-4C59-A586-EB56E9B0CFAA}"/>
              </a:ext>
            </a:extLst>
          </p:cNvPr>
          <p:cNvSpPr>
            <a:spLocks xmlns:a="http://schemas.openxmlformats.org/drawingml/2006/main" noGrp="1"/>
          </p:cNvSpPr>
          <p:nvPr/>
        </p:nvSpPr>
        <p:spPr>
          <a:xfrm xmlns:a="http://schemas.openxmlformats.org/drawingml/2006/main" rot="0">
            <a:off x="723900" y="4619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大崎｜事業支援</a:t>
            </a:r>
          </a:p>
        </p:txBody>
      </p:sp>
      <p:sp>
        <p:nvSpPr>
          <p:cNvPr id="15" name="">
            <a:extLst xmlns:a="http://schemas.openxmlformats.org/drawingml/2006/main">
              <a:ext uri="{FF2B5EF4-FFF2-40B4-BE49-F238E27FC236}">
                <a16:creationId xmlns:a16="http://schemas.microsoft.com/office/drawing/2014/main" id="{DA2B6424-96A9-4F39-A50A-EE23EDF115E2}"/>
              </a:ext>
            </a:extLst>
          </p:cNvPr>
          <p:cNvSpPr>
            <a:spLocks xmlns:a="http://schemas.openxmlformats.org/drawingml/2006/main" noGrp="1"/>
          </p:cNvSpPr>
          <p:nvPr/>
        </p:nvSpPr>
        <p:spPr>
          <a:xfrm xmlns:a="http://schemas.openxmlformats.org/drawingml/2006/main" rot="0">
            <a:off x="3714750" y="4600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三菱UFJ銀行、関西スーパーマーケット常務取締役・管理本部長を経て、会社立ち上げ、契約・合意書、小売・製造のネットワークを使った現場開拓を支援。</a:t>
            </a:r>
          </a:p>
        </p:txBody>
      </p:sp>
    </p:spTree>
    <p:extLst>
      <p:ext uri="{BB962C8B-B14F-4D97-AF65-F5344CB8AC3E}">
        <p14:creationId xmlns:p14="http://schemas.microsoft.com/office/powerpoint/2010/main" val="1499484504"/>
      </p:ext>
    </p:extLst>
  </p:cSld>
</p:sld>
</file>

<file path=ppt/slides/slide17.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3186E59-EAFA-4F73-A8A3-F1E0A86A365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1C1A950-9277-4BA9-A06D-15CDE41987B1}"/>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撮影デバイスの進化</a:t>
            </a:r>
          </a:p>
        </p:txBody>
      </p:sp>
      <p:sp>
        <p:nvSpPr>
          <p:cNvPr id="3" name="">
            <a:extLst xmlns:a="http://schemas.openxmlformats.org/drawingml/2006/main">
              <a:ext uri="{FF2B5EF4-FFF2-40B4-BE49-F238E27FC236}">
                <a16:creationId xmlns:a16="http://schemas.microsoft.com/office/drawing/2014/main" id="{C2658973-465F-414B-A430-B20133D0D9D2}"/>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189A8B8-B8B5-4AFD-B953-6B726F874FAC}"/>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17</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5cb0582811294042"/>
          <a:srcRect xmlns:a="http://schemas.openxmlformats.org/drawingml/2006/main" l="0" t="24081" r="0" b="24081"/>
          <a:stretch xmlns:a="http://schemas.openxmlformats.org/drawingml/2006/main">
            <a:fillRect l="0" t="0" r="0" b="0"/>
          </a:stretch>
        </p:blipFill>
        <p:spPr>
          <a:xfrm xmlns:a="http://schemas.openxmlformats.org/drawingml/2006/main">
            <a:off x="723900" y="1857375"/>
            <a:ext cx="3238500" cy="2238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CF6A22E-50BC-4122-AECA-4E37C22A88DD}"/>
              </a:ext>
            </a:extLst>
          </p:cNvPr>
          <p:cNvSpPr>
            <a:spLocks xmlns:a="http://schemas.openxmlformats.org/drawingml/2006/main" noGrp="1"/>
          </p:cNvSpPr>
          <p:nvPr/>
        </p:nvSpPr>
        <p:spPr>
          <a:xfrm xmlns:a="http://schemas.openxmlformats.org/drawingml/2006/main" rot="0">
            <a:off x="72390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初回</a:t>
            </a:r>
          </a:p>
        </p:txBody>
      </p:sp>
      <p:sp>
        <p:nvSpPr>
          <p:cNvPr id="7" name="">
            <a:extLst xmlns:a="http://schemas.openxmlformats.org/drawingml/2006/main">
              <a:ext uri="{FF2B5EF4-FFF2-40B4-BE49-F238E27FC236}">
                <a16:creationId xmlns:a16="http://schemas.microsoft.com/office/drawing/2014/main" id="{CCFA3A46-9F4F-447F-9812-F29452111526}"/>
              </a:ext>
            </a:extLst>
          </p:cNvPr>
          <p:cNvSpPr>
            <a:spLocks xmlns:a="http://schemas.openxmlformats.org/drawingml/2006/main" noGrp="1"/>
          </p:cNvSpPr>
          <p:nvPr/>
        </p:nvSpPr>
        <p:spPr>
          <a:xfrm xmlns:a="http://schemas.openxmlformats.org/drawingml/2006/main" rot="0">
            <a:off x="137160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ヘルメット</a:t>
            </a:r>
          </a:p>
        </p:txBody>
      </p:sp>
      <p:sp>
        <p:nvSpPr>
          <p:cNvPr id="8" name="">
            <a:extLst xmlns:a="http://schemas.openxmlformats.org/drawingml/2006/main">
              <a:ext uri="{FF2B5EF4-FFF2-40B4-BE49-F238E27FC236}">
                <a16:creationId xmlns:a16="http://schemas.microsoft.com/office/drawing/2014/main" id="{D991A939-3937-43F1-AD04-611F5727CE6F}"/>
              </a:ext>
            </a:extLst>
          </p:cNvPr>
          <p:cNvSpPr>
            <a:spLocks xmlns:a="http://schemas.openxmlformats.org/drawingml/2006/main" noGrp="1"/>
          </p:cNvSpPr>
          <p:nvPr/>
        </p:nvSpPr>
        <p:spPr>
          <a:xfrm xmlns:a="http://schemas.openxmlformats.org/drawingml/2006/main" rot="0">
            <a:off x="137160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スマートフォンを頭部へ固定</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b7804b2db7814dcf"/>
          <a:srcRect xmlns:a="http://schemas.openxmlformats.org/drawingml/2006/main" l="5872" t="0" r="5872" b="0"/>
          <a:stretch xmlns:a="http://schemas.openxmlformats.org/drawingml/2006/main">
            <a:fillRect l="0" t="0" r="0" b="0"/>
          </a:stretch>
        </p:blipFill>
        <p:spPr>
          <a:xfrm xmlns:a="http://schemas.openxmlformats.org/drawingml/2006/main">
            <a:off x="4314825" y="1857375"/>
            <a:ext cx="3238500" cy="22383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6CDFB1FA-543A-44E3-BF10-8FFC2ED16BFE}"/>
              </a:ext>
            </a:extLst>
          </p:cNvPr>
          <p:cNvSpPr>
            <a:spLocks xmlns:a="http://schemas.openxmlformats.org/drawingml/2006/main" noGrp="1"/>
          </p:cNvSpPr>
          <p:nvPr/>
        </p:nvSpPr>
        <p:spPr>
          <a:xfrm xmlns:a="http://schemas.openxmlformats.org/drawingml/2006/main" rot="0">
            <a:off x="4314825"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次に</a:t>
            </a:r>
          </a:p>
        </p:txBody>
      </p:sp>
      <p:sp>
        <p:nvSpPr>
          <p:cNvPr id="11" name="">
            <a:extLst xmlns:a="http://schemas.openxmlformats.org/drawingml/2006/main">
              <a:ext uri="{FF2B5EF4-FFF2-40B4-BE49-F238E27FC236}">
                <a16:creationId xmlns:a16="http://schemas.microsoft.com/office/drawing/2014/main" id="{9064BAF4-0F89-48CB-8D36-46D3942DB3EA}"/>
              </a:ext>
            </a:extLst>
          </p:cNvPr>
          <p:cNvSpPr>
            <a:spLocks xmlns:a="http://schemas.openxmlformats.org/drawingml/2006/main" noGrp="1"/>
          </p:cNvSpPr>
          <p:nvPr/>
        </p:nvSpPr>
        <p:spPr>
          <a:xfrm xmlns:a="http://schemas.openxmlformats.org/drawingml/2006/main" rot="0">
            <a:off x="4962525"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帽子</a:t>
            </a:r>
          </a:p>
        </p:txBody>
      </p:sp>
      <p:sp>
        <p:nvSpPr>
          <p:cNvPr id="12" name="">
            <a:extLst xmlns:a="http://schemas.openxmlformats.org/drawingml/2006/main">
              <a:ext uri="{FF2B5EF4-FFF2-40B4-BE49-F238E27FC236}">
                <a16:creationId xmlns:a16="http://schemas.microsoft.com/office/drawing/2014/main" id="{59F13D19-D676-42A2-819B-C7F8BB0BB49C}"/>
              </a:ext>
            </a:extLst>
          </p:cNvPr>
          <p:cNvSpPr>
            <a:spLocks xmlns:a="http://schemas.openxmlformats.org/drawingml/2006/main" noGrp="1"/>
          </p:cNvSpPr>
          <p:nvPr/>
        </p:nvSpPr>
        <p:spPr>
          <a:xfrm xmlns:a="http://schemas.openxmlformats.org/drawingml/2006/main" rot="0">
            <a:off x="4962525"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3Dモデルからマウントを設計</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10c260cea4f945b4"/>
          <a:srcRect xmlns:a="http://schemas.openxmlformats.org/drawingml/2006/main" l="0" t="6438" r="0" b="6438"/>
          <a:stretch xmlns:a="http://schemas.openxmlformats.org/drawingml/2006/main">
            <a:fillRect l="0" t="0" r="0" b="0"/>
          </a:stretch>
        </p:blipFill>
        <p:spPr>
          <a:xfrm xmlns:a="http://schemas.openxmlformats.org/drawingml/2006/main">
            <a:off x="7905750" y="1857375"/>
            <a:ext cx="3238500" cy="22383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19F630E1-B165-475B-92CF-695ED46085F9}"/>
              </a:ext>
            </a:extLst>
          </p:cNvPr>
          <p:cNvSpPr>
            <a:spLocks xmlns:a="http://schemas.openxmlformats.org/drawingml/2006/main" noGrp="1"/>
          </p:cNvSpPr>
          <p:nvPr/>
        </p:nvSpPr>
        <p:spPr>
          <a:xfrm xmlns:a="http://schemas.openxmlformats.org/drawingml/2006/main" rot="0">
            <a:off x="7905750" y="4324350"/>
            <a:ext cx="590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315C78"/>
                </a:solidFill>
                <a:latin typeface="Hiragino Sans"/>
                <a:ea typeface="Hiragino Sans"/>
                <a:cs typeface="Hiragino Sans"/>
              </a:defRPr>
            </a:pPr>
            <a:r>
              <a:rPr sz="1125" b="1">
                <a:solidFill>
                  <a:srgbClr val="315C78"/>
                </a:solidFill>
                <a:latin typeface="Hiragino Sans"/>
                <a:ea typeface="Hiragino Sans"/>
                <a:cs typeface="Hiragino Sans"/>
              </a:rPr>
              <a:t>現在</a:t>
            </a:r>
          </a:p>
        </p:txBody>
      </p:sp>
      <p:sp>
        <p:nvSpPr>
          <p:cNvPr id="15" name="">
            <a:extLst xmlns:a="http://schemas.openxmlformats.org/drawingml/2006/main">
              <a:ext uri="{FF2B5EF4-FFF2-40B4-BE49-F238E27FC236}">
                <a16:creationId xmlns:a16="http://schemas.microsoft.com/office/drawing/2014/main" id="{6356E9AF-4FAF-4865-B810-DE934CF4DEBD}"/>
              </a:ext>
            </a:extLst>
          </p:cNvPr>
          <p:cNvSpPr>
            <a:spLocks xmlns:a="http://schemas.openxmlformats.org/drawingml/2006/main" noGrp="1"/>
          </p:cNvSpPr>
          <p:nvPr/>
        </p:nvSpPr>
        <p:spPr>
          <a:xfrm xmlns:a="http://schemas.openxmlformats.org/drawingml/2006/main" rot="0">
            <a:off x="8553450" y="4305300"/>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5191B"/>
                </a:solidFill>
                <a:latin typeface="Hiragino Sans"/>
                <a:ea typeface="Hiragino Sans"/>
                <a:cs typeface="Hiragino Sans"/>
              </a:defRPr>
            </a:pPr>
            <a:r>
              <a:rPr sz="1500" b="1">
                <a:solidFill>
                  <a:srgbClr val="15191B"/>
                </a:solidFill>
                <a:latin typeface="Hiragino Sans"/>
                <a:ea typeface="Hiragino Sans"/>
                <a:cs typeface="Hiragino Sans"/>
              </a:rPr>
              <a:t>メガネ</a:t>
            </a:r>
          </a:p>
        </p:txBody>
      </p:sp>
      <p:sp>
        <p:nvSpPr>
          <p:cNvPr id="16" name="">
            <a:extLst xmlns:a="http://schemas.openxmlformats.org/drawingml/2006/main">
              <a:ext uri="{FF2B5EF4-FFF2-40B4-BE49-F238E27FC236}">
                <a16:creationId xmlns:a16="http://schemas.microsoft.com/office/drawing/2014/main" id="{1E04A445-E473-4215-95BD-F9A772EEE0DF}"/>
              </a:ext>
            </a:extLst>
          </p:cNvPr>
          <p:cNvSpPr>
            <a:spLocks xmlns:a="http://schemas.openxmlformats.org/drawingml/2006/main" noGrp="1"/>
          </p:cNvSpPr>
          <p:nvPr/>
        </p:nvSpPr>
        <p:spPr>
          <a:xfrm xmlns:a="http://schemas.openxmlformats.org/drawingml/2006/main" rot="0">
            <a:off x="8553450" y="4686300"/>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8646A"/>
                </a:solidFill>
                <a:latin typeface="Hiragino Sans"/>
                <a:ea typeface="Hiragino Sans"/>
                <a:cs typeface="Hiragino Sans"/>
              </a:defRPr>
            </a:pPr>
            <a:r>
              <a:rPr sz="1200" b="0">
                <a:solidFill>
                  <a:srgbClr val="58646A"/>
                </a:solidFill>
                <a:latin typeface="Hiragino Sans"/>
                <a:ea typeface="Hiragino Sans"/>
                <a:cs typeface="Hiragino Sans"/>
              </a:rPr>
              <a:t>見た目と長時間装着の負担を低減</a:t>
            </a:r>
          </a:p>
        </p:txBody>
      </p:sp>
      <p:sp>
        <p:nvSpPr>
          <p:cNvPr id="17" name="">
            <a:extLst xmlns:a="http://schemas.openxmlformats.org/drawingml/2006/main">
              <a:ext uri="{FF2B5EF4-FFF2-40B4-BE49-F238E27FC236}">
                <a16:creationId xmlns:a16="http://schemas.microsoft.com/office/drawing/2014/main" id="{993FB479-E083-4F0D-9593-0D7A83669B83}"/>
              </a:ext>
            </a:extLst>
          </p:cNvPr>
          <p:cNvSpPr>
            <a:spLocks xmlns:a="http://schemas.openxmlformats.org/drawingml/2006/main" noGrp="1"/>
          </p:cNvSpPr>
          <p:nvPr/>
        </p:nvSpPr>
        <p:spPr>
          <a:xfrm xmlns:a="http://schemas.openxmlformats.org/drawingml/2006/main">
            <a:off x="723900" y="5334000"/>
            <a:ext cx="104203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81D7348-8CA0-4053-B08B-F81852E8E28A}"/>
              </a:ext>
            </a:extLst>
          </p:cNvPr>
          <p:cNvSpPr>
            <a:spLocks xmlns:a="http://schemas.openxmlformats.org/drawingml/2006/main" noGrp="1"/>
          </p:cNvSpPr>
          <p:nvPr/>
        </p:nvSpPr>
        <p:spPr>
          <a:xfrm xmlns:a="http://schemas.openxmlformats.org/drawingml/2006/main" rot="0">
            <a:off x="723900" y="55721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ベーカリーでスマートグラスを試すと、「これならつけてもいい」と言うスタッフが増えた。軽く見た目に違和感が少ないこと、熱・バッテリーを含め長時間装着できることは、想定以上に現場の許可を左右する。</a:t>
            </a:r>
          </a:p>
        </p:txBody>
      </p:sp>
    </p:spTree>
    <p:extLst>
      <p:ext uri="{BB962C8B-B14F-4D97-AF65-F5344CB8AC3E}">
        <p14:creationId xmlns:p14="http://schemas.microsoft.com/office/powerpoint/2010/main" val="817496525"/>
      </p:ext>
    </p:extLst>
  </p:cSld>
</p:sld>
</file>

<file path=ppt/slides/slide18.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3FA9FB4-57FA-491D-A008-AA6A5FF7B13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B52905E-DB79-44A4-846A-63AD14766DB4}"/>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ユニットエコノミクス｜前提</a:t>
            </a:r>
          </a:p>
        </p:txBody>
      </p:sp>
      <p:sp>
        <p:nvSpPr>
          <p:cNvPr id="3" name="">
            <a:extLst xmlns:a="http://schemas.openxmlformats.org/drawingml/2006/main">
              <a:ext uri="{FF2B5EF4-FFF2-40B4-BE49-F238E27FC236}">
                <a16:creationId xmlns:a16="http://schemas.microsoft.com/office/drawing/2014/main" id="{66DF0D20-E93B-4596-9D1F-D6CFF8BABC6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186E3BE-AAEF-4204-A74D-46FEB5A8E988}"/>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18</a:t>
            </a:r>
          </a:p>
        </p:txBody>
      </p:sp>
      <p:graphicFrame>
        <p:nvGraphicFramePr>
          <p:cNvPr id="12" name=""/>
          <p:cNvGraphicFramePr/>
          <p:nvPr/>
        </p:nvGraphicFramePr>
        <p:xfrm>
          <a:off xmlns:a="http://schemas.openxmlformats.org/drawingml/2006/main" x="723900" y="1857375"/>
          <a:ext xmlns:a="http://schemas.openxmlformats.org/drawingml/2006/main" cx="10572750" cy="3238500"/>
        </p:xfrm>
        <a:graphic xmlns:a="http://schemas.openxmlformats.org/drawingml/2006/main">
          <a:graphicData uri="http://schemas.openxmlformats.org/drawingml/2006/table">
            <a:tbl>
              <a:tblPr/>
              <a:tblGrid>
                <a:gridCol w="3429000"/>
                <a:gridCol w="4476750"/>
                <a:gridCol w="2667000"/>
              </a:tblGrid>
              <a:tr h="539750">
                <a:tc>
                  <a:txBody>
                    <a:bodyPr/>
                    <a:lstStyle/>
                    <a:p>
                      <a:r>
                        <a:rPr sz="1200" b="1">
                          <a:solidFill>
                            <a:srgbClr val="FFFFFF"/>
                          </a:solidFill>
                          <a:latin typeface="Hiragino Sans"/>
                          <a:ea typeface="Hiragino Sans"/>
                          <a:cs typeface="Hiragino Sans"/>
                        </a:rPr>
                        <a:t>項目</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前提</a:t>
                      </a:r>
                    </a:p>
                  </a:txBody>
                  <a:tcPr marL="91440" marR="91440" marT="45720" marB="45720">
                    <a:solidFill>
                      <a:srgbClr val="25333A"/>
                    </a:solidFill>
                  </a:tcPr>
                </a:tc>
                <a:tc>
                  <a:txBody>
                    <a:bodyPr/>
                    <a:lstStyle/>
                    <a:p>
                      <a:r>
                        <a:rPr sz="1200" b="1">
                          <a:solidFill>
                            <a:srgbClr val="FFFFFF"/>
                          </a:solidFill>
                          <a:latin typeface="Hiragino Sans"/>
                          <a:ea typeface="Hiragino Sans"/>
                          <a:cs typeface="Hiragino Sans"/>
                        </a:rPr>
                        <a:t>1時間あたり</a:t>
                      </a:r>
                    </a:p>
                  </a:txBody>
                  <a:tcPr marL="91440" marR="91440" marT="45720" marB="45720">
                    <a:solidFill>
                      <a:srgbClr val="25333A"/>
                    </a:solidFill>
                  </a:tcPr>
                </a:tc>
              </a:tr>
              <a:tr h="539750">
                <a:tc>
                  <a:txBody>
                    <a:bodyPr/>
                    <a:lstStyle/>
                    <a:p>
                      <a:r>
                        <a:rPr sz="1350" b="0">
                          <a:solidFill>
                            <a:srgbClr val="15191B"/>
                          </a:solidFill>
                          <a:latin typeface="Hiragino Sans"/>
                          <a:ea typeface="Hiragino Sans"/>
                          <a:cs typeface="Hiragino Sans"/>
                        </a:rPr>
                        <a:t>販売単価</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1,600円/h（下限）</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1,600円</a:t>
                      </a:r>
                    </a:p>
                  </a:txBody>
                  <a:tcPr marL="91440" marR="91440" marT="45720" marB="45720">
                    <a:solidFill>
                      <a:srgbClr val="FFFFFF"/>
                    </a:solidFill>
                  </a:tcPr>
                </a:tc>
              </a:tr>
              <a:tr h="539750">
                <a:tc>
                  <a:txBody>
                    <a:bodyPr/>
                    <a:lstStyle/>
                    <a:p>
                      <a:r>
                        <a:rPr sz="1350" b="0">
                          <a:solidFill>
                            <a:srgbClr val="15191B"/>
                          </a:solidFill>
                          <a:latin typeface="Hiragino Sans"/>
                          <a:ea typeface="Hiragino Sans"/>
                          <a:cs typeface="Hiragino Sans"/>
                        </a:rPr>
                        <a:t>現場還元</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売上の50%</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800円</a:t>
                      </a:r>
                    </a:p>
                  </a:txBody>
                  <a:tcPr marL="91440" marR="91440" marT="45720" marB="45720">
                    <a:solidFill>
                      <a:srgbClr val="FFFFFF"/>
                    </a:solidFill>
                  </a:tcPr>
                </a:tc>
              </a:tr>
              <a:tr h="539750">
                <a:tc>
                  <a:txBody>
                    <a:bodyPr/>
                    <a:lstStyle/>
                    <a:p>
                      <a:r>
                        <a:rPr sz="1350" b="0">
                          <a:solidFill>
                            <a:srgbClr val="15191B"/>
                          </a:solidFill>
                          <a:latin typeface="Hiragino Sans"/>
                          <a:ea typeface="Hiragino Sans"/>
                          <a:cs typeface="Hiragino Sans"/>
                        </a:rPr>
                        <a:t>会社の取り分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1,600円 − 800円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800円</a:t>
                      </a:r>
                    </a:p>
                  </a:txBody>
                  <a:tcPr marL="91440" marR="91440" marT="45720" marB="45720">
                    <a:solidFill>
                      <a:srgbClr val="FFFFFF"/>
                    </a:solidFill>
                  </a:tcPr>
                </a:tc>
              </a:tr>
              <a:tr h="539750">
                <a:tc>
                  <a:txBody>
                    <a:bodyPr/>
                    <a:lstStyle/>
                    <a:p>
                      <a:r>
                        <a:rPr sz="1350" b="0">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8万円/台、10か月償却</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約73円</a:t>
                      </a:r>
                    </a:p>
                  </a:txBody>
                  <a:tcPr marL="91440" marR="91440" marT="45720" marB="45720">
                    <a:solidFill>
                      <a:srgbClr val="FFFFFF"/>
                    </a:solidFill>
                  </a:tcPr>
                </a:tc>
              </a:tr>
              <a:tr h="539750">
                <a:tc>
                  <a:txBody>
                    <a:bodyPr/>
                    <a:lstStyle/>
                    <a:p>
                      <a:r>
                        <a:rPr sz="1350" b="1">
                          <a:solidFill>
                            <a:srgbClr val="15191B"/>
                          </a:solidFill>
                          <a:latin typeface="Hiragino Sans"/>
                          <a:ea typeface="Hiragino Sans"/>
                          <a:cs typeface="Hiragino Sans"/>
                        </a:rPr>
                        <a:t>デバイス償却後</a:t>
                      </a:r>
                    </a:p>
                  </a:txBody>
                  <a:tcPr marL="91440" marR="91440" marT="45720" marB="45720">
                    <a:solidFill>
                      <a:srgbClr val="DCE8EF"/>
                    </a:solidFill>
                  </a:tcPr>
                </a:tc>
                <a:tc>
                  <a:txBody>
                    <a:bodyPr/>
                    <a:lstStyle/>
                    <a:p>
                      <a:r>
                        <a:rPr sz="1350" b="1">
                          <a:solidFill>
                            <a:srgbClr val="15191B"/>
                          </a:solidFill>
                          <a:latin typeface="Hiragino Sans"/>
                          <a:ea typeface="Hiragino Sans"/>
                          <a:cs typeface="Hiragino Sans"/>
                        </a:rPr>
                        <a:t>800円 − 約73円</a:t>
                      </a:r>
                    </a:p>
                  </a:txBody>
                  <a:tcPr marL="91440" marR="91440" marT="45720" marB="45720">
                    <a:solidFill>
                      <a:srgbClr val="DCE8EF"/>
                    </a:solidFill>
                  </a:tcPr>
                </a:tc>
                <a:tc>
                  <a:txBody>
                    <a:bodyPr/>
                    <a:lstStyle/>
                    <a:p>
                      <a:r>
                        <a:rPr sz="1350" b="1">
                          <a:solidFill>
                            <a:srgbClr val="15191B"/>
                          </a:solidFill>
                          <a:latin typeface="Hiragino Sans"/>
                          <a:ea typeface="Hiragino Sans"/>
                          <a:cs typeface="Hiragino Sans"/>
                        </a:rPr>
                        <a:t>約727円</a:t>
                      </a:r>
                    </a:p>
                  </a:txBody>
                  <a:tcPr marL="91440" marR="91440" marT="45720" marB="45720">
                    <a:solidFill>
                      <a:srgbClr val="DCE8EF"/>
                    </a:solidFill>
                  </a:tcPr>
                </a:tc>
              </a:tr>
            </a:tbl>
          </a:graphicData>
        </a:graphic>
      </p:graphicFrame>
      <p:sp>
        <p:nvSpPr>
          <p:cNvPr id="6" name="">
            <a:extLst xmlns:a="http://schemas.openxmlformats.org/drawingml/2006/main">
              <a:ext uri="{FF2B5EF4-FFF2-40B4-BE49-F238E27FC236}">
                <a16:creationId xmlns:a16="http://schemas.microsoft.com/office/drawing/2014/main" id="{58890DE5-4FB3-4701-8330-05E7BB90F1E5}"/>
              </a:ext>
            </a:extLst>
          </p:cNvPr>
          <p:cNvSpPr>
            <a:spLocks xmlns:a="http://schemas.openxmlformats.org/drawingml/2006/main" noGrp="1"/>
          </p:cNvSpPr>
          <p:nvPr/>
        </p:nvSpPr>
        <p:spPr>
          <a:xfrm xmlns:a="http://schemas.openxmlformats.org/drawingml/2006/main" rot="0">
            <a:off x="723900" y="5381625"/>
            <a:ext cx="781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1台あたり月間稼働：1日5時間 × 22営業日 ＝ 110時間/月。流通総額に対するデバイス償却後の比率は約45.5%。</a:t>
            </a:r>
          </a:p>
        </p:txBody>
      </p:sp>
      <p:sp>
        <p:nvSpPr>
          <p:cNvPr id="7" name="">
            <a:extLst xmlns:a="http://schemas.openxmlformats.org/drawingml/2006/main">
              <a:ext uri="{FF2B5EF4-FFF2-40B4-BE49-F238E27FC236}">
                <a16:creationId xmlns:a16="http://schemas.microsoft.com/office/drawing/2014/main" id="{316A83C9-6FCD-4937-B031-192B5EB606B6}"/>
              </a:ext>
            </a:extLst>
          </p:cNvPr>
          <p:cNvSpPr>
            <a:spLocks xmlns:a="http://schemas.openxmlformats.org/drawingml/2006/main" noGrp="1"/>
          </p:cNvSpPr>
          <p:nvPr/>
        </p:nvSpPr>
        <p:spPr>
          <a:xfrm xmlns:a="http://schemas.openxmlformats.org/drawingml/2006/main" rot="0">
            <a:off x="723900" y="6048375"/>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315C78"/>
                </a:solidFill>
                <a:latin typeface="Hiragino Sans"/>
                <a:ea typeface="Hiragino Sans"/>
                <a:cs typeface="Hiragino Sans"/>
              </a:defRPr>
            </a:pPr>
            <a:r>
              <a:rPr sz="1275" b="1">
                <a:solidFill>
                  <a:srgbClr val="315C78"/>
                </a:solidFill>
                <a:latin typeface="Hiragino Sans"/>
                <a:ea typeface="Hiragino Sans"/>
                <a:cs typeface="Hiragino Sans"/>
              </a:rPr>
              <a:t>現場開拓・運用、人件費、法務、破損・紛失、転送費はここに含めていない。</a:t>
            </a:r>
          </a:p>
        </p:txBody>
      </p:sp>
    </p:spTree>
    <p:extLst>
      <p:ext uri="{BB962C8B-B14F-4D97-AF65-F5344CB8AC3E}">
        <p14:creationId xmlns:p14="http://schemas.microsoft.com/office/powerpoint/2010/main" val="554219153"/>
      </p:ext>
    </p:extLst>
  </p:cSld>
</p:sld>
</file>

<file path=ppt/slides/slide19.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C009141-62D1-4D1B-95D6-AB29C910BE7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E8A1CB2-0923-41AF-A7E2-63F6E14D8818}"/>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スケール別PL</a:t>
            </a:r>
          </a:p>
        </p:txBody>
      </p:sp>
      <p:sp>
        <p:nvSpPr>
          <p:cNvPr id="3" name="">
            <a:extLst xmlns:a="http://schemas.openxmlformats.org/drawingml/2006/main">
              <a:ext uri="{FF2B5EF4-FFF2-40B4-BE49-F238E27FC236}">
                <a16:creationId xmlns:a16="http://schemas.microsoft.com/office/drawing/2014/main" id="{98164C7C-83CC-4F8E-90CD-8AC8780C4E3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D5B534B-2560-4306-BED2-43E779AA9439}"/>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19</a:t>
            </a:r>
          </a:p>
        </p:txBody>
      </p:sp>
      <p:graphicFrame>
        <p:nvGraphicFramePr>
          <p:cNvPr id="12" name=""/>
          <p:cNvGraphicFramePr/>
          <p:nvPr/>
        </p:nvGraphicFramePr>
        <p:xfrm>
          <a:off xmlns:a="http://schemas.openxmlformats.org/drawingml/2006/main" x="723900" y="1809750"/>
          <a:ext xmlns:a="http://schemas.openxmlformats.org/drawingml/2006/main" cx="10572750" cy="3429000"/>
        </p:xfrm>
        <a:graphic xmlns:a="http://schemas.openxmlformats.org/drawingml/2006/main">
          <a:graphicData uri="http://schemas.openxmlformats.org/drawingml/2006/table">
            <a:tbl>
              <a:tblPr/>
              <a:tblGrid>
                <a:gridCol w="3238500"/>
                <a:gridCol w="2286000"/>
                <a:gridCol w="2286000"/>
                <a:gridCol w="2762250"/>
              </a:tblGrid>
              <a:tr h="489857">
                <a:tc>
                  <a:txBody>
                    <a:bodyPr/>
                    <a:lstStyle/>
                    <a:p>
                      <a:r>
                        <a:rPr sz="1125" b="1">
                          <a:solidFill>
                            <a:srgbClr val="FFFFFF"/>
                          </a:solidFill>
                          <a:latin typeface="Hiragino Sans"/>
                          <a:ea typeface="Hiragino Sans"/>
                          <a:cs typeface="Hiragino Sans"/>
                        </a:rPr>
                        <a:t>月間収集時間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500時間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1,000時間</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10,000時間</a:t>
                      </a:r>
                    </a:p>
                  </a:txBody>
                  <a:tcPr marL="91440" marR="91440" marT="45720" marB="45720">
                    <a:solidFill>
                      <a:srgbClr val="25333A"/>
                    </a:solidFill>
                  </a:tcPr>
                </a:tc>
              </a:tr>
              <a:tr h="489857">
                <a:tc>
                  <a:txBody>
                    <a:bodyPr/>
                    <a:lstStyle/>
                    <a:p>
                      <a:r>
                        <a:rPr sz="1275" b="1">
                          <a:solidFill>
                            <a:srgbClr val="15191B"/>
                          </a:solidFill>
                          <a:latin typeface="Hiragino Sans"/>
                          <a:ea typeface="Hiragino Sans"/>
                          <a:cs typeface="Hiragino Sans"/>
                        </a:rPr>
                        <a:t>必要デバイス</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5台</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10台</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91台</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流通総額</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1,600万円</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会社取り分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800万円</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デバイス償却</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4万円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72.8万円</a:t>
                      </a:r>
                    </a:p>
                  </a:txBody>
                  <a:tcPr marL="91440" marR="91440" marT="45720" marB="45720">
                    <a:solidFill>
                      <a:srgbClr val="FFFFFF"/>
                    </a:solidFill>
                  </a:tcPr>
                </a:tc>
              </a:tr>
              <a:tr h="489857">
                <a:tc>
                  <a:txBody>
                    <a:bodyPr/>
                    <a:lstStyle/>
                    <a:p>
                      <a:r>
                        <a:rPr sz="1275" b="1">
                          <a:solidFill>
                            <a:srgbClr val="15191B"/>
                          </a:solidFill>
                          <a:latin typeface="Hiragino Sans"/>
                          <a:ea typeface="Hiragino Sans"/>
                          <a:cs typeface="Hiragino Sans"/>
                        </a:rPr>
                        <a:t>償却後</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36万円</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72万円</a:t>
                      </a:r>
                    </a:p>
                  </a:txBody>
                  <a:tcPr marL="91440" marR="91440" marT="45720" marB="45720">
                    <a:solidFill>
                      <a:srgbClr val="DCE8EF"/>
                    </a:solidFill>
                  </a:tcPr>
                </a:tc>
                <a:tc>
                  <a:txBody>
                    <a:bodyPr/>
                    <a:lstStyle/>
                    <a:p>
                      <a:r>
                        <a:rPr sz="1275" b="1">
                          <a:solidFill>
                            <a:srgbClr val="15191B"/>
                          </a:solidFill>
                          <a:latin typeface="Hiragino Sans"/>
                          <a:ea typeface="Hiragino Sans"/>
                          <a:cs typeface="Hiragino Sans"/>
                        </a:rPr>
                        <a:t>727.2万円</a:t>
                      </a:r>
                    </a:p>
                  </a:txBody>
                  <a:tcPr marL="91440" marR="91440" marT="45720" marB="45720">
                    <a:solidFill>
                      <a:srgbClr val="DCE8EF"/>
                    </a:solidFill>
                  </a:tcPr>
                </a:tc>
              </a:tr>
              <a:tr h="489857">
                <a:tc>
                  <a:txBody>
                    <a:bodyPr/>
                    <a:lstStyle/>
                    <a:p>
                      <a:r>
                        <a:rPr sz="1275" b="1">
                          <a:solidFill>
                            <a:srgbClr val="15191B"/>
                          </a:solidFill>
                          <a:latin typeface="Hiragino Sans"/>
                          <a:ea typeface="Hiragino Sans"/>
                          <a:cs typeface="Hiragino Sans"/>
                        </a:rPr>
                        <a:t>初期デバイス投資</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40万円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80万円</a:t>
                      </a:r>
                    </a:p>
                  </a:txBody>
                  <a:tcPr marL="91440" marR="91440" marT="45720" marB="45720">
                    <a:solidFill>
                      <a:srgbClr val="FFFFFF"/>
                    </a:solidFill>
                  </a:tcPr>
                </a:tc>
                <a:tc>
                  <a:txBody>
                    <a:bodyPr/>
                    <a:lstStyle/>
                    <a:p>
                      <a:r>
                        <a:rPr sz="1275" b="0">
                          <a:solidFill>
                            <a:srgbClr val="15191B"/>
                          </a:solidFill>
                          <a:latin typeface="Hiragino Sans"/>
                          <a:ea typeface="Hiragino Sans"/>
                          <a:cs typeface="Hiragino Sans"/>
                        </a:rPr>
                        <a:t>728万円</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22D2A879-1B31-4BC6-B86C-E328C29E3D8C}"/>
              </a:ext>
            </a:extLst>
          </p:cNvPr>
          <p:cNvSpPr>
            <a:spLocks xmlns:a="http://schemas.openxmlformats.org/drawingml/2006/main" noGrp="1"/>
          </p:cNvSpPr>
          <p:nvPr/>
        </p:nvSpPr>
        <p:spPr>
          <a:xfrm xmlns:a="http://schemas.openxmlformats.org/drawingml/2006/main" rot="0">
            <a:off x="723900" y="55245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15191B"/>
                </a:solidFill>
                <a:latin typeface="Hiragino Sans"/>
                <a:ea typeface="Hiragino Sans"/>
                <a:cs typeface="Hiragino Sans"/>
              </a:defRPr>
            </a:pPr>
            <a:r>
              <a:rPr sz="1425" b="1">
                <a:solidFill>
                  <a:srgbClr val="15191B"/>
                </a:solidFill>
                <a:latin typeface="Hiragino Sans"/>
                <a:ea typeface="Hiragino Sans"/>
                <a:cs typeface="Hiragino Sans"/>
              </a:rPr>
              <a:t>月10,000時間を12か月継続：流通総額1.92億円、会社取り分9,600万円、デバイス償却後約8,726万円。</a:t>
            </a:r>
          </a:p>
        </p:txBody>
      </p:sp>
      <p:sp>
        <p:nvSpPr>
          <p:cNvPr id="7" name="">
            <a:extLst xmlns:a="http://schemas.openxmlformats.org/drawingml/2006/main">
              <a:ext uri="{FF2B5EF4-FFF2-40B4-BE49-F238E27FC236}">
                <a16:creationId xmlns:a16="http://schemas.microsoft.com/office/drawing/2014/main" id="{1996193A-310E-4114-A045-13F1BE62D6D3}"/>
              </a:ext>
            </a:extLst>
          </p:cNvPr>
          <p:cNvSpPr>
            <a:spLocks xmlns:a="http://schemas.openxmlformats.org/drawingml/2006/main" noGrp="1"/>
          </p:cNvSpPr>
          <p:nvPr/>
        </p:nvSpPr>
        <p:spPr>
          <a:xfrm xmlns:a="http://schemas.openxmlformats.org/drawingml/2006/main" rot="0">
            <a:off x="723900" y="600075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58646A"/>
                </a:solidFill>
                <a:latin typeface="Hiragino Sans"/>
                <a:ea typeface="Hiragino Sans"/>
                <a:cs typeface="Hiragino Sans"/>
              </a:defRPr>
            </a:pPr>
            <a:r>
              <a:rPr sz="1275" b="0">
                <a:solidFill>
                  <a:srgbClr val="58646A"/>
                </a:solidFill>
                <a:latin typeface="Hiragino Sans"/>
                <a:ea typeface="Hiragino Sans"/>
                <a:cs typeface="Hiragino Sans"/>
              </a:rPr>
              <a:t>デバイス台数と売上は収集時間に比例するため、デバイスコスト比率はスケールしても大きく変わらない。</a:t>
            </a:r>
          </a:p>
        </p:txBody>
      </p:sp>
    </p:spTree>
    <p:extLst>
      <p:ext uri="{BB962C8B-B14F-4D97-AF65-F5344CB8AC3E}">
        <p14:creationId xmlns:p14="http://schemas.microsoft.com/office/powerpoint/2010/main" val="499683096"/>
      </p:ext>
    </p:extLst>
  </p:cSld>
</p:sld>
</file>

<file path=ppt/slides/slide20.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A1EC0E2-7D0F-4D0C-B5F4-6E07EA80BCF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C27C3DF-B8D4-4FF7-B106-4A77150983C8}"/>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このモデル最大の武器：データのストック性</a:t>
            </a:r>
          </a:p>
        </p:txBody>
      </p:sp>
      <p:sp>
        <p:nvSpPr>
          <p:cNvPr id="3" name="">
            <a:extLst xmlns:a="http://schemas.openxmlformats.org/drawingml/2006/main">
              <a:ext uri="{FF2B5EF4-FFF2-40B4-BE49-F238E27FC236}">
                <a16:creationId xmlns:a16="http://schemas.microsoft.com/office/drawing/2014/main" id="{04DABDB1-D609-4869-87DA-330B4583FFCF}"/>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419FA21-8CAB-448F-AA18-CD9130163FA1}"/>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20</a:t>
            </a:r>
          </a:p>
        </p:txBody>
      </p:sp>
      <p:sp>
        <p:nvSpPr>
          <p:cNvPr id="5" name="">
            <a:extLst xmlns:a="http://schemas.openxmlformats.org/drawingml/2006/main">
              <a:ext uri="{FF2B5EF4-FFF2-40B4-BE49-F238E27FC236}">
                <a16:creationId xmlns:a16="http://schemas.microsoft.com/office/drawing/2014/main" id="{F542DF2B-1BDB-4F39-80E6-BB3057D3797D}"/>
              </a:ext>
            </a:extLst>
          </p:cNvPr>
          <p:cNvSpPr>
            <a:spLocks xmlns:a="http://schemas.openxmlformats.org/drawingml/2006/main" noGrp="1"/>
          </p:cNvSpPr>
          <p:nvPr/>
        </p:nvSpPr>
        <p:spPr>
          <a:xfrm xmlns:a="http://schemas.openxmlformats.org/drawingml/2006/main" rot="0">
            <a:off x="723900" y="1952625"/>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5191B"/>
                </a:solidFill>
                <a:latin typeface="Hiragino Sans"/>
                <a:ea typeface="Hiragino Sans"/>
                <a:cs typeface="Hiragino Sans"/>
              </a:defRPr>
            </a:pPr>
            <a:r>
              <a:rPr sz="1800" b="1">
                <a:solidFill>
                  <a:srgbClr val="15191B"/>
                </a:solidFill>
                <a:latin typeface="Hiragino Sans"/>
                <a:ea typeface="Hiragino Sans"/>
                <a:cs typeface="Hiragino Sans"/>
              </a:rPr>
              <a:t>データは在庫として積み上がり、過去に収集した分も売り続けられる。月ごとのフロー売上に加えて、累積時間がそのまま資産として蓄積される。</a:t>
            </a:r>
          </a:p>
        </p:txBody>
      </p:sp>
      <p:graphicFrame>
        <p:nvGraphicFramePr>
          <p:cNvPr id="13" name=""/>
          <p:cNvGraphicFramePr/>
          <p:nvPr/>
        </p:nvGraphicFramePr>
        <p:xfrm>
          <a:off xmlns:a="http://schemas.openxmlformats.org/drawingml/2006/main" x="723900" y="3190875"/>
          <a:ext xmlns:a="http://schemas.openxmlformats.org/drawingml/2006/main" cx="10572750" cy="1619250"/>
        </p:xfrm>
        <a:graphic xmlns:a="http://schemas.openxmlformats.org/drawingml/2006/main">
          <a:graphicData uri="http://schemas.openxmlformats.org/drawingml/2006/table">
            <a:tbl>
              <a:tblPr/>
              <a:tblGrid>
                <a:gridCol w="3810000"/>
                <a:gridCol w="2190750"/>
                <a:gridCol w="2190750"/>
                <a:gridCol w="2381250"/>
              </a:tblGrid>
              <a:tr h="539750">
                <a:tc>
                  <a:txBody>
                    <a:bodyPr/>
                    <a:lstStyle/>
                    <a:p>
                      <a:r>
                        <a:rPr sz="1125" b="1">
                          <a:solidFill>
                            <a:srgbClr val="FFFFFF"/>
                          </a:solidFill>
                          <a:latin typeface="Hiragino Sans"/>
                          <a:ea typeface="Hiragino Sans"/>
                          <a:cs typeface="Hiragino Sans"/>
                        </a:rPr>
                        <a:t>月10,000時間での平均販売回数</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1回</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2回</a:t>
                      </a:r>
                    </a:p>
                  </a:txBody>
                  <a:tcPr marL="91440" marR="91440" marT="45720" marB="45720">
                    <a:solidFill>
                      <a:srgbClr val="25333A"/>
                    </a:solidFill>
                  </a:tcPr>
                </a:tc>
                <a:tc>
                  <a:txBody>
                    <a:bodyPr/>
                    <a:lstStyle/>
                    <a:p>
                      <a:r>
                        <a:rPr sz="1125" b="1">
                          <a:solidFill>
                            <a:srgbClr val="FFFFFF"/>
                          </a:solidFill>
                          <a:latin typeface="Hiragino Sans"/>
                          <a:ea typeface="Hiragino Sans"/>
                          <a:cs typeface="Hiragino Sans"/>
                        </a:rPr>
                        <a:t>3回</a:t>
                      </a:r>
                    </a:p>
                  </a:txBody>
                  <a:tcPr marL="91440" marR="91440" marT="45720" marB="45720">
                    <a:solidFill>
                      <a:srgbClr val="25333A"/>
                    </a:solidFill>
                  </a:tcPr>
                </a:tc>
              </a:tr>
              <a:tr h="539750">
                <a:tc>
                  <a:txBody>
                    <a:bodyPr/>
                    <a:lstStyle/>
                    <a:p>
                      <a:r>
                        <a:rPr sz="1350" b="1">
                          <a:solidFill>
                            <a:srgbClr val="15191B"/>
                          </a:solidFill>
                          <a:latin typeface="Hiragino Sans"/>
                          <a:ea typeface="Hiragino Sans"/>
                          <a:cs typeface="Hiragino Sans"/>
                        </a:rPr>
                        <a:t>月間の会社取り分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800万円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1,600万円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2,400万円</a:t>
                      </a:r>
                    </a:p>
                  </a:txBody>
                  <a:tcPr marL="91440" marR="91440" marT="45720" marB="45720">
                    <a:solidFill>
                      <a:srgbClr val="FFFFFF"/>
                    </a:solidFill>
                  </a:tcPr>
                </a:tc>
              </a:tr>
              <a:tr h="539750">
                <a:tc>
                  <a:txBody>
                    <a:bodyPr/>
                    <a:lstStyle/>
                    <a:p>
                      <a:r>
                        <a:rPr sz="1350" b="1">
                          <a:solidFill>
                            <a:srgbClr val="15191B"/>
                          </a:solidFill>
                          <a:latin typeface="Hiragino Sans"/>
                          <a:ea typeface="Hiragino Sans"/>
                          <a:cs typeface="Hiragino Sans"/>
                        </a:rPr>
                        <a:t>12か月の単純年換算</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9,600万円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1.92億円</a:t>
                      </a:r>
                    </a:p>
                  </a:txBody>
                  <a:tcPr marL="91440" marR="91440" marT="45720" marB="45720">
                    <a:solidFill>
                      <a:srgbClr val="FFFFFF"/>
                    </a:solidFill>
                  </a:tcPr>
                </a:tc>
                <a:tc>
                  <a:txBody>
                    <a:bodyPr/>
                    <a:lstStyle/>
                    <a:p>
                      <a:r>
                        <a:rPr sz="1350" b="0">
                          <a:solidFill>
                            <a:srgbClr val="15191B"/>
                          </a:solidFill>
                          <a:latin typeface="Hiragino Sans"/>
                          <a:ea typeface="Hiragino Sans"/>
                          <a:cs typeface="Hiragino Sans"/>
                        </a:rPr>
                        <a:t>2.88億円</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CCD8ADB0-9AA4-498E-83A6-4F23DDF3F3FF}"/>
              </a:ext>
            </a:extLst>
          </p:cNvPr>
          <p:cNvSpPr>
            <a:spLocks xmlns:a="http://schemas.openxmlformats.org/drawingml/2006/main" noGrp="1"/>
          </p:cNvSpPr>
          <p:nvPr/>
        </p:nvSpPr>
        <p:spPr>
          <a:xfrm xmlns:a="http://schemas.openxmlformats.org/drawingml/2006/main" rot="0">
            <a:off x="723900" y="51435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0">
                <a:solidFill>
                  <a:srgbClr val="15191B"/>
                </a:solidFill>
                <a:latin typeface="Hiragino Sans"/>
                <a:ea typeface="Hiragino Sans"/>
                <a:cs typeface="Hiragino Sans"/>
              </a:defRPr>
            </a:pPr>
            <a:r>
              <a:rPr sz="1425" b="0">
                <a:solidFill>
                  <a:srgbClr val="15191B"/>
                </a:solidFill>
                <a:latin typeface="Hiragino Sans"/>
                <a:ea typeface="Hiragino Sans"/>
                <a:cs typeface="Hiragino Sans"/>
              </a:rPr>
              <a:t>同一データを複数のバイヤーへ販売できる可能性がある。Nextremer経由でアノテーション付きデータとして高付加価値化される場合、単価が上がる可能性もある。</a:t>
            </a:r>
          </a:p>
        </p:txBody>
      </p:sp>
    </p:spTree>
    <p:extLst>
      <p:ext uri="{BB962C8B-B14F-4D97-AF65-F5344CB8AC3E}">
        <p14:creationId xmlns:p14="http://schemas.microsoft.com/office/powerpoint/2010/main" val="1151029232"/>
      </p:ext>
    </p:extLst>
  </p:cSld>
</p:sld>
</file>

<file path=ppt/slides/slide21.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026CC44-7802-4291-8ADE-7F6B3D8CF2C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84823E0-50C9-4325-85CA-BA49F9A73193}"/>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デバイスコスト以外に想定されるコスト</a:t>
            </a:r>
          </a:p>
        </p:txBody>
      </p:sp>
      <p:sp>
        <p:nvSpPr>
          <p:cNvPr id="3" name="">
            <a:extLst xmlns:a="http://schemas.openxmlformats.org/drawingml/2006/main">
              <a:ext uri="{FF2B5EF4-FFF2-40B4-BE49-F238E27FC236}">
                <a16:creationId xmlns:a16="http://schemas.microsoft.com/office/drawing/2014/main" id="{2B623077-091D-4E47-80B3-C1738B3ECED6}"/>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0ADB00B-5B66-4E6F-8AA6-9D3E071A6B26}"/>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21</a:t>
            </a:r>
          </a:p>
        </p:txBody>
      </p:sp>
      <p:sp>
        <p:nvSpPr>
          <p:cNvPr id="5" name="">
            <a:extLst xmlns:a="http://schemas.openxmlformats.org/drawingml/2006/main">
              <a:ext uri="{FF2B5EF4-FFF2-40B4-BE49-F238E27FC236}">
                <a16:creationId xmlns:a16="http://schemas.microsoft.com/office/drawing/2014/main" id="{9CE7CEEF-BBFB-432E-AE8F-9A99544A52C6}"/>
              </a:ext>
            </a:extLst>
          </p:cNvPr>
          <p:cNvSpPr>
            <a:spLocks xmlns:a="http://schemas.openxmlformats.org/drawingml/2006/main" noGrp="1"/>
          </p:cNvSpPr>
          <p:nvPr/>
        </p:nvSpPr>
        <p:spPr>
          <a:xfrm xmlns:a="http://schemas.openxmlformats.org/drawingml/2006/main" rot="0">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ストレージ・転送費</a:t>
            </a:r>
          </a:p>
        </p:txBody>
      </p:sp>
      <p:sp>
        <p:nvSpPr>
          <p:cNvPr id="6" name="">
            <a:extLst xmlns:a="http://schemas.openxmlformats.org/drawingml/2006/main">
              <a:ext uri="{FF2B5EF4-FFF2-40B4-BE49-F238E27FC236}">
                <a16:creationId xmlns:a16="http://schemas.microsoft.com/office/drawing/2014/main" id="{152E1642-4454-46A4-B1F7-E767FBB1A016}"/>
              </a:ext>
            </a:extLst>
          </p:cNvPr>
          <p:cNvSpPr>
            <a:spLocks xmlns:a="http://schemas.openxmlformats.org/drawingml/2006/main" noGrp="1"/>
          </p:cNvSpPr>
          <p:nvPr/>
        </p:nvSpPr>
        <p:spPr>
          <a:xfrm xmlns:a="http://schemas.openxmlformats.org/drawingml/2006/main" rot="0">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15191B"/>
                </a:solidFill>
                <a:latin typeface="Hiragino Sans"/>
                <a:ea typeface="Hiragino Sans"/>
                <a:cs typeface="Hiragino Sans"/>
              </a:defRPr>
            </a:pPr>
            <a:r>
              <a:rPr sz="1200" b="0">
                <a:solidFill>
                  <a:srgbClr val="15191B"/>
                </a:solidFill>
                <a:latin typeface="Hiragino Sans"/>
                <a:ea typeface="Hiragino Sans"/>
                <a:cs typeface="Hiragino Sans"/>
              </a:rPr>
              <a:t>映像は1時間あたり5〜15GB。月500時間で2.5〜7.5TB、月10,000時間で50〜150TB。Nextremerへ格納し、自社負担を抑える。</a:t>
            </a:r>
          </a:p>
        </p:txBody>
      </p:sp>
      <p:sp>
        <p:nvSpPr>
          <p:cNvPr id="7" name="">
            <a:extLst xmlns:a="http://schemas.openxmlformats.org/drawingml/2006/main">
              <a:ext uri="{FF2B5EF4-FFF2-40B4-BE49-F238E27FC236}">
                <a16:creationId xmlns:a16="http://schemas.microsoft.com/office/drawing/2014/main" id="{0C694DFE-8EEE-4877-BFA2-30108C86F397}"/>
              </a:ext>
            </a:extLst>
          </p:cNvPr>
          <p:cNvSpPr>
            <a:spLocks xmlns:a="http://schemas.openxmlformats.org/drawingml/2006/main" noGrp="1"/>
          </p:cNvSpPr>
          <p:nvPr/>
        </p:nvSpPr>
        <p:spPr>
          <a:xfrm xmlns:a="http://schemas.openxmlformats.org/drawingml/2006/main">
            <a:off x="723900" y="26003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A592B15-4393-4536-A232-E22BA1AFC8E5}"/>
              </a:ext>
            </a:extLst>
          </p:cNvPr>
          <p:cNvSpPr>
            <a:spLocks xmlns:a="http://schemas.openxmlformats.org/drawingml/2006/main" noGrp="1"/>
          </p:cNvSpPr>
          <p:nvPr/>
        </p:nvSpPr>
        <p:spPr>
          <a:xfrm xmlns:a="http://schemas.openxmlformats.org/drawingml/2006/main" rot="0">
            <a:off x="723900" y="2714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現場開拓・維持の人件費</a:t>
            </a:r>
          </a:p>
        </p:txBody>
      </p:sp>
      <p:sp>
        <p:nvSpPr>
          <p:cNvPr id="9" name="">
            <a:extLst xmlns:a="http://schemas.openxmlformats.org/drawingml/2006/main">
              <a:ext uri="{FF2B5EF4-FFF2-40B4-BE49-F238E27FC236}">
                <a16:creationId xmlns:a16="http://schemas.microsoft.com/office/drawing/2014/main" id="{3AEAF4A0-316A-4994-BB38-F9B59073D201}"/>
              </a:ext>
            </a:extLst>
          </p:cNvPr>
          <p:cNvSpPr>
            <a:spLocks xmlns:a="http://schemas.openxmlformats.org/drawingml/2006/main" noGrp="1"/>
          </p:cNvSpPr>
          <p:nvPr/>
        </p:nvSpPr>
        <p:spPr>
          <a:xfrm xmlns:a="http://schemas.openxmlformats.org/drawingml/2006/main" rot="0">
            <a:off x="3714750" y="2695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飛び込み営業、契約、機材の配布・回収、スタッフへの説明、トラブル対応、データチェック。現在は創業メンバーの時間で吸収している。</a:t>
            </a:r>
          </a:p>
        </p:txBody>
      </p:sp>
      <p:sp>
        <p:nvSpPr>
          <p:cNvPr id="10" name="">
            <a:extLst xmlns:a="http://schemas.openxmlformats.org/drawingml/2006/main">
              <a:ext uri="{FF2B5EF4-FFF2-40B4-BE49-F238E27FC236}">
                <a16:creationId xmlns:a16="http://schemas.microsoft.com/office/drawing/2014/main" id="{8030D6ED-D5C7-456E-A22B-F030952E1176}"/>
              </a:ext>
            </a:extLst>
          </p:cNvPr>
          <p:cNvSpPr>
            <a:spLocks xmlns:a="http://schemas.openxmlformats.org/drawingml/2006/main" noGrp="1"/>
          </p:cNvSpPr>
          <p:nvPr/>
        </p:nvSpPr>
        <p:spPr>
          <a:xfrm xmlns:a="http://schemas.openxmlformats.org/drawingml/2006/main">
            <a:off x="723900" y="3619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125CD41-6F8A-4318-B7B1-D5D3408EF496}"/>
              </a:ext>
            </a:extLst>
          </p:cNvPr>
          <p:cNvSpPr>
            <a:spLocks xmlns:a="http://schemas.openxmlformats.org/drawingml/2006/main" noGrp="1"/>
          </p:cNvSpPr>
          <p:nvPr/>
        </p:nvSpPr>
        <p:spPr>
          <a:xfrm xmlns:a="http://schemas.openxmlformats.org/drawingml/2006/main" rot="0">
            <a:off x="723900" y="3762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デバイス破損・紛失</a:t>
            </a:r>
          </a:p>
        </p:txBody>
      </p:sp>
      <p:sp>
        <p:nvSpPr>
          <p:cNvPr id="12" name="">
            <a:extLst xmlns:a="http://schemas.openxmlformats.org/drawingml/2006/main">
              <a:ext uri="{FF2B5EF4-FFF2-40B4-BE49-F238E27FC236}">
                <a16:creationId xmlns:a16="http://schemas.microsoft.com/office/drawing/2014/main" id="{DFF2FDCE-D852-4D95-BD80-A3DCCC3EDF7A}"/>
              </a:ext>
            </a:extLst>
          </p:cNvPr>
          <p:cNvSpPr>
            <a:spLocks xmlns:a="http://schemas.openxmlformats.org/drawingml/2006/main" noGrp="1"/>
          </p:cNvSpPr>
          <p:nvPr/>
        </p:nvSpPr>
        <p:spPr>
          <a:xfrm xmlns:a="http://schemas.openxmlformats.org/drawingml/2006/main" rot="0">
            <a:off x="3714750" y="3743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長時間使う消耗品的な性質がある。8〜10か月の償却期間は、実際の使用状況に応じて見直す必要がある。</a:t>
            </a:r>
          </a:p>
        </p:txBody>
      </p:sp>
      <p:sp>
        <p:nvSpPr>
          <p:cNvPr id="13" name="">
            <a:extLst xmlns:a="http://schemas.openxmlformats.org/drawingml/2006/main">
              <a:ext uri="{FF2B5EF4-FFF2-40B4-BE49-F238E27FC236}">
                <a16:creationId xmlns:a16="http://schemas.microsoft.com/office/drawing/2014/main" id="{704D4BA1-6A7F-4D7F-A5C7-6233600D12ED}"/>
              </a:ext>
            </a:extLst>
          </p:cNvPr>
          <p:cNvSpPr>
            <a:spLocks xmlns:a="http://schemas.openxmlformats.org/drawingml/2006/main" noGrp="1"/>
          </p:cNvSpPr>
          <p:nvPr/>
        </p:nvSpPr>
        <p:spPr>
          <a:xfrm xmlns:a="http://schemas.openxmlformats.org/drawingml/2006/main">
            <a:off x="723900" y="46005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E4548F7-FB54-476B-89DA-B619441AB347}"/>
              </a:ext>
            </a:extLst>
          </p:cNvPr>
          <p:cNvSpPr>
            <a:spLocks xmlns:a="http://schemas.openxmlformats.org/drawingml/2006/main" noGrp="1"/>
          </p:cNvSpPr>
          <p:nvPr/>
        </p:nvSpPr>
        <p:spPr>
          <a:xfrm xmlns:a="http://schemas.openxmlformats.org/drawingml/2006/main" rot="0">
            <a:off x="723900" y="47148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契約・法務</a:t>
            </a:r>
          </a:p>
        </p:txBody>
      </p:sp>
      <p:sp>
        <p:nvSpPr>
          <p:cNvPr id="15" name="">
            <a:extLst xmlns:a="http://schemas.openxmlformats.org/drawingml/2006/main">
              <a:ext uri="{FF2B5EF4-FFF2-40B4-BE49-F238E27FC236}">
                <a16:creationId xmlns:a16="http://schemas.microsoft.com/office/drawing/2014/main" id="{3A5CE9E2-BEE4-4253-A6B4-F6BCFD093EF4}"/>
              </a:ext>
            </a:extLst>
          </p:cNvPr>
          <p:cNvSpPr>
            <a:spLocks xmlns:a="http://schemas.openxmlformats.org/drawingml/2006/main" noGrp="1"/>
          </p:cNvSpPr>
          <p:nvPr/>
        </p:nvSpPr>
        <p:spPr>
          <a:xfrm xmlns:a="http://schemas.openxmlformats.org/drawingml/2006/main" rot="0">
            <a:off x="3714750" y="46958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現段階では大崎が吸収しているが、規模拡大時には法務チームや外部弁護士のコストが発生する。</a:t>
            </a:r>
          </a:p>
        </p:txBody>
      </p:sp>
    </p:spTree>
    <p:extLst>
      <p:ext uri="{BB962C8B-B14F-4D97-AF65-F5344CB8AC3E}">
        <p14:creationId xmlns:p14="http://schemas.microsoft.com/office/powerpoint/2010/main" val="1477593345"/>
      </p:ext>
    </p:extLst>
  </p:cSld>
</p:sld>
</file>

<file path=ppt/slides/slide22.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F4165CC-9839-490D-BB7A-87B20A758C9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2CF23AC-73C0-41B4-9316-CD063CAB7966}"/>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スケール時のボトルネック</a:t>
            </a:r>
          </a:p>
        </p:txBody>
      </p:sp>
      <p:sp>
        <p:nvSpPr>
          <p:cNvPr id="3" name="">
            <a:extLst xmlns:a="http://schemas.openxmlformats.org/drawingml/2006/main">
              <a:ext uri="{FF2B5EF4-FFF2-40B4-BE49-F238E27FC236}">
                <a16:creationId xmlns:a16="http://schemas.microsoft.com/office/drawing/2014/main" id="{7B830A83-1979-4B43-8695-81F1D6843999}"/>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40ED722-8A4F-40F0-8DA9-8C2D1EA06283}"/>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22</a:t>
            </a:r>
          </a:p>
        </p:txBody>
      </p:sp>
      <p:sp>
        <p:nvSpPr>
          <p:cNvPr id="5" name="">
            <a:extLst xmlns:a="http://schemas.openxmlformats.org/drawingml/2006/main">
              <a:ext uri="{FF2B5EF4-FFF2-40B4-BE49-F238E27FC236}">
                <a16:creationId xmlns:a16="http://schemas.microsoft.com/office/drawing/2014/main" id="{B156C695-ADA8-4C8A-B52C-4BA34707FFAA}"/>
              </a:ext>
            </a:extLst>
          </p:cNvPr>
          <p:cNvSpPr>
            <a:spLocks xmlns:a="http://schemas.openxmlformats.org/drawingml/2006/main" noGrp="1"/>
          </p:cNvSpPr>
          <p:nvPr/>
        </p:nvSpPr>
        <p:spPr>
          <a:xfrm xmlns:a="http://schemas.openxmlformats.org/drawingml/2006/main" rot="0">
            <a:off x="723900" y="1952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現場開拓のスピード</a:t>
            </a:r>
          </a:p>
        </p:txBody>
      </p:sp>
      <p:sp>
        <p:nvSpPr>
          <p:cNvPr id="6" name="">
            <a:extLst xmlns:a="http://schemas.openxmlformats.org/drawingml/2006/main">
              <a:ext uri="{FF2B5EF4-FFF2-40B4-BE49-F238E27FC236}">
                <a16:creationId xmlns:a16="http://schemas.microsoft.com/office/drawing/2014/main" id="{AC75C6FB-A617-4759-8907-C0F835437E88}"/>
              </a:ext>
            </a:extLst>
          </p:cNvPr>
          <p:cNvSpPr>
            <a:spLocks xmlns:a="http://schemas.openxmlformats.org/drawingml/2006/main" noGrp="1"/>
          </p:cNvSpPr>
          <p:nvPr/>
        </p:nvSpPr>
        <p:spPr>
          <a:xfrm xmlns:a="http://schemas.openxmlformats.org/drawingml/2006/main" rot="0">
            <a:off x="3714750" y="1933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30店舗を確保する営業リソース。1店舗目から2店舗目へ進むにつれ、獲得サイクルが短縮していくか。</a:t>
            </a:r>
          </a:p>
        </p:txBody>
      </p:sp>
      <p:sp>
        <p:nvSpPr>
          <p:cNvPr id="7" name="">
            <a:extLst xmlns:a="http://schemas.openxmlformats.org/drawingml/2006/main">
              <a:ext uri="{FF2B5EF4-FFF2-40B4-BE49-F238E27FC236}">
                <a16:creationId xmlns:a16="http://schemas.microsoft.com/office/drawing/2014/main" id="{D56A3524-A9B8-43B8-B65C-0709FA0DBDB2}"/>
              </a:ext>
            </a:extLst>
          </p:cNvPr>
          <p:cNvSpPr>
            <a:spLocks xmlns:a="http://schemas.openxmlformats.org/drawingml/2006/main" noGrp="1"/>
          </p:cNvSpPr>
          <p:nvPr/>
        </p:nvSpPr>
        <p:spPr>
          <a:xfrm xmlns:a="http://schemas.openxmlformats.org/drawingml/2006/main">
            <a:off x="723900" y="2905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879453F-2FFE-4FCE-B3D3-9F52DBB85672}"/>
              </a:ext>
            </a:extLst>
          </p:cNvPr>
          <p:cNvSpPr>
            <a:spLocks xmlns:a="http://schemas.openxmlformats.org/drawingml/2006/main" noGrp="1"/>
          </p:cNvSpPr>
          <p:nvPr/>
        </p:nvSpPr>
        <p:spPr>
          <a:xfrm xmlns:a="http://schemas.openxmlformats.org/drawingml/2006/main" rot="0">
            <a:off x="723900" y="3095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現場運用の負担</a:t>
            </a:r>
          </a:p>
        </p:txBody>
      </p:sp>
      <p:sp>
        <p:nvSpPr>
          <p:cNvPr id="9" name="">
            <a:extLst xmlns:a="http://schemas.openxmlformats.org/drawingml/2006/main">
              <a:ext uri="{FF2B5EF4-FFF2-40B4-BE49-F238E27FC236}">
                <a16:creationId xmlns:a16="http://schemas.microsoft.com/office/drawing/2014/main" id="{26C80BD1-877C-4948-8239-576C647C17FE}"/>
              </a:ext>
            </a:extLst>
          </p:cNvPr>
          <p:cNvSpPr>
            <a:spLocks xmlns:a="http://schemas.openxmlformats.org/drawingml/2006/main" noGrp="1"/>
          </p:cNvSpPr>
          <p:nvPr/>
        </p:nvSpPr>
        <p:spPr>
          <a:xfrm xmlns:a="http://schemas.openxmlformats.org/drawingml/2006/main" rot="0">
            <a:off x="3714750" y="3076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30店舗へデバイスを配布・回収し、トラブルへ対応する運用体制。店舗数 × 定期訪問になると、人件費が膨らむ。</a:t>
            </a:r>
          </a:p>
        </p:txBody>
      </p:sp>
      <p:sp>
        <p:nvSpPr>
          <p:cNvPr id="10" name="">
            <a:extLst xmlns:a="http://schemas.openxmlformats.org/drawingml/2006/main">
              <a:ext uri="{FF2B5EF4-FFF2-40B4-BE49-F238E27FC236}">
                <a16:creationId xmlns:a16="http://schemas.microsoft.com/office/drawing/2014/main" id="{4CAA8BC3-50FE-4E56-9EEE-631276EB91CF}"/>
              </a:ext>
            </a:extLst>
          </p:cNvPr>
          <p:cNvSpPr>
            <a:spLocks xmlns:a="http://schemas.openxmlformats.org/drawingml/2006/main" noGrp="1"/>
          </p:cNvSpPr>
          <p:nvPr/>
        </p:nvSpPr>
        <p:spPr>
          <a:xfrm xmlns:a="http://schemas.openxmlformats.org/drawingml/2006/main">
            <a:off x="723900" y="4048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ECC8028-0158-46EC-8ED5-08CDAFCD68F2}"/>
              </a:ext>
            </a:extLst>
          </p:cNvPr>
          <p:cNvSpPr>
            <a:spLocks xmlns:a="http://schemas.openxmlformats.org/drawingml/2006/main" noGrp="1"/>
          </p:cNvSpPr>
          <p:nvPr/>
        </p:nvSpPr>
        <p:spPr>
          <a:xfrm xmlns:a="http://schemas.openxmlformats.org/drawingml/2006/main" rot="0">
            <a:off x="723900" y="4238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買い手側の受け入れ規模</a:t>
            </a:r>
          </a:p>
        </p:txBody>
      </p:sp>
      <p:sp>
        <p:nvSpPr>
          <p:cNvPr id="12" name="">
            <a:extLst xmlns:a="http://schemas.openxmlformats.org/drawingml/2006/main">
              <a:ext uri="{FF2B5EF4-FFF2-40B4-BE49-F238E27FC236}">
                <a16:creationId xmlns:a16="http://schemas.microsoft.com/office/drawing/2014/main" id="{DFAA7FC4-44DE-4020-814B-75AC54AF4FCC}"/>
              </a:ext>
            </a:extLst>
          </p:cNvPr>
          <p:cNvSpPr>
            <a:spLocks xmlns:a="http://schemas.openxmlformats.org/drawingml/2006/main" noGrp="1"/>
          </p:cNvSpPr>
          <p:nvPr/>
        </p:nvSpPr>
        <p:spPr>
          <a:xfrm xmlns:a="http://schemas.openxmlformats.org/drawingml/2006/main" rot="0">
            <a:off x="3714750" y="4219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5191B"/>
                </a:solidFill>
                <a:latin typeface="Hiragino Sans"/>
                <a:ea typeface="Hiragino Sans"/>
                <a:cs typeface="Hiragino Sans"/>
              </a:defRPr>
            </a:pPr>
            <a:r>
              <a:rPr sz="1500" b="0">
                <a:solidFill>
                  <a:srgbClr val="15191B"/>
                </a:solidFill>
                <a:latin typeface="Hiragino Sans"/>
                <a:ea typeface="Hiragino Sans"/>
                <a:cs typeface="Hiragino Sans"/>
              </a:rPr>
              <a:t>月10,000時間を継続的に売り切れる販路を、Nextremer、海外、国内需要の組み合わせで確保できるか。</a:t>
            </a:r>
          </a:p>
        </p:txBody>
      </p:sp>
      <p:sp>
        <p:nvSpPr>
          <p:cNvPr id="13" name="">
            <a:extLst xmlns:a="http://schemas.openxmlformats.org/drawingml/2006/main">
              <a:ext uri="{FF2B5EF4-FFF2-40B4-BE49-F238E27FC236}">
                <a16:creationId xmlns:a16="http://schemas.microsoft.com/office/drawing/2014/main" id="{0F924D4C-9B36-4D2E-B27D-BD95A5A389CE}"/>
              </a:ext>
            </a:extLst>
          </p:cNvPr>
          <p:cNvSpPr>
            <a:spLocks xmlns:a="http://schemas.openxmlformats.org/drawingml/2006/main" noGrp="1"/>
          </p:cNvSpPr>
          <p:nvPr/>
        </p:nvSpPr>
        <p:spPr>
          <a:xfrm xmlns:a="http://schemas.openxmlformats.org/drawingml/2006/main">
            <a:off x="723900" y="5191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1813734624"/>
      </p:ext>
    </p:extLst>
  </p:cSld>
</p:sld>
</file>

<file path=ppt/slides/slide23.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AC3819B-5DFB-4E12-B4DA-9D561B9229F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121916D-9E1F-47EE-BCA7-343E8F95D6AD}"/>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今後の見通し｜2026 Q4</a:t>
            </a:r>
          </a:p>
        </p:txBody>
      </p:sp>
      <p:sp>
        <p:nvSpPr>
          <p:cNvPr id="3" name="">
            <a:extLst xmlns:a="http://schemas.openxmlformats.org/drawingml/2006/main">
              <a:ext uri="{FF2B5EF4-FFF2-40B4-BE49-F238E27FC236}">
                <a16:creationId xmlns:a16="http://schemas.microsoft.com/office/drawing/2014/main" id="{9D088553-4316-4493-A093-2089CE29C3E9}"/>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9C78AF0-506E-4D5A-86E8-442F95BFBBA9}"/>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23</a:t>
            </a:r>
          </a:p>
        </p:txBody>
      </p:sp>
      <p:sp>
        <p:nvSpPr>
          <p:cNvPr id="5" name="">
            <a:extLst xmlns:a="http://schemas.openxmlformats.org/drawingml/2006/main">
              <a:ext uri="{FF2B5EF4-FFF2-40B4-BE49-F238E27FC236}">
                <a16:creationId xmlns:a16="http://schemas.microsoft.com/office/drawing/2014/main" id="{549D4FB3-31FE-4228-BF65-84CB494AE3FE}"/>
              </a:ext>
            </a:extLst>
          </p:cNvPr>
          <p:cNvSpPr>
            <a:spLocks xmlns:a="http://schemas.openxmlformats.org/drawingml/2006/main" noGrp="1"/>
          </p:cNvSpPr>
          <p:nvPr/>
        </p:nvSpPr>
        <p:spPr>
          <a:xfrm xmlns:a="http://schemas.openxmlformats.org/drawingml/2006/main" rot="0">
            <a:off x="723900" y="1762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10月｜月間500時間</a:t>
            </a:r>
          </a:p>
        </p:txBody>
      </p:sp>
      <p:sp>
        <p:nvSpPr>
          <p:cNvPr id="6" name="">
            <a:extLst xmlns:a="http://schemas.openxmlformats.org/drawingml/2006/main">
              <a:ext uri="{FF2B5EF4-FFF2-40B4-BE49-F238E27FC236}">
                <a16:creationId xmlns:a16="http://schemas.microsoft.com/office/drawing/2014/main" id="{2450DDDE-B51F-4293-BE76-F5CCAE40F5FF}"/>
              </a:ext>
            </a:extLst>
          </p:cNvPr>
          <p:cNvSpPr>
            <a:spLocks xmlns:a="http://schemas.openxmlformats.org/drawingml/2006/main" noGrp="1"/>
          </p:cNvSpPr>
          <p:nvPr/>
        </p:nvSpPr>
        <p:spPr>
          <a:xfrm xmlns:a="http://schemas.openxmlformats.org/drawingml/2006/main" rot="0">
            <a:off x="3714750" y="1743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飲食店のネットワークで月間500時間。Nextremerとの合意と格納開始。海外販売先へ再度提供を打診し、撮影デバイス設計で協働できる企業へアプローチ。</a:t>
            </a:r>
          </a:p>
        </p:txBody>
      </p:sp>
      <p:sp>
        <p:nvSpPr>
          <p:cNvPr id="7" name="">
            <a:extLst xmlns:a="http://schemas.openxmlformats.org/drawingml/2006/main">
              <a:ext uri="{FF2B5EF4-FFF2-40B4-BE49-F238E27FC236}">
                <a16:creationId xmlns:a16="http://schemas.microsoft.com/office/drawing/2014/main" id="{AA505553-1E57-4F5A-8D16-33D609F606AB}"/>
              </a:ext>
            </a:extLst>
          </p:cNvPr>
          <p:cNvSpPr>
            <a:spLocks xmlns:a="http://schemas.openxmlformats.org/drawingml/2006/main" noGrp="1"/>
          </p:cNvSpPr>
          <p:nvPr/>
        </p:nvSpPr>
        <p:spPr>
          <a:xfrm xmlns:a="http://schemas.openxmlformats.org/drawingml/2006/main">
            <a:off x="723900" y="28575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A5D6CD1-C012-42C8-BE4C-E9548D84E692}"/>
              </a:ext>
            </a:extLst>
          </p:cNvPr>
          <p:cNvSpPr>
            <a:spLocks xmlns:a="http://schemas.openxmlformats.org/drawingml/2006/main" noGrp="1"/>
          </p:cNvSpPr>
          <p:nvPr/>
        </p:nvSpPr>
        <p:spPr>
          <a:xfrm xmlns:a="http://schemas.openxmlformats.org/drawingml/2006/main" rot="0">
            <a:off x="723900" y="30480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11月｜500時間を維持</a:t>
            </a:r>
          </a:p>
        </p:txBody>
      </p:sp>
      <p:sp>
        <p:nvSpPr>
          <p:cNvPr id="9" name="">
            <a:extLst xmlns:a="http://schemas.openxmlformats.org/drawingml/2006/main">
              <a:ext uri="{FF2B5EF4-FFF2-40B4-BE49-F238E27FC236}">
                <a16:creationId xmlns:a16="http://schemas.microsoft.com/office/drawing/2014/main" id="{012FA7FF-CDB1-472F-811B-4AD973F5112F}"/>
              </a:ext>
            </a:extLst>
          </p:cNvPr>
          <p:cNvSpPr>
            <a:spLocks xmlns:a="http://schemas.openxmlformats.org/drawingml/2006/main" noGrp="1"/>
          </p:cNvSpPr>
          <p:nvPr/>
        </p:nvSpPr>
        <p:spPr>
          <a:xfrm xmlns:a="http://schemas.openxmlformats.org/drawingml/2006/main" rot="0">
            <a:off x="3714750" y="3028950"/>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撮影中の現場を可能な限り訪問し、不都合や拡大時の懸念を洗い出す。合意フローとデータ取扱いを法務チェック。</a:t>
            </a:r>
          </a:p>
        </p:txBody>
      </p:sp>
      <p:sp>
        <p:nvSpPr>
          <p:cNvPr id="10" name="">
            <a:extLst xmlns:a="http://schemas.openxmlformats.org/drawingml/2006/main">
              <a:ext uri="{FF2B5EF4-FFF2-40B4-BE49-F238E27FC236}">
                <a16:creationId xmlns:a16="http://schemas.microsoft.com/office/drawing/2014/main" id="{12DFC1D0-1999-4BD5-AA29-66A9EE6A879A}"/>
              </a:ext>
            </a:extLst>
          </p:cNvPr>
          <p:cNvSpPr>
            <a:spLocks xmlns:a="http://schemas.openxmlformats.org/drawingml/2006/main" noGrp="1"/>
          </p:cNvSpPr>
          <p:nvPr/>
        </p:nvSpPr>
        <p:spPr>
          <a:xfrm xmlns:a="http://schemas.openxmlformats.org/drawingml/2006/main">
            <a:off x="723900" y="4048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F7351D8-6CBC-4E54-B8BF-AD5C6B21DE59}"/>
              </a:ext>
            </a:extLst>
          </p:cNvPr>
          <p:cNvSpPr>
            <a:spLocks xmlns:a="http://schemas.openxmlformats.org/drawingml/2006/main" noGrp="1"/>
          </p:cNvSpPr>
          <p:nvPr/>
        </p:nvSpPr>
        <p:spPr>
          <a:xfrm xmlns:a="http://schemas.openxmlformats.org/drawingml/2006/main" rot="0">
            <a:off x="723900" y="4238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12月｜月間1,000時間</a:t>
            </a:r>
          </a:p>
        </p:txBody>
      </p:sp>
      <p:sp>
        <p:nvSpPr>
          <p:cNvPr id="12" name="">
            <a:extLst xmlns:a="http://schemas.openxmlformats.org/drawingml/2006/main">
              <a:ext uri="{FF2B5EF4-FFF2-40B4-BE49-F238E27FC236}">
                <a16:creationId xmlns:a16="http://schemas.microsoft.com/office/drawing/2014/main" id="{A247F372-F64B-4B0A-B08B-4542F0C5879E}"/>
              </a:ext>
            </a:extLst>
          </p:cNvPr>
          <p:cNvSpPr>
            <a:spLocks xmlns:a="http://schemas.openxmlformats.org/drawingml/2006/main" noGrp="1"/>
          </p:cNvSpPr>
          <p:nvPr/>
        </p:nvSpPr>
        <p:spPr>
          <a:xfrm xmlns:a="http://schemas.openxmlformats.org/drawingml/2006/main" rot="0">
            <a:off x="3714750" y="4219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5191B"/>
                </a:solidFill>
                <a:latin typeface="Hiragino Sans"/>
                <a:ea typeface="Hiragino Sans"/>
                <a:cs typeface="Hiragino Sans"/>
              </a:defRPr>
            </a:pPr>
            <a:r>
              <a:rPr sz="1350" b="0">
                <a:solidFill>
                  <a:srgbClr val="15191B"/>
                </a:solidFill>
                <a:latin typeface="Hiragino Sans"/>
                <a:ea typeface="Hiragino Sans"/>
                <a:cs typeface="Hiragino Sans"/>
              </a:rPr>
              <a:t>既存現場からの紹介、SNSのDM・投稿で日本中の撮影先へアプローチ。飲食・小売業界を中心に拡大する。</a:t>
            </a:r>
          </a:p>
        </p:txBody>
      </p:sp>
      <p:sp>
        <p:nvSpPr>
          <p:cNvPr id="13" name="">
            <a:extLst xmlns:a="http://schemas.openxmlformats.org/drawingml/2006/main">
              <a:ext uri="{FF2B5EF4-FFF2-40B4-BE49-F238E27FC236}">
                <a16:creationId xmlns:a16="http://schemas.microsoft.com/office/drawing/2014/main" id="{5816BB6E-55AB-4F96-8E6C-7409BA2583A0}"/>
              </a:ext>
            </a:extLst>
          </p:cNvPr>
          <p:cNvSpPr>
            <a:spLocks xmlns:a="http://schemas.openxmlformats.org/drawingml/2006/main" noGrp="1"/>
          </p:cNvSpPr>
          <p:nvPr/>
        </p:nvSpPr>
        <p:spPr>
          <a:xfrm xmlns:a="http://schemas.openxmlformats.org/drawingml/2006/main">
            <a:off x="723900" y="523875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Tree>
    <p:extLst>
      <p:ext uri="{BB962C8B-B14F-4D97-AF65-F5344CB8AC3E}">
        <p14:creationId xmlns:p14="http://schemas.microsoft.com/office/powerpoint/2010/main" val="177261949"/>
      </p:ext>
    </p:extLst>
  </p:cSld>
</p:sld>
</file>

<file path=ppt/slides/slide24.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E3EFC73-927C-4791-9CD5-2D2CF5EEDEC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D627260-1841-4450-ABCF-E7788DDF5BAF}"/>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今後の見通し｜2027</a:t>
            </a:r>
          </a:p>
        </p:txBody>
      </p:sp>
      <p:sp>
        <p:nvSpPr>
          <p:cNvPr id="3" name="">
            <a:extLst xmlns:a="http://schemas.openxmlformats.org/drawingml/2006/main">
              <a:ext uri="{FF2B5EF4-FFF2-40B4-BE49-F238E27FC236}">
                <a16:creationId xmlns:a16="http://schemas.microsoft.com/office/drawing/2014/main" id="{FC81FEA2-60F3-403D-98BB-D645C3D36B36}"/>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C2BDF53-55BA-4B77-A300-58FA4ABEF37F}"/>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24</a:t>
            </a:r>
          </a:p>
        </p:txBody>
      </p:sp>
      <p:sp>
        <p:nvSpPr>
          <p:cNvPr id="5" name="">
            <a:extLst xmlns:a="http://schemas.openxmlformats.org/drawingml/2006/main">
              <a:ext uri="{FF2B5EF4-FFF2-40B4-BE49-F238E27FC236}">
                <a16:creationId xmlns:a16="http://schemas.microsoft.com/office/drawing/2014/main" id="{1AD00C28-744F-4BC6-826E-98807CA5646D}"/>
              </a:ext>
            </a:extLst>
          </p:cNvPr>
          <p:cNvSpPr>
            <a:spLocks xmlns:a="http://schemas.openxmlformats.org/drawingml/2006/main" noGrp="1"/>
          </p:cNvSpPr>
          <p:nvPr/>
        </p:nvSpPr>
        <p:spPr>
          <a:xfrm xmlns:a="http://schemas.openxmlformats.org/drawingml/2006/main" rot="0">
            <a:off x="723900" y="16668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Q1</a:t>
            </a:r>
          </a:p>
        </p:txBody>
      </p:sp>
      <p:sp>
        <p:nvSpPr>
          <p:cNvPr id="6" name="">
            <a:extLst xmlns:a="http://schemas.openxmlformats.org/drawingml/2006/main">
              <a:ext uri="{FF2B5EF4-FFF2-40B4-BE49-F238E27FC236}">
                <a16:creationId xmlns:a16="http://schemas.microsoft.com/office/drawing/2014/main" id="{CFE9BCD0-1CA9-4ED2-96C0-B5CDC3660C2C}"/>
              </a:ext>
            </a:extLst>
          </p:cNvPr>
          <p:cNvSpPr>
            <a:spLocks xmlns:a="http://schemas.openxmlformats.org/drawingml/2006/main" noGrp="1"/>
          </p:cNvSpPr>
          <p:nvPr/>
        </p:nvSpPr>
        <p:spPr>
          <a:xfrm xmlns:a="http://schemas.openxmlformats.org/drawingml/2006/main" rot="0">
            <a:off x="3714750" y="16478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利益に応じて撮影機材を増やし、宿泊・リフォーム・清掃へ撮影先を拡大。デバイス開発と意匠・特許取得に向けた準備・出願。</a:t>
            </a:r>
          </a:p>
        </p:txBody>
      </p:sp>
      <p:sp>
        <p:nvSpPr>
          <p:cNvPr id="7" name="">
            <a:extLst xmlns:a="http://schemas.openxmlformats.org/drawingml/2006/main">
              <a:ext uri="{FF2B5EF4-FFF2-40B4-BE49-F238E27FC236}">
                <a16:creationId xmlns:a16="http://schemas.microsoft.com/office/drawing/2014/main" id="{1F061B6A-38D4-44AE-8C72-B287B4191E19}"/>
              </a:ext>
            </a:extLst>
          </p:cNvPr>
          <p:cNvSpPr>
            <a:spLocks xmlns:a="http://schemas.openxmlformats.org/drawingml/2006/main" noGrp="1"/>
          </p:cNvSpPr>
          <p:nvPr/>
        </p:nvSpPr>
        <p:spPr>
          <a:xfrm xmlns:a="http://schemas.openxmlformats.org/drawingml/2006/main">
            <a:off x="723900" y="252412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AB2CA54-3388-4F22-AF5C-6D5550FA84E9}"/>
              </a:ext>
            </a:extLst>
          </p:cNvPr>
          <p:cNvSpPr>
            <a:spLocks xmlns:a="http://schemas.openxmlformats.org/drawingml/2006/main" noGrp="1"/>
          </p:cNvSpPr>
          <p:nvPr/>
        </p:nvSpPr>
        <p:spPr>
          <a:xfrm xmlns:a="http://schemas.openxmlformats.org/drawingml/2006/main" rot="0">
            <a:off x="723900" y="261937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Q2</a:t>
            </a:r>
          </a:p>
        </p:txBody>
      </p:sp>
      <p:sp>
        <p:nvSpPr>
          <p:cNvPr id="9" name="">
            <a:extLst xmlns:a="http://schemas.openxmlformats.org/drawingml/2006/main">
              <a:ext uri="{FF2B5EF4-FFF2-40B4-BE49-F238E27FC236}">
                <a16:creationId xmlns:a16="http://schemas.microsoft.com/office/drawing/2014/main" id="{8D056EF5-7FC0-4B1C-AB56-464445533783}"/>
              </a:ext>
            </a:extLst>
          </p:cNvPr>
          <p:cNvSpPr>
            <a:spLocks xmlns:a="http://schemas.openxmlformats.org/drawingml/2006/main" noGrp="1"/>
          </p:cNvSpPr>
          <p:nvPr/>
        </p:nvSpPr>
        <p:spPr>
          <a:xfrm xmlns:a="http://schemas.openxmlformats.org/drawingml/2006/main" rot="0">
            <a:off x="3714750" y="260032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介護・医療へ撮影先を拡大。国内ロボット企業等と、プライバシー性の高い現場データを外部流出リスクを管理しながら活用する仕組みを構築。</a:t>
            </a:r>
          </a:p>
        </p:txBody>
      </p:sp>
      <p:sp>
        <p:nvSpPr>
          <p:cNvPr id="10" name="">
            <a:extLst xmlns:a="http://schemas.openxmlformats.org/drawingml/2006/main">
              <a:ext uri="{FF2B5EF4-FFF2-40B4-BE49-F238E27FC236}">
                <a16:creationId xmlns:a16="http://schemas.microsoft.com/office/drawing/2014/main" id="{DC2C9857-1E17-4C2E-8452-E79A094718F6}"/>
              </a:ext>
            </a:extLst>
          </p:cNvPr>
          <p:cNvSpPr>
            <a:spLocks xmlns:a="http://schemas.openxmlformats.org/drawingml/2006/main" noGrp="1"/>
          </p:cNvSpPr>
          <p:nvPr/>
        </p:nvSpPr>
        <p:spPr>
          <a:xfrm xmlns:a="http://schemas.openxmlformats.org/drawingml/2006/main">
            <a:off x="723900" y="35718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2CE49DA-E25B-48A3-BA51-D0B90A90B0C4}"/>
              </a:ext>
            </a:extLst>
          </p:cNvPr>
          <p:cNvSpPr>
            <a:spLocks xmlns:a="http://schemas.openxmlformats.org/drawingml/2006/main" noGrp="1"/>
          </p:cNvSpPr>
          <p:nvPr/>
        </p:nvSpPr>
        <p:spPr>
          <a:xfrm xmlns:a="http://schemas.openxmlformats.org/drawingml/2006/main" rot="0">
            <a:off x="723900" y="36671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Q3</a:t>
            </a:r>
          </a:p>
        </p:txBody>
      </p:sp>
      <p:sp>
        <p:nvSpPr>
          <p:cNvPr id="12" name="">
            <a:extLst xmlns:a="http://schemas.openxmlformats.org/drawingml/2006/main">
              <a:ext uri="{FF2B5EF4-FFF2-40B4-BE49-F238E27FC236}">
                <a16:creationId xmlns:a16="http://schemas.microsoft.com/office/drawing/2014/main" id="{B69297B2-5B4A-4AE6-85D3-F3255C3278A2}"/>
              </a:ext>
            </a:extLst>
          </p:cNvPr>
          <p:cNvSpPr>
            <a:spLocks xmlns:a="http://schemas.openxmlformats.org/drawingml/2006/main" noGrp="1"/>
          </p:cNvSpPr>
          <p:nvPr/>
        </p:nvSpPr>
        <p:spPr>
          <a:xfrm xmlns:a="http://schemas.openxmlformats.org/drawingml/2006/main" rot="0">
            <a:off x="3714750" y="36480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撮影先を拡大。国内の垂直統合型ロボティクス企業、政府プロジェクトなどへ現場データ収集を打診。</a:t>
            </a:r>
          </a:p>
        </p:txBody>
      </p:sp>
      <p:sp>
        <p:nvSpPr>
          <p:cNvPr id="13" name="">
            <a:extLst xmlns:a="http://schemas.openxmlformats.org/drawingml/2006/main">
              <a:ext uri="{FF2B5EF4-FFF2-40B4-BE49-F238E27FC236}">
                <a16:creationId xmlns:a16="http://schemas.microsoft.com/office/drawing/2014/main" id="{554BBDEA-36BB-4AA2-85B3-0E5CDCB87B67}"/>
              </a:ext>
            </a:extLst>
          </p:cNvPr>
          <p:cNvSpPr>
            <a:spLocks xmlns:a="http://schemas.openxmlformats.org/drawingml/2006/main" noGrp="1"/>
          </p:cNvSpPr>
          <p:nvPr/>
        </p:nvSpPr>
        <p:spPr>
          <a:xfrm xmlns:a="http://schemas.openxmlformats.org/drawingml/2006/main">
            <a:off x="723900" y="4524375"/>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BA4DA84-AC65-463F-947E-8275BF1967D0}"/>
              </a:ext>
            </a:extLst>
          </p:cNvPr>
          <p:cNvSpPr>
            <a:spLocks xmlns:a="http://schemas.openxmlformats.org/drawingml/2006/main" noGrp="1"/>
          </p:cNvSpPr>
          <p:nvPr/>
        </p:nvSpPr>
        <p:spPr>
          <a:xfrm xmlns:a="http://schemas.openxmlformats.org/drawingml/2006/main" rot="0">
            <a:off x="723900" y="4619625"/>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315C78"/>
                </a:solidFill>
                <a:latin typeface="Hiragino Sans"/>
                <a:ea typeface="Hiragino Sans"/>
                <a:cs typeface="Hiragino Sans"/>
              </a:defRPr>
            </a:pPr>
            <a:r>
              <a:rPr sz="1500" b="1">
                <a:solidFill>
                  <a:srgbClr val="315C78"/>
                </a:solidFill>
                <a:latin typeface="Hiragino Sans"/>
                <a:ea typeface="Hiragino Sans"/>
                <a:cs typeface="Hiragino Sans"/>
              </a:rPr>
              <a:t>Q4</a:t>
            </a:r>
          </a:p>
        </p:txBody>
      </p:sp>
      <p:sp>
        <p:nvSpPr>
          <p:cNvPr id="15" name="">
            <a:extLst xmlns:a="http://schemas.openxmlformats.org/drawingml/2006/main">
              <a:ext uri="{FF2B5EF4-FFF2-40B4-BE49-F238E27FC236}">
                <a16:creationId xmlns:a16="http://schemas.microsoft.com/office/drawing/2014/main" id="{A3AFD807-AB4A-4190-91CB-58B528222DA1}"/>
              </a:ext>
            </a:extLst>
          </p:cNvPr>
          <p:cNvSpPr>
            <a:spLocks xmlns:a="http://schemas.openxmlformats.org/drawingml/2006/main" noGrp="1"/>
          </p:cNvSpPr>
          <p:nvPr/>
        </p:nvSpPr>
        <p:spPr>
          <a:xfrm xmlns:a="http://schemas.openxmlformats.org/drawingml/2006/main" rot="0">
            <a:off x="3714750" y="4600575"/>
            <a:ext cx="7572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15191B"/>
                </a:solidFill>
                <a:latin typeface="Hiragino Sans"/>
                <a:ea typeface="Hiragino Sans"/>
                <a:cs typeface="Hiragino Sans"/>
              </a:defRPr>
            </a:pPr>
            <a:r>
              <a:rPr sz="1275" b="0">
                <a:solidFill>
                  <a:srgbClr val="15191B"/>
                </a:solidFill>
                <a:latin typeface="Hiragino Sans"/>
                <a:ea typeface="Hiragino Sans"/>
                <a:cs typeface="Hiragino Sans"/>
              </a:rPr>
              <a:t>撮影先を拡大。蓄積したデータを元に国内大学と提携し、AIモデル開発と現場環境のReal2Sim等の研究開発を開始。</a:t>
            </a:r>
          </a:p>
        </p:txBody>
      </p:sp>
    </p:spTree>
    <p:extLst>
      <p:ext uri="{BB962C8B-B14F-4D97-AF65-F5344CB8AC3E}">
        <p14:creationId xmlns:p14="http://schemas.microsoft.com/office/powerpoint/2010/main" val="1399161707"/>
      </p:ext>
    </p:extLst>
  </p:cSld>
</p:sld>
</file>

<file path=ppt/slides/slide25.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DFC0F3E-1C39-4EC8-9079-19CBE018536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A5EC5BB-518A-4B66-92FE-8F4BDD9AE6EB}"/>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今後の見通し｜2028</a:t>
            </a:r>
          </a:p>
        </p:txBody>
      </p:sp>
      <p:sp>
        <p:nvSpPr>
          <p:cNvPr id="3" name="">
            <a:extLst xmlns:a="http://schemas.openxmlformats.org/drawingml/2006/main">
              <a:ext uri="{FF2B5EF4-FFF2-40B4-BE49-F238E27FC236}">
                <a16:creationId xmlns:a16="http://schemas.microsoft.com/office/drawing/2014/main" id="{0279A594-6E47-432C-8990-A057B3312693}"/>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C80BAD0-A9FD-45F8-8166-815C8CAB3586}"/>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25</a:t>
            </a:r>
          </a:p>
        </p:txBody>
      </p:sp>
      <p:sp>
        <p:nvSpPr>
          <p:cNvPr id="5" name="">
            <a:extLst xmlns:a="http://schemas.openxmlformats.org/drawingml/2006/main">
              <a:ext uri="{FF2B5EF4-FFF2-40B4-BE49-F238E27FC236}">
                <a16:creationId xmlns:a16="http://schemas.microsoft.com/office/drawing/2014/main" id="{1BCBFF5F-4FBF-4AA5-8C8A-C302D23C326C}"/>
              </a:ext>
            </a:extLst>
          </p:cNvPr>
          <p:cNvSpPr>
            <a:spLocks xmlns:a="http://schemas.openxmlformats.org/drawingml/2006/main" noGrp="1"/>
          </p:cNvSpPr>
          <p:nvPr/>
        </p:nvSpPr>
        <p:spPr>
          <a:xfrm xmlns:a="http://schemas.openxmlformats.org/drawingml/2006/main" rot="0">
            <a:off x="723900" y="195262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Q1〜Q2</a:t>
            </a:r>
          </a:p>
        </p:txBody>
      </p:sp>
      <p:sp>
        <p:nvSpPr>
          <p:cNvPr id="6" name="">
            <a:extLst xmlns:a="http://schemas.openxmlformats.org/drawingml/2006/main">
              <a:ext uri="{FF2B5EF4-FFF2-40B4-BE49-F238E27FC236}">
                <a16:creationId xmlns:a16="http://schemas.microsoft.com/office/drawing/2014/main" id="{25E990C7-F59F-40BE-A9A7-41AA57AC06C6}"/>
              </a:ext>
            </a:extLst>
          </p:cNvPr>
          <p:cNvSpPr>
            <a:spLocks xmlns:a="http://schemas.openxmlformats.org/drawingml/2006/main" noGrp="1"/>
          </p:cNvSpPr>
          <p:nvPr/>
        </p:nvSpPr>
        <p:spPr>
          <a:xfrm xmlns:a="http://schemas.openxmlformats.org/drawingml/2006/main" rot="0">
            <a:off x="723900" y="2428875"/>
            <a:ext cx="4762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撮影先と現場実装先を拡大する。ロボット企業と、ロボットの実証実験を行える現場のマッチングを開始する。大学と提携して行う研究についても、現場のマッチングを実施する。</a:t>
            </a:r>
          </a:p>
        </p:txBody>
      </p:sp>
      <p:sp>
        <p:nvSpPr>
          <p:cNvPr id="7" name="">
            <a:extLst xmlns:a="http://schemas.openxmlformats.org/drawingml/2006/main">
              <a:ext uri="{FF2B5EF4-FFF2-40B4-BE49-F238E27FC236}">
                <a16:creationId xmlns:a16="http://schemas.microsoft.com/office/drawing/2014/main" id="{020E181E-2EFB-4ABA-B199-FAEF7F6D0799}"/>
              </a:ext>
            </a:extLst>
          </p:cNvPr>
          <p:cNvSpPr>
            <a:spLocks xmlns:a="http://schemas.openxmlformats.org/drawingml/2006/main" noGrp="1"/>
          </p:cNvSpPr>
          <p:nvPr/>
        </p:nvSpPr>
        <p:spPr>
          <a:xfrm xmlns:a="http://schemas.openxmlformats.org/drawingml/2006/main">
            <a:off x="5981700" y="1952625"/>
            <a:ext cx="9525" cy="338137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D8AB515-F789-4815-98E3-41FFDFF6BC06}"/>
              </a:ext>
            </a:extLst>
          </p:cNvPr>
          <p:cNvSpPr>
            <a:spLocks xmlns:a="http://schemas.openxmlformats.org/drawingml/2006/main" noGrp="1"/>
          </p:cNvSpPr>
          <p:nvPr/>
        </p:nvSpPr>
        <p:spPr>
          <a:xfrm xmlns:a="http://schemas.openxmlformats.org/drawingml/2006/main" rot="0">
            <a:off x="6477000" y="195262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Q3〜Q4</a:t>
            </a:r>
          </a:p>
        </p:txBody>
      </p:sp>
      <p:sp>
        <p:nvSpPr>
          <p:cNvPr id="9" name="">
            <a:extLst xmlns:a="http://schemas.openxmlformats.org/drawingml/2006/main">
              <a:ext uri="{FF2B5EF4-FFF2-40B4-BE49-F238E27FC236}">
                <a16:creationId xmlns:a16="http://schemas.microsoft.com/office/drawing/2014/main" id="{32554972-A6B8-4CEF-9C00-B91F23A808AB}"/>
              </a:ext>
            </a:extLst>
          </p:cNvPr>
          <p:cNvSpPr>
            <a:spLocks xmlns:a="http://schemas.openxmlformats.org/drawingml/2006/main" noGrp="1"/>
          </p:cNvSpPr>
          <p:nvPr/>
        </p:nvSpPr>
        <p:spPr>
          <a:xfrm xmlns:a="http://schemas.openxmlformats.org/drawingml/2006/main" rot="0">
            <a:off x="6477000" y="2428875"/>
            <a:ext cx="4667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5191B"/>
                </a:solidFill>
                <a:latin typeface="Hiragino Sans"/>
                <a:ea typeface="Hiragino Sans"/>
                <a:cs typeface="Hiragino Sans"/>
              </a:defRPr>
            </a:pPr>
            <a:r>
              <a:rPr sz="1725" b="0">
                <a:solidFill>
                  <a:srgbClr val="15191B"/>
                </a:solidFill>
                <a:latin typeface="Hiragino Sans"/>
                <a:ea typeface="Hiragino Sans"/>
                <a:cs typeface="Hiragino Sans"/>
              </a:rPr>
              <a:t>業種を絞り、実際にロボットの現場統合を開始する。蓄積したデータや経験を元に、どのような現場がロボット導入に適しているか、優先順位をつける。</a:t>
            </a:r>
          </a:p>
        </p:txBody>
      </p:sp>
      <p:sp>
        <p:nvSpPr>
          <p:cNvPr id="10" name="">
            <a:extLst xmlns:a="http://schemas.openxmlformats.org/drawingml/2006/main">
              <a:ext uri="{FF2B5EF4-FFF2-40B4-BE49-F238E27FC236}">
                <a16:creationId xmlns:a16="http://schemas.microsoft.com/office/drawing/2014/main" id="{D102159B-A235-4B7F-A8E3-72F70DD8E46D}"/>
              </a:ext>
            </a:extLst>
          </p:cNvPr>
          <p:cNvSpPr>
            <a:spLocks xmlns:a="http://schemas.openxmlformats.org/drawingml/2006/main" noGrp="1"/>
          </p:cNvSpPr>
          <p:nvPr/>
        </p:nvSpPr>
        <p:spPr>
          <a:xfrm xmlns:a="http://schemas.openxmlformats.org/drawingml/2006/main" rot="0">
            <a:off x="723900" y="57150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315C78"/>
                </a:solidFill>
                <a:latin typeface="Hiragino Sans"/>
                <a:ea typeface="Hiragino Sans"/>
                <a:cs typeface="Hiragino Sans"/>
              </a:defRPr>
            </a:pPr>
            <a:r>
              <a:rPr sz="1650" b="1">
                <a:solidFill>
                  <a:srgbClr val="315C78"/>
                </a:solidFill>
                <a:latin typeface="Hiragino Sans"/>
                <a:ea typeface="Hiragino Sans"/>
                <a:cs typeface="Hiragino Sans"/>
              </a:rPr>
              <a:t>現場データ収集から始めた企業が、現場統合を行う企業へ進化する。</a:t>
            </a:r>
          </a:p>
        </p:txBody>
      </p:sp>
    </p:spTree>
    <p:extLst>
      <p:ext uri="{BB962C8B-B14F-4D97-AF65-F5344CB8AC3E}">
        <p14:creationId xmlns:p14="http://schemas.microsoft.com/office/powerpoint/2010/main" val="455446405"/>
      </p:ext>
    </p:extLst>
  </p:cSld>
</p:sld>
</file>

<file path=ppt/slides/slide26.xml><?xml version="1.0" encoding="utf-8"?>
<p:sld xmlns:p="http://schemas.openxmlformats.org/presentationml/2006/main">
  <p:cSld>
    <p:bg>
      <p:bgPr>
        <a:solidFill xmlns:a="http://schemas.openxmlformats.org/drawingml/2006/main">
          <a:srgbClr val="F4F6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3F999C5-EF74-474B-A975-F58499DC997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15C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514186A-0195-4C05-A795-96879CC8E49B}"/>
              </a:ext>
            </a:extLst>
          </p:cNvPr>
          <p:cNvSpPr>
            <a:spLocks xmlns:a="http://schemas.openxmlformats.org/drawingml/2006/main" noGrp="1"/>
          </p:cNvSpPr>
          <p:nvPr/>
        </p:nvSpPr>
        <p:spPr>
          <a:xfrm xmlns:a="http://schemas.openxmlformats.org/drawingml/2006/main" rot="0">
            <a:off x="666750" y="58102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75" b="1">
                <a:solidFill>
                  <a:srgbClr val="15191B"/>
                </a:solidFill>
                <a:latin typeface="Hiragino Sans"/>
                <a:ea typeface="Hiragino Sans"/>
                <a:cs typeface="Hiragino Sans"/>
              </a:defRPr>
            </a:pPr>
            <a:r>
              <a:rPr sz="2775" b="1">
                <a:solidFill>
                  <a:srgbClr val="15191B"/>
                </a:solidFill>
                <a:latin typeface="Hiragino Sans"/>
                <a:ea typeface="Hiragino Sans"/>
                <a:cs typeface="Hiragino Sans"/>
              </a:rPr>
              <a:t>今後の見通し｜2029</a:t>
            </a:r>
          </a:p>
        </p:txBody>
      </p:sp>
      <p:sp>
        <p:nvSpPr>
          <p:cNvPr id="3" name="">
            <a:extLst xmlns:a="http://schemas.openxmlformats.org/drawingml/2006/main">
              <a:ext uri="{FF2B5EF4-FFF2-40B4-BE49-F238E27FC236}">
                <a16:creationId xmlns:a16="http://schemas.microsoft.com/office/drawing/2014/main" id="{2ACE66AC-0538-40F5-A9FA-CAE48D114836}"/>
              </a:ext>
            </a:extLst>
          </p:cNvPr>
          <p:cNvSpPr>
            <a:spLocks xmlns:a="http://schemas.openxmlformats.org/drawingml/2006/main" noGrp="1"/>
          </p:cNvSpPr>
          <p:nvPr/>
        </p:nvSpPr>
        <p:spPr>
          <a:xfrm xmlns:a="http://schemas.openxmlformats.org/drawingml/2006/main">
            <a:off x="666750" y="1409700"/>
            <a:ext cx="1085850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A508CAC-4370-4C37-88FA-F88F54D41D42}"/>
              </a:ext>
            </a:extLst>
          </p:cNvPr>
          <p:cNvSpPr>
            <a:spLocks xmlns:a="http://schemas.openxmlformats.org/drawingml/2006/main" noGrp="1"/>
          </p:cNvSpPr>
          <p:nvPr/>
        </p:nvSpPr>
        <p:spPr>
          <a:xfrm xmlns:a="http://schemas.openxmlformats.org/drawingml/2006/main" rot="0">
            <a:off x="10668000" y="6429375"/>
            <a:ext cx="85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a:solidFill>
                  <a:srgbClr val="58646A"/>
                </a:solidFill>
                <a:latin typeface="Hiragino Sans"/>
                <a:ea typeface="Hiragino Sans"/>
                <a:cs typeface="Hiragino Sans"/>
              </a:defRPr>
            </a:pPr>
            <a:r>
              <a:rPr sz="900" b="0">
                <a:solidFill>
                  <a:srgbClr val="58646A"/>
                </a:solidFill>
                <a:latin typeface="Hiragino Sans"/>
                <a:ea typeface="Hiragino Sans"/>
                <a:cs typeface="Hiragino Sans"/>
              </a:rPr>
              <a:t>26</a:t>
            </a:r>
          </a:p>
        </p:txBody>
      </p:sp>
      <p:sp>
        <p:nvSpPr>
          <p:cNvPr id="5" name="">
            <a:extLst xmlns:a="http://schemas.openxmlformats.org/drawingml/2006/main">
              <a:ext uri="{FF2B5EF4-FFF2-40B4-BE49-F238E27FC236}">
                <a16:creationId xmlns:a16="http://schemas.microsoft.com/office/drawing/2014/main" id="{B078A065-5D5A-4337-940A-1F5093DFE1A9}"/>
              </a:ext>
            </a:extLst>
          </p:cNvPr>
          <p:cNvSpPr>
            <a:spLocks xmlns:a="http://schemas.openxmlformats.org/drawingml/2006/main" noGrp="1"/>
          </p:cNvSpPr>
          <p:nvPr/>
        </p:nvSpPr>
        <p:spPr>
          <a:xfrm xmlns:a="http://schemas.openxmlformats.org/drawingml/2006/main" rot="0">
            <a:off x="723900" y="2047875"/>
            <a:ext cx="1028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1">
                <a:solidFill>
                  <a:srgbClr val="315C78"/>
                </a:solidFill>
                <a:latin typeface="Hiragino Sans"/>
                <a:ea typeface="Hiragino Sans"/>
                <a:cs typeface="Hiragino Sans"/>
              </a:defRPr>
            </a:pPr>
            <a:r>
              <a:rPr sz="2250" b="1">
                <a:solidFill>
                  <a:srgbClr val="315C78"/>
                </a:solidFill>
                <a:latin typeface="Hiragino Sans"/>
                <a:ea typeface="Hiragino Sans"/>
                <a:cs typeface="Hiragino Sans"/>
              </a:rPr>
              <a:t>第2段階への移行</a:t>
            </a:r>
          </a:p>
        </p:txBody>
      </p:sp>
      <p:sp>
        <p:nvSpPr>
          <p:cNvPr id="6" name="">
            <a:extLst xmlns:a="http://schemas.openxmlformats.org/drawingml/2006/main">
              <a:ext uri="{FF2B5EF4-FFF2-40B4-BE49-F238E27FC236}">
                <a16:creationId xmlns:a16="http://schemas.microsoft.com/office/drawing/2014/main" id="{1A1FDB89-61E6-40D0-BDF4-631A5E996431}"/>
              </a:ext>
            </a:extLst>
          </p:cNvPr>
          <p:cNvSpPr>
            <a:spLocks xmlns:a="http://schemas.openxmlformats.org/drawingml/2006/main" noGrp="1"/>
          </p:cNvSpPr>
          <p:nvPr/>
        </p:nvSpPr>
        <p:spPr>
          <a:xfrm xmlns:a="http://schemas.openxmlformats.org/drawingml/2006/main" rot="0">
            <a:off x="723900" y="29527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15191B"/>
                </a:solidFill>
                <a:latin typeface="Hiragino Sans"/>
                <a:ea typeface="Hiragino Sans"/>
                <a:cs typeface="Hiragino Sans"/>
              </a:defRPr>
            </a:pPr>
            <a:r>
              <a:rPr sz="2025" b="1">
                <a:solidFill>
                  <a:srgbClr val="15191B"/>
                </a:solidFill>
                <a:latin typeface="Hiragino Sans"/>
                <a:ea typeface="Hiragino Sans"/>
                <a:cs typeface="Hiragino Sans"/>
              </a:rPr>
              <a:t>現場実装先と、各現場の豊富な作業データを所有する。</a:t>
            </a:r>
          </a:p>
        </p:txBody>
      </p:sp>
      <p:sp>
        <p:nvSpPr>
          <p:cNvPr id="7" name="">
            <a:extLst xmlns:a="http://schemas.openxmlformats.org/drawingml/2006/main">
              <a:ext uri="{FF2B5EF4-FFF2-40B4-BE49-F238E27FC236}">
                <a16:creationId xmlns:a16="http://schemas.microsoft.com/office/drawing/2014/main" id="{4AF86406-4702-4984-A7CA-2D1571266B43}"/>
              </a:ext>
            </a:extLst>
          </p:cNvPr>
          <p:cNvSpPr>
            <a:spLocks xmlns:a="http://schemas.openxmlformats.org/drawingml/2006/main" noGrp="1"/>
          </p:cNvSpPr>
          <p:nvPr/>
        </p:nvSpPr>
        <p:spPr>
          <a:xfrm xmlns:a="http://schemas.openxmlformats.org/drawingml/2006/main">
            <a:off x="723900" y="3810000"/>
            <a:ext cx="10572750" cy="9525"/>
          </a:xfrm>
          <a:prstGeom xmlns:a="http://schemas.openxmlformats.org/drawingml/2006/main" prst="rect">
            <a:avLst/>
          </a:prstGeom>
          <a:solidFill xmlns:a="http://schemas.openxmlformats.org/drawingml/2006/main">
            <a:srgbClr val="AAB6B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B499E8A-4D68-4F75-8A07-F0AE1BF9D762}"/>
              </a:ext>
            </a:extLst>
          </p:cNvPr>
          <p:cNvSpPr>
            <a:spLocks xmlns:a="http://schemas.openxmlformats.org/drawingml/2006/main" noGrp="1"/>
          </p:cNvSpPr>
          <p:nvPr/>
        </p:nvSpPr>
        <p:spPr>
          <a:xfrm xmlns:a="http://schemas.openxmlformats.org/drawingml/2006/main" rot="0">
            <a:off x="723900" y="423862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モデル開発・ハードウェア開発・現場統合のフィードバックループを</a:t>
            </a:r>
          </a:p>
          <a:p xmlns:a="http://schemas.openxmlformats.org/drawingml/2006/main">
            <a:pPr algn="l">
              <a:defRPr sz="1875" b="1">
                <a:solidFill>
                  <a:srgbClr val="15191B"/>
                </a:solidFill>
                <a:latin typeface="Hiragino Sans"/>
                <a:ea typeface="Hiragino Sans"/>
                <a:cs typeface="Hiragino Sans"/>
              </a:defRPr>
            </a:pPr>
            <a:r>
              <a:rPr sz="1875" b="1">
                <a:solidFill>
                  <a:srgbClr val="15191B"/>
                </a:solidFill>
                <a:latin typeface="Hiragino Sans"/>
                <a:ea typeface="Hiragino Sans"/>
                <a:cs typeface="Hiragino Sans"/>
              </a:rPr>
              <a:t>自社で回すフィジカルAI企業へと転身する。</a:t>
            </a:r>
          </a:p>
        </p:txBody>
      </p:sp>
      <p:sp>
        <p:nvSpPr>
          <p:cNvPr id="9" name="">
            <a:extLst xmlns:a="http://schemas.openxmlformats.org/drawingml/2006/main">
              <a:ext uri="{FF2B5EF4-FFF2-40B4-BE49-F238E27FC236}">
                <a16:creationId xmlns:a16="http://schemas.microsoft.com/office/drawing/2014/main" id="{C4DFD096-773D-41F5-B8C2-A8A08C537DA3}"/>
              </a:ext>
            </a:extLst>
          </p:cNvPr>
          <p:cNvSpPr>
            <a:spLocks xmlns:a="http://schemas.openxmlformats.org/drawingml/2006/main" noGrp="1"/>
          </p:cNvSpPr>
          <p:nvPr/>
        </p:nvSpPr>
        <p:spPr>
          <a:xfrm xmlns:a="http://schemas.openxmlformats.org/drawingml/2006/main" rot="0">
            <a:off x="723900" y="581025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315C78"/>
                </a:solidFill>
                <a:latin typeface="Hiragino Sans"/>
                <a:ea typeface="Hiragino Sans"/>
                <a:cs typeface="Hiragino Sans"/>
              </a:defRPr>
            </a:pPr>
            <a:r>
              <a:rPr sz="1575" b="1">
                <a:solidFill>
                  <a:srgbClr val="315C78"/>
                </a:solidFill>
                <a:latin typeface="Hiragino Sans"/>
                <a:ea typeface="Hiragino Sans"/>
                <a:cs typeface="Hiragino Sans"/>
              </a:rPr>
              <a:t>現場データ収集から始めるフィジカルAIプレーヤー</a:t>
            </a:r>
          </a:p>
        </p:txBody>
      </p:sp>
    </p:spTree>
    <p:extLst>
      <p:ext uri="{BB962C8B-B14F-4D97-AF65-F5344CB8AC3E}">
        <p14:creationId xmlns:p14="http://schemas.microsoft.com/office/powerpoint/2010/main" val="6473481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2026-09-15T03:39:08.3780000Z</dcterms:created>
  <dcterms:modified xsi:type="dcterms:W3CDTF">2026-09-15T03:39:08.3780000Z</dcterms:modified>
</coreProperties>
</file>
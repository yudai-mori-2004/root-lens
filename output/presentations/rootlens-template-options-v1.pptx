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490a16a80841d7" /><Relationship Type="http://schemas.openxmlformats.org/officeDocument/2006/relationships/extended-properties" Target="/docProps/app.xml" Id="R0cf487849b1d4673" /><Relationship Type="http://schemas.openxmlformats.org/officeDocument/2006/relationships/officeDocument" Target="/ppt/presentation.xml" Id="R03836574644a48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3f2959e77e4e63"/>
  </p:sldMasterIdLst>
  <p:notesMasterIdLst>
    <p:notesMasterId xmlns:r="http://schemas.openxmlformats.org/officeDocument/2006/relationships" r:id="R467f626cffd743a3"/>
  </p:notesMasterIdLst>
  <p:sldIdLst>
    <p:sldId xmlns:r="http://schemas.openxmlformats.org/officeDocument/2006/relationships" id="256" r:id="R658e158ecf6f442d"/>
    <p:sldId xmlns:r="http://schemas.openxmlformats.org/officeDocument/2006/relationships" id="257" r:id="Rf7782b48c6754e12"/>
    <p:sldId xmlns:r="http://schemas.openxmlformats.org/officeDocument/2006/relationships" id="258" r:id="Rf0558e929e0544ec"/>
    <p:sldId xmlns:r="http://schemas.openxmlformats.org/officeDocument/2006/relationships" id="259" r:id="Rab0e73f5d1f341e2"/>
    <p:sldId xmlns:r="http://schemas.openxmlformats.org/officeDocument/2006/relationships" id="260" r:id="R6a0768e92a644779"/>
    <p:sldId xmlns:r="http://schemas.openxmlformats.org/officeDocument/2006/relationships" id="261" r:id="Rd377f7730ca84c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39cae53562423d" /><Relationship Type="http://schemas.openxmlformats.org/officeDocument/2006/relationships/slideMaster" Target="/ppt/slideMasters/slideMaster1.xml" Id="R7c3f2959e77e4e63" /><Relationship Type="http://schemas.openxmlformats.org/officeDocument/2006/relationships/notesMaster" Target="/ppt/notesMasters/notesMaster1.xml" Id="R467f626cffd743a3" /><Relationship Type="http://schemas.openxmlformats.org/officeDocument/2006/relationships/presProps" Target="/ppt/presProps.xml" Id="Reeae7085485047f9" /><Relationship Type="http://schemas.openxmlformats.org/officeDocument/2006/relationships/tableStyles" Target="/ppt/tableStyles.xml" Id="R270896806d7a4237" /><Relationship Type="http://schemas.openxmlformats.org/officeDocument/2006/relationships/slide" Target="/ppt/slides/slide1.xml" Id="R658e158ecf6f442d" /><Relationship Type="http://schemas.openxmlformats.org/officeDocument/2006/relationships/slide" Target="/ppt/slides/slide2.xml" Id="Rf7782b48c6754e12" /><Relationship Type="http://schemas.openxmlformats.org/officeDocument/2006/relationships/slide" Target="/ppt/slides/slide3.xml" Id="Rf0558e929e0544ec" /><Relationship Type="http://schemas.openxmlformats.org/officeDocument/2006/relationships/slide" Target="/ppt/slides/slide4.xml" Id="Rab0e73f5d1f341e2" /><Relationship Type="http://schemas.openxmlformats.org/officeDocument/2006/relationships/slide" Target="/ppt/slides/slide5.xml" Id="R6a0768e92a644779" /><Relationship Type="http://schemas.openxmlformats.org/officeDocument/2006/relationships/slide" Target="/ppt/slides/slide6.xml" Id="Rd377f7730ca84c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5de885841544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c042716a2a4717" /><Relationship Type="http://schemas.openxmlformats.org/officeDocument/2006/relationships/notesMaster" Target="/ppt/notesMasters/notesMaster1.xml" Id="R0a871e39d8684f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a9303a46eb4a95" /><Relationship Type="http://schemas.openxmlformats.org/officeDocument/2006/relationships/notesMaster" Target="/ppt/notesMasters/notesMaster1.xml" Id="R9f967e61883043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94d9d1c6fa4a20" /><Relationship Type="http://schemas.openxmlformats.org/officeDocument/2006/relationships/notesMaster" Target="/ppt/notesMasters/notesMaster1.xml" Id="R7d858690717c44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2fdc76c7334f23" /><Relationship Type="http://schemas.openxmlformats.org/officeDocument/2006/relationships/notesMaster" Target="/ppt/notesMasters/notesMaster1.xml" Id="R469b49a9863f4b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e82d06378e4225" /><Relationship Type="http://schemas.openxmlformats.org/officeDocument/2006/relationships/notesMaster" Target="/ppt/notesMasters/notesMaster1.xml" Id="Rcf55a4f245524d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d50e5963354b3a" /><Relationship Type="http://schemas.openxmlformats.org/officeDocument/2006/relationships/notesMaster" Target="/ppt/notesMasters/notesMaster1.xml" Id="R5ea7e6d18f0b4c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c5f9aaa1cf4b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ef7704947846f3" /><Relationship Type="http://schemas.openxmlformats.org/officeDocument/2006/relationships/slideLayout" Target="/ppt/slideLayouts/slideLayout1.xml" Id="Rccfcae0ec30f4b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fcae0ec30f4b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bd7a7b11048aa" /><Relationship Type="http://schemas.openxmlformats.org/officeDocument/2006/relationships/notesSlide" Target="/ppt/notesSlides/notesSlide1.xml" Id="R419f99c5f80d40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5a3016fc946ee" /><Relationship Type="http://schemas.openxmlformats.org/officeDocument/2006/relationships/notesSlide" Target="/ppt/notesSlides/notesSlide2.xml" Id="Rb0dd1f248c4246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87e0d75b84e2b" /><Relationship Type="http://schemas.openxmlformats.org/officeDocument/2006/relationships/image" Target="/ppt/media/image.jpeg" Id="R55090d840f6245ca" /><Relationship Type="http://schemas.openxmlformats.org/officeDocument/2006/relationships/notesSlide" Target="/ppt/notesSlides/notesSlide3.xml" Id="R00ec29218cee44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eb788e51694b57" /><Relationship Type="http://schemas.openxmlformats.org/officeDocument/2006/relationships/notesSlide" Target="/ppt/notesSlides/notesSlide4.xml" Id="Rd4a5bd2449a049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1216c4383f40f9" /><Relationship Type="http://schemas.openxmlformats.org/officeDocument/2006/relationships/notesSlide" Target="/ppt/notesSlides/notesSlide5.xml" Id="R4aa95336260f4f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cc943ca834399" /><Relationship Type="http://schemas.openxmlformats.org/officeDocument/2006/relationships/notesSlide" Target="/ppt/notesSlides/notesSlide6.xml" Id="R182adba7f2814f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7CE6F1-7D2F-4050-9974-EBC19471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D90D4-15D4-451F-833D-ABA9F339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15C78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 i="0">
                <a:solidFill>
                  <a:srgbClr val="315C78"/>
                </a:solidFill>
                <a:latin typeface="Hiragino Sans"/>
                <a:ea typeface="Hiragino Sans"/>
                <a:cs typeface="Hiragino Sans"/>
              </a:rPr>
              <a:t>DESIGN A  TECHNICAL MEMORANDUM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733DE9-96E6-49FD-9ABC-9A76880C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 i="0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RootLens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470491-09CD-4CA7-80E1-99FDAD9B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876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4050" b="1" i="0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現場データ収集から始める</a:t>
            </a:r>
          </a:p>
          <a:p xmlns:a="http://schemas.openxmlformats.org/drawingml/2006/main">
            <a:pPr algn="l">
              <a:defRPr sz="4050" b="1" i="0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4050" b="1" i="0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フィジカルAI企業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68CD42-F5A6-4D05-A9B3-956DDDE5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AB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00686C-4AA4-4FD0-B461-BF8ED30E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244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D596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4D5960"/>
                </a:solidFill>
                <a:latin typeface="Hiragino Sans"/>
                <a:ea typeface="Hiragino Sans"/>
                <a:cs typeface="Hiragino Sans"/>
              </a:rPr>
              <a:t>会社紹介資料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DCC8C5-E6FA-428B-A77D-207AB626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1244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4D596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4D5960"/>
                </a:solidFill>
                <a:latin typeface="Hiragino Sans"/>
                <a:ea typeface="Hiragino Sans"/>
                <a:cs typeface="Hiragino Sans"/>
              </a:rPr>
              <a:t>2026.09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C694C0-548A-4BF0-92F8-5C2077D6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82930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750" b="1" i="0">
                <a:solidFill>
                  <a:srgbClr val="315C78"/>
                </a:solidFill>
                <a:latin typeface="Hiragino Sans"/>
                <a:ea typeface="Hiragino Sans"/>
                <a:cs typeface="Hiragino Sans"/>
              </a:defRPr>
            </a:pPr>
            <a:r>
              <a:rPr sz="3750" b="1" i="0">
                <a:solidFill>
                  <a:srgbClr val="315C78"/>
                </a:solidFill>
                <a:latin typeface="Hiragino Sans"/>
                <a:ea typeface="Hiragino Sans"/>
                <a:cs typeface="Hiragino Sans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8031326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338A7A-8D3A-4E6C-91A1-999E95E4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2DEF7D-E807-49B0-92AA-037F665A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15C78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 i="0">
                <a:solidFill>
                  <a:srgbClr val="315C78"/>
                </a:solidFill>
                <a:latin typeface="Hiragino Sans"/>
                <a:ea typeface="Hiragino Sans"/>
                <a:cs typeface="Hiragino Sans"/>
              </a:rPr>
              <a:t>ROOTLENS  /  THINKING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007178-B04E-4C27-87C8-B0DF7209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なぜ現場データ収集から始めるのか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193CF3-7C8C-41AB-A17E-A2E19A1B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9067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5B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312F61-B5F4-4634-BC80-73BF48F5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288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15C78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315C78"/>
                </a:solidFill>
                <a:latin typeface="Hiragino Sans"/>
                <a:ea typeface="Hiragino Sans"/>
                <a:cs typeface="Hiragino Sans"/>
              </a:rPr>
              <a:t>現場統合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D93901-67B6-46A2-A3CB-C308AB3D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4333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 i="0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現場統合では、業種やタスクごとにロボットの動作を作り込む必要がある。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30142A-B765-4F93-ACF5-D8841B0B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288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15C78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315C78"/>
                </a:solidFill>
                <a:latin typeface="Hiragino Sans"/>
                <a:ea typeface="Hiragino Sans"/>
                <a:cs typeface="Hiragino Sans"/>
              </a:rPr>
              <a:t>現場データ収集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CBB8FA-3A5F-4D8A-9870-5C4F134A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05075"/>
            <a:ext cx="4619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 i="0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現場データ収集は、人間の作業を撮影することで、現在の技術でも複数業種へ入れる。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3CD74E-525D-46B0-99CE-0CFF04D4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5B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2E1A64-33AB-41AC-B553-283A8577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15C78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315C78"/>
                </a:solidFill>
                <a:latin typeface="Hiragino Sans"/>
                <a:ea typeface="Hiragino Sans"/>
                <a:cs typeface="Hiragino Sans"/>
              </a:rPr>
              <a:t>現在考えていること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9F76F9-BAA4-4BA4-BCCC-2E8B14F9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990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 i="0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撮影を通じて、将来ロボットが導入される現場との関係と、既存ワークフローのデータが蓄積する。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A495F6-E1C9-4735-9EBA-CF9FF299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912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9666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9666D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461253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E9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090d840f6245ca"/>
          <a:srcRect xmlns:a="http://schemas.openxmlformats.org/drawingml/2006/main" l="27972" t="0" r="279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DE9CF9-BD69-4586-87FA-776F4F5B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4512C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 i="0">
                <a:solidFill>
                  <a:srgbClr val="B4512C"/>
                </a:solidFill>
                <a:latin typeface="Hiragino Sans"/>
                <a:ea typeface="Hiragino Sans"/>
                <a:cs typeface="Hiragino Sans"/>
              </a:rPr>
              <a:t>DESIGN B  FIELD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C35DF-8BFA-4A45-A0F0-6AB098F8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 i="0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RootLens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AA5548-D796-4DE7-B6C1-F311E046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590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171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3600" b="1" i="0">
                <a:solidFill>
                  <a:srgbClr val="171717"/>
                </a:solidFill>
                <a:latin typeface="Hiragino Mincho ProN"/>
                <a:ea typeface="Hiragino Mincho ProN"/>
                <a:cs typeface="Hiragino Mincho ProN"/>
              </a:rPr>
              <a:t>現場データ収集から始める</a:t>
            </a:r>
          </a:p>
          <a:p xmlns:a="http://schemas.openxmlformats.org/drawingml/2006/main">
            <a:pPr algn="l">
              <a:defRPr sz="3600" b="1" i="0">
                <a:solidFill>
                  <a:srgbClr val="17171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3600" b="1" i="0">
                <a:solidFill>
                  <a:srgbClr val="171717"/>
                </a:solidFill>
                <a:latin typeface="Hiragino Mincho ProN"/>
                <a:ea typeface="Hiragino Mincho ProN"/>
                <a:cs typeface="Hiragino Mincho ProN"/>
              </a:rPr>
              <a:t>フィジカルAI企業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780E40-DEAF-499F-9373-0D28684E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12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887A3C-CF05-4248-AC91-232BC9DA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581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 i="0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現場で作り、現場で確かめたことから話す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32F9F5-54EC-49FB-8F1B-0D39271B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63341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試作撮影デバイス</a:t>
            </a:r>
          </a:p>
        </p:txBody>
      </p:sp>
    </p:spTree>
    <p:extLst>
      <p:ext uri="{BB962C8B-B14F-4D97-AF65-F5344CB8AC3E}">
        <p14:creationId xmlns:p14="http://schemas.microsoft.com/office/powerpoint/2010/main" val="14490713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EE9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C9E319-71F9-4ADD-A4DF-E1606D2A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4512C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 i="0">
                <a:solidFill>
                  <a:srgbClr val="B4512C"/>
                </a:solidFill>
                <a:latin typeface="Hiragino Sans"/>
                <a:ea typeface="Hiragino Sans"/>
                <a:cs typeface="Hiragino Sans"/>
              </a:rPr>
              <a:t>ROOTLENS  /  FIELD NOTE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4BFC7E-7DF8-491F-A5D0-53F55AE8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171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700" b="1" i="0">
                <a:solidFill>
                  <a:srgbClr val="171717"/>
                </a:solidFill>
                <a:latin typeface="Hiragino Mincho ProN"/>
                <a:ea typeface="Hiragino Mincho ProN"/>
                <a:cs typeface="Hiragino Mincho ProN"/>
              </a:rPr>
              <a:t>なぜ現場データ収集から始めるのか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6A2A83-6073-4CE2-97BC-E246DAD2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9F8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4F3B5-4087-4909-8AB1-D2B9735D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B4512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B4512C"/>
                </a:solidFill>
                <a:latin typeface="Hiragino Sans"/>
                <a:ea typeface="Hiragino Sans"/>
                <a:cs typeface="Hiragino Sans"/>
              </a:rPr>
              <a:t>事実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D77D1-5D7D-45FC-9082-8D39CBBA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6762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0" i="0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現場統合では、業種やタスクごとにロボットの動作を作り込む必要がある。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 i="0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0" i="0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現場データ収集は、人間の作業を撮影することで、現在の技術でも複数業種へ入れる。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807818-9A94-4D6B-9590-7DAFA912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478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B4512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B4512C"/>
                </a:solidFill>
                <a:latin typeface="Hiragino Sans"/>
                <a:ea typeface="Hiragino Sans"/>
                <a:cs typeface="Hiragino Sans"/>
              </a:rPr>
              <a:t>現在の考え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F4812F-8C0B-401D-B036-409EB1A4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05075"/>
            <a:ext cx="3143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71717"/>
                </a:solidFill>
                <a:latin typeface="Hiragino Mincho ProN"/>
                <a:ea typeface="Hiragino Mincho ProN"/>
                <a:cs typeface="Hiragino Mincho ProN"/>
              </a:defRPr>
            </a:pPr>
            <a:r>
              <a:rPr sz="2100" b="1" i="0">
                <a:solidFill>
                  <a:srgbClr val="171717"/>
                </a:solidFill>
                <a:latin typeface="Hiragino Mincho ProN"/>
                <a:ea typeface="Hiragino Mincho ProN"/>
                <a:cs typeface="Hiragino Mincho ProN"/>
              </a:rPr>
              <a:t>撮影を通じて、将来ロボットが導入される現場との関係と、既存ワークフローのデータが蓄積する。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6F7B88-1E42-4197-A2EF-1B9E50C5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9F8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28B6F9-D9AC-43D0-A1FA-C782DDFD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594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F594D"/>
                </a:solidFill>
                <a:latin typeface="Hiragino Sans"/>
                <a:ea typeface="Hiragino Sans"/>
                <a:cs typeface="Hiragino Sans"/>
              </a:rPr>
              <a:t>事実と考えを分け、どちらも同じ強さで飾らず置く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9620FC-72C5-47DF-BFB1-46DDCBEE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1722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F594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F594D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072127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C0C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8021CC-A0F4-4496-A5B3-0C2CB50F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FAFA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 i="0">
                <a:solidFill>
                  <a:srgbClr val="AFAFAF"/>
                </a:solidFill>
                <a:latin typeface="Hiragino Sans"/>
                <a:ea typeface="Hiragino Sans"/>
                <a:cs typeface="Hiragino Sans"/>
              </a:rPr>
              <a:t>DESIGN C  MONOCHROME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8B6070-A050-42DC-AD6F-07A7153D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RootLens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7DDC22-0929-4377-A58C-2A6CFF85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191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4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現場データ収集から始める</a:t>
            </a:r>
          </a:p>
          <a:p xmlns:a="http://schemas.openxmlformats.org/drawingml/2006/main">
            <a:pPr algn="l">
              <a:defRPr sz="4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4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フィジカルAI企業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9DFB81-CF8E-4D49-9C0E-EB69EA63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686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849B8A-571D-487A-B6EE-4294440F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DBDB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 i="0">
                <a:solidFill>
                  <a:srgbClr val="BDBDBD"/>
                </a:solidFill>
                <a:latin typeface="Hiragino Sans"/>
                <a:ea typeface="Hiragino Sans"/>
                <a:cs typeface="Hiragino Sans"/>
              </a:rPr>
              <a:t>Company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6CC157-076D-43F8-AC2D-31150015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20065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 i="0">
                <a:solidFill>
                  <a:srgbClr val="BDBDB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 i="0">
                <a:solidFill>
                  <a:srgbClr val="BDBDBD"/>
                </a:solidFill>
                <a:latin typeface="Hiragino Sans"/>
                <a:ea typeface="Hiragino Sans"/>
                <a:cs typeface="Hiragino Sans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5171099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88241D-8A92-4B62-95F2-5AB8C85A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6C356B-44C8-4B0E-B88B-57D1EBD7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ROOTLENS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D4A00-3587-401B-A420-4A67E7E8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33350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38EB38-2BE1-4572-B240-ACC25338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 i="0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なぜ現場データ収集から始めるのか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5CDFB7-2240-4951-9B95-07E650F5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E8BB8-7D22-43DF-951E-F9564CB0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F6EDB9-6D70-43D5-9760-2B671120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52650"/>
            <a:ext cx="942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 i="0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現場統合では、業種やタスクごとにロボットの動作を作り込む必要がある。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A6DBB4-AAF4-4A21-856D-E2505184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B12E21-5B60-4A89-BD8B-CBE2AEF8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E62109-AB52-428B-B51A-4BA6C3C1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86150"/>
            <a:ext cx="942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 i="0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現場データ収集は、人間の作業を撮影することで、現在の技術でも複数業種へ入れる。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B4735D-81F4-4E26-A920-B2B58C22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74EC44-EC96-445E-BB22-4DF612B8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考え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7FDAD2-BCDF-4F51-9E34-8C4C934F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95850"/>
            <a:ext cx="942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 i="0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撮影を通じて、将来ロボットが導入される現場との関係と、既存ワークフローのデータが蓄積する。</a:t>
            </a:r>
          </a:p>
        </p:txBody>
      </p:sp>
    </p:spTree>
    <p:extLst>
      <p:ext uri="{BB962C8B-B14F-4D97-AF65-F5344CB8AC3E}">
        <p14:creationId xmlns:p14="http://schemas.microsoft.com/office/powerpoint/2010/main" val="12169762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2026-09-14T21:14:25.3310000Z</dcterms:created>
  <dcterms:modified xsi:type="dcterms:W3CDTF">2026-09-14T21:14:25.3310000Z</dcterms:modified>
</coreProperties>
</file>
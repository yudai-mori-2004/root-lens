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5d1acf42584cce" /><Relationship Type="http://schemas.openxmlformats.org/officeDocument/2006/relationships/extended-properties" Target="/docProps/app.xml" Id="R3b05f26c0f6d40b0" /><Relationship Type="http://schemas.openxmlformats.org/officeDocument/2006/relationships/officeDocument" Target="/ppt/presentation.xml" Id="Rf05c62df8baf4da7" /></Relationships>
</file>

<file path=ppt/presentation.xml><?xml version="1.0" encoding="utf-8"?>
<p:presentation xmlns:p="http://schemas.openxmlformats.org/presentationml/2006/main">
  <p:sldMasterIdLst>
    <p:sldMasterId xmlns:r="http://schemas.openxmlformats.org/officeDocument/2006/relationships" id="2147483648" r:id="R42db49169fe24f6c"/>
  </p:sldMasterIdLst>
  <p:notesMasterIdLst>
    <p:notesMasterId xmlns:r="http://schemas.openxmlformats.org/officeDocument/2006/relationships" r:id="R5b362dc20b2a4b89"/>
  </p:notesMasterIdLst>
  <p:sldIdLst>
    <p:sldId xmlns:r="http://schemas.openxmlformats.org/officeDocument/2006/relationships" id="256" r:id="R712da48d2b134d5f"/>
    <p:sldId xmlns:r="http://schemas.openxmlformats.org/officeDocument/2006/relationships" id="257" r:id="R9eceffbe31e94cc4"/>
    <p:sldId xmlns:r="http://schemas.openxmlformats.org/officeDocument/2006/relationships" id="258" r:id="R0cc96b42f9da4f01"/>
    <p:sldId xmlns:r="http://schemas.openxmlformats.org/officeDocument/2006/relationships" id="259" r:id="R884b1eec7ec84ccf"/>
    <p:sldId xmlns:r="http://schemas.openxmlformats.org/officeDocument/2006/relationships" id="260" r:id="R41b822852b354b40"/>
    <p:sldId xmlns:r="http://schemas.openxmlformats.org/officeDocument/2006/relationships" id="261" r:id="R4e59144d1e1442f7"/>
    <p:sldId xmlns:r="http://schemas.openxmlformats.org/officeDocument/2006/relationships" id="262" r:id="Rff665248e0e342a6"/>
    <p:sldId xmlns:r="http://schemas.openxmlformats.org/officeDocument/2006/relationships" id="263" r:id="Rbb1f030df04d4fb6"/>
    <p:sldId xmlns:r="http://schemas.openxmlformats.org/officeDocument/2006/relationships" id="264" r:id="Rcecc970084364f10"/>
    <p:sldId xmlns:r="http://schemas.openxmlformats.org/officeDocument/2006/relationships" id="265" r:id="R6cb62a4988a649e8"/>
    <p:sldId xmlns:r="http://schemas.openxmlformats.org/officeDocument/2006/relationships" id="266" r:id="R15329f4ecd61402e"/>
    <p:sldId xmlns:r="http://schemas.openxmlformats.org/officeDocument/2006/relationships" id="267" r:id="R7c01f2d843674d40"/>
    <p:sldId xmlns:r="http://schemas.openxmlformats.org/officeDocument/2006/relationships" id="268" r:id="R8ace5a45d1434d47"/>
    <p:sldId xmlns:r="http://schemas.openxmlformats.org/officeDocument/2006/relationships" id="269" r:id="Rcc30758117214b51"/>
    <p:sldId xmlns:r="http://schemas.openxmlformats.org/officeDocument/2006/relationships" id="270" r:id="R4283626fedf54aef"/>
    <p:sldId xmlns:r="http://schemas.openxmlformats.org/officeDocument/2006/relationships" id="271" r:id="R455b4ececef848cb"/>
    <p:sldId xmlns:r="http://schemas.openxmlformats.org/officeDocument/2006/relationships" id="272" r:id="R32a45afb58d147cd"/>
    <p:sldId xmlns:r="http://schemas.openxmlformats.org/officeDocument/2006/relationships" id="273" r:id="Rdffc87b284e645c6"/>
    <p:sldId xmlns:r="http://schemas.openxmlformats.org/officeDocument/2006/relationships" id="274" r:id="R572b8a360a524c36"/>
    <p:sldId xmlns:r="http://schemas.openxmlformats.org/officeDocument/2006/relationships" id="275" r:id="R8b9483ba59194b24"/>
    <p:sldId xmlns:r="http://schemas.openxmlformats.org/officeDocument/2006/relationships" id="276" r:id="R9acf2b7e59d3456d"/>
    <p:sldId xmlns:r="http://schemas.openxmlformats.org/officeDocument/2006/relationships" id="277" r:id="R0cfac4014bfa4dc6"/>
    <p:sldId xmlns:r="http://schemas.openxmlformats.org/officeDocument/2006/relationships" id="278" r:id="R7fb3c748b9b24972"/>
    <p:sldId xmlns:r="http://schemas.openxmlformats.org/officeDocument/2006/relationships" id="279" r:id="Rb65419bc9086423c"/>
    <p:sldId xmlns:r="http://schemas.openxmlformats.org/officeDocument/2006/relationships" id="280" r:id="R315c7280e0a54fd6"/>
    <p:sldId xmlns:r="http://schemas.openxmlformats.org/officeDocument/2006/relationships" id="281" r:id="R52465b0ff915440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0ebe9ab7e304753" /><Relationship Type="http://schemas.openxmlformats.org/officeDocument/2006/relationships/slideMaster" Target="/ppt/slideMasters/slideMaster1.xml" Id="R42db49169fe24f6c" /><Relationship Type="http://schemas.openxmlformats.org/officeDocument/2006/relationships/notesMaster" Target="/ppt/notesMasters/notesMaster1.xml" Id="R5b362dc20b2a4b89" /><Relationship Type="http://schemas.openxmlformats.org/officeDocument/2006/relationships/presProps" Target="/ppt/presProps.xml" Id="Rb5fdf160f3b34cca" /><Relationship Type="http://schemas.openxmlformats.org/officeDocument/2006/relationships/tableStyles" Target="/ppt/tableStyles.xml" Id="Rb7c67396c43c4bb0" /><Relationship Type="http://schemas.openxmlformats.org/officeDocument/2006/relationships/slide" Target="/ppt/slides/slide1.xml" Id="R712da48d2b134d5f" /><Relationship Type="http://schemas.openxmlformats.org/officeDocument/2006/relationships/slide" Target="/ppt/slides/slide2.xml" Id="R9eceffbe31e94cc4" /><Relationship Type="http://schemas.openxmlformats.org/officeDocument/2006/relationships/slide" Target="/ppt/slides/slide3.xml" Id="R0cc96b42f9da4f01" /><Relationship Type="http://schemas.openxmlformats.org/officeDocument/2006/relationships/slide" Target="/ppt/slides/slide4.xml" Id="R884b1eec7ec84ccf" /><Relationship Type="http://schemas.openxmlformats.org/officeDocument/2006/relationships/slide" Target="/ppt/slides/slide5.xml" Id="R41b822852b354b40" /><Relationship Type="http://schemas.openxmlformats.org/officeDocument/2006/relationships/slide" Target="/ppt/slides/slide6.xml" Id="R4e59144d1e1442f7" /><Relationship Type="http://schemas.openxmlformats.org/officeDocument/2006/relationships/slide" Target="/ppt/slides/slide7.xml" Id="Rff665248e0e342a6" /><Relationship Type="http://schemas.openxmlformats.org/officeDocument/2006/relationships/slide" Target="/ppt/slides/slide8.xml" Id="Rbb1f030df04d4fb6" /><Relationship Type="http://schemas.openxmlformats.org/officeDocument/2006/relationships/slide" Target="/ppt/slides/slide9.xml" Id="Rcecc970084364f10" /><Relationship Type="http://schemas.openxmlformats.org/officeDocument/2006/relationships/slide" Target="/ppt/slides/slide10.xml" Id="R6cb62a4988a649e8" /><Relationship Type="http://schemas.openxmlformats.org/officeDocument/2006/relationships/slide" Target="/ppt/slides/slide11.xml" Id="R15329f4ecd61402e" /><Relationship Type="http://schemas.openxmlformats.org/officeDocument/2006/relationships/slide" Target="/ppt/slides/slide12.xml" Id="R7c01f2d843674d40" /><Relationship Type="http://schemas.openxmlformats.org/officeDocument/2006/relationships/slide" Target="/ppt/slides/slide13.xml" Id="R8ace5a45d1434d47" /><Relationship Type="http://schemas.openxmlformats.org/officeDocument/2006/relationships/slide" Target="/ppt/slides/slide14.xml" Id="Rcc30758117214b51" /><Relationship Type="http://schemas.openxmlformats.org/officeDocument/2006/relationships/slide" Target="/ppt/slides/slide15.xml" Id="R4283626fedf54aef" /><Relationship Type="http://schemas.openxmlformats.org/officeDocument/2006/relationships/slide" Target="/ppt/slides/slide16.xml" Id="R455b4ececef848cb" /><Relationship Type="http://schemas.openxmlformats.org/officeDocument/2006/relationships/slide" Target="/ppt/slides/slide17.xml" Id="R32a45afb58d147cd" /><Relationship Type="http://schemas.openxmlformats.org/officeDocument/2006/relationships/slide" Target="/ppt/slides/slide18.xml" Id="Rdffc87b284e645c6" /><Relationship Type="http://schemas.openxmlformats.org/officeDocument/2006/relationships/slide" Target="/ppt/slides/slide19.xml" Id="R572b8a360a524c36" /><Relationship Type="http://schemas.openxmlformats.org/officeDocument/2006/relationships/slide" Target="/ppt/slides/slide20.xml" Id="R8b9483ba59194b24" /><Relationship Type="http://schemas.openxmlformats.org/officeDocument/2006/relationships/slide" Target="/ppt/slides/slide21.xml" Id="R9acf2b7e59d3456d" /><Relationship Type="http://schemas.openxmlformats.org/officeDocument/2006/relationships/slide" Target="/ppt/slides/slide22.xml" Id="R0cfac4014bfa4dc6" /><Relationship Type="http://schemas.openxmlformats.org/officeDocument/2006/relationships/slide" Target="/ppt/slides/slide23.xml" Id="R7fb3c748b9b24972" /><Relationship Type="http://schemas.openxmlformats.org/officeDocument/2006/relationships/slide" Target="/ppt/slides/slide24.xml" Id="Rb65419bc9086423c" /><Relationship Type="http://schemas.openxmlformats.org/officeDocument/2006/relationships/slide" Target="/ppt/slides/slide25.xml" Id="R315c7280e0a54fd6" /><Relationship Type="http://schemas.openxmlformats.org/officeDocument/2006/relationships/slide" Target="/ppt/slides/slide26.xml" Id="R52465b0ff91544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25f72423f64f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1ecd9484f34041" /><Relationship Type="http://schemas.openxmlformats.org/officeDocument/2006/relationships/notesMaster" Target="/ppt/notesMasters/notesMaster1.xml" Id="R49cc6d24cdfc4ab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577372dc614501" /><Relationship Type="http://schemas.openxmlformats.org/officeDocument/2006/relationships/notesMaster" Target="/ppt/notesMasters/notesMaster1.xml" Id="R3a79265db8224e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420e920795425b" /><Relationship Type="http://schemas.openxmlformats.org/officeDocument/2006/relationships/notesMaster" Target="/ppt/notesMasters/notesMaster1.xml" Id="R7b357f838f954a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6cf41eddc244fa" /><Relationship Type="http://schemas.openxmlformats.org/officeDocument/2006/relationships/notesMaster" Target="/ppt/notesMasters/notesMaster1.xml" Id="R14b17828239d40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f701ce84124eab" /><Relationship Type="http://schemas.openxmlformats.org/officeDocument/2006/relationships/notesMaster" Target="/ppt/notesMasters/notesMaster1.xml" Id="R56f5e0af36bf4c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87a75047b154238" /><Relationship Type="http://schemas.openxmlformats.org/officeDocument/2006/relationships/notesMaster" Target="/ppt/notesMasters/notesMaster1.xml" Id="R890171b593ff42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527d61cbe444bd" /><Relationship Type="http://schemas.openxmlformats.org/officeDocument/2006/relationships/notesMaster" Target="/ppt/notesMasters/notesMaster1.xml" Id="R83c5857bcdb046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c4896b5ac54de4" /><Relationship Type="http://schemas.openxmlformats.org/officeDocument/2006/relationships/notesMaster" Target="/ppt/notesMasters/notesMaster1.xml" Id="R2b67bb60717a4077"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fcaeda5d714bdb" /><Relationship Type="http://schemas.openxmlformats.org/officeDocument/2006/relationships/notesMaster" Target="/ppt/notesMasters/notesMaster1.xml" Id="R5e7f56226f794d7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0a60eedfd814fb4" /><Relationship Type="http://schemas.openxmlformats.org/officeDocument/2006/relationships/notesMaster" Target="/ppt/notesMasters/notesMaster1.xml" Id="R30e493d546a34c4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e2ce6e5c30346ea" /><Relationship Type="http://schemas.openxmlformats.org/officeDocument/2006/relationships/notesMaster" Target="/ppt/notesMasters/notesMaster1.xml" Id="Rea4da6d4d3ea46b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bde90e5343a4f74" /><Relationship Type="http://schemas.openxmlformats.org/officeDocument/2006/relationships/notesMaster" Target="/ppt/notesMasters/notesMaster1.xml" Id="R6b15ab82c30b472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47c61ccf4464674" /><Relationship Type="http://schemas.openxmlformats.org/officeDocument/2006/relationships/notesMaster" Target="/ppt/notesMasters/notesMaster1.xml" Id="Rdcb7a7d4b8d44b3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2d6cb39192e494b" /><Relationship Type="http://schemas.openxmlformats.org/officeDocument/2006/relationships/notesMaster" Target="/ppt/notesMasters/notesMaster1.xml" Id="Ra73376f6de624ee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491bd77590d4349" /><Relationship Type="http://schemas.openxmlformats.org/officeDocument/2006/relationships/notesMaster" Target="/ppt/notesMasters/notesMaster1.xml" Id="Rb4f3adbd23f248d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ceefc8e9cdd4958" /><Relationship Type="http://schemas.openxmlformats.org/officeDocument/2006/relationships/notesMaster" Target="/ppt/notesMasters/notesMaster1.xml" Id="Rf0e1163df3d446b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04c7b8847154edb" /><Relationship Type="http://schemas.openxmlformats.org/officeDocument/2006/relationships/notesMaster" Target="/ppt/notesMasters/notesMaster1.xml" Id="Re324e04164a74f0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9eda9eea9924128" /><Relationship Type="http://schemas.openxmlformats.org/officeDocument/2006/relationships/notesMaster" Target="/ppt/notesMasters/notesMaster1.xml" Id="R6d357ee4f4c64db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324691db2f74e3a" /><Relationship Type="http://schemas.openxmlformats.org/officeDocument/2006/relationships/notesMaster" Target="/ppt/notesMasters/notesMaster1.xml" Id="R40e18928d36a467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f2d73da49de4804" /><Relationship Type="http://schemas.openxmlformats.org/officeDocument/2006/relationships/notesMaster" Target="/ppt/notesMasters/notesMaster1.xml" Id="Ra324c9561650414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d3204f4938d4382" /><Relationship Type="http://schemas.openxmlformats.org/officeDocument/2006/relationships/notesMaster" Target="/ppt/notesMasters/notesMaster1.xml" Id="R80e49a2aee524e6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4357b5b7ac94ae3" /><Relationship Type="http://schemas.openxmlformats.org/officeDocument/2006/relationships/notesMaster" Target="/ppt/notesMasters/notesMaster1.xml" Id="Rd86538718a9d4f8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de1c3c7457e4fd4" /><Relationship Type="http://schemas.openxmlformats.org/officeDocument/2006/relationships/notesMaster" Target="/ppt/notesMasters/notesMaster1.xml" Id="R4172b5bfcdf2479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a882a01717843bb" /><Relationship Type="http://schemas.openxmlformats.org/officeDocument/2006/relationships/notesMaster" Target="/ppt/notesMasters/notesMaster1.xml" Id="R538de30cc9be4ba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b27e38537d142e2" /><Relationship Type="http://schemas.openxmlformats.org/officeDocument/2006/relationships/notesMaster" Target="/ppt/notesMasters/notesMaster1.xml" Id="Rdeef976b66d44ac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b9603d212fe4eeb" /><Relationship Type="http://schemas.openxmlformats.org/officeDocument/2006/relationships/notesMaster" Target="/ppt/notesMasters/notesMaster1.xml" Id="R75c044466a9a4d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横幅は、その企業が接続している現場の範囲を表します。垂直統合型は特定の現場に絞るため横幅が短く、複数の技術レイヤーを自社で担うため縦に長くなります。水平統合型は一つの技術レイヤーを担いながら、多数の業種・現場へ接続するため横に広くなります。現場と直接接触するのは、一番下の現場統合層と、一番上流の現場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代表例は1XとSunday Roboticsです。</a:t>
            </a:r>
          </a:p>
          <a:p xmlns:a="http://schemas.openxmlformats.org/drawingml/2006/main">
            <a:r>
              <a:t/>
            </a:r>
          </a:p>
          <a:p xmlns:a="http://schemas.openxmlformats.org/drawingml/2006/main">
            <a:r>
              <a:t>一方、水平統合型は、そのバリューチェーンをレイヤーごとに分解した企業群です。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データ収集層には、人間の作業データ、テレオペレーション、合成データ、生データの加工があり、さらに上流では収集専用デバイスの開発も広がり始めています。基盤モデル開発はPhysical Intelligence（PI）やNVIDIAが挙げられ、桁違いの投資ができる企業に限られます。シミュレーション・デジタルツインは、実データの必要量を下げながらモデル開発まで進める近接レイヤーです。</a:t>
            </a:r>
          </a:p>
          <a:p xmlns:a="http://schemas.openxmlformats.org/drawingml/2006/main">
            <a:r>
              <a:t/>
            </a:r>
          </a:p>
          <a:p xmlns:a="http://schemas.openxmlformats.org/drawingml/2006/main">
            <a:r>
              <a:t>ハードウェアは中国系企業が安価なロボットの供給で強く、現場統合層は既存のロボットやモデルを使って現場への導入を優先します。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独立したデータレイヤーが将来なくなるからこそ、今の段階ではデータ収集が有利な出発点になります。現場統合層が現場と接するのは当然ですが、一番上流の現場データ収集企業も、撮影のために現場へ入り、将来ロボットが使われる現場と直接の関係を作れます。上流工程と最下流の顧客が直接繋がる、フィジカルAI特有の構造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現場は多いですが有限です。現場側の負担を考えると、一つの現場が複数の収集会社と契約するとは考えにくく、先行者優位が強いと見ています。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現場データを先に持つことは、ロボット企業との協業だけでなく、自分たちが現場統合へ進むための布石になります。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私たちの構想は2段階です。まず現場データネットワークを広げ、次にそのデータとネットワークを使って自ら現場統合へ進みます。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海外8社とは、ベーカリーで収集したサンプルデータのやり取りまで進みました。合意に至っていないのは、私たちの収集スケールが世界的にはまだ小さく、低い優先度として扱われているためです。</a:t>
            </a:r>
          </a:p>
          <a:p xmlns:a="http://schemas.openxmlformats.org/drawingml/2006/main">
            <a:r>
              <a:t/>
            </a:r>
          </a:p>
          <a:p xmlns:a="http://schemas.openxmlformats.org/drawingml/2006/main">
            <a:r>
              <a:t>国内ではNextremerと、現場合意、加工、販売、ストレージを含む運用フローを擦り合わせています。データ加工レイヤーを経由することで、プライバシー処理の責任を分散し、高度なアノテーション付きデータを求める販売先へ接続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現在4名で活動しています。共同創業者2名に加え、現場提供者の川島さんと、経営管理・法務・業界ネットワークを支援する大崎さんが参画しています。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時間、1,000時間、10,000時間で比較しても、デバイス償却の比率はほぼ一定です。規模の経済が効くかどうかは、主に人件費と固定費で決まります。一度契約した現場が継続的にデータを出し続ける構造を作れれば、新規開拓コストを抑えながら収集時間を伸ばせま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同一データを複数のバイヤーへ販売できれば、月10,000時間体制で平均2回販売なら会社取り分は月1,600万円、3回なら月2,400万円になります。12か月続ければ12万時間のデータ資産が残ります。</a:t>
            </a:r>
          </a:p>
          <a:p xmlns:a="http://schemas.openxmlformats.org/drawingml/2006/main">
            <a:r>
              <a:t/>
            </a:r>
          </a:p>
          <a:p xmlns:a="http://schemas.openxmlformats.org/drawingml/2006/main">
            <a:r>
              <a:t>複数回販売やアノテーションによる単価上昇は可能性の段階ですが、データが在庫として残り、累積時間が資産になること自体が、この事業の重要な性質です。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導入に適した現場へ優先順位をつけ、業種を絞って実際の現場統合を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現場データ収集で得た現場実装先、作業データ、現場の知見を使い、モデル開発・ハードウェア開発・現場統合のフィードバックループを自社で回す企業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e1c93418074e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3ae2f6ff314ce2" /><Relationship Type="http://schemas.openxmlformats.org/officeDocument/2006/relationships/slideLayout" Target="/ppt/slideLayouts/slideLayout1.xml" Id="Rd8b4458d2f0d49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8b4458d2f0d49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79ad78bfe064df8" /><Relationship Type="http://schemas.openxmlformats.org/officeDocument/2006/relationships/notesSlide" Target="/ppt/notesSlides/notesSlide1.xml" Id="Rd79bbff657a343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440a932f15643b0" /><Relationship Type="http://schemas.openxmlformats.org/officeDocument/2006/relationships/notesSlide" Target="/ppt/notesSlides/notesSlide2.xml" Id="R51245da93c524e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2837ac390f4498e" /><Relationship Type="http://schemas.openxmlformats.org/officeDocument/2006/relationships/notesSlide" Target="/ppt/notesSlides/notesSlide3.xml" Id="R7fc24fec10b048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08c62c8916c445c" /><Relationship Type="http://schemas.openxmlformats.org/officeDocument/2006/relationships/notesSlide" Target="/ppt/notesSlides/notesSlide4.xml" Id="R3374b6aa5aaa40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9ee84e70327496c" /><Relationship Type="http://schemas.openxmlformats.org/officeDocument/2006/relationships/notesSlide" Target="/ppt/notesSlides/notesSlide5.xml" Id="R93a13cd2746740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10d799441704b30" /><Relationship Type="http://schemas.openxmlformats.org/officeDocument/2006/relationships/notesSlide" Target="/ppt/notesSlides/notesSlide6.xml" Id="Rc367063db349443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555a01c0a6b4224" /><Relationship Type="http://schemas.openxmlformats.org/officeDocument/2006/relationships/notesSlide" Target="/ppt/notesSlides/notesSlide7.xml" Id="R259c7103104b43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63179eebba54b8e" /><Relationship Type="http://schemas.openxmlformats.org/officeDocument/2006/relationships/notesSlide" Target="/ppt/notesSlides/notesSlide8.xml" Id="R0d16d076fc57447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1dc9e9902ca4d58" /><Relationship Type="http://schemas.openxmlformats.org/officeDocument/2006/relationships/notesSlide" Target="/ppt/notesSlides/notesSlide9.xml" Id="R4c0f6e6f7630495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0ea51c00a2647e3" /><Relationship Type="http://schemas.openxmlformats.org/officeDocument/2006/relationships/notesSlide" Target="/ppt/notesSlides/notesSlide10.xml" Id="R884041183ce24c5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ea7d98f0c51478b" /><Relationship Type="http://schemas.openxmlformats.org/officeDocument/2006/relationships/notesSlide" Target="/ppt/notesSlides/notesSlide11.xml" Id="R88b99aa0f3ea483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206decb77d240c7" /><Relationship Type="http://schemas.openxmlformats.org/officeDocument/2006/relationships/notesSlide" Target="/ppt/notesSlides/notesSlide12.xml" Id="Rbf1409f1da4a4e0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a27db452df9458c" /><Relationship Type="http://schemas.openxmlformats.org/officeDocument/2006/relationships/notesSlide" Target="/ppt/notesSlides/notesSlide13.xml" Id="R4a39edf5af67476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d8ce4d783b946f2" /><Relationship Type="http://schemas.openxmlformats.org/officeDocument/2006/relationships/notesSlide" Target="/ppt/notesSlides/notesSlide14.xml" Id="Rde9a2b179547428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b13d2e7f0a64863" /><Relationship Type="http://schemas.openxmlformats.org/officeDocument/2006/relationships/notesSlide" Target="/ppt/notesSlides/notesSlide15.xml" Id="Rf3942b85962e4db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214c567daaa48c7" /><Relationship Type="http://schemas.openxmlformats.org/officeDocument/2006/relationships/notesSlide" Target="/ppt/notesSlides/notesSlide16.xml" Id="Rf6ca7df84b664f7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8d31df938f34afb" /><Relationship Type="http://schemas.openxmlformats.org/officeDocument/2006/relationships/image" Target="/ppt/media/image.jpeg" Id="R4541536a4e334ee2" /><Relationship Type="http://schemas.openxmlformats.org/officeDocument/2006/relationships/image" Target="/ppt/media/image2.jpeg" Id="R3890a5f2efaf46cf" /><Relationship Type="http://schemas.openxmlformats.org/officeDocument/2006/relationships/image" Target="/ppt/media/image3.jpeg" Id="R56e9064ddd664dff" /><Relationship Type="http://schemas.openxmlformats.org/officeDocument/2006/relationships/notesSlide" Target="/ppt/notesSlides/notesSlide17.xml" Id="Rb34d1b8f41f64c9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612faf9a00044a7" /><Relationship Type="http://schemas.openxmlformats.org/officeDocument/2006/relationships/notesSlide" Target="/ppt/notesSlides/notesSlide18.xml" Id="R0c1620356e3b450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8e1d39256bb49c8" /><Relationship Type="http://schemas.openxmlformats.org/officeDocument/2006/relationships/notesSlide" Target="/ppt/notesSlides/notesSlide19.xml" Id="R894d5890b873496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0b1ac537fac4687" /><Relationship Type="http://schemas.openxmlformats.org/officeDocument/2006/relationships/notesSlide" Target="/ppt/notesSlides/notesSlide20.xml" Id="R2f6c2a00f79d4a2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b712a5b6f2f4d8a" /><Relationship Type="http://schemas.openxmlformats.org/officeDocument/2006/relationships/notesSlide" Target="/ppt/notesSlides/notesSlide21.xml" Id="R867310a70e57413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f91070539994571" /><Relationship Type="http://schemas.openxmlformats.org/officeDocument/2006/relationships/notesSlide" Target="/ppt/notesSlides/notesSlide22.xml" Id="R2f52d7194ca5476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59b31ec5b224087" /><Relationship Type="http://schemas.openxmlformats.org/officeDocument/2006/relationships/notesSlide" Target="/ppt/notesSlides/notesSlide23.xml" Id="R2393fd9f6eac451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04db0b9e9834d06" /><Relationship Type="http://schemas.openxmlformats.org/officeDocument/2006/relationships/notesSlide" Target="/ppt/notesSlides/notesSlide24.xml" Id="Rd7c8f8721c90486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db469d7fb1a4431" /><Relationship Type="http://schemas.openxmlformats.org/officeDocument/2006/relationships/notesSlide" Target="/ppt/notesSlides/notesSlide25.xml" Id="R026216c0fa82450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b4987a0c10f4c05" /><Relationship Type="http://schemas.openxmlformats.org/officeDocument/2006/relationships/notesSlide" Target="/ppt/notesSlides/notesSlide26.xml" Id="R1e6e5239ce5444b2"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B400B66-2AF7-4C00-8E3C-6EE8074DBFA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BE7EA7-E051-44AF-A355-92EE00884A72}"/>
              </a:ext>
            </a:extLst>
          </p:cNvPr>
          <p:cNvSpPr>
            <a:spLocks xmlns:a="http://schemas.openxmlformats.org/drawingml/2006/main" noGrp="1"/>
          </p:cNvSpPr>
          <p:nvPr/>
        </p:nvSpPr>
        <p:spPr>
          <a:xfrm xmlns:a="http://schemas.openxmlformats.org/drawingml/2006/main" rot="0">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8C22059C-4C6E-489B-9641-D7E678023EA2}"/>
              </a:ext>
            </a:extLst>
          </p:cNvPr>
          <p:cNvSpPr>
            <a:spLocks xmlns:a="http://schemas.openxmlformats.org/drawingml/2006/main" noGrp="1"/>
          </p:cNvSpPr>
          <p:nvPr/>
        </p:nvSpPr>
        <p:spPr>
          <a:xfrm xmlns:a="http://schemas.openxmlformats.org/drawingml/2006/main" rot="0">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DF89A2BF-3FCB-4F62-A427-080290F88E8F}"/>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684F54A-E3E3-4BD7-8981-A56A7BB874A3}"/>
              </a:ext>
            </a:extLst>
          </p:cNvPr>
          <p:cNvSpPr>
            <a:spLocks xmlns:a="http://schemas.openxmlformats.org/drawingml/2006/main" noGrp="1"/>
          </p:cNvSpPr>
          <p:nvPr/>
        </p:nvSpPr>
        <p:spPr>
          <a:xfrm xmlns:a="http://schemas.openxmlformats.org/drawingml/2006/main" rot="0">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C8194F83-9C84-47BA-8B2B-7C9939E88CB5}"/>
              </a:ext>
            </a:extLst>
          </p:cNvPr>
          <p:cNvSpPr>
            <a:spLocks xmlns:a="http://schemas.openxmlformats.org/drawingml/2006/main" noGrp="1"/>
          </p:cNvSpPr>
          <p:nvPr/>
        </p:nvSpPr>
        <p:spPr>
          <a:xfrm xmlns:a="http://schemas.openxmlformats.org/drawingml/2006/main" rot="0">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135416902"/>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3C9A662F-4A49-4161-ACE5-2B68B7989C3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FD967D-CEA4-40B8-8669-4E0E9B8E881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D8DEC0F8-AA75-4A80-AC9D-7B0AA9C0092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234B279-BEA1-4681-A80D-F2B8DAD4157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378CDBAA-2BB4-4637-A261-9AC5A517C36B}"/>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A2D74086-FA20-4EC2-9029-F068EF9B1B3A}"/>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D900A45-0802-419D-B116-8B3BB811363C}"/>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C4C3C84-1600-45DF-BB25-365F5CCB9052}"/>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C687CB4-F076-4EDA-B446-DD611F53D6DE}"/>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BBAFD9FB-3EAB-46F9-B508-4928ECF95524}"/>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936375A1-741D-448F-8E06-73451775FA09}"/>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6D691643-D806-4DB2-983E-3F1D166C3B3B}"/>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0546E836-3600-4158-974A-FD4DC2861346}"/>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B6DFCBF0-3894-450C-88ED-212E6E2BE9C3}"/>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69C33D09-2C6B-46A7-AF8C-ADCF280490F6}"/>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49DB62F4-BFCE-4013-B9D2-D04C144797C5}"/>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41584579-2E24-422C-BC17-C232854799E3}"/>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657D6AC-4BA4-46F7-81A3-CEF01F7A7035}"/>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8C61191-C2F7-45FF-9D47-ACBEDD97A96E}"/>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5AE2409-494B-47E3-97DB-0DA0BAC06820}"/>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36F0E517-2BB1-4FDB-96C0-CC813CC606C5}"/>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FE042B08-9636-4CD5-8809-C487241951DB}"/>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3F76DC0-C112-491C-AE1B-026988A67872}"/>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40A9491C-97E5-4C6F-8AB6-EFFD21722B47}"/>
              </a:ext>
            </a:extLst>
          </p:cNvPr>
          <p:cNvSpPr>
            <a:spLocks xmlns:a="http://schemas.openxmlformats.org/drawingml/2006/main" noGrp="1"/>
          </p:cNvSpPr>
          <p:nvPr/>
        </p:nvSpPr>
        <p:spPr>
          <a:xfrm xmlns:a="http://schemas.openxmlformats.org/drawingml/2006/main">
            <a:off x="2990850" y="23050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C6835C91-B0BA-4BB3-B69A-CEE1AA28DCD8}"/>
              </a:ext>
            </a:extLst>
          </p:cNvPr>
          <p:cNvSpPr>
            <a:spLocks xmlns:a="http://schemas.openxmlformats.org/drawingml/2006/main" noGrp="1"/>
          </p:cNvSpPr>
          <p:nvPr/>
        </p:nvSpPr>
        <p:spPr>
          <a:xfrm xmlns:a="http://schemas.openxmlformats.org/drawingml/2006/main" rot="0">
            <a:off x="5248275" y="2371725"/>
            <a:ext cx="5153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水平統合型　　一つのレイヤーで、多数の現場を占める</a:t>
            </a:r>
          </a:p>
        </p:txBody>
      </p:sp>
      <p:sp>
        <p:nvSpPr>
          <p:cNvPr id="26" name="">
            <a:extLst xmlns:a="http://schemas.openxmlformats.org/drawingml/2006/main">
              <a:ext uri="{FF2B5EF4-FFF2-40B4-BE49-F238E27FC236}">
                <a16:creationId xmlns:a16="http://schemas.microsoft.com/office/drawing/2014/main" id="{36D27E34-A97E-4DA0-8B83-9DB18C8388CC}"/>
              </a:ext>
            </a:extLst>
          </p:cNvPr>
          <p:cNvSpPr>
            <a:spLocks xmlns:a="http://schemas.openxmlformats.org/drawingml/2006/main" noGrp="1"/>
          </p:cNvSpPr>
          <p:nvPr/>
        </p:nvSpPr>
        <p:spPr>
          <a:xfrm xmlns:a="http://schemas.openxmlformats.org/drawingml/2006/main" rot="0">
            <a:off x="5248275" y="2600325"/>
            <a:ext cx="51530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DeepReach / BuildAI</a:t>
            </a:r>
          </a:p>
        </p:txBody>
      </p:sp>
      <p:sp>
        <p:nvSpPr>
          <p:cNvPr id="27" name="">
            <a:extLst xmlns:a="http://schemas.openxmlformats.org/drawingml/2006/main">
              <a:ext uri="{FF2B5EF4-FFF2-40B4-BE49-F238E27FC236}">
                <a16:creationId xmlns:a16="http://schemas.microsoft.com/office/drawing/2014/main" id="{F556522C-9CDD-446B-A928-C512D07AF494}"/>
              </a:ext>
            </a:extLst>
          </p:cNvPr>
          <p:cNvSpPr>
            <a:spLocks xmlns:a="http://schemas.openxmlformats.org/drawingml/2006/main" noGrp="1"/>
          </p:cNvSpPr>
          <p:nvPr/>
        </p:nvSpPr>
        <p:spPr>
          <a:xfrm xmlns:a="http://schemas.openxmlformats.org/drawingml/2006/main">
            <a:off x="2990850" y="29908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8" name="">
            <a:extLst xmlns:a="http://schemas.openxmlformats.org/drawingml/2006/main">
              <a:ext uri="{FF2B5EF4-FFF2-40B4-BE49-F238E27FC236}">
                <a16:creationId xmlns:a16="http://schemas.microsoft.com/office/drawing/2014/main" id="{8301D797-EA3E-4EAC-8412-058ACC841A3C}"/>
              </a:ext>
            </a:extLst>
          </p:cNvPr>
          <p:cNvSpPr>
            <a:spLocks xmlns:a="http://schemas.openxmlformats.org/drawingml/2006/main" noGrp="1"/>
          </p:cNvSpPr>
          <p:nvPr/>
        </p:nvSpPr>
        <p:spPr>
          <a:xfrm xmlns:a="http://schemas.openxmlformats.org/drawingml/2006/main" rot="0">
            <a:off x="5248275" y="31432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29" name="">
            <a:extLst xmlns:a="http://schemas.openxmlformats.org/drawingml/2006/main">
              <a:ext uri="{FF2B5EF4-FFF2-40B4-BE49-F238E27FC236}">
                <a16:creationId xmlns:a16="http://schemas.microsoft.com/office/drawing/2014/main" id="{B217881E-9689-4CCC-8E92-20E7C2439F3B}"/>
              </a:ext>
            </a:extLst>
          </p:cNvPr>
          <p:cNvSpPr>
            <a:spLocks xmlns:a="http://schemas.openxmlformats.org/drawingml/2006/main" noGrp="1"/>
          </p:cNvSpPr>
          <p:nvPr/>
        </p:nvSpPr>
        <p:spPr>
          <a:xfrm xmlns:a="http://schemas.openxmlformats.org/drawingml/2006/main">
            <a:off x="2990850" y="36766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2D18C37A-D45E-4069-A66C-973CB7922869}"/>
              </a:ext>
            </a:extLst>
          </p:cNvPr>
          <p:cNvSpPr>
            <a:spLocks xmlns:a="http://schemas.openxmlformats.org/drawingml/2006/main" noGrp="1"/>
          </p:cNvSpPr>
          <p:nvPr/>
        </p:nvSpPr>
        <p:spPr>
          <a:xfrm xmlns:a="http://schemas.openxmlformats.org/drawingml/2006/main" rot="0">
            <a:off x="5248275" y="38290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31" name="">
            <a:extLst xmlns:a="http://schemas.openxmlformats.org/drawingml/2006/main">
              <a:ext uri="{FF2B5EF4-FFF2-40B4-BE49-F238E27FC236}">
                <a16:creationId xmlns:a16="http://schemas.microsoft.com/office/drawing/2014/main" id="{D5B8433C-7CE5-493C-827A-11A27770EA18}"/>
              </a:ext>
            </a:extLst>
          </p:cNvPr>
          <p:cNvSpPr>
            <a:spLocks xmlns:a="http://schemas.openxmlformats.org/drawingml/2006/main" noGrp="1"/>
          </p:cNvSpPr>
          <p:nvPr/>
        </p:nvSpPr>
        <p:spPr>
          <a:xfrm xmlns:a="http://schemas.openxmlformats.org/drawingml/2006/main">
            <a:off x="2990850" y="43624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2" name="">
            <a:extLst xmlns:a="http://schemas.openxmlformats.org/drawingml/2006/main">
              <a:ext uri="{FF2B5EF4-FFF2-40B4-BE49-F238E27FC236}">
                <a16:creationId xmlns:a16="http://schemas.microsoft.com/office/drawing/2014/main" id="{EB3B2D52-9F60-4E15-AC46-C6FCB326FA99}"/>
              </a:ext>
            </a:extLst>
          </p:cNvPr>
          <p:cNvSpPr>
            <a:spLocks xmlns:a="http://schemas.openxmlformats.org/drawingml/2006/main" noGrp="1"/>
          </p:cNvSpPr>
          <p:nvPr/>
        </p:nvSpPr>
        <p:spPr>
          <a:xfrm xmlns:a="http://schemas.openxmlformats.org/drawingml/2006/main" rot="0">
            <a:off x="5248275" y="45148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
        <p:nvSpPr>
          <p:cNvPr id="33" name="">
            <a:extLst xmlns:a="http://schemas.openxmlformats.org/drawingml/2006/main">
              <a:ext uri="{FF2B5EF4-FFF2-40B4-BE49-F238E27FC236}">
                <a16:creationId xmlns:a16="http://schemas.microsoft.com/office/drawing/2014/main" id="{F4C9AD7D-2719-4A0D-9B45-3DC3561B2998}"/>
              </a:ext>
            </a:extLst>
          </p:cNvPr>
          <p:cNvSpPr>
            <a:spLocks xmlns:a="http://schemas.openxmlformats.org/drawingml/2006/main" noGrp="1"/>
          </p:cNvSpPr>
          <p:nvPr/>
        </p:nvSpPr>
        <p:spPr>
          <a:xfrm xmlns:a="http://schemas.openxmlformats.org/drawingml/2006/main">
            <a:off x="2990850" y="2305050"/>
            <a:ext cx="2047875" cy="26098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92ED691B-62D2-4844-8F2A-342DBC8AD550}"/>
              </a:ext>
            </a:extLst>
          </p:cNvPr>
          <p:cNvSpPr>
            <a:spLocks xmlns:a="http://schemas.openxmlformats.org/drawingml/2006/main" noGrp="1"/>
          </p:cNvSpPr>
          <p:nvPr/>
        </p:nvSpPr>
        <p:spPr>
          <a:xfrm xmlns:a="http://schemas.openxmlformats.org/drawingml/2006/main" rot="0">
            <a:off x="3162300" y="2571750"/>
            <a:ext cx="1704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35" name="">
            <a:extLst xmlns:a="http://schemas.openxmlformats.org/drawingml/2006/main">
              <a:ext uri="{FF2B5EF4-FFF2-40B4-BE49-F238E27FC236}">
                <a16:creationId xmlns:a16="http://schemas.microsoft.com/office/drawing/2014/main" id="{A96F47E5-781E-4928-A220-AE51E82F1631}"/>
              </a:ext>
            </a:extLst>
          </p:cNvPr>
          <p:cNvSpPr>
            <a:spLocks xmlns:a="http://schemas.openxmlformats.org/drawingml/2006/main" noGrp="1"/>
          </p:cNvSpPr>
          <p:nvPr/>
        </p:nvSpPr>
        <p:spPr>
          <a:xfrm xmlns:a="http://schemas.openxmlformats.org/drawingml/2006/main" rot="0">
            <a:off x="3162300" y="3133725"/>
            <a:ext cx="1704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特定の現場を</a:t>
            </a:r>
          </a:p>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複数レイヤーで担う</a:t>
            </a:r>
          </a:p>
        </p:txBody>
      </p:sp>
      <p:sp>
        <p:nvSpPr>
          <p:cNvPr id="36" name="">
            <a:extLst xmlns:a="http://schemas.openxmlformats.org/drawingml/2006/main">
              <a:ext uri="{FF2B5EF4-FFF2-40B4-BE49-F238E27FC236}">
                <a16:creationId xmlns:a16="http://schemas.microsoft.com/office/drawing/2014/main" id="{154C2AFF-D95D-4B57-AC8F-FE4E3AEB7F7C}"/>
              </a:ext>
            </a:extLst>
          </p:cNvPr>
          <p:cNvSpPr>
            <a:spLocks xmlns:a="http://schemas.openxmlformats.org/drawingml/2006/main" noGrp="1"/>
          </p:cNvSpPr>
          <p:nvPr/>
        </p:nvSpPr>
        <p:spPr>
          <a:xfrm xmlns:a="http://schemas.openxmlformats.org/drawingml/2006/main" rot="0">
            <a:off x="3162300" y="4067175"/>
            <a:ext cx="1704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1X</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Sunday Robotics</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ATOM</a:t>
            </a:r>
          </a:p>
        </p:txBody>
      </p:sp>
    </p:spTree>
    <p:extLst>
      <p:ext uri="{BB962C8B-B14F-4D97-AF65-F5344CB8AC3E}">
        <p14:creationId xmlns:p14="http://schemas.microsoft.com/office/powerpoint/2010/main" val="254717809"/>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FE3A93C-36DF-43A7-A021-D2CED7B0B59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DBB1EF-FD28-4423-962B-8E761F00A745}"/>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E6141288-6BC4-4BE7-8070-8083D57A9FF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33BE28C-45E6-418A-959D-06CBCD2D2DC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DD42B96D-C72C-4075-9C13-C00CBD1B0483}"/>
              </a:ext>
            </a:extLst>
          </p:cNvPr>
          <p:cNvSpPr>
            <a:spLocks xmlns:a="http://schemas.openxmlformats.org/drawingml/2006/main" noGrp="1"/>
          </p:cNvSpPr>
          <p:nvPr/>
        </p:nvSpPr>
        <p:spPr>
          <a:xfrm xmlns:a="http://schemas.openxmlformats.org/drawingml/2006/main" rot="0">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3E5978FB-A9FA-4526-8A37-3FC6F29DAF29}"/>
              </a:ext>
            </a:extLst>
          </p:cNvPr>
          <p:cNvSpPr>
            <a:spLocks xmlns:a="http://schemas.openxmlformats.org/drawingml/2006/main" noGrp="1"/>
          </p:cNvSpPr>
          <p:nvPr/>
        </p:nvSpPr>
        <p:spPr>
          <a:xfrm xmlns:a="http://schemas.openxmlformats.org/drawingml/2006/main" rot="0">
            <a:off x="723900" y="2381250"/>
            <a:ext cx="4762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特定の業種・タスクに絞り、決め打ちで</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現場で実際に動くロボットを作る。</a:t>
            </a:r>
          </a:p>
          <a:p xmlns:a="http://schemas.openxmlformats.org/drawingml/2006/main">
            <a:r>
              <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完全な自律運用が難しい場合は、遠隔操作で働くレベルから商用化する企業もあれば、自律運用の幅を地道に広げる企業もある。</a:t>
            </a:r>
          </a:p>
        </p:txBody>
      </p:sp>
      <p:sp>
        <p:nvSpPr>
          <p:cNvPr id="7" name="">
            <a:extLst xmlns:a="http://schemas.openxmlformats.org/drawingml/2006/main">
              <a:ext uri="{FF2B5EF4-FFF2-40B4-BE49-F238E27FC236}">
                <a16:creationId xmlns:a16="http://schemas.microsoft.com/office/drawing/2014/main" id="{55A76C2F-4552-4DFE-B185-8E73B395C2BE}"/>
              </a:ext>
            </a:extLst>
          </p:cNvPr>
          <p:cNvSpPr>
            <a:spLocks xmlns:a="http://schemas.openxmlformats.org/drawingml/2006/main" noGrp="1"/>
          </p:cNvSpPr>
          <p:nvPr/>
        </p:nvSpPr>
        <p:spPr>
          <a:xfrm xmlns:a="http://schemas.openxmlformats.org/drawingml/2006/main" rot="0">
            <a:off x="723900" y="46672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代表例</a:t>
            </a:r>
          </a:p>
        </p:txBody>
      </p:sp>
      <p:sp>
        <p:nvSpPr>
          <p:cNvPr id="8" name="">
            <a:extLst xmlns:a="http://schemas.openxmlformats.org/drawingml/2006/main">
              <a:ext uri="{FF2B5EF4-FFF2-40B4-BE49-F238E27FC236}">
                <a16:creationId xmlns:a16="http://schemas.microsoft.com/office/drawing/2014/main" id="{C52B3076-B292-4758-9CE5-D51A8833000D}"/>
              </a:ext>
            </a:extLst>
          </p:cNvPr>
          <p:cNvSpPr>
            <a:spLocks xmlns:a="http://schemas.openxmlformats.org/drawingml/2006/main" noGrp="1"/>
          </p:cNvSpPr>
          <p:nvPr/>
        </p:nvSpPr>
        <p:spPr>
          <a:xfrm xmlns:a="http://schemas.openxmlformats.org/drawingml/2006/main" rot="0">
            <a:off x="723900" y="5000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1X / Sunday Robotics</a:t>
            </a:r>
          </a:p>
        </p:txBody>
      </p:sp>
      <p:sp>
        <p:nvSpPr>
          <p:cNvPr id="9" name="">
            <a:extLst xmlns:a="http://schemas.openxmlformats.org/drawingml/2006/main">
              <a:ext uri="{FF2B5EF4-FFF2-40B4-BE49-F238E27FC236}">
                <a16:creationId xmlns:a16="http://schemas.microsoft.com/office/drawing/2014/main" id="{7AF6FB6F-FF8F-44F8-B961-2E02388B3C44}"/>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F2823ED-24DC-4844-B19F-B53C3582B056}"/>
              </a:ext>
            </a:extLst>
          </p:cNvPr>
          <p:cNvSpPr>
            <a:spLocks xmlns:a="http://schemas.openxmlformats.org/drawingml/2006/main" noGrp="1"/>
          </p:cNvSpPr>
          <p:nvPr/>
        </p:nvSpPr>
        <p:spPr>
          <a:xfrm xmlns:a="http://schemas.openxmlformats.org/drawingml/2006/main" rot="0">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1" name="">
            <a:extLst xmlns:a="http://schemas.openxmlformats.org/drawingml/2006/main">
              <a:ext uri="{FF2B5EF4-FFF2-40B4-BE49-F238E27FC236}">
                <a16:creationId xmlns:a16="http://schemas.microsoft.com/office/drawing/2014/main" id="{8007985F-80F0-4F7F-9CAD-CA887FFF124D}"/>
              </a:ext>
            </a:extLst>
          </p:cNvPr>
          <p:cNvSpPr>
            <a:spLocks xmlns:a="http://schemas.openxmlformats.org/drawingml/2006/main" noGrp="1"/>
          </p:cNvSpPr>
          <p:nvPr/>
        </p:nvSpPr>
        <p:spPr>
          <a:xfrm xmlns:a="http://schemas.openxmlformats.org/drawingml/2006/main" rot="0">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2" name="">
            <a:extLst xmlns:a="http://schemas.openxmlformats.org/drawingml/2006/main">
              <a:ext uri="{FF2B5EF4-FFF2-40B4-BE49-F238E27FC236}">
                <a16:creationId xmlns:a16="http://schemas.microsoft.com/office/drawing/2014/main" id="{DDDBEB40-D5E7-49DC-A0D2-590B98F6A7F9}"/>
              </a:ext>
            </a:extLst>
          </p:cNvPr>
          <p:cNvSpPr>
            <a:spLocks xmlns:a="http://schemas.openxmlformats.org/drawingml/2006/main" noGrp="1"/>
          </p:cNvSpPr>
          <p:nvPr/>
        </p:nvSpPr>
        <p:spPr>
          <a:xfrm xmlns:a="http://schemas.openxmlformats.org/drawingml/2006/main" rot="0">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509942578"/>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4809211-5E4C-47A7-8CF7-7392B6B7BB7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3130B75-16D8-4BC4-97DB-6E47979B5AC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D90CABE8-27D8-4C4F-9B14-B50A7F80318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627F280-77E4-4611-9202-D1F737FF5A9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3B0E28EE-CCB6-4F03-BA97-2AAAFAE17981}"/>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6" name="">
            <a:extLst xmlns:a="http://schemas.openxmlformats.org/drawingml/2006/main">
              <a:ext uri="{FF2B5EF4-FFF2-40B4-BE49-F238E27FC236}">
                <a16:creationId xmlns:a16="http://schemas.microsoft.com/office/drawing/2014/main" id="{AA26E816-2DBD-4C55-83F5-C4ABCF43E66F}"/>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人間の作業データ、テレオペレーション、合成データ、生データの加工。さらに上流では、収集に特化したデバイス開発も広がりはじめている。</a:t>
            </a:r>
          </a:p>
        </p:txBody>
      </p:sp>
      <p:sp>
        <p:nvSpPr>
          <p:cNvPr id="7" name="">
            <a:extLst xmlns:a="http://schemas.openxmlformats.org/drawingml/2006/main">
              <a:ext uri="{FF2B5EF4-FFF2-40B4-BE49-F238E27FC236}">
                <a16:creationId xmlns:a16="http://schemas.microsoft.com/office/drawing/2014/main" id="{FCFC3306-B4B7-4FF8-8971-299551E69E0D}"/>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F2950DE-DEEE-480E-A0C4-06B73F63B72B}"/>
              </a:ext>
            </a:extLst>
          </p:cNvPr>
          <p:cNvSpPr>
            <a:spLocks xmlns:a="http://schemas.openxmlformats.org/drawingml/2006/main" noGrp="1"/>
          </p:cNvSpPr>
          <p:nvPr/>
        </p:nvSpPr>
        <p:spPr>
          <a:xfrm xmlns:a="http://schemas.openxmlformats.org/drawingml/2006/main" rot="0">
            <a:off x="723900" y="2857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基盤モデル・シミュレーション</a:t>
            </a:r>
          </a:p>
        </p:txBody>
      </p:sp>
      <p:sp>
        <p:nvSpPr>
          <p:cNvPr id="9" name="">
            <a:extLst xmlns:a="http://schemas.openxmlformats.org/drawingml/2006/main">
              <a:ext uri="{FF2B5EF4-FFF2-40B4-BE49-F238E27FC236}">
                <a16:creationId xmlns:a16="http://schemas.microsoft.com/office/drawing/2014/main" id="{CFA47995-D443-4098-9329-BA65147646B2}"/>
              </a:ext>
            </a:extLst>
          </p:cNvPr>
          <p:cNvSpPr>
            <a:spLocks xmlns:a="http://schemas.openxmlformats.org/drawingml/2006/main" noGrp="1"/>
          </p:cNvSpPr>
          <p:nvPr/>
        </p:nvSpPr>
        <p:spPr>
          <a:xfrm xmlns:a="http://schemas.openxmlformats.org/drawingml/2006/main" rot="0">
            <a:off x="3714750" y="2838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PIやNVIDIA。近いレイヤーには、現実世界を再現し、必要な実データ量を下げながらモデル開発まで進めるシミュレーション・デジタルツインがある。</a:t>
            </a:r>
          </a:p>
        </p:txBody>
      </p:sp>
      <p:sp>
        <p:nvSpPr>
          <p:cNvPr id="10" name="">
            <a:extLst xmlns:a="http://schemas.openxmlformats.org/drawingml/2006/main">
              <a:ext uri="{FF2B5EF4-FFF2-40B4-BE49-F238E27FC236}">
                <a16:creationId xmlns:a16="http://schemas.microsoft.com/office/drawing/2014/main" id="{2474AF5E-0B0B-4815-9170-F7DDA0689F0A}"/>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3871FAA-E692-4BFD-B12E-9534594B37B0}"/>
              </a:ext>
            </a:extLst>
          </p:cNvPr>
          <p:cNvSpPr>
            <a:spLocks xmlns:a="http://schemas.openxmlformats.org/drawingml/2006/main" noGrp="1"/>
          </p:cNvSpPr>
          <p:nvPr/>
        </p:nvSpPr>
        <p:spPr>
          <a:xfrm xmlns:a="http://schemas.openxmlformats.org/drawingml/2006/main" rot="0">
            <a:off x="723900" y="4000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ハードウェア開発層</a:t>
            </a:r>
          </a:p>
        </p:txBody>
      </p:sp>
      <p:sp>
        <p:nvSpPr>
          <p:cNvPr id="12" name="">
            <a:extLst xmlns:a="http://schemas.openxmlformats.org/drawingml/2006/main">
              <a:ext uri="{FF2B5EF4-FFF2-40B4-BE49-F238E27FC236}">
                <a16:creationId xmlns:a16="http://schemas.microsoft.com/office/drawing/2014/main" id="{2583D1A9-F1BE-43E1-B844-80A5CDD4A6E1}"/>
              </a:ext>
            </a:extLst>
          </p:cNvPr>
          <p:cNvSpPr>
            <a:spLocks xmlns:a="http://schemas.openxmlformats.org/drawingml/2006/main" noGrp="1"/>
          </p:cNvSpPr>
          <p:nvPr/>
        </p:nvSpPr>
        <p:spPr>
          <a:xfrm xmlns:a="http://schemas.openxmlformats.org/drawingml/2006/main" rot="0">
            <a:off x="3714750" y="3981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特に中国系企業が安価なロボットを提供する面で強く、Unitree等が筆頭である。</a:t>
            </a:r>
          </a:p>
        </p:txBody>
      </p:sp>
      <p:sp>
        <p:nvSpPr>
          <p:cNvPr id="13" name="">
            <a:extLst xmlns:a="http://schemas.openxmlformats.org/drawingml/2006/main">
              <a:ext uri="{FF2B5EF4-FFF2-40B4-BE49-F238E27FC236}">
                <a16:creationId xmlns:a16="http://schemas.microsoft.com/office/drawing/2014/main" id="{7710FCD7-C3A3-417F-8108-2FFB3E15C819}"/>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1874470-4A60-48A8-BE15-D3EAFBD6B504}"/>
              </a:ext>
            </a:extLst>
          </p:cNvPr>
          <p:cNvSpPr>
            <a:spLocks xmlns:a="http://schemas.openxmlformats.org/drawingml/2006/main" noGrp="1"/>
          </p:cNvSpPr>
          <p:nvPr/>
        </p:nvSpPr>
        <p:spPr>
          <a:xfrm xmlns:a="http://schemas.openxmlformats.org/drawingml/2006/main" rot="0">
            <a:off x="723900" y="4857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5" name="">
            <a:extLst xmlns:a="http://schemas.openxmlformats.org/drawingml/2006/main">
              <a:ext uri="{FF2B5EF4-FFF2-40B4-BE49-F238E27FC236}">
                <a16:creationId xmlns:a16="http://schemas.microsoft.com/office/drawing/2014/main" id="{3690431E-F734-4CEE-AC16-F697CE40E9BF}"/>
              </a:ext>
            </a:extLst>
          </p:cNvPr>
          <p:cNvSpPr>
            <a:spLocks xmlns:a="http://schemas.openxmlformats.org/drawingml/2006/main" noGrp="1"/>
          </p:cNvSpPr>
          <p:nvPr/>
        </p:nvSpPr>
        <p:spPr>
          <a:xfrm xmlns:a="http://schemas.openxmlformats.org/drawingml/2006/main" rot="0">
            <a:off x="3714750" y="4838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既存のロボットやモデルを積極的に利用し、現場への統合を優先する。国内にもスタートアップが多い。</a:t>
            </a:r>
          </a:p>
        </p:txBody>
      </p:sp>
    </p:spTree>
    <p:extLst>
      <p:ext uri="{BB962C8B-B14F-4D97-AF65-F5344CB8AC3E}">
        <p14:creationId xmlns:p14="http://schemas.microsoft.com/office/powerpoint/2010/main" val="1411214730"/>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C48486DE-9586-43C7-A9D7-556E3C341E0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CBEAFE-C8D3-4C94-95D5-4EB20B61995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私の仮説：現場を含むフィードバックループ</a:t>
            </a:r>
          </a:p>
        </p:txBody>
      </p:sp>
      <p:sp>
        <p:nvSpPr>
          <p:cNvPr id="3" name="">
            <a:extLst xmlns:a="http://schemas.openxmlformats.org/drawingml/2006/main">
              <a:ext uri="{FF2B5EF4-FFF2-40B4-BE49-F238E27FC236}">
                <a16:creationId xmlns:a16="http://schemas.microsoft.com/office/drawing/2014/main" id="{039E7A0E-9423-4864-A5FB-5805A5C0F1D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4E50769-7582-4F73-9B1A-13DD3E96B50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C7558010-B078-4F8B-82D3-9BCFF97FCE59}"/>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8C62F796-DEEA-4533-B605-11ED039EA9CA}"/>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FF5144D-2BD7-4337-AA92-F9666D5601F9}"/>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8376B88-4B8A-46C6-BBA6-EA114F3B68F8}"/>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05B1B53-B6A7-4911-A542-2B0938FE1327}"/>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EB22DC5E-0C53-4C16-84DD-96D297AC4F3F}"/>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2B6FB562-EF81-4D03-AA56-2881AABF9F4B}"/>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8DA1DD59-7B6A-4C5A-A360-C705BDA007BA}"/>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B63E3631-C9A9-4F50-9153-2A25BD3B3CB8}"/>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46E8A97A-951E-4DE2-BD82-045B024C25F1}"/>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BDB70988-2323-41A1-98CD-066385624D4B}"/>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0C429F54-EE6F-483B-868A-BC34C0EB0DC8}"/>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FE5ACE81-0D15-485A-A14D-A33DDBE6D58C}"/>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4FC9343-EF23-40F0-A404-ABD7CF07892B}"/>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9482295-5D28-4199-B2B6-D449C9D4F66E}"/>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A8C2535-2661-4B61-AA98-CD208AD20BED}"/>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FC36F773-1322-4D8D-8698-3FD96EDC839E}"/>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18CFA3ED-5270-4E62-B4A1-D8A236EA101D}"/>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5AD7507-7382-431D-9B95-A503C12B7DEA}"/>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C8A97F5C-164E-4506-A1A1-3B8178D8F741}"/>
              </a:ext>
            </a:extLst>
          </p:cNvPr>
          <p:cNvSpPr>
            <a:spLocks xmlns:a="http://schemas.openxmlformats.org/drawingml/2006/main" noGrp="1"/>
          </p:cNvSpPr>
          <p:nvPr/>
        </p:nvSpPr>
        <p:spPr>
          <a:xfrm xmlns:a="http://schemas.openxmlformats.org/drawingml/2006/main">
            <a:off x="2990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FE27A41-B245-44E4-B28F-BFDE2B0CF958}"/>
              </a:ext>
            </a:extLst>
          </p:cNvPr>
          <p:cNvSpPr>
            <a:spLocks xmlns:a="http://schemas.openxmlformats.org/drawingml/2006/main" noGrp="1"/>
          </p:cNvSpPr>
          <p:nvPr/>
        </p:nvSpPr>
        <p:spPr>
          <a:xfrm xmlns:a="http://schemas.openxmlformats.org/drawingml/2006/main">
            <a:off x="2990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798589E-6C7E-4168-9C02-270E1E239F5F}"/>
              </a:ext>
            </a:extLst>
          </p:cNvPr>
          <p:cNvSpPr>
            <a:spLocks xmlns:a="http://schemas.openxmlformats.org/drawingml/2006/main" noGrp="1"/>
          </p:cNvSpPr>
          <p:nvPr/>
        </p:nvSpPr>
        <p:spPr>
          <a:xfrm xmlns:a="http://schemas.openxmlformats.org/drawingml/2006/main">
            <a:off x="3181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BD5E7DE-F512-4A97-B18A-42AECE63FF3B}"/>
              </a:ext>
            </a:extLst>
          </p:cNvPr>
          <p:cNvSpPr>
            <a:spLocks xmlns:a="http://schemas.openxmlformats.org/drawingml/2006/main" noGrp="1"/>
          </p:cNvSpPr>
          <p:nvPr/>
        </p:nvSpPr>
        <p:spPr>
          <a:xfrm xmlns:a="http://schemas.openxmlformats.org/drawingml/2006/main">
            <a:off x="3181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1891827-8D02-47FF-81BE-EBCB5F162631}"/>
              </a:ext>
            </a:extLst>
          </p:cNvPr>
          <p:cNvSpPr>
            <a:spLocks xmlns:a="http://schemas.openxmlformats.org/drawingml/2006/main" noGrp="1"/>
          </p:cNvSpPr>
          <p:nvPr/>
        </p:nvSpPr>
        <p:spPr>
          <a:xfrm xmlns:a="http://schemas.openxmlformats.org/drawingml/2006/main">
            <a:off x="3371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F3CED664-A5B3-4596-97A4-6E322714CE12}"/>
              </a:ext>
            </a:extLst>
          </p:cNvPr>
          <p:cNvSpPr>
            <a:spLocks xmlns:a="http://schemas.openxmlformats.org/drawingml/2006/main" noGrp="1"/>
          </p:cNvSpPr>
          <p:nvPr/>
        </p:nvSpPr>
        <p:spPr>
          <a:xfrm xmlns:a="http://schemas.openxmlformats.org/drawingml/2006/main">
            <a:off x="3371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1778851B-B987-466F-88ED-B403374E197E}"/>
              </a:ext>
            </a:extLst>
          </p:cNvPr>
          <p:cNvSpPr>
            <a:spLocks xmlns:a="http://schemas.openxmlformats.org/drawingml/2006/main" noGrp="1"/>
          </p:cNvSpPr>
          <p:nvPr/>
        </p:nvSpPr>
        <p:spPr>
          <a:xfrm xmlns:a="http://schemas.openxmlformats.org/drawingml/2006/main">
            <a:off x="3562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26B415DE-91B4-41DF-9323-AC99DA80EBDE}"/>
              </a:ext>
            </a:extLst>
          </p:cNvPr>
          <p:cNvSpPr>
            <a:spLocks xmlns:a="http://schemas.openxmlformats.org/drawingml/2006/main" noGrp="1"/>
          </p:cNvSpPr>
          <p:nvPr/>
        </p:nvSpPr>
        <p:spPr>
          <a:xfrm xmlns:a="http://schemas.openxmlformats.org/drawingml/2006/main">
            <a:off x="3562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6C092F72-C4D3-4B59-8E74-4A2FE3B19B34}"/>
              </a:ext>
            </a:extLst>
          </p:cNvPr>
          <p:cNvSpPr>
            <a:spLocks xmlns:a="http://schemas.openxmlformats.org/drawingml/2006/main" noGrp="1"/>
          </p:cNvSpPr>
          <p:nvPr/>
        </p:nvSpPr>
        <p:spPr>
          <a:xfrm xmlns:a="http://schemas.openxmlformats.org/drawingml/2006/main">
            <a:off x="3752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5AA9B728-DF93-4181-9AEB-0522906783B4}"/>
              </a:ext>
            </a:extLst>
          </p:cNvPr>
          <p:cNvSpPr>
            <a:spLocks xmlns:a="http://schemas.openxmlformats.org/drawingml/2006/main" noGrp="1"/>
          </p:cNvSpPr>
          <p:nvPr/>
        </p:nvSpPr>
        <p:spPr>
          <a:xfrm xmlns:a="http://schemas.openxmlformats.org/drawingml/2006/main">
            <a:off x="3752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C95897FF-6892-4868-8365-FFD28BB975DA}"/>
              </a:ext>
            </a:extLst>
          </p:cNvPr>
          <p:cNvSpPr>
            <a:spLocks xmlns:a="http://schemas.openxmlformats.org/drawingml/2006/main" noGrp="1"/>
          </p:cNvSpPr>
          <p:nvPr/>
        </p:nvSpPr>
        <p:spPr>
          <a:xfrm xmlns:a="http://schemas.openxmlformats.org/drawingml/2006/main">
            <a:off x="3943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A5026C6F-75C0-40BA-BC00-41E91470E9E2}"/>
              </a:ext>
            </a:extLst>
          </p:cNvPr>
          <p:cNvSpPr>
            <a:spLocks xmlns:a="http://schemas.openxmlformats.org/drawingml/2006/main" noGrp="1"/>
          </p:cNvSpPr>
          <p:nvPr/>
        </p:nvSpPr>
        <p:spPr>
          <a:xfrm xmlns:a="http://schemas.openxmlformats.org/drawingml/2006/main">
            <a:off x="3943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D1F666E4-C03E-454A-94E7-C4AFDFC21169}"/>
              </a:ext>
            </a:extLst>
          </p:cNvPr>
          <p:cNvSpPr>
            <a:spLocks xmlns:a="http://schemas.openxmlformats.org/drawingml/2006/main" noGrp="1"/>
          </p:cNvSpPr>
          <p:nvPr/>
        </p:nvSpPr>
        <p:spPr>
          <a:xfrm xmlns:a="http://schemas.openxmlformats.org/drawingml/2006/main">
            <a:off x="4133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260BF77F-0F01-43E5-97FF-9FC258E8FEF4}"/>
              </a:ext>
            </a:extLst>
          </p:cNvPr>
          <p:cNvSpPr>
            <a:spLocks xmlns:a="http://schemas.openxmlformats.org/drawingml/2006/main" noGrp="1"/>
          </p:cNvSpPr>
          <p:nvPr/>
        </p:nvSpPr>
        <p:spPr>
          <a:xfrm xmlns:a="http://schemas.openxmlformats.org/drawingml/2006/main">
            <a:off x="4133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99FDDA07-BBFB-4CF5-B7FD-72577E77AF41}"/>
              </a:ext>
            </a:extLst>
          </p:cNvPr>
          <p:cNvSpPr>
            <a:spLocks xmlns:a="http://schemas.openxmlformats.org/drawingml/2006/main" noGrp="1"/>
          </p:cNvSpPr>
          <p:nvPr/>
        </p:nvSpPr>
        <p:spPr>
          <a:xfrm xmlns:a="http://schemas.openxmlformats.org/drawingml/2006/main">
            <a:off x="4324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8494568C-F6A0-4712-AA70-8460F6D361FA}"/>
              </a:ext>
            </a:extLst>
          </p:cNvPr>
          <p:cNvSpPr>
            <a:spLocks xmlns:a="http://schemas.openxmlformats.org/drawingml/2006/main" noGrp="1"/>
          </p:cNvSpPr>
          <p:nvPr/>
        </p:nvSpPr>
        <p:spPr>
          <a:xfrm xmlns:a="http://schemas.openxmlformats.org/drawingml/2006/main">
            <a:off x="4324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34AD4189-509F-457D-AB16-645EFBB2FC3B}"/>
              </a:ext>
            </a:extLst>
          </p:cNvPr>
          <p:cNvSpPr>
            <a:spLocks xmlns:a="http://schemas.openxmlformats.org/drawingml/2006/main" noGrp="1"/>
          </p:cNvSpPr>
          <p:nvPr/>
        </p:nvSpPr>
        <p:spPr>
          <a:xfrm xmlns:a="http://schemas.openxmlformats.org/drawingml/2006/main">
            <a:off x="4514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88EA7064-8987-45F1-BAF3-5A194796C655}"/>
              </a:ext>
            </a:extLst>
          </p:cNvPr>
          <p:cNvSpPr>
            <a:spLocks xmlns:a="http://schemas.openxmlformats.org/drawingml/2006/main" noGrp="1"/>
          </p:cNvSpPr>
          <p:nvPr/>
        </p:nvSpPr>
        <p:spPr>
          <a:xfrm xmlns:a="http://schemas.openxmlformats.org/drawingml/2006/main">
            <a:off x="4514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72443F29-E8F5-44A1-BE23-6ACF98AE4202}"/>
              </a:ext>
            </a:extLst>
          </p:cNvPr>
          <p:cNvSpPr>
            <a:spLocks xmlns:a="http://schemas.openxmlformats.org/drawingml/2006/main" noGrp="1"/>
          </p:cNvSpPr>
          <p:nvPr/>
        </p:nvSpPr>
        <p:spPr>
          <a:xfrm xmlns:a="http://schemas.openxmlformats.org/drawingml/2006/main">
            <a:off x="4705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E011D7E4-5DA8-4F74-B9DD-F80C5C3E54F6}"/>
              </a:ext>
            </a:extLst>
          </p:cNvPr>
          <p:cNvSpPr>
            <a:spLocks xmlns:a="http://schemas.openxmlformats.org/drawingml/2006/main" noGrp="1"/>
          </p:cNvSpPr>
          <p:nvPr/>
        </p:nvSpPr>
        <p:spPr>
          <a:xfrm xmlns:a="http://schemas.openxmlformats.org/drawingml/2006/main">
            <a:off x="4705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DC203D3D-AB47-422B-ACC4-4FF5B2ED478F}"/>
              </a:ext>
            </a:extLst>
          </p:cNvPr>
          <p:cNvSpPr>
            <a:spLocks xmlns:a="http://schemas.openxmlformats.org/drawingml/2006/main" noGrp="1"/>
          </p:cNvSpPr>
          <p:nvPr/>
        </p:nvSpPr>
        <p:spPr>
          <a:xfrm xmlns:a="http://schemas.openxmlformats.org/drawingml/2006/main">
            <a:off x="4895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519865E0-1D75-4140-A64A-8C6CA812C6FB}"/>
              </a:ext>
            </a:extLst>
          </p:cNvPr>
          <p:cNvSpPr>
            <a:spLocks xmlns:a="http://schemas.openxmlformats.org/drawingml/2006/main" noGrp="1"/>
          </p:cNvSpPr>
          <p:nvPr/>
        </p:nvSpPr>
        <p:spPr>
          <a:xfrm xmlns:a="http://schemas.openxmlformats.org/drawingml/2006/main">
            <a:off x="4895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3F06279D-3127-490B-9F51-4BDCCFEE9AAA}"/>
              </a:ext>
            </a:extLst>
          </p:cNvPr>
          <p:cNvSpPr>
            <a:spLocks xmlns:a="http://schemas.openxmlformats.org/drawingml/2006/main" noGrp="1"/>
          </p:cNvSpPr>
          <p:nvPr/>
        </p:nvSpPr>
        <p:spPr>
          <a:xfrm xmlns:a="http://schemas.openxmlformats.org/drawingml/2006/main">
            <a:off x="5086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1E605D11-3A7C-4E41-94F2-622D48C38C04}"/>
              </a:ext>
            </a:extLst>
          </p:cNvPr>
          <p:cNvSpPr>
            <a:spLocks xmlns:a="http://schemas.openxmlformats.org/drawingml/2006/main" noGrp="1"/>
          </p:cNvSpPr>
          <p:nvPr/>
        </p:nvSpPr>
        <p:spPr>
          <a:xfrm xmlns:a="http://schemas.openxmlformats.org/drawingml/2006/main">
            <a:off x="5086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5A4C24A2-E498-4A8B-8F97-2619B6709C2F}"/>
              </a:ext>
            </a:extLst>
          </p:cNvPr>
          <p:cNvSpPr>
            <a:spLocks xmlns:a="http://schemas.openxmlformats.org/drawingml/2006/main" noGrp="1"/>
          </p:cNvSpPr>
          <p:nvPr/>
        </p:nvSpPr>
        <p:spPr>
          <a:xfrm xmlns:a="http://schemas.openxmlformats.org/drawingml/2006/main">
            <a:off x="5276850" y="23050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6DB93C98-EBB2-4EB8-BB97-83FE17BA9681}"/>
              </a:ext>
            </a:extLst>
          </p:cNvPr>
          <p:cNvSpPr>
            <a:spLocks xmlns:a="http://schemas.openxmlformats.org/drawingml/2006/main" noGrp="1"/>
          </p:cNvSpPr>
          <p:nvPr/>
        </p:nvSpPr>
        <p:spPr>
          <a:xfrm xmlns:a="http://schemas.openxmlformats.org/drawingml/2006/main">
            <a:off x="5276850" y="28384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E2655BE4-1969-4382-B56C-552F8094E47B}"/>
              </a:ext>
            </a:extLst>
          </p:cNvPr>
          <p:cNvSpPr>
            <a:spLocks xmlns:a="http://schemas.openxmlformats.org/drawingml/2006/main" noGrp="1"/>
          </p:cNvSpPr>
          <p:nvPr/>
        </p:nvSpPr>
        <p:spPr>
          <a:xfrm xmlns:a="http://schemas.openxmlformats.org/drawingml/2006/main">
            <a:off x="29908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CD611B1F-FF5D-49F7-9F78-AA3EA22E4CEF}"/>
              </a:ext>
            </a:extLst>
          </p:cNvPr>
          <p:cNvSpPr>
            <a:spLocks xmlns:a="http://schemas.openxmlformats.org/drawingml/2006/main" noGrp="1"/>
          </p:cNvSpPr>
          <p:nvPr/>
        </p:nvSpPr>
        <p:spPr>
          <a:xfrm xmlns:a="http://schemas.openxmlformats.org/drawingml/2006/main">
            <a:off x="53530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67B9546B-3FFE-4191-9253-F4243C1FB016}"/>
              </a:ext>
            </a:extLst>
          </p:cNvPr>
          <p:cNvSpPr>
            <a:spLocks xmlns:a="http://schemas.openxmlformats.org/drawingml/2006/main" noGrp="1"/>
          </p:cNvSpPr>
          <p:nvPr/>
        </p:nvSpPr>
        <p:spPr>
          <a:xfrm xmlns:a="http://schemas.openxmlformats.org/drawingml/2006/main">
            <a:off x="29908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EB160C8D-70DC-4692-91F7-14C11705766D}"/>
              </a:ext>
            </a:extLst>
          </p:cNvPr>
          <p:cNvSpPr>
            <a:spLocks xmlns:a="http://schemas.openxmlformats.org/drawingml/2006/main" noGrp="1"/>
          </p:cNvSpPr>
          <p:nvPr/>
        </p:nvSpPr>
        <p:spPr>
          <a:xfrm xmlns:a="http://schemas.openxmlformats.org/drawingml/2006/main">
            <a:off x="53530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132801AA-241E-4229-B8F0-62E2C99AC579}"/>
              </a:ext>
            </a:extLst>
          </p:cNvPr>
          <p:cNvSpPr>
            <a:spLocks xmlns:a="http://schemas.openxmlformats.org/drawingml/2006/main" noGrp="1"/>
          </p:cNvSpPr>
          <p:nvPr/>
        </p:nvSpPr>
        <p:spPr>
          <a:xfrm xmlns:a="http://schemas.openxmlformats.org/drawingml/2006/main">
            <a:off x="29908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32FE7AB8-33A5-474F-8862-9ECCD9D19319}"/>
              </a:ext>
            </a:extLst>
          </p:cNvPr>
          <p:cNvSpPr>
            <a:spLocks xmlns:a="http://schemas.openxmlformats.org/drawingml/2006/main" noGrp="1"/>
          </p:cNvSpPr>
          <p:nvPr/>
        </p:nvSpPr>
        <p:spPr>
          <a:xfrm xmlns:a="http://schemas.openxmlformats.org/drawingml/2006/main">
            <a:off x="53530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5B27F065-A499-4608-B33B-908A94D63E2D}"/>
              </a:ext>
            </a:extLst>
          </p:cNvPr>
          <p:cNvSpPr>
            <a:spLocks xmlns:a="http://schemas.openxmlformats.org/drawingml/2006/main" noGrp="1"/>
          </p:cNvSpPr>
          <p:nvPr/>
        </p:nvSpPr>
        <p:spPr>
          <a:xfrm xmlns:a="http://schemas.openxmlformats.org/drawingml/2006/main">
            <a:off x="2990850" y="2990850"/>
            <a:ext cx="2381250" cy="1924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7" name="">
            <a:extLst xmlns:a="http://schemas.openxmlformats.org/drawingml/2006/main">
              <a:ext uri="{FF2B5EF4-FFF2-40B4-BE49-F238E27FC236}">
                <a16:creationId xmlns:a16="http://schemas.microsoft.com/office/drawing/2014/main" id="{943055AB-4398-4A2F-90C8-02C76843521B}"/>
              </a:ext>
            </a:extLst>
          </p:cNvPr>
          <p:cNvSpPr>
            <a:spLocks xmlns:a="http://schemas.openxmlformats.org/drawingml/2006/main" noGrp="1"/>
          </p:cNvSpPr>
          <p:nvPr/>
        </p:nvSpPr>
        <p:spPr>
          <a:xfrm xmlns:a="http://schemas.openxmlformats.org/drawingml/2006/main" rot="0">
            <a:off x="3181350" y="3143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58" name="">
            <a:extLst xmlns:a="http://schemas.openxmlformats.org/drawingml/2006/main">
              <a:ext uri="{FF2B5EF4-FFF2-40B4-BE49-F238E27FC236}">
                <a16:creationId xmlns:a16="http://schemas.microsoft.com/office/drawing/2014/main" id="{8B0660A4-43A9-4609-B658-BDCFC8A04449}"/>
              </a:ext>
            </a:extLst>
          </p:cNvPr>
          <p:cNvSpPr>
            <a:spLocks xmlns:a="http://schemas.openxmlformats.org/drawingml/2006/main" noGrp="1"/>
          </p:cNvSpPr>
          <p:nvPr/>
        </p:nvSpPr>
        <p:spPr>
          <a:xfrm xmlns:a="http://schemas.openxmlformats.org/drawingml/2006/main" rot="0">
            <a:off x="3181350" y="38290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59" name="">
            <a:extLst xmlns:a="http://schemas.openxmlformats.org/drawingml/2006/main">
              <a:ext uri="{FF2B5EF4-FFF2-40B4-BE49-F238E27FC236}">
                <a16:creationId xmlns:a16="http://schemas.microsoft.com/office/drawing/2014/main" id="{316BD041-5655-4CF1-B770-FC06CFC5A070}"/>
              </a:ext>
            </a:extLst>
          </p:cNvPr>
          <p:cNvSpPr>
            <a:spLocks xmlns:a="http://schemas.openxmlformats.org/drawingml/2006/main" noGrp="1"/>
          </p:cNvSpPr>
          <p:nvPr/>
        </p:nvSpPr>
        <p:spPr>
          <a:xfrm xmlns:a="http://schemas.openxmlformats.org/drawingml/2006/main" rot="0">
            <a:off x="3181350" y="45148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60" name="">
            <a:extLst xmlns:a="http://schemas.openxmlformats.org/drawingml/2006/main">
              <a:ext uri="{FF2B5EF4-FFF2-40B4-BE49-F238E27FC236}">
                <a16:creationId xmlns:a16="http://schemas.microsoft.com/office/drawing/2014/main" id="{2A556468-7098-4D1A-8E19-D2173F8240C0}"/>
              </a:ext>
            </a:extLst>
          </p:cNvPr>
          <p:cNvSpPr>
            <a:spLocks xmlns:a="http://schemas.openxmlformats.org/drawingml/2006/main" noGrp="1"/>
          </p:cNvSpPr>
          <p:nvPr/>
        </p:nvSpPr>
        <p:spPr>
          <a:xfrm xmlns:a="http://schemas.openxmlformats.org/drawingml/2006/main">
            <a:off x="5372100" y="32575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E2C0BDE6-6C5E-45C3-BC65-7CC8EDF76E68}"/>
              </a:ext>
            </a:extLst>
          </p:cNvPr>
          <p:cNvSpPr>
            <a:spLocks xmlns:a="http://schemas.openxmlformats.org/drawingml/2006/main" noGrp="1"/>
          </p:cNvSpPr>
          <p:nvPr/>
        </p:nvSpPr>
        <p:spPr>
          <a:xfrm xmlns:a="http://schemas.openxmlformats.org/drawingml/2006/main">
            <a:off x="5695950" y="3257550"/>
            <a:ext cx="19050" cy="13716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F89EA8CE-0B8C-4960-B918-AF713EA22A5F}"/>
              </a:ext>
            </a:extLst>
          </p:cNvPr>
          <p:cNvSpPr>
            <a:spLocks xmlns:a="http://schemas.openxmlformats.org/drawingml/2006/main" noGrp="1"/>
          </p:cNvSpPr>
          <p:nvPr/>
        </p:nvSpPr>
        <p:spPr>
          <a:xfrm xmlns:a="http://schemas.openxmlformats.org/drawingml/2006/main">
            <a:off x="5372100" y="46291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68DFC311-5B22-49F6-A02C-2D3A61727597}"/>
              </a:ext>
            </a:extLst>
          </p:cNvPr>
          <p:cNvSpPr>
            <a:spLocks xmlns:a="http://schemas.openxmlformats.org/drawingml/2006/main" noGrp="1"/>
          </p:cNvSpPr>
          <p:nvPr/>
        </p:nvSpPr>
        <p:spPr>
          <a:xfrm xmlns:a="http://schemas.openxmlformats.org/drawingml/2006/main" rot="0">
            <a:off x="5867400" y="34575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現場で得たデータを戻す</a:t>
            </a:r>
          </a:p>
        </p:txBody>
      </p:sp>
      <p:sp>
        <p:nvSpPr>
          <p:cNvPr id="64" name="">
            <a:extLst xmlns:a="http://schemas.openxmlformats.org/drawingml/2006/main">
              <a:ext uri="{FF2B5EF4-FFF2-40B4-BE49-F238E27FC236}">
                <a16:creationId xmlns:a16="http://schemas.microsoft.com/office/drawing/2014/main" id="{8EF06159-F0FE-4412-8ED8-DDF2912CCC87}"/>
              </a:ext>
            </a:extLst>
          </p:cNvPr>
          <p:cNvSpPr>
            <a:spLocks xmlns:a="http://schemas.openxmlformats.org/drawingml/2006/main" noGrp="1"/>
          </p:cNvSpPr>
          <p:nvPr/>
        </p:nvSpPr>
        <p:spPr>
          <a:xfrm xmlns:a="http://schemas.openxmlformats.org/drawingml/2006/main" rot="0">
            <a:off x="6019800" y="45148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現場で稼働</a:t>
            </a:r>
          </a:p>
        </p:txBody>
      </p:sp>
    </p:spTree>
    <p:extLst>
      <p:ext uri="{BB962C8B-B14F-4D97-AF65-F5344CB8AC3E}">
        <p14:creationId xmlns:p14="http://schemas.microsoft.com/office/powerpoint/2010/main" val="92491935"/>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566B11-B36A-4028-8F33-EB6E6D28C68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EE8B26-F7C7-4A2A-A4B3-B12A1ACA6DBA}"/>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9D70C28E-3D1E-43B9-8F4D-A3C899DBB8B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EA43799-AC88-49D5-BA06-D7BC81EAF1A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33EADB80-42FA-4834-B9B7-3D1D0ED2B11A}"/>
              </a:ext>
            </a:extLst>
          </p:cNvPr>
          <p:cNvSpPr>
            <a:spLocks xmlns:a="http://schemas.openxmlformats.org/drawingml/2006/main" noGrp="1"/>
          </p:cNvSpPr>
          <p:nvPr/>
        </p:nvSpPr>
        <p:spPr>
          <a:xfrm xmlns:a="http://schemas.openxmlformats.org/drawingml/2006/main" rot="0">
            <a:off x="723900" y="200025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ロボットシステムのフィードバックループは、モデル開発・ハードウェア開発・現場統合の3つで完結する。</a:t>
            </a:r>
          </a:p>
        </p:txBody>
      </p:sp>
      <p:sp>
        <p:nvSpPr>
          <p:cNvPr id="6" name="">
            <a:extLst xmlns:a="http://schemas.openxmlformats.org/drawingml/2006/main">
              <a:ext uri="{FF2B5EF4-FFF2-40B4-BE49-F238E27FC236}">
                <a16:creationId xmlns:a16="http://schemas.microsoft.com/office/drawing/2014/main" id="{DEFBB068-4E48-4A5A-A2DC-780C7803F1DB}"/>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993143A-5849-41D3-85D6-0A88E55AD0B6}"/>
              </a:ext>
            </a:extLst>
          </p:cNvPr>
          <p:cNvSpPr>
            <a:spLocks xmlns:a="http://schemas.openxmlformats.org/drawingml/2006/main" noGrp="1"/>
          </p:cNvSpPr>
          <p:nvPr/>
        </p:nvSpPr>
        <p:spPr>
          <a:xfrm xmlns:a="http://schemas.openxmlformats.org/drawingml/2006/main" rot="0">
            <a:off x="723900" y="3238500"/>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現場に統合されたロボットの実機が稼働すること自体が、データ収集になる。フィジカルAIが物理世界に投入されはじめた瞬間から、データは「外部の企業がわざわざ収集するもの」から「ロボットの稼働を通じて自動的に蓄積されるもの」に変わる。</a:t>
            </a:r>
          </a:p>
        </p:txBody>
      </p:sp>
      <p:sp>
        <p:nvSpPr>
          <p:cNvPr id="8" name="">
            <a:extLst xmlns:a="http://schemas.openxmlformats.org/drawingml/2006/main">
              <a:ext uri="{FF2B5EF4-FFF2-40B4-BE49-F238E27FC236}">
                <a16:creationId xmlns:a16="http://schemas.microsoft.com/office/drawing/2014/main" id="{84841035-3104-4F73-BFC3-6BAC3E2C05EC}"/>
              </a:ext>
            </a:extLst>
          </p:cNvPr>
          <p:cNvSpPr>
            <a:spLocks xmlns:a="http://schemas.openxmlformats.org/drawingml/2006/main" noGrp="1"/>
          </p:cNvSpPr>
          <p:nvPr/>
        </p:nvSpPr>
        <p:spPr>
          <a:xfrm xmlns:a="http://schemas.openxmlformats.org/drawingml/2006/main" rot="0">
            <a:off x="723900" y="481012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そのデータが直結したフィードバックとしてモデルの改善に使われる。一連のループを自社で持つ企業が最速でロボットを改善でき、最終的に生き残る企業になると考える。</a:t>
            </a:r>
          </a:p>
        </p:txBody>
      </p:sp>
    </p:spTree>
    <p:extLst>
      <p:ext uri="{BB962C8B-B14F-4D97-AF65-F5344CB8AC3E}">
        <p14:creationId xmlns:p14="http://schemas.microsoft.com/office/powerpoint/2010/main" val="1630321504"/>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5E23D95-73EC-49B0-BC1F-7DB24241EEA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3AC143-BB5C-4E85-B80E-821E877EBD15}"/>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だからこそ「現場データ収集」から始める</a:t>
            </a:r>
          </a:p>
        </p:txBody>
      </p:sp>
      <p:sp>
        <p:nvSpPr>
          <p:cNvPr id="3" name="">
            <a:extLst xmlns:a="http://schemas.openxmlformats.org/drawingml/2006/main">
              <a:ext uri="{FF2B5EF4-FFF2-40B4-BE49-F238E27FC236}">
                <a16:creationId xmlns:a16="http://schemas.microsoft.com/office/drawing/2014/main" id="{CFF9C121-DF23-49CB-AE9D-F580631F237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D4B25FF-65B1-4965-AD14-722FCF5D5E6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25C689E0-411D-4ABE-BB19-9DF1148ECACF}"/>
              </a:ext>
            </a:extLst>
          </p:cNvPr>
          <p:cNvSpPr>
            <a:spLocks xmlns:a="http://schemas.openxmlformats.org/drawingml/2006/main" noGrp="1"/>
          </p:cNvSpPr>
          <p:nvPr/>
        </p:nvSpPr>
        <p:spPr>
          <a:xfrm xmlns:a="http://schemas.openxmlformats.org/drawingml/2006/main" rot="0">
            <a:off x="723900" y="19526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独立したデータレイヤーが将来消滅するなら、データ収集企業に未来はないように聞こえるかもしれない。</a:t>
            </a:r>
          </a:p>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しかし私の考えは逆で、むしろデータ収集こそが最も有利な出発点である。</a:t>
            </a:r>
          </a:p>
        </p:txBody>
      </p:sp>
      <p:sp>
        <p:nvSpPr>
          <p:cNvPr id="6" name="">
            <a:extLst xmlns:a="http://schemas.openxmlformats.org/drawingml/2006/main">
              <a:ext uri="{FF2B5EF4-FFF2-40B4-BE49-F238E27FC236}">
                <a16:creationId xmlns:a16="http://schemas.microsoft.com/office/drawing/2014/main" id="{F8460EA6-0DA0-4096-9FD9-17F1A4AF6E4B}"/>
              </a:ext>
            </a:extLst>
          </p:cNvPr>
          <p:cNvSpPr>
            <a:spLocks xmlns:a="http://schemas.openxmlformats.org/drawingml/2006/main" noGrp="1"/>
          </p:cNvSpPr>
          <p:nvPr/>
        </p:nvSpPr>
        <p:spPr>
          <a:xfrm xmlns:a="http://schemas.openxmlformats.org/drawingml/2006/main">
            <a:off x="723900" y="3286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EBDDE83-429B-4A32-B5B4-F231D6D9B28C}"/>
              </a:ext>
            </a:extLst>
          </p:cNvPr>
          <p:cNvSpPr>
            <a:spLocks xmlns:a="http://schemas.openxmlformats.org/drawingml/2006/main" noGrp="1"/>
          </p:cNvSpPr>
          <p:nvPr/>
        </p:nvSpPr>
        <p:spPr>
          <a:xfrm xmlns:a="http://schemas.openxmlformats.org/drawingml/2006/main" rot="0">
            <a:off x="723900" y="36195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現場統合層が現場と直接接触するのは当然である。しかし、一番上流のデータ収集層の中でも、現場データの収集を行う企業は現場と直接接触する。データ収集のために現場へ入り、将来ロボットを導入する可能性がある現場と直接の関係を築く。</a:t>
            </a:r>
          </a:p>
        </p:txBody>
      </p:sp>
      <p:sp>
        <p:nvSpPr>
          <p:cNvPr id="8" name="">
            <a:extLst xmlns:a="http://schemas.openxmlformats.org/drawingml/2006/main">
              <a:ext uri="{FF2B5EF4-FFF2-40B4-BE49-F238E27FC236}">
                <a16:creationId xmlns:a16="http://schemas.microsoft.com/office/drawing/2014/main" id="{CF963A22-66DA-402D-BE52-D33649837314}"/>
              </a:ext>
            </a:extLst>
          </p:cNvPr>
          <p:cNvSpPr>
            <a:spLocks xmlns:a="http://schemas.openxmlformats.org/drawingml/2006/main" noGrp="1"/>
          </p:cNvSpPr>
          <p:nvPr/>
        </p:nvSpPr>
        <p:spPr>
          <a:xfrm xmlns:a="http://schemas.openxmlformats.org/drawingml/2006/main" rot="0">
            <a:off x="723900" y="5191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一般に、上流工程の企業が最下流の顧客と接することは珍しい。フィジカルAIでは現場の実データが不可欠であるため、上流と最下流が直接繋がる。</a:t>
            </a:r>
          </a:p>
        </p:txBody>
      </p:sp>
    </p:spTree>
    <p:extLst>
      <p:ext uri="{BB962C8B-B14F-4D97-AF65-F5344CB8AC3E}">
        <p14:creationId xmlns:p14="http://schemas.microsoft.com/office/powerpoint/2010/main" val="1996451619"/>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0B254B-DF72-4B23-BCC6-A43357CA035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D07ADC-C391-4769-B59B-16CDC3577BC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横方向の網羅性は、今の技術レベルでも実現可能</a:t>
            </a:r>
          </a:p>
        </p:txBody>
      </p:sp>
      <p:sp>
        <p:nvSpPr>
          <p:cNvPr id="3" name="">
            <a:extLst xmlns:a="http://schemas.openxmlformats.org/drawingml/2006/main">
              <a:ext uri="{FF2B5EF4-FFF2-40B4-BE49-F238E27FC236}">
                <a16:creationId xmlns:a16="http://schemas.microsoft.com/office/drawing/2014/main" id="{EFB2FB20-70AE-4B0E-8EDC-EDBB0F390DA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E2F0AC0-87C9-4FB8-A609-9B3D65E9DF0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515C8844-D321-4CF4-B410-D707EF0DDE1C}"/>
              </a:ext>
            </a:extLst>
          </p:cNvPr>
          <p:cNvSpPr>
            <a:spLocks xmlns:a="http://schemas.openxmlformats.org/drawingml/2006/main" noGrp="1"/>
          </p:cNvSpPr>
          <p:nvPr/>
        </p:nvSpPr>
        <p:spPr>
          <a:xfrm xmlns:a="http://schemas.openxmlformats.org/drawingml/2006/main" rot="0">
            <a:off x="723900" y="2047875"/>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統合層で横方向、つまり複数の業種・現場を網羅できている企業は、現時点で一社もない。ロボットの自律動作は業種・タスクごとに個別の技術開発が必要であり、横に広げることが極めて難しいからである。</a:t>
            </a:r>
          </a:p>
        </p:txBody>
      </p:sp>
      <p:sp>
        <p:nvSpPr>
          <p:cNvPr id="6" name="">
            <a:extLst xmlns:a="http://schemas.openxmlformats.org/drawingml/2006/main">
              <a:ext uri="{FF2B5EF4-FFF2-40B4-BE49-F238E27FC236}">
                <a16:creationId xmlns:a16="http://schemas.microsoft.com/office/drawing/2014/main" id="{58D51CF5-908C-4194-94AE-48806A2DF5BE}"/>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7D3EC8F-2D19-4921-B325-CC18F76D899C}"/>
              </a:ext>
            </a:extLst>
          </p:cNvPr>
          <p:cNvSpPr>
            <a:spLocks xmlns:a="http://schemas.openxmlformats.org/drawingml/2006/main" noGrp="1"/>
          </p:cNvSpPr>
          <p:nvPr/>
        </p:nvSpPr>
        <p:spPr>
          <a:xfrm xmlns:a="http://schemas.openxmlformats.org/drawingml/2006/main" rot="0">
            <a:off x="723900" y="404812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しかし、現場データ収集層であれば話は別である。カメラを装着した人間の作業を撮影するだけであり、業種をまたぐ技術的障壁がほとんどない。今の時点で横方向を網羅できる唯一のレイヤーが、データ収集層である。</a:t>
            </a:r>
          </a:p>
        </p:txBody>
      </p:sp>
    </p:spTree>
    <p:extLst>
      <p:ext uri="{BB962C8B-B14F-4D97-AF65-F5344CB8AC3E}">
        <p14:creationId xmlns:p14="http://schemas.microsoft.com/office/powerpoint/2010/main" val="406136351"/>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B3DBD58-92EA-4926-9033-23E230952C3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313B04-F3C3-4AE4-9338-6392E45C94BE}"/>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現場は有限の資産であり、先行者優位が極めて強い</a:t>
            </a:r>
          </a:p>
        </p:txBody>
      </p:sp>
      <p:sp>
        <p:nvSpPr>
          <p:cNvPr id="3" name="">
            <a:extLst xmlns:a="http://schemas.openxmlformats.org/drawingml/2006/main">
              <a:ext uri="{FF2B5EF4-FFF2-40B4-BE49-F238E27FC236}">
                <a16:creationId xmlns:a16="http://schemas.microsoft.com/office/drawing/2014/main" id="{D17BAF4F-B331-47D5-9C5E-D4C435DEF88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9B09235-7F93-4684-94A8-023417DE9EE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A16CF61A-31BA-4CF0-BC97-A688556259CF}"/>
              </a:ext>
            </a:extLst>
          </p:cNvPr>
          <p:cNvSpPr>
            <a:spLocks xmlns:a="http://schemas.openxmlformats.org/drawingml/2006/main" noGrp="1"/>
          </p:cNvSpPr>
          <p:nvPr/>
        </p:nvSpPr>
        <p:spPr>
          <a:xfrm xmlns:a="http://schemas.openxmlformats.org/drawingml/2006/main" rot="0">
            <a:off x="723900" y="204787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飲食、小売、製造、配送、建築、美容、農業。途方もない数の現場があるが、有限であることには変わりない。先にどれだけ多くの現場と繋がることができるかが重要である。</a:t>
            </a:r>
          </a:p>
        </p:txBody>
      </p:sp>
      <p:sp>
        <p:nvSpPr>
          <p:cNvPr id="6" name="">
            <a:extLst xmlns:a="http://schemas.openxmlformats.org/drawingml/2006/main">
              <a:ext uri="{FF2B5EF4-FFF2-40B4-BE49-F238E27FC236}">
                <a16:creationId xmlns:a16="http://schemas.microsoft.com/office/drawing/2014/main" id="{9EA9A46D-4586-487F-BC68-1238BF1989AF}"/>
              </a:ext>
            </a:extLst>
          </p:cNvPr>
          <p:cNvSpPr>
            <a:spLocks xmlns:a="http://schemas.openxmlformats.org/drawingml/2006/main" noGrp="1"/>
          </p:cNvSpPr>
          <p:nvPr/>
        </p:nvSpPr>
        <p:spPr>
          <a:xfrm xmlns:a="http://schemas.openxmlformats.org/drawingml/2006/main">
            <a:off x="723900" y="3476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A6363CE-0B13-4328-8A1D-D7AC9A51B333}"/>
              </a:ext>
            </a:extLst>
          </p:cNvPr>
          <p:cNvSpPr>
            <a:spLocks xmlns:a="http://schemas.openxmlformats.org/drawingml/2006/main" noGrp="1"/>
          </p:cNvSpPr>
          <p:nvPr/>
        </p:nvSpPr>
        <p:spPr>
          <a:xfrm xmlns:a="http://schemas.openxmlformats.org/drawingml/2006/main" rot="0">
            <a:off x="723900" y="38100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15191B"/>
                </a:solidFill>
                <a:latin typeface="Hiragino Sans"/>
                <a:ea typeface="Hiragino Sans"/>
                <a:cs typeface="Hiragino Sans"/>
              </a:defRPr>
            </a:pPr>
            <a:r>
              <a:rPr sz="1650" b="0">
                <a:solidFill>
                  <a:srgbClr val="15191B"/>
                </a:solidFill>
                <a:latin typeface="Hiragino Sans"/>
                <a:ea typeface="Hiragino Sans"/>
                <a:cs typeface="Hiragino Sans"/>
              </a:rPr>
              <a:t>一つの現場が複数のデータ収集会社と契約することは考えにくい。撮影機材の管理、スタッフへの説明、プライバシーに関する合意など、一社と契約するだけでも現場側に相応の負担が発生するためである。</a:t>
            </a:r>
          </a:p>
        </p:txBody>
      </p:sp>
      <p:sp>
        <p:nvSpPr>
          <p:cNvPr id="8" name="">
            <a:extLst xmlns:a="http://schemas.openxmlformats.org/drawingml/2006/main">
              <a:ext uri="{FF2B5EF4-FFF2-40B4-BE49-F238E27FC236}">
                <a16:creationId xmlns:a16="http://schemas.microsoft.com/office/drawing/2014/main" id="{6A4E8924-27C1-4563-B122-154EFD55B083}"/>
              </a:ext>
            </a:extLst>
          </p:cNvPr>
          <p:cNvSpPr>
            <a:spLocks xmlns:a="http://schemas.openxmlformats.org/drawingml/2006/main" noGrp="1"/>
          </p:cNvSpPr>
          <p:nvPr/>
        </p:nvSpPr>
        <p:spPr>
          <a:xfrm xmlns:a="http://schemas.openxmlformats.org/drawingml/2006/main" rot="0">
            <a:off x="723900" y="53816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海外では急速に広まっている一方、日本ではまだほとんど浸透していない。</a:t>
            </a:r>
          </a:p>
        </p:txBody>
      </p:sp>
    </p:spTree>
    <p:extLst>
      <p:ext uri="{BB962C8B-B14F-4D97-AF65-F5344CB8AC3E}">
        <p14:creationId xmlns:p14="http://schemas.microsoft.com/office/powerpoint/2010/main" val="891331511"/>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C2DA3E2-AD64-4EF6-8596-FD060DB3D9B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E3AB9BD-DE67-441D-8EDD-EB3139F8055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現場ネットワークは、ロボット企業にとって不可欠になる</a:t>
            </a:r>
          </a:p>
        </p:txBody>
      </p:sp>
      <p:sp>
        <p:nvSpPr>
          <p:cNvPr id="3" name="">
            <a:extLst xmlns:a="http://schemas.openxmlformats.org/drawingml/2006/main">
              <a:ext uri="{FF2B5EF4-FFF2-40B4-BE49-F238E27FC236}">
                <a16:creationId xmlns:a16="http://schemas.microsoft.com/office/drawing/2014/main" id="{B475C583-7E09-4711-B998-38A0256F4D7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157B572-7515-434B-B708-80EBBDD36ED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C2B4A263-69E8-47A0-A29E-D9DBF6FC174A}"/>
              </a:ext>
            </a:extLst>
          </p:cNvPr>
          <p:cNvSpPr>
            <a:spLocks xmlns:a="http://schemas.openxmlformats.org/drawingml/2006/main" noGrp="1"/>
          </p:cNvSpPr>
          <p:nvPr/>
        </p:nvSpPr>
        <p:spPr>
          <a:xfrm xmlns:a="http://schemas.openxmlformats.org/drawingml/2006/main" rot="0">
            <a:off x="723900" y="209550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遅かれ早かれ、ロボット企業は最終的な顧客である現場のネットワークを取りに来る。現場を含めたフィードバックループを作ることが、最速の勝ち筋だからである。</a:t>
            </a:r>
          </a:p>
        </p:txBody>
      </p:sp>
      <p:sp>
        <p:nvSpPr>
          <p:cNvPr id="6" name="">
            <a:extLst xmlns:a="http://schemas.openxmlformats.org/drawingml/2006/main">
              <a:ext uri="{FF2B5EF4-FFF2-40B4-BE49-F238E27FC236}">
                <a16:creationId xmlns:a16="http://schemas.microsoft.com/office/drawing/2014/main" id="{0C33BB0D-ABAD-4AA3-93CB-ED846720761C}"/>
              </a:ext>
            </a:extLst>
          </p:cNvPr>
          <p:cNvSpPr>
            <a:spLocks xmlns:a="http://schemas.openxmlformats.org/drawingml/2006/main" noGrp="1"/>
          </p:cNvSpPr>
          <p:nvPr/>
        </p:nvSpPr>
        <p:spPr>
          <a:xfrm xmlns:a="http://schemas.openxmlformats.org/drawingml/2006/main">
            <a:off x="723900" y="3476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F76C8C1-10B6-40F4-9D4D-F90944C3E9CF}"/>
              </a:ext>
            </a:extLst>
          </p:cNvPr>
          <p:cNvSpPr>
            <a:spLocks xmlns:a="http://schemas.openxmlformats.org/drawingml/2006/main" noGrp="1"/>
          </p:cNvSpPr>
          <p:nvPr/>
        </p:nvSpPr>
        <p:spPr>
          <a:xfrm xmlns:a="http://schemas.openxmlformats.org/drawingml/2006/main" rot="0">
            <a:off x="723900" y="385762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現場ネットワークを得るには、多業種にわたって様々な同意やコンプライアンス対応を積み重ねる必要がある。その積み重ねは、後発が容易に真似できない参入障壁になる。</a:t>
            </a:r>
          </a:p>
        </p:txBody>
      </p:sp>
      <p:sp>
        <p:nvSpPr>
          <p:cNvPr id="8" name="">
            <a:extLst xmlns:a="http://schemas.openxmlformats.org/drawingml/2006/main">
              <a:ext uri="{FF2B5EF4-FFF2-40B4-BE49-F238E27FC236}">
                <a16:creationId xmlns:a16="http://schemas.microsoft.com/office/drawing/2014/main" id="{29BB36AC-92DB-4E52-8DC7-03FFC8B70CEE}"/>
              </a:ext>
            </a:extLst>
          </p:cNvPr>
          <p:cNvSpPr>
            <a:spLocks xmlns:a="http://schemas.openxmlformats.org/drawingml/2006/main" noGrp="1"/>
          </p:cNvSpPr>
          <p:nvPr/>
        </p:nvSpPr>
        <p:spPr>
          <a:xfrm xmlns:a="http://schemas.openxmlformats.org/drawingml/2006/main" rot="0">
            <a:off x="723900" y="53340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データだけでなく、現場との関係と、現場へ入り続けるための運用が蓄積される。</a:t>
            </a:r>
          </a:p>
        </p:txBody>
      </p:sp>
    </p:spTree>
    <p:extLst>
      <p:ext uri="{BB962C8B-B14F-4D97-AF65-F5344CB8AC3E}">
        <p14:creationId xmlns:p14="http://schemas.microsoft.com/office/powerpoint/2010/main" val="1383303422"/>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7D2BD12-A3CB-4F78-AED4-2C2460C0B30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6EE8AA0-89A1-4B9E-943D-8186E1EAF1A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現場データの先行取得は、自ら現場統合者になるための布石</a:t>
            </a:r>
          </a:p>
        </p:txBody>
      </p:sp>
      <p:sp>
        <p:nvSpPr>
          <p:cNvPr id="3" name="">
            <a:extLst xmlns:a="http://schemas.openxmlformats.org/drawingml/2006/main">
              <a:ext uri="{FF2B5EF4-FFF2-40B4-BE49-F238E27FC236}">
                <a16:creationId xmlns:a16="http://schemas.microsoft.com/office/drawing/2014/main" id="{EFBA44B7-9D0A-4441-9494-8D3F332D284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7C21470-7630-498E-9AB4-770431D3419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9A3A3769-1878-4428-98CF-0E3B95151EBD}"/>
              </a:ext>
            </a:extLst>
          </p:cNvPr>
          <p:cNvSpPr>
            <a:spLocks xmlns:a="http://schemas.openxmlformats.org/drawingml/2006/main" noGrp="1"/>
          </p:cNvSpPr>
          <p:nvPr/>
        </p:nvSpPr>
        <p:spPr>
          <a:xfrm xmlns:a="http://schemas.openxmlformats.org/drawingml/2006/main" rot="0">
            <a:off x="723900" y="200025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15191B"/>
                </a:solidFill>
                <a:latin typeface="Hiragino Sans"/>
                <a:ea typeface="Hiragino Sans"/>
                <a:cs typeface="Hiragino Sans"/>
              </a:defRPr>
            </a:pPr>
            <a:r>
              <a:rPr sz="1650" b="0">
                <a:solidFill>
                  <a:srgbClr val="15191B"/>
                </a:solidFill>
                <a:latin typeface="Hiragino Sans"/>
                <a:ea typeface="Hiragino Sans"/>
                <a:cs typeface="Hiragino Sans"/>
              </a:rPr>
              <a:t>ロボットを各現場へ導入するには、導入判断や導入後の調整のために、既存の人間のワークフローを詳細に把握する必要がある。現場データを収集済みであれば、ロボット企業は一からワークフロー調査をやり直す必要がない。</a:t>
            </a:r>
          </a:p>
        </p:txBody>
      </p:sp>
      <p:sp>
        <p:nvSpPr>
          <p:cNvPr id="6" name="">
            <a:extLst xmlns:a="http://schemas.openxmlformats.org/drawingml/2006/main">
              <a:ext uri="{FF2B5EF4-FFF2-40B4-BE49-F238E27FC236}">
                <a16:creationId xmlns:a16="http://schemas.microsoft.com/office/drawing/2014/main" id="{11A7A6E8-0861-4AEB-80D7-977EE3F383EA}"/>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8B99829-0247-4AAC-B388-1D4460CD1447}"/>
              </a:ext>
            </a:extLst>
          </p:cNvPr>
          <p:cNvSpPr>
            <a:spLocks xmlns:a="http://schemas.openxmlformats.org/drawingml/2006/main" noGrp="1"/>
          </p:cNvSpPr>
          <p:nvPr/>
        </p:nvSpPr>
        <p:spPr>
          <a:xfrm xmlns:a="http://schemas.openxmlformats.org/drawingml/2006/main" rot="0">
            <a:off x="723900" y="40481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そのため、協業の相手として自然に選ばれる立場になる。さらに、他のロボット企業の動きを待つまでもなく、自分たち自身がロボットの現場統合に乗り出せる。</a:t>
            </a:r>
          </a:p>
        </p:txBody>
      </p:sp>
      <p:sp>
        <p:nvSpPr>
          <p:cNvPr id="8" name="">
            <a:extLst xmlns:a="http://schemas.openxmlformats.org/drawingml/2006/main">
              <a:ext uri="{FF2B5EF4-FFF2-40B4-BE49-F238E27FC236}">
                <a16:creationId xmlns:a16="http://schemas.microsoft.com/office/drawing/2014/main" id="{1CBACDD9-D068-4E25-BF32-1DE591FBF5E2}"/>
              </a:ext>
            </a:extLst>
          </p:cNvPr>
          <p:cNvSpPr>
            <a:spLocks xmlns:a="http://schemas.openxmlformats.org/drawingml/2006/main" noGrp="1"/>
          </p:cNvSpPr>
          <p:nvPr/>
        </p:nvSpPr>
        <p:spPr>
          <a:xfrm xmlns:a="http://schemas.openxmlformats.org/drawingml/2006/main" rot="0">
            <a:off x="723900" y="53816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現場データ収集から始めた企業が、最終的には現場統合を行う企業へと進化できる。これが私たちの長期的な構想である。</a:t>
            </a:r>
          </a:p>
        </p:txBody>
      </p:sp>
    </p:spTree>
    <p:extLst>
      <p:ext uri="{BB962C8B-B14F-4D97-AF65-F5344CB8AC3E}">
        <p14:creationId xmlns:p14="http://schemas.microsoft.com/office/powerpoint/2010/main" val="217486039"/>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80D992D-969F-4667-B6D6-D62A302C06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EA7422-52A4-4CBA-85CA-AA1844AE457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4E85B549-98F2-49A4-8165-87019ECC755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C8375CB-D1A3-4B25-9DD1-A35E22F07A77}"/>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CEFD71BC-C702-4C86-84C2-E7281CCB4575}"/>
              </a:ext>
            </a:extLst>
          </p:cNvPr>
          <p:cNvSpPr>
            <a:spLocks xmlns:a="http://schemas.openxmlformats.org/drawingml/2006/main" noGrp="1"/>
          </p:cNvSpPr>
          <p:nvPr/>
        </p:nvSpPr>
        <p:spPr>
          <a:xfrm xmlns:a="http://schemas.openxmlformats.org/drawingml/2006/main" rot="0">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9FADDC32-AD94-4E5F-BE9E-97A37203BA54}"/>
              </a:ext>
            </a:extLst>
          </p:cNvPr>
          <p:cNvSpPr>
            <a:spLocks xmlns:a="http://schemas.openxmlformats.org/drawingml/2006/main" noGrp="1"/>
          </p:cNvSpPr>
          <p:nvPr/>
        </p:nvSpPr>
        <p:spPr>
          <a:xfrm xmlns:a="http://schemas.openxmlformats.org/drawingml/2006/main" rot="0">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E3149D03-7473-4ABF-BB0B-9E7CDEDBB3FF}"/>
              </a:ext>
            </a:extLst>
          </p:cNvPr>
          <p:cNvSpPr>
            <a:spLocks xmlns:a="http://schemas.openxmlformats.org/drawingml/2006/main" noGrp="1"/>
          </p:cNvSpPr>
          <p:nvPr/>
        </p:nvSpPr>
        <p:spPr>
          <a:xfrm xmlns:a="http://schemas.openxmlformats.org/drawingml/2006/main" rot="0">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データ収集・販売による収益を確保する。現場との関係構築と、多業種へのコンプライアンス対応を通じて、後発が真似できない参入障壁を積み上げる。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2385B299-B1D2-4C21-81B3-C9C7A44FFF47}"/>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949CED2-2141-4E92-B912-4F3CDEDB7EA1}"/>
              </a:ext>
            </a:extLst>
          </p:cNvPr>
          <p:cNvSpPr>
            <a:spLocks xmlns:a="http://schemas.openxmlformats.org/drawingml/2006/main" noGrp="1"/>
          </p:cNvSpPr>
          <p:nvPr/>
        </p:nvSpPr>
        <p:spPr>
          <a:xfrm xmlns:a="http://schemas.openxmlformats.org/drawingml/2006/main" rot="0">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5F5DB6F8-54CE-4382-BF1F-48B970F99968}"/>
              </a:ext>
            </a:extLst>
          </p:cNvPr>
          <p:cNvSpPr>
            <a:spLocks xmlns:a="http://schemas.openxmlformats.org/drawingml/2006/main" noGrp="1"/>
          </p:cNvSpPr>
          <p:nvPr/>
        </p:nvSpPr>
        <p:spPr>
          <a:xfrm xmlns:a="http://schemas.openxmlformats.org/drawingml/2006/main" rot="0">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自らロボットの現場統合に乗り出す</a:t>
            </a:r>
          </a:p>
        </p:txBody>
      </p:sp>
      <p:sp>
        <p:nvSpPr>
          <p:cNvPr id="11" name="">
            <a:extLst xmlns:a="http://schemas.openxmlformats.org/drawingml/2006/main">
              <a:ext uri="{FF2B5EF4-FFF2-40B4-BE49-F238E27FC236}">
                <a16:creationId xmlns:a16="http://schemas.microsoft.com/office/drawing/2014/main" id="{E370CCFC-2F8A-436C-A1BA-D95CDDD0FF41}"/>
              </a:ext>
            </a:extLst>
          </p:cNvPr>
          <p:cNvSpPr>
            <a:spLocks xmlns:a="http://schemas.openxmlformats.org/drawingml/2006/main" noGrp="1"/>
          </p:cNvSpPr>
          <p:nvPr/>
        </p:nvSpPr>
        <p:spPr>
          <a:xfrm xmlns:a="http://schemas.openxmlformats.org/drawingml/2006/main" rot="0">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蓄積した現場データ、現場ネットワーク、現場に関する知見を武器に、モデル開発・ハードウェア開発・現場統合のフィードバックループを自社で持つ企業へ進化する。</a:t>
            </a:r>
          </a:p>
        </p:txBody>
      </p:sp>
      <p:sp>
        <p:nvSpPr>
          <p:cNvPr id="12" name="">
            <a:extLst xmlns:a="http://schemas.openxmlformats.org/drawingml/2006/main">
              <a:ext uri="{FF2B5EF4-FFF2-40B4-BE49-F238E27FC236}">
                <a16:creationId xmlns:a16="http://schemas.microsoft.com/office/drawing/2014/main" id="{8EE57405-2B66-43F2-A6EF-634C0C7FECC2}"/>
              </a:ext>
            </a:extLst>
          </p:cNvPr>
          <p:cNvSpPr>
            <a:spLocks xmlns:a="http://schemas.openxmlformats.org/drawingml/2006/main" noGrp="1"/>
          </p:cNvSpPr>
          <p:nvPr/>
        </p:nvSpPr>
        <p:spPr>
          <a:xfrm xmlns:a="http://schemas.openxmlformats.org/drawingml/2006/main" rot="0">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988548296"/>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D4BD935-6527-4B49-B02F-62D25677732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2753258-F4DA-43DB-93F5-DDEC0A2C7CC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D85047DF-DD8B-47CC-991A-CFEBF43B6DA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3871F37-784F-4A90-A84D-B67A80CD3C7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D07910F0-4F88-4183-927A-E65B9A5594B5}"/>
              </a:ext>
            </a:extLst>
          </p:cNvPr>
          <p:cNvSpPr>
            <a:spLocks xmlns:a="http://schemas.openxmlformats.org/drawingml/2006/main" noGrp="1"/>
          </p:cNvSpPr>
          <p:nvPr/>
        </p:nvSpPr>
        <p:spPr>
          <a:xfrm xmlns:a="http://schemas.openxmlformats.org/drawingml/2006/main" rot="0">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2B746314-BB32-4730-9734-7DD04B765CDF}"/>
              </a:ext>
            </a:extLst>
          </p:cNvPr>
          <p:cNvSpPr>
            <a:spLocks xmlns:a="http://schemas.openxmlformats.org/drawingml/2006/main" noGrp="1"/>
          </p:cNvSpPr>
          <p:nvPr/>
        </p:nvSpPr>
        <p:spPr>
          <a:xfrm xmlns:a="http://schemas.openxmlformats.org/drawingml/2006/main" rot="0">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ED2DE7B4-1AF4-44A4-A782-8B565A61C4AE}"/>
              </a:ext>
            </a:extLst>
          </p:cNvPr>
          <p:cNvSpPr>
            <a:spLocks xmlns:a="http://schemas.openxmlformats.org/drawingml/2006/main" noGrp="1"/>
          </p:cNvSpPr>
          <p:nvPr/>
        </p:nvSpPr>
        <p:spPr>
          <a:xfrm xmlns:a="http://schemas.openxmlformats.org/drawingml/2006/main" rot="0">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59ECA92C-D023-48E0-9DAC-D3AC46056442}"/>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CBC399D7-5C5C-4F30-A3F0-FA730BEE0491}"/>
              </a:ext>
            </a:extLst>
          </p:cNvPr>
          <p:cNvSpPr>
            <a:spLocks xmlns:a="http://schemas.openxmlformats.org/drawingml/2006/main" noGrp="1"/>
          </p:cNvSpPr>
          <p:nvPr/>
        </p:nvSpPr>
        <p:spPr>
          <a:xfrm xmlns:a="http://schemas.openxmlformats.org/drawingml/2006/main" rot="0">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BB3B8FA0-0A2C-48BD-B115-10415906915A}"/>
              </a:ext>
            </a:extLst>
          </p:cNvPr>
          <p:cNvSpPr>
            <a:spLocks xmlns:a="http://schemas.openxmlformats.org/drawingml/2006/main" noGrp="1"/>
          </p:cNvSpPr>
          <p:nvPr/>
        </p:nvSpPr>
        <p:spPr>
          <a:xfrm xmlns:a="http://schemas.openxmlformats.org/drawingml/2006/main" rot="0">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A62FE009-DF6E-4B23-B793-4D324A1A7374}"/>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88AC340-2FC9-4BBF-98BA-E06B67F29BD8}"/>
              </a:ext>
            </a:extLst>
          </p:cNvPr>
          <p:cNvSpPr>
            <a:spLocks xmlns:a="http://schemas.openxmlformats.org/drawingml/2006/main" noGrp="1"/>
          </p:cNvSpPr>
          <p:nvPr/>
        </p:nvSpPr>
        <p:spPr>
          <a:xfrm xmlns:a="http://schemas.openxmlformats.org/drawingml/2006/main" rot="0">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600373D0-FA1A-41E2-B499-35E5F5A41087}"/>
              </a:ext>
            </a:extLst>
          </p:cNvPr>
          <p:cNvSpPr>
            <a:spLocks xmlns:a="http://schemas.openxmlformats.org/drawingml/2006/main" noGrp="1"/>
          </p:cNvSpPr>
          <p:nvPr/>
        </p:nvSpPr>
        <p:spPr>
          <a:xfrm xmlns:a="http://schemas.openxmlformats.org/drawingml/2006/main" rot="0">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7EAC7221-7079-41F9-A4A4-DB284F77643D}"/>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BD1BB91D-DC27-4902-8465-1065D951EBBE}"/>
              </a:ext>
            </a:extLst>
          </p:cNvPr>
          <p:cNvSpPr>
            <a:spLocks xmlns:a="http://schemas.openxmlformats.org/drawingml/2006/main" noGrp="1"/>
          </p:cNvSpPr>
          <p:nvPr/>
        </p:nvSpPr>
        <p:spPr>
          <a:xfrm xmlns:a="http://schemas.openxmlformats.org/drawingml/2006/main" rot="0">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6629880F-6D47-41E5-82CE-274ED31871FD}"/>
              </a:ext>
            </a:extLst>
          </p:cNvPr>
          <p:cNvSpPr>
            <a:spLocks xmlns:a="http://schemas.openxmlformats.org/drawingml/2006/main" noGrp="1"/>
          </p:cNvSpPr>
          <p:nvPr/>
        </p:nvSpPr>
        <p:spPr>
          <a:xfrm xmlns:a="http://schemas.openxmlformats.org/drawingml/2006/main" rot="0">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0C34C457-6D36-4502-9C89-C7A9DFF7ED6B}"/>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472C0CD-52B9-46FE-89C6-2A61F94C2B12}"/>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58CD6AC-34A4-488E-A362-209B4B29ABFC}"/>
              </a:ext>
            </a:extLst>
          </p:cNvPr>
          <p:cNvSpPr>
            <a:spLocks xmlns:a="http://schemas.openxmlformats.org/drawingml/2006/main" noGrp="1"/>
          </p:cNvSpPr>
          <p:nvPr/>
        </p:nvSpPr>
        <p:spPr>
          <a:xfrm xmlns:a="http://schemas.openxmlformats.org/drawingml/2006/main" rot="0">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64F7E361-0F67-4405-A0CE-ABC0A59F0789}"/>
              </a:ext>
            </a:extLst>
          </p:cNvPr>
          <p:cNvSpPr>
            <a:spLocks xmlns:a="http://schemas.openxmlformats.org/drawingml/2006/main" noGrp="1"/>
          </p:cNvSpPr>
          <p:nvPr/>
        </p:nvSpPr>
        <p:spPr>
          <a:xfrm xmlns:a="http://schemas.openxmlformats.org/drawingml/2006/main" rot="0">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7D3DF67B-BE48-4C49-9C93-730AA742B1CE}"/>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87F189C-2235-4294-85F9-810E60C75EE2}"/>
              </a:ext>
            </a:extLst>
          </p:cNvPr>
          <p:cNvSpPr>
            <a:spLocks xmlns:a="http://schemas.openxmlformats.org/drawingml/2006/main" noGrp="1"/>
          </p:cNvSpPr>
          <p:nvPr/>
        </p:nvSpPr>
        <p:spPr>
          <a:xfrm xmlns:a="http://schemas.openxmlformats.org/drawingml/2006/main" rot="0">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962768926"/>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8B87CC8-01C7-4661-BC29-D8D39F1DE22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44D2EA-2525-4AF0-B1AD-F9065DC8A22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889B03BB-B9B3-44F5-B130-839A38DA1C7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4885CB8-8073-424B-ADB6-CB5582A3A18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D08BB038-B104-406F-B931-601B1DA8B5EB}"/>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現場への訪問</a:t>
            </a:r>
          </a:p>
        </p:txBody>
      </p:sp>
      <p:sp>
        <p:nvSpPr>
          <p:cNvPr id="6" name="">
            <a:extLst xmlns:a="http://schemas.openxmlformats.org/drawingml/2006/main">
              <a:ext uri="{FF2B5EF4-FFF2-40B4-BE49-F238E27FC236}">
                <a16:creationId xmlns:a16="http://schemas.microsoft.com/office/drawing/2014/main" id="{CE2C4EEC-E941-4BF4-AFCE-ED86C6C59001}"/>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48589E9F-F7A5-47BB-8D66-4C5BED157CCD}"/>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8DB3E10-794E-477C-8008-BC3CDC624B00}"/>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ベーカリーでの収集</a:t>
            </a:r>
          </a:p>
        </p:txBody>
      </p:sp>
      <p:sp>
        <p:nvSpPr>
          <p:cNvPr id="9" name="">
            <a:extLst xmlns:a="http://schemas.openxmlformats.org/drawingml/2006/main">
              <a:ext uri="{FF2B5EF4-FFF2-40B4-BE49-F238E27FC236}">
                <a16:creationId xmlns:a16="http://schemas.microsoft.com/office/drawing/2014/main" id="{6B05FEE0-0187-41C1-9091-962B1E4455AC}"/>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B88C010F-D340-4467-81D7-3A9B5EF59C0B}"/>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EBD9CA4-19F7-4773-84D9-0E7BDBB3738A}"/>
              </a:ext>
            </a:extLst>
          </p:cNvPr>
          <p:cNvSpPr>
            <a:spLocks xmlns:a="http://schemas.openxmlformats.org/drawingml/2006/main" noGrp="1"/>
          </p:cNvSpPr>
          <p:nvPr/>
        </p:nvSpPr>
        <p:spPr>
          <a:xfrm xmlns:a="http://schemas.openxmlformats.org/drawingml/2006/main" rot="0">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飲食店への打診</a:t>
            </a:r>
          </a:p>
        </p:txBody>
      </p:sp>
      <p:sp>
        <p:nvSpPr>
          <p:cNvPr id="12" name="">
            <a:extLst xmlns:a="http://schemas.openxmlformats.org/drawingml/2006/main">
              <a:ext uri="{FF2B5EF4-FFF2-40B4-BE49-F238E27FC236}">
                <a16:creationId xmlns:a16="http://schemas.microsoft.com/office/drawing/2014/main" id="{457077E5-C7F3-4EBB-893C-50AF327DDB81}"/>
              </a:ext>
            </a:extLst>
          </p:cNvPr>
          <p:cNvSpPr>
            <a:spLocks xmlns:a="http://schemas.openxmlformats.org/drawingml/2006/main" noGrp="1"/>
          </p:cNvSpPr>
          <p:nvPr/>
        </p:nvSpPr>
        <p:spPr>
          <a:xfrm xmlns:a="http://schemas.openxmlformats.org/drawingml/2006/main" rot="0">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8597CEFC-FF95-45F2-B50F-18F566C2A069}"/>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0368F74-8B84-4916-B7B3-A0254ED1A967}"/>
              </a:ext>
            </a:extLst>
          </p:cNvPr>
          <p:cNvSpPr>
            <a:spLocks xmlns:a="http://schemas.openxmlformats.org/drawingml/2006/main" noGrp="1"/>
          </p:cNvSpPr>
          <p:nvPr/>
        </p:nvSpPr>
        <p:spPr>
          <a:xfrm xmlns:a="http://schemas.openxmlformats.org/drawingml/2006/main" rot="0">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小売店への打診</a:t>
            </a:r>
          </a:p>
        </p:txBody>
      </p:sp>
      <p:sp>
        <p:nvSpPr>
          <p:cNvPr id="15" name="">
            <a:extLst xmlns:a="http://schemas.openxmlformats.org/drawingml/2006/main">
              <a:ext uri="{FF2B5EF4-FFF2-40B4-BE49-F238E27FC236}">
                <a16:creationId xmlns:a16="http://schemas.microsoft.com/office/drawing/2014/main" id="{52C45569-AE01-4801-8A48-A23634034A6C}"/>
              </a:ext>
            </a:extLst>
          </p:cNvPr>
          <p:cNvSpPr>
            <a:spLocks xmlns:a="http://schemas.openxmlformats.org/drawingml/2006/main" noGrp="1"/>
          </p:cNvSpPr>
          <p:nvPr/>
        </p:nvSpPr>
        <p:spPr>
          <a:xfrm xmlns:a="http://schemas.openxmlformats.org/drawingml/2006/main" rot="0">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6B45AC2F-6B8E-4A90-99CE-12EC3FE68B88}"/>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F2481E4-8D35-4568-BC1F-6C7D1BD2BC03}"/>
              </a:ext>
            </a:extLst>
          </p:cNvPr>
          <p:cNvSpPr>
            <a:spLocks xmlns:a="http://schemas.openxmlformats.org/drawingml/2006/main" noGrp="1"/>
          </p:cNvSpPr>
          <p:nvPr/>
        </p:nvSpPr>
        <p:spPr>
          <a:xfrm xmlns:a="http://schemas.openxmlformats.org/drawingml/2006/main" rot="0">
            <a:off x="723900" y="55721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ロボット企業への訪問</a:t>
            </a:r>
          </a:p>
        </p:txBody>
      </p:sp>
      <p:sp>
        <p:nvSpPr>
          <p:cNvPr id="18" name="">
            <a:extLst xmlns:a="http://schemas.openxmlformats.org/drawingml/2006/main">
              <a:ext uri="{FF2B5EF4-FFF2-40B4-BE49-F238E27FC236}">
                <a16:creationId xmlns:a16="http://schemas.microsoft.com/office/drawing/2014/main" id="{C389B0E9-C218-4E3B-A0DA-278BD5BA6B12}"/>
              </a:ext>
            </a:extLst>
          </p:cNvPr>
          <p:cNvSpPr>
            <a:spLocks xmlns:a="http://schemas.openxmlformats.org/drawingml/2006/main" noGrp="1"/>
          </p:cNvSpPr>
          <p:nvPr/>
        </p:nvSpPr>
        <p:spPr>
          <a:xfrm xmlns:a="http://schemas.openxmlformats.org/drawingml/2006/main" rot="0">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944078967"/>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5F30768-F34B-4395-833A-92DF0B62B2E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CEF4CDA-7DA0-4518-85D2-AB7A1D542A5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これまでの活動実績｜販売先開拓</a:t>
            </a:r>
          </a:p>
        </p:txBody>
      </p:sp>
      <p:sp>
        <p:nvSpPr>
          <p:cNvPr id="3" name="">
            <a:extLst xmlns:a="http://schemas.openxmlformats.org/drawingml/2006/main">
              <a:ext uri="{FF2B5EF4-FFF2-40B4-BE49-F238E27FC236}">
                <a16:creationId xmlns:a16="http://schemas.microsoft.com/office/drawing/2014/main" id="{1FE9CF74-B36D-435C-9371-21C60DB2F71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C31F56F-4F4D-4D28-BF05-B4A57183A0B0}"/>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AE8CAD57-7151-446C-898D-539686A6717C}"/>
              </a:ext>
            </a:extLst>
          </p:cNvPr>
          <p:cNvSpPr>
            <a:spLocks xmlns:a="http://schemas.openxmlformats.org/drawingml/2006/main" noGrp="1"/>
          </p:cNvSpPr>
          <p:nvPr/>
        </p:nvSpPr>
        <p:spPr>
          <a:xfrm xmlns:a="http://schemas.openxmlformats.org/drawingml/2006/main" rot="0">
            <a:off x="723900" y="18573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F90DD2B0-D728-4CB7-934D-C247BBE45E78}"/>
              </a:ext>
            </a:extLst>
          </p:cNvPr>
          <p:cNvSpPr>
            <a:spLocks xmlns:a="http://schemas.openxmlformats.org/drawingml/2006/main" noGrp="1"/>
          </p:cNvSpPr>
          <p:nvPr/>
        </p:nvSpPr>
        <p:spPr>
          <a:xfrm xmlns:a="http://schemas.openxmlformats.org/drawingml/2006/main" rot="0">
            <a:off x="723900" y="2286000"/>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FPVlabs、Claru、CortexAI、ScaleAI、ShaipAI、Hyphenbox、PeekAI等、海外8社とやり取りし、ベーカリーのサンプルデータを送付した。合意には至っていない。収集スケールが世界的に見てまだ小さく、低い優先度として扱われているためである。</a:t>
            </a:r>
          </a:p>
        </p:txBody>
      </p:sp>
      <p:sp>
        <p:nvSpPr>
          <p:cNvPr id="7" name="">
            <a:extLst xmlns:a="http://schemas.openxmlformats.org/drawingml/2006/main">
              <a:ext uri="{FF2B5EF4-FFF2-40B4-BE49-F238E27FC236}">
                <a16:creationId xmlns:a16="http://schemas.microsoft.com/office/drawing/2014/main" id="{D0CE7802-81A8-4F57-8074-D2CD07DA4E06}"/>
              </a:ext>
            </a:extLst>
          </p:cNvPr>
          <p:cNvSpPr>
            <a:spLocks xmlns:a="http://schemas.openxmlformats.org/drawingml/2006/main" noGrp="1"/>
          </p:cNvSpPr>
          <p:nvPr/>
        </p:nvSpPr>
        <p:spPr>
          <a:xfrm xmlns:a="http://schemas.openxmlformats.org/drawingml/2006/main">
            <a:off x="723900" y="3857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D713848-A31A-42AC-8CDF-25F2143F5E3E}"/>
              </a:ext>
            </a:extLst>
          </p:cNvPr>
          <p:cNvSpPr>
            <a:spLocks xmlns:a="http://schemas.openxmlformats.org/drawingml/2006/main" noGrp="1"/>
          </p:cNvSpPr>
          <p:nvPr/>
        </p:nvSpPr>
        <p:spPr>
          <a:xfrm xmlns:a="http://schemas.openxmlformats.org/drawingml/2006/main" rot="0">
            <a:off x="723900" y="4171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国内｜Nextremer</a:t>
            </a:r>
          </a:p>
        </p:txBody>
      </p:sp>
      <p:sp>
        <p:nvSpPr>
          <p:cNvPr id="9" name="">
            <a:extLst xmlns:a="http://schemas.openxmlformats.org/drawingml/2006/main">
              <a:ext uri="{FF2B5EF4-FFF2-40B4-BE49-F238E27FC236}">
                <a16:creationId xmlns:a16="http://schemas.microsoft.com/office/drawing/2014/main" id="{F2EE9B57-4277-4342-A242-CFFCD3CB3798}"/>
              </a:ext>
            </a:extLst>
          </p:cNvPr>
          <p:cNvSpPr>
            <a:spLocks xmlns:a="http://schemas.openxmlformats.org/drawingml/2006/main" noGrp="1"/>
          </p:cNvSpPr>
          <p:nvPr/>
        </p:nvSpPr>
        <p:spPr>
          <a:xfrm xmlns:a="http://schemas.openxmlformats.org/drawingml/2006/main" rot="0">
            <a:off x="723900" y="457200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フィジカルAI向けデータの加工・販売サービスへの掲載を調整中。現場合意書のシステム構築と、現場合意の取り方を擦り合わせている。データ加工を経由することで、プライバシー処理の責任分散と、高度なアノテーション付きデータを求める販売先への接続が可能になる。</a:t>
            </a:r>
          </a:p>
        </p:txBody>
      </p:sp>
      <p:sp>
        <p:nvSpPr>
          <p:cNvPr id="10" name="">
            <a:extLst xmlns:a="http://schemas.openxmlformats.org/drawingml/2006/main">
              <a:ext uri="{FF2B5EF4-FFF2-40B4-BE49-F238E27FC236}">
                <a16:creationId xmlns:a16="http://schemas.microsoft.com/office/drawing/2014/main" id="{E988422E-460D-4EA3-8BAC-77825D93E451}"/>
              </a:ext>
            </a:extLst>
          </p:cNvPr>
          <p:cNvSpPr>
            <a:spLocks xmlns:a="http://schemas.openxmlformats.org/drawingml/2006/main" noGrp="1"/>
          </p:cNvSpPr>
          <p:nvPr/>
        </p:nvSpPr>
        <p:spPr>
          <a:xfrm xmlns:a="http://schemas.openxmlformats.org/drawingml/2006/main" rot="0">
            <a:off x="723900" y="57626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月10,000時間では50〜150TBに達するストレージも、Nextremerへ格納することで自社負担を抑えられる。</a:t>
            </a:r>
          </a:p>
        </p:txBody>
      </p:sp>
    </p:spTree>
    <p:extLst>
      <p:ext uri="{BB962C8B-B14F-4D97-AF65-F5344CB8AC3E}">
        <p14:creationId xmlns:p14="http://schemas.microsoft.com/office/powerpoint/2010/main" val="1423570347"/>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5205A63-0FC4-472A-BC00-6025EB9DEBC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6697ACF-9267-4F27-8747-5D61314661C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CCBFDFE1-0744-445F-AF81-82DC2AAD26C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7C981BE-C06D-4456-A6F3-F34FE6A372F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C8EAFDFD-4F86-45F5-8F66-25998D04EDCA}"/>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森｜共同創業者</a:t>
            </a:r>
          </a:p>
        </p:txBody>
      </p:sp>
      <p:sp>
        <p:nvSpPr>
          <p:cNvPr id="6" name="">
            <a:extLst xmlns:a="http://schemas.openxmlformats.org/drawingml/2006/main">
              <a:ext uri="{FF2B5EF4-FFF2-40B4-BE49-F238E27FC236}">
                <a16:creationId xmlns:a16="http://schemas.microsoft.com/office/drawing/2014/main" id="{0AB089D6-F08C-460E-B3FD-F8F88867179D}"/>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7" name="">
            <a:extLst xmlns:a="http://schemas.openxmlformats.org/drawingml/2006/main">
              <a:ext uri="{FF2B5EF4-FFF2-40B4-BE49-F238E27FC236}">
                <a16:creationId xmlns:a16="http://schemas.microsoft.com/office/drawing/2014/main" id="{E565FB2E-694D-4F9E-9027-02FE9AE8094B}"/>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AD2887F-ED2A-4BC3-94D2-C203C1FDB7B4}"/>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河野｜共同創業者</a:t>
            </a:r>
          </a:p>
        </p:txBody>
      </p:sp>
      <p:sp>
        <p:nvSpPr>
          <p:cNvPr id="9" name="">
            <a:extLst xmlns:a="http://schemas.openxmlformats.org/drawingml/2006/main">
              <a:ext uri="{FF2B5EF4-FFF2-40B4-BE49-F238E27FC236}">
                <a16:creationId xmlns:a16="http://schemas.microsoft.com/office/drawing/2014/main" id="{7EFAAF59-0E95-4D7D-9028-460C722EC96A}"/>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神戸大学大学院情報学研究科の院生。フィジカルAIの中でもシミュレーション領域を研究しながら、事業の立ち上げに参画。</a:t>
            </a:r>
          </a:p>
        </p:txBody>
      </p:sp>
      <p:sp>
        <p:nvSpPr>
          <p:cNvPr id="10" name="">
            <a:extLst xmlns:a="http://schemas.openxmlformats.org/drawingml/2006/main">
              <a:ext uri="{FF2B5EF4-FFF2-40B4-BE49-F238E27FC236}">
                <a16:creationId xmlns:a16="http://schemas.microsoft.com/office/drawing/2014/main" id="{EEA54726-AFFF-4AA4-8DBD-DACF43E4E6C2}"/>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15CD15B-B779-4302-BE54-E90BBFFD79E4}"/>
              </a:ext>
            </a:extLst>
          </p:cNvPr>
          <p:cNvSpPr>
            <a:spLocks xmlns:a="http://schemas.openxmlformats.org/drawingml/2006/main" noGrp="1"/>
          </p:cNvSpPr>
          <p:nvPr/>
        </p:nvSpPr>
        <p:spPr>
          <a:xfrm xmlns:a="http://schemas.openxmlformats.org/drawingml/2006/main" rot="0">
            <a:off x="723900" y="3667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川島｜現場提供者</a:t>
            </a:r>
          </a:p>
        </p:txBody>
      </p:sp>
      <p:sp>
        <p:nvSpPr>
          <p:cNvPr id="12" name="">
            <a:extLst xmlns:a="http://schemas.openxmlformats.org/drawingml/2006/main">
              <a:ext uri="{FF2B5EF4-FFF2-40B4-BE49-F238E27FC236}">
                <a16:creationId xmlns:a16="http://schemas.microsoft.com/office/drawing/2014/main" id="{5AD03308-158C-4CC2-9865-59A1D872D760}"/>
              </a:ext>
            </a:extLst>
          </p:cNvPr>
          <p:cNvSpPr>
            <a:spLocks xmlns:a="http://schemas.openxmlformats.org/drawingml/2006/main" noGrp="1"/>
          </p:cNvSpPr>
          <p:nvPr/>
        </p:nvSpPr>
        <p:spPr>
          <a:xfrm xmlns:a="http://schemas.openxmlformats.org/drawingml/2006/main" rot="0">
            <a:off x="3714750" y="3648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飛び込み営業を通じて出会ったベーカリー経営者。撮影先の拡大に協力し、保有するベーカリーで撮影テストを自由に行う許可を提供。</a:t>
            </a:r>
          </a:p>
        </p:txBody>
      </p:sp>
      <p:sp>
        <p:nvSpPr>
          <p:cNvPr id="13" name="">
            <a:extLst xmlns:a="http://schemas.openxmlformats.org/drawingml/2006/main">
              <a:ext uri="{FF2B5EF4-FFF2-40B4-BE49-F238E27FC236}">
                <a16:creationId xmlns:a16="http://schemas.microsoft.com/office/drawing/2014/main" id="{6CD1C6D4-FBC3-4262-BB5E-A8C32E2DB189}"/>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A5A6650-F765-4013-A1E2-78406708EA5C}"/>
              </a:ext>
            </a:extLst>
          </p:cNvPr>
          <p:cNvSpPr>
            <a:spLocks xmlns:a="http://schemas.openxmlformats.org/drawingml/2006/main" noGrp="1"/>
          </p:cNvSpPr>
          <p:nvPr/>
        </p:nvSpPr>
        <p:spPr>
          <a:xfrm xmlns:a="http://schemas.openxmlformats.org/drawingml/2006/main" rot="0">
            <a:off x="723900" y="4619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大崎｜事業支援</a:t>
            </a:r>
          </a:p>
        </p:txBody>
      </p:sp>
      <p:sp>
        <p:nvSpPr>
          <p:cNvPr id="15" name="">
            <a:extLst xmlns:a="http://schemas.openxmlformats.org/drawingml/2006/main">
              <a:ext uri="{FF2B5EF4-FFF2-40B4-BE49-F238E27FC236}">
                <a16:creationId xmlns:a16="http://schemas.microsoft.com/office/drawing/2014/main" id="{C35FA233-2471-4C3B-BBC3-2C9A26DDB19C}"/>
              </a:ext>
            </a:extLst>
          </p:cNvPr>
          <p:cNvSpPr>
            <a:spLocks xmlns:a="http://schemas.openxmlformats.org/drawingml/2006/main" noGrp="1"/>
          </p:cNvSpPr>
          <p:nvPr/>
        </p:nvSpPr>
        <p:spPr>
          <a:xfrm xmlns:a="http://schemas.openxmlformats.org/drawingml/2006/main" rot="0">
            <a:off x="3714750" y="4600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三菱UFJ銀行、関西スーパーマーケット常務取締役・管理本部長を経て、会社立ち上げ、契約・合意書、小売・製造のネットワークを使った現場開拓を支援。</a:t>
            </a:r>
          </a:p>
        </p:txBody>
      </p:sp>
    </p:spTree>
    <p:extLst>
      <p:ext uri="{BB962C8B-B14F-4D97-AF65-F5344CB8AC3E}">
        <p14:creationId xmlns:p14="http://schemas.microsoft.com/office/powerpoint/2010/main" val="1398087758"/>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DFAC455-5454-4289-938D-88D4C05A3A0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C18DAB-AF3E-4D71-8A1C-ADB2C2E543E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F4F9C858-EBDE-4527-8DDC-96D42C9CE94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9FD8A47-FE3A-4DF5-8300-3B6F6896AF4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541536a4e334ee2"/>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7A9EBCD-77B1-4AC0-B91D-330B210B0EAD}"/>
              </a:ext>
            </a:extLst>
          </p:cNvPr>
          <p:cNvSpPr>
            <a:spLocks xmlns:a="http://schemas.openxmlformats.org/drawingml/2006/main" noGrp="1"/>
          </p:cNvSpPr>
          <p:nvPr/>
        </p:nvSpPr>
        <p:spPr>
          <a:xfrm xmlns:a="http://schemas.openxmlformats.org/drawingml/2006/main" rot="0">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FFF90AEF-65C3-41CD-A143-0E261C559218}"/>
              </a:ext>
            </a:extLst>
          </p:cNvPr>
          <p:cNvSpPr>
            <a:spLocks xmlns:a="http://schemas.openxmlformats.org/drawingml/2006/main" noGrp="1"/>
          </p:cNvSpPr>
          <p:nvPr/>
        </p:nvSpPr>
        <p:spPr>
          <a:xfrm xmlns:a="http://schemas.openxmlformats.org/drawingml/2006/main" rot="0">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59BE3731-6818-457A-A79F-DEE022FB3180}"/>
              </a:ext>
            </a:extLst>
          </p:cNvPr>
          <p:cNvSpPr>
            <a:spLocks xmlns:a="http://schemas.openxmlformats.org/drawingml/2006/main" noGrp="1"/>
          </p:cNvSpPr>
          <p:nvPr/>
        </p:nvSpPr>
        <p:spPr>
          <a:xfrm xmlns:a="http://schemas.openxmlformats.org/drawingml/2006/main" rot="0">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3890a5f2efaf46cf"/>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B5FF967A-AC3B-43E8-86C4-8B10712773F8}"/>
              </a:ext>
            </a:extLst>
          </p:cNvPr>
          <p:cNvSpPr>
            <a:spLocks xmlns:a="http://schemas.openxmlformats.org/drawingml/2006/main" noGrp="1"/>
          </p:cNvSpPr>
          <p:nvPr/>
        </p:nvSpPr>
        <p:spPr>
          <a:xfrm xmlns:a="http://schemas.openxmlformats.org/drawingml/2006/main" rot="0">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F6E647AA-BAF3-43C1-998F-45CA0541C6C8}"/>
              </a:ext>
            </a:extLst>
          </p:cNvPr>
          <p:cNvSpPr>
            <a:spLocks xmlns:a="http://schemas.openxmlformats.org/drawingml/2006/main" noGrp="1"/>
          </p:cNvSpPr>
          <p:nvPr/>
        </p:nvSpPr>
        <p:spPr>
          <a:xfrm xmlns:a="http://schemas.openxmlformats.org/drawingml/2006/main" rot="0">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帽子</a:t>
            </a:r>
          </a:p>
        </p:txBody>
      </p:sp>
      <p:sp>
        <p:nvSpPr>
          <p:cNvPr id="12" name="">
            <a:extLst xmlns:a="http://schemas.openxmlformats.org/drawingml/2006/main">
              <a:ext uri="{FF2B5EF4-FFF2-40B4-BE49-F238E27FC236}">
                <a16:creationId xmlns:a16="http://schemas.microsoft.com/office/drawing/2014/main" id="{D44651B2-06F5-4FED-A375-0B08B74B43EB}"/>
              </a:ext>
            </a:extLst>
          </p:cNvPr>
          <p:cNvSpPr>
            <a:spLocks xmlns:a="http://schemas.openxmlformats.org/drawingml/2006/main" noGrp="1"/>
          </p:cNvSpPr>
          <p:nvPr/>
        </p:nvSpPr>
        <p:spPr>
          <a:xfrm xmlns:a="http://schemas.openxmlformats.org/drawingml/2006/main" rot="0">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56e9064ddd664dff"/>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2F7E6ACB-2B1C-4F25-8BE6-1D570B72A795}"/>
              </a:ext>
            </a:extLst>
          </p:cNvPr>
          <p:cNvSpPr>
            <a:spLocks xmlns:a="http://schemas.openxmlformats.org/drawingml/2006/main" noGrp="1"/>
          </p:cNvSpPr>
          <p:nvPr/>
        </p:nvSpPr>
        <p:spPr>
          <a:xfrm xmlns:a="http://schemas.openxmlformats.org/drawingml/2006/main" rot="0">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2F4B8709-4CC6-47E3-AA7C-57720F50A564}"/>
              </a:ext>
            </a:extLst>
          </p:cNvPr>
          <p:cNvSpPr>
            <a:spLocks xmlns:a="http://schemas.openxmlformats.org/drawingml/2006/main" noGrp="1"/>
          </p:cNvSpPr>
          <p:nvPr/>
        </p:nvSpPr>
        <p:spPr>
          <a:xfrm xmlns:a="http://schemas.openxmlformats.org/drawingml/2006/main" rot="0">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メガネ</a:t>
            </a:r>
          </a:p>
        </p:txBody>
      </p:sp>
      <p:sp>
        <p:nvSpPr>
          <p:cNvPr id="16" name="">
            <a:extLst xmlns:a="http://schemas.openxmlformats.org/drawingml/2006/main">
              <a:ext uri="{FF2B5EF4-FFF2-40B4-BE49-F238E27FC236}">
                <a16:creationId xmlns:a16="http://schemas.microsoft.com/office/drawing/2014/main" id="{588C8E54-84E6-476D-8F95-6C89A48EF1BC}"/>
              </a:ext>
            </a:extLst>
          </p:cNvPr>
          <p:cNvSpPr>
            <a:spLocks xmlns:a="http://schemas.openxmlformats.org/drawingml/2006/main" noGrp="1"/>
          </p:cNvSpPr>
          <p:nvPr/>
        </p:nvSpPr>
        <p:spPr>
          <a:xfrm xmlns:a="http://schemas.openxmlformats.org/drawingml/2006/main" rot="0">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2A010165-D5E4-4AC5-9BF5-6034E925591A}"/>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DC9106E-43D9-405D-820E-92E523441BEF}"/>
              </a:ext>
            </a:extLst>
          </p:cNvPr>
          <p:cNvSpPr>
            <a:spLocks xmlns:a="http://schemas.openxmlformats.org/drawingml/2006/main" noGrp="1"/>
          </p:cNvSpPr>
          <p:nvPr/>
        </p:nvSpPr>
        <p:spPr>
          <a:xfrm xmlns:a="http://schemas.openxmlformats.org/drawingml/2006/main" rot="0">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479248694"/>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EA5E59C-E557-4798-89A2-EC4EE7F22AA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79D2A7-FB9D-4A6E-87F7-E255FC316CB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ユニットエコノミクス｜前提</a:t>
            </a:r>
          </a:p>
        </p:txBody>
      </p:sp>
      <p:sp>
        <p:nvSpPr>
          <p:cNvPr id="3" name="">
            <a:extLst xmlns:a="http://schemas.openxmlformats.org/drawingml/2006/main">
              <a:ext uri="{FF2B5EF4-FFF2-40B4-BE49-F238E27FC236}">
                <a16:creationId xmlns:a16="http://schemas.microsoft.com/office/drawing/2014/main" id="{6F8267F8-34AC-43B7-8FCD-D4C15CDF40D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F516169-17F5-49AC-BA9C-223E23ACD2B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2" name=""/>
          <p:cNvGraphicFramePr/>
          <p:nvPr/>
        </p:nvGraphicFramePr>
        <p:xfrm>
          <a:off xmlns:a="http://schemas.openxmlformats.org/drawingml/2006/main" x="723900" y="1857375"/>
          <a:ext xmlns:a="http://schemas.openxmlformats.org/drawingml/2006/main" cx="10572750" cy="3238500"/>
        </p:xfrm>
        <a:graphic xmlns:a="http://schemas.openxmlformats.org/drawingml/2006/main">
          <a:graphicData uri="http://schemas.openxmlformats.org/drawingml/2006/table">
            <a:tbl>
              <a:tblPr/>
              <a:tblGrid>
                <a:gridCol w="3429000"/>
                <a:gridCol w="4476750"/>
                <a:gridCol w="2667000"/>
              </a:tblGrid>
              <a:tr h="539750">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1時間あたり</a:t>
                      </a:r>
                    </a:p>
                  </a:txBody>
                  <a:tcPr marL="91440" marR="91440" marT="45720" marB="45720">
                    <a:solidFill>
                      <a:srgbClr val="25333A"/>
                    </a:solidFill>
                  </a:tcPr>
                </a:tc>
              </a:tr>
              <a:tr h="539750">
                <a:tc>
                  <a:txBody>
                    <a:bodyPr/>
                    <a:lstStyle/>
                    <a:p>
                      <a:r>
                        <a:rPr sz="1350"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1,600円/h（下限）</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8万円/台、10か月償却</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約73円</a:t>
                      </a:r>
                    </a:p>
                  </a:txBody>
                  <a:tcPr marL="91440" marR="91440" marT="45720" marB="45720">
                    <a:solidFill>
                      <a:srgbClr val="FFFFFF"/>
                    </a:solidFill>
                  </a:tcPr>
                </a:tc>
              </a:tr>
              <a:tr h="539750">
                <a:tc>
                  <a:txBody>
                    <a:bodyPr/>
                    <a:lstStyle/>
                    <a:p>
                      <a:r>
                        <a:rPr sz="1350" b="1">
                          <a:solidFill>
                            <a:srgbClr val="15191B"/>
                          </a:solidFill>
                          <a:latin typeface="Hiragino Sans"/>
                          <a:ea typeface="Hiragino Sans"/>
                          <a:cs typeface="Hiragino Sans"/>
                        </a:rPr>
                        <a:t>デバイス償却後</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C5FF6FCB-9135-4B25-B2FA-2EE52E701C1C}"/>
              </a:ext>
            </a:extLst>
          </p:cNvPr>
          <p:cNvSpPr>
            <a:spLocks xmlns:a="http://schemas.openxmlformats.org/drawingml/2006/main" noGrp="1"/>
          </p:cNvSpPr>
          <p:nvPr/>
        </p:nvSpPr>
        <p:spPr>
          <a:xfrm xmlns:a="http://schemas.openxmlformats.org/drawingml/2006/main" rot="0">
            <a:off x="723900" y="5381625"/>
            <a:ext cx="781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110時間/月。流通総額に対するデバイス償却後の比率は約45.5%。</a:t>
            </a:r>
          </a:p>
        </p:txBody>
      </p:sp>
      <p:sp>
        <p:nvSpPr>
          <p:cNvPr id="7" name="">
            <a:extLst xmlns:a="http://schemas.openxmlformats.org/drawingml/2006/main">
              <a:ext uri="{FF2B5EF4-FFF2-40B4-BE49-F238E27FC236}">
                <a16:creationId xmlns:a16="http://schemas.microsoft.com/office/drawing/2014/main" id="{41F11554-9772-48F4-9114-C10DD4DA7494}"/>
              </a:ext>
            </a:extLst>
          </p:cNvPr>
          <p:cNvSpPr>
            <a:spLocks xmlns:a="http://schemas.openxmlformats.org/drawingml/2006/main" noGrp="1"/>
          </p:cNvSpPr>
          <p:nvPr/>
        </p:nvSpPr>
        <p:spPr>
          <a:xfrm xmlns:a="http://schemas.openxmlformats.org/drawingml/2006/main" rot="0">
            <a:off x="723900" y="6048375"/>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現場開拓・運用、人件費、法務、破損・紛失、転送費はここに含めていない。</a:t>
            </a:r>
          </a:p>
        </p:txBody>
      </p:sp>
    </p:spTree>
    <p:extLst>
      <p:ext uri="{BB962C8B-B14F-4D97-AF65-F5344CB8AC3E}">
        <p14:creationId xmlns:p14="http://schemas.microsoft.com/office/powerpoint/2010/main" val="559132892"/>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9242EB7-34D1-4F6A-9341-A4D3217C891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F4FC864-4CF0-46B1-8DDC-1B758B5C77C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スケール別PL</a:t>
            </a:r>
          </a:p>
        </p:txBody>
      </p:sp>
      <p:sp>
        <p:nvSpPr>
          <p:cNvPr id="3" name="">
            <a:extLst xmlns:a="http://schemas.openxmlformats.org/drawingml/2006/main">
              <a:ext uri="{FF2B5EF4-FFF2-40B4-BE49-F238E27FC236}">
                <a16:creationId xmlns:a16="http://schemas.microsoft.com/office/drawing/2014/main" id="{2B908069-7D5F-43B4-8FBF-C7ABA07A3A7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461E59-9CC0-47FB-87F9-03FF81CD1B4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809750"/>
          <a:ext xmlns:a="http://schemas.openxmlformats.org/drawingml/2006/main" cx="10572750" cy="3429000"/>
        </p:xfrm>
        <a:graphic xmlns:a="http://schemas.openxmlformats.org/drawingml/2006/main">
          <a:graphicData uri="http://schemas.openxmlformats.org/drawingml/2006/table">
            <a:tbl>
              <a:tblPr/>
              <a:tblGrid>
                <a:gridCol w="3238500"/>
                <a:gridCol w="2286000"/>
                <a:gridCol w="2286000"/>
                <a:gridCol w="2762250"/>
              </a:tblGrid>
              <a:tr h="489857">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89857">
                <a:tc>
                  <a:txBody>
                    <a:bodyPr/>
                    <a:lstStyle/>
                    <a:p>
                      <a:r>
                        <a:rPr sz="1275"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91台</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727.2万円</a:t>
                      </a:r>
                    </a:p>
                  </a:txBody>
                  <a:tcPr marL="91440" marR="91440" marT="45720" marB="45720">
                    <a:solidFill>
                      <a:srgbClr val="DCE8EF"/>
                    </a:solidFill>
                  </a:tcPr>
                </a:tc>
              </a:tr>
              <a:tr h="489857">
                <a:tc>
                  <a:txBody>
                    <a:bodyPr/>
                    <a:lstStyle/>
                    <a:p>
                      <a:r>
                        <a:rPr sz="1275"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49C955D-89CB-43C8-AD4C-789FC5D40415}"/>
              </a:ext>
            </a:extLst>
          </p:cNvPr>
          <p:cNvSpPr>
            <a:spLocks xmlns:a="http://schemas.openxmlformats.org/drawingml/2006/main" noGrp="1"/>
          </p:cNvSpPr>
          <p:nvPr/>
        </p:nvSpPr>
        <p:spPr>
          <a:xfrm xmlns:a="http://schemas.openxmlformats.org/drawingml/2006/main" rot="0">
            <a:off x="723900" y="55245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月10,000時間を12か月継続：流通総額1.92億円、会社取り分9,600万円、デバイス償却後約8,726万円。</a:t>
            </a:r>
          </a:p>
        </p:txBody>
      </p:sp>
      <p:sp>
        <p:nvSpPr>
          <p:cNvPr id="7" name="">
            <a:extLst xmlns:a="http://schemas.openxmlformats.org/drawingml/2006/main">
              <a:ext uri="{FF2B5EF4-FFF2-40B4-BE49-F238E27FC236}">
                <a16:creationId xmlns:a16="http://schemas.microsoft.com/office/drawing/2014/main" id="{12DC47B1-8B89-4890-BDF5-4413C646D09E}"/>
              </a:ext>
            </a:extLst>
          </p:cNvPr>
          <p:cNvSpPr>
            <a:spLocks xmlns:a="http://schemas.openxmlformats.org/drawingml/2006/main" noGrp="1"/>
          </p:cNvSpPr>
          <p:nvPr/>
        </p:nvSpPr>
        <p:spPr>
          <a:xfrm xmlns:a="http://schemas.openxmlformats.org/drawingml/2006/main" rot="0">
            <a:off x="723900" y="60007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デバイス台数と売上は収集時間に比例するため、デバイスコスト比率はスケールしても大きく変わらない。</a:t>
            </a:r>
          </a:p>
        </p:txBody>
      </p:sp>
    </p:spTree>
    <p:extLst>
      <p:ext uri="{BB962C8B-B14F-4D97-AF65-F5344CB8AC3E}">
        <p14:creationId xmlns:p14="http://schemas.microsoft.com/office/powerpoint/2010/main" val="1869033892"/>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9D60A8D-258C-471B-A928-79CD7476E4A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110CC9-C27E-41D5-ADFC-66C5C1C5B56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このモデル最大の武器：データのストック性</a:t>
            </a:r>
          </a:p>
        </p:txBody>
      </p:sp>
      <p:sp>
        <p:nvSpPr>
          <p:cNvPr id="3" name="">
            <a:extLst xmlns:a="http://schemas.openxmlformats.org/drawingml/2006/main">
              <a:ext uri="{FF2B5EF4-FFF2-40B4-BE49-F238E27FC236}">
                <a16:creationId xmlns:a16="http://schemas.microsoft.com/office/drawing/2014/main" id="{1E22141F-A91F-436E-87BF-33A630B294D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E61AB1F-AF96-4C56-A280-6A54AE7C27CA}"/>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87FD0933-0E1A-4185-8B85-2735FA88A203}"/>
              </a:ext>
            </a:extLst>
          </p:cNvPr>
          <p:cNvSpPr>
            <a:spLocks xmlns:a="http://schemas.openxmlformats.org/drawingml/2006/main" noGrp="1"/>
          </p:cNvSpPr>
          <p:nvPr/>
        </p:nvSpPr>
        <p:spPr>
          <a:xfrm xmlns:a="http://schemas.openxmlformats.org/drawingml/2006/main" rot="0">
            <a:off x="723900" y="195262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データは在庫として積み上がり、過去に収集した分も売り続けられる。月ごとのフロー売上に加えて、累積時間がそのまま資産として蓄積される。</a:t>
            </a:r>
          </a:p>
        </p:txBody>
      </p:sp>
      <p:graphicFrame>
        <p:nvGraphicFramePr>
          <p:cNvPr id="13" name=""/>
          <p:cNvGraphicFramePr/>
          <p:nvPr/>
        </p:nvGraphicFramePr>
        <p:xfrm>
          <a:off xmlns:a="http://schemas.openxmlformats.org/drawingml/2006/main" x="723900" y="3190875"/>
          <a:ext xmlns:a="http://schemas.openxmlformats.org/drawingml/2006/main" cx="10572750" cy="1619250"/>
        </p:xfrm>
        <a:graphic xmlns:a="http://schemas.openxmlformats.org/drawingml/2006/main">
          <a:graphicData uri="http://schemas.openxmlformats.org/drawingml/2006/table">
            <a:tbl>
              <a:tblPr/>
              <a:tblGrid>
                <a:gridCol w="3810000"/>
                <a:gridCol w="2190750"/>
                <a:gridCol w="2190750"/>
                <a:gridCol w="2381250"/>
              </a:tblGrid>
              <a:tr h="539750">
                <a:tc>
                  <a:txBody>
                    <a:bodyPr/>
                    <a:lstStyle/>
                    <a:p>
                      <a:r>
                        <a:rPr sz="1125" b="1">
                          <a:solidFill>
                            <a:srgbClr val="FFFFFF"/>
                          </a:solidFill>
                          <a:latin typeface="Hiragino Sans"/>
                          <a:ea typeface="Hiragino Sans"/>
                          <a:cs typeface="Hiragino Sans"/>
                        </a:rPr>
                        <a:t>月10,000時間での平均販売回数</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1回</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2回</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3回</a:t>
                      </a:r>
                    </a:p>
                  </a:txBody>
                  <a:tcPr marL="91440" marR="91440" marT="45720" marB="45720">
                    <a:solidFill>
                      <a:srgbClr val="25333A"/>
                    </a:solidFill>
                  </a:tcPr>
                </a:tc>
              </a:tr>
              <a:tr h="539750">
                <a:tc>
                  <a:txBody>
                    <a:bodyPr/>
                    <a:lstStyle/>
                    <a:p>
                      <a:r>
                        <a:rPr sz="1350" b="1">
                          <a:solidFill>
                            <a:srgbClr val="15191B"/>
                          </a:solidFill>
                          <a:latin typeface="Hiragino Sans"/>
                          <a:ea typeface="Hiragino Sans"/>
                          <a:cs typeface="Hiragino Sans"/>
                        </a:rPr>
                        <a:t>月間の会社取り分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2,400万円</a:t>
                      </a:r>
                    </a:p>
                  </a:txBody>
                  <a:tcPr marL="91440" marR="91440" marT="45720" marB="45720">
                    <a:solidFill>
                      <a:srgbClr val="FFFFFF"/>
                    </a:solidFill>
                  </a:tcPr>
                </a:tc>
              </a:tr>
              <a:tr h="539750">
                <a:tc>
                  <a:txBody>
                    <a:bodyPr/>
                    <a:lstStyle/>
                    <a:p>
                      <a:r>
                        <a:rPr sz="1350" b="1">
                          <a:solidFill>
                            <a:srgbClr val="15191B"/>
                          </a:solidFill>
                          <a:latin typeface="Hiragino Sans"/>
                          <a:ea typeface="Hiragino Sans"/>
                          <a:cs typeface="Hiragino Sans"/>
                        </a:rPr>
                        <a:t>12か月の単純年換算</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9,600万円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1.92億円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2.88億円</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6310FF8-A9D2-4E6A-9CBC-698BB265D1B2}"/>
              </a:ext>
            </a:extLst>
          </p:cNvPr>
          <p:cNvSpPr>
            <a:spLocks xmlns:a="http://schemas.openxmlformats.org/drawingml/2006/main" noGrp="1"/>
          </p:cNvSpPr>
          <p:nvPr/>
        </p:nvSpPr>
        <p:spPr>
          <a:xfrm xmlns:a="http://schemas.openxmlformats.org/drawingml/2006/main" rot="0">
            <a:off x="723900" y="5143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15191B"/>
                </a:solidFill>
                <a:latin typeface="Hiragino Sans"/>
                <a:ea typeface="Hiragino Sans"/>
                <a:cs typeface="Hiragino Sans"/>
              </a:defRPr>
            </a:pPr>
            <a:r>
              <a:rPr sz="1425" b="0">
                <a:solidFill>
                  <a:srgbClr val="15191B"/>
                </a:solidFill>
                <a:latin typeface="Hiragino Sans"/>
                <a:ea typeface="Hiragino Sans"/>
                <a:cs typeface="Hiragino Sans"/>
              </a:rPr>
              <a:t>同一データを複数のバイヤーへ販売できる可能性がある。Nextremer経由でアノテーション付きデータとして高付加価値化される場合、単価が上がる可能性もある。</a:t>
            </a:r>
          </a:p>
        </p:txBody>
      </p:sp>
    </p:spTree>
    <p:extLst>
      <p:ext uri="{BB962C8B-B14F-4D97-AF65-F5344CB8AC3E}">
        <p14:creationId xmlns:p14="http://schemas.microsoft.com/office/powerpoint/2010/main" val="647378640"/>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7A34C96-19AC-4B07-B398-192539CD86C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97D449F-11AB-46BB-9DCE-F1F0E2DFC49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デバイスコスト以外に想定されるコスト</a:t>
            </a:r>
          </a:p>
        </p:txBody>
      </p:sp>
      <p:sp>
        <p:nvSpPr>
          <p:cNvPr id="3" name="">
            <a:extLst xmlns:a="http://schemas.openxmlformats.org/drawingml/2006/main">
              <a:ext uri="{FF2B5EF4-FFF2-40B4-BE49-F238E27FC236}">
                <a16:creationId xmlns:a16="http://schemas.microsoft.com/office/drawing/2014/main" id="{53D73380-1AD7-417C-9F4F-6B080D8ECE3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58366D4-E544-4301-B3A7-9103DB87C254}"/>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A24E6D8D-6860-4753-852F-2FB32509ACEB}"/>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ストレージ・転送費</a:t>
            </a:r>
          </a:p>
        </p:txBody>
      </p:sp>
      <p:sp>
        <p:nvSpPr>
          <p:cNvPr id="6" name="">
            <a:extLst xmlns:a="http://schemas.openxmlformats.org/drawingml/2006/main">
              <a:ext uri="{FF2B5EF4-FFF2-40B4-BE49-F238E27FC236}">
                <a16:creationId xmlns:a16="http://schemas.microsoft.com/office/drawing/2014/main" id="{720DDC3A-BAB9-4938-9A68-E98A14CCA8CA}"/>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A44CA6AC-361A-47C2-9E5F-35315892496C}"/>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08D593C-BD7D-4BA9-A380-613D9B05F81A}"/>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44A72CE0-AFB5-45AD-A310-8595C33B6D3F}"/>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1237D104-33A0-4AFC-A98E-4D16A27707F4}"/>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9D6EDF0-92B2-41D3-8F45-1D3F814495C3}"/>
              </a:ext>
            </a:extLst>
          </p:cNvPr>
          <p:cNvSpPr>
            <a:spLocks xmlns:a="http://schemas.openxmlformats.org/drawingml/2006/main" noGrp="1"/>
          </p:cNvSpPr>
          <p:nvPr/>
        </p:nvSpPr>
        <p:spPr>
          <a:xfrm xmlns:a="http://schemas.openxmlformats.org/drawingml/2006/main" rot="0">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D9748794-CA0C-4076-94DB-79CBF67A141B}"/>
              </a:ext>
            </a:extLst>
          </p:cNvPr>
          <p:cNvSpPr>
            <a:spLocks xmlns:a="http://schemas.openxmlformats.org/drawingml/2006/main" noGrp="1"/>
          </p:cNvSpPr>
          <p:nvPr/>
        </p:nvSpPr>
        <p:spPr>
          <a:xfrm xmlns:a="http://schemas.openxmlformats.org/drawingml/2006/main" rot="0">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A6581661-14EB-4B69-B3F2-7BFD713B83C2}"/>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2F01851-6BE2-4BD4-8CCA-AAFA221616FB}"/>
              </a:ext>
            </a:extLst>
          </p:cNvPr>
          <p:cNvSpPr>
            <a:spLocks xmlns:a="http://schemas.openxmlformats.org/drawingml/2006/main" noGrp="1"/>
          </p:cNvSpPr>
          <p:nvPr/>
        </p:nvSpPr>
        <p:spPr>
          <a:xfrm xmlns:a="http://schemas.openxmlformats.org/drawingml/2006/main" rot="0">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C8EAC74B-13FD-4FD7-9F8F-A879ED1537CB}"/>
              </a:ext>
            </a:extLst>
          </p:cNvPr>
          <p:cNvSpPr>
            <a:spLocks xmlns:a="http://schemas.openxmlformats.org/drawingml/2006/main" noGrp="1"/>
          </p:cNvSpPr>
          <p:nvPr/>
        </p:nvSpPr>
        <p:spPr>
          <a:xfrm xmlns:a="http://schemas.openxmlformats.org/drawingml/2006/main" rot="0">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1178815006"/>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834E9EF-0438-47E3-A613-9314EE6BE64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3123874-4A18-4EEE-8326-A7BD2CD585E5}"/>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スケール時のボトルネック</a:t>
            </a:r>
          </a:p>
        </p:txBody>
      </p:sp>
      <p:sp>
        <p:nvSpPr>
          <p:cNvPr id="3" name="">
            <a:extLst xmlns:a="http://schemas.openxmlformats.org/drawingml/2006/main">
              <a:ext uri="{FF2B5EF4-FFF2-40B4-BE49-F238E27FC236}">
                <a16:creationId xmlns:a16="http://schemas.microsoft.com/office/drawing/2014/main" id="{1CF90BC6-255E-48EC-A2D5-7C30CC43C33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D706AF1-7037-4AD6-9323-C5A229965D2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9076282F-134E-4DB4-B892-C9085D8DE1DB}"/>
              </a:ext>
            </a:extLst>
          </p:cNvPr>
          <p:cNvSpPr>
            <a:spLocks xmlns:a="http://schemas.openxmlformats.org/drawingml/2006/main" noGrp="1"/>
          </p:cNvSpPr>
          <p:nvPr/>
        </p:nvSpPr>
        <p:spPr>
          <a:xfrm xmlns:a="http://schemas.openxmlformats.org/drawingml/2006/main" rot="0">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956F263F-E0E7-4AAC-9091-D405C113C2CB}"/>
              </a:ext>
            </a:extLst>
          </p:cNvPr>
          <p:cNvSpPr>
            <a:spLocks xmlns:a="http://schemas.openxmlformats.org/drawingml/2006/main" noGrp="1"/>
          </p:cNvSpPr>
          <p:nvPr/>
        </p:nvSpPr>
        <p:spPr>
          <a:xfrm xmlns:a="http://schemas.openxmlformats.org/drawingml/2006/main" rot="0">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EABB7C0E-4536-4B61-8A3E-F40D95DCC984}"/>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9B8F030-AFEF-4701-9DF9-FB1CA6803A7F}"/>
              </a:ext>
            </a:extLst>
          </p:cNvPr>
          <p:cNvSpPr>
            <a:spLocks xmlns:a="http://schemas.openxmlformats.org/drawingml/2006/main" noGrp="1"/>
          </p:cNvSpPr>
          <p:nvPr/>
        </p:nvSpPr>
        <p:spPr>
          <a:xfrm xmlns:a="http://schemas.openxmlformats.org/drawingml/2006/main" rot="0">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F1663DA4-6C6D-4032-9CA5-7F4513DDF3F9}"/>
              </a:ext>
            </a:extLst>
          </p:cNvPr>
          <p:cNvSpPr>
            <a:spLocks xmlns:a="http://schemas.openxmlformats.org/drawingml/2006/main" noGrp="1"/>
          </p:cNvSpPr>
          <p:nvPr/>
        </p:nvSpPr>
        <p:spPr>
          <a:xfrm xmlns:a="http://schemas.openxmlformats.org/drawingml/2006/main" rot="0">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FEBA0C88-9935-4382-B2CB-F31C122123EC}"/>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A7D4341-7542-4ED3-BDE3-57E91A1B7088}"/>
              </a:ext>
            </a:extLst>
          </p:cNvPr>
          <p:cNvSpPr>
            <a:spLocks xmlns:a="http://schemas.openxmlformats.org/drawingml/2006/main" noGrp="1"/>
          </p:cNvSpPr>
          <p:nvPr/>
        </p:nvSpPr>
        <p:spPr>
          <a:xfrm xmlns:a="http://schemas.openxmlformats.org/drawingml/2006/main" rot="0">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1C78B7D9-0D86-4C51-97E0-83FDFB5EDB6A}"/>
              </a:ext>
            </a:extLst>
          </p:cNvPr>
          <p:cNvSpPr>
            <a:spLocks xmlns:a="http://schemas.openxmlformats.org/drawingml/2006/main" noGrp="1"/>
          </p:cNvSpPr>
          <p:nvPr/>
        </p:nvSpPr>
        <p:spPr>
          <a:xfrm xmlns:a="http://schemas.openxmlformats.org/drawingml/2006/main" rot="0">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2B747805-1683-45E3-9D5C-4FEF59FF606F}"/>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540848513"/>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02152A0-311B-47DA-A778-3085C7DBD88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D48250-7B66-44C3-B598-088D0D9BD0A6}"/>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332F2C37-20AE-4CE5-A61F-A00F855872A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04570C4-15B9-42EF-B641-217E5EF3008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0AD10A09-F279-4E98-8BA2-391F2C13250B}"/>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10月｜月間500時間</a:t>
            </a:r>
          </a:p>
        </p:txBody>
      </p:sp>
      <p:sp>
        <p:nvSpPr>
          <p:cNvPr id="6" name="">
            <a:extLst xmlns:a="http://schemas.openxmlformats.org/drawingml/2006/main">
              <a:ext uri="{FF2B5EF4-FFF2-40B4-BE49-F238E27FC236}">
                <a16:creationId xmlns:a16="http://schemas.microsoft.com/office/drawing/2014/main" id="{5175F276-68AB-46CA-88EA-81305AD2491D}"/>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飲食店のネットワークで月間500時間。Nextremerとの合意と格納開始。海外販売先へ再度提供を打診し、撮影デバイス設計で協働できる企業へアプローチ。</a:t>
            </a:r>
          </a:p>
        </p:txBody>
      </p:sp>
      <p:sp>
        <p:nvSpPr>
          <p:cNvPr id="7" name="">
            <a:extLst xmlns:a="http://schemas.openxmlformats.org/drawingml/2006/main">
              <a:ext uri="{FF2B5EF4-FFF2-40B4-BE49-F238E27FC236}">
                <a16:creationId xmlns:a16="http://schemas.microsoft.com/office/drawing/2014/main" id="{C036709E-A488-4866-AEDD-B7DD49C6642E}"/>
              </a:ext>
            </a:extLst>
          </p:cNvPr>
          <p:cNvSpPr>
            <a:spLocks xmlns:a="http://schemas.openxmlformats.org/drawingml/2006/main" noGrp="1"/>
          </p:cNvSpPr>
          <p:nvPr/>
        </p:nvSpPr>
        <p:spPr>
          <a:xfrm xmlns:a="http://schemas.openxmlformats.org/drawingml/2006/main">
            <a:off x="723900" y="2857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7E0410E-F677-46CC-9063-F706F3FBEE42}"/>
              </a:ext>
            </a:extLst>
          </p:cNvPr>
          <p:cNvSpPr>
            <a:spLocks xmlns:a="http://schemas.openxmlformats.org/drawingml/2006/main" noGrp="1"/>
          </p:cNvSpPr>
          <p:nvPr/>
        </p:nvSpPr>
        <p:spPr>
          <a:xfrm xmlns:a="http://schemas.openxmlformats.org/drawingml/2006/main" rot="0">
            <a:off x="723900" y="30480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11月｜500時間を維持</a:t>
            </a:r>
          </a:p>
        </p:txBody>
      </p:sp>
      <p:sp>
        <p:nvSpPr>
          <p:cNvPr id="9" name="">
            <a:extLst xmlns:a="http://schemas.openxmlformats.org/drawingml/2006/main">
              <a:ext uri="{FF2B5EF4-FFF2-40B4-BE49-F238E27FC236}">
                <a16:creationId xmlns:a16="http://schemas.microsoft.com/office/drawing/2014/main" id="{277674E7-3E25-4C48-B3AD-C436C27F0704}"/>
              </a:ext>
            </a:extLst>
          </p:cNvPr>
          <p:cNvSpPr>
            <a:spLocks xmlns:a="http://schemas.openxmlformats.org/drawingml/2006/main" noGrp="1"/>
          </p:cNvSpPr>
          <p:nvPr/>
        </p:nvSpPr>
        <p:spPr>
          <a:xfrm xmlns:a="http://schemas.openxmlformats.org/drawingml/2006/main" rot="0">
            <a:off x="3714750" y="30289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撮影中の現場を可能な限り訪問し、不都合や拡大時の懸念を洗い出す。合意フローとデータ取扱いを法務チェック。</a:t>
            </a:r>
          </a:p>
        </p:txBody>
      </p:sp>
      <p:sp>
        <p:nvSpPr>
          <p:cNvPr id="10" name="">
            <a:extLst xmlns:a="http://schemas.openxmlformats.org/drawingml/2006/main">
              <a:ext uri="{FF2B5EF4-FFF2-40B4-BE49-F238E27FC236}">
                <a16:creationId xmlns:a16="http://schemas.microsoft.com/office/drawing/2014/main" id="{ECDED384-37F9-4FA4-B9D6-479400C00B92}"/>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15CEEF0-8420-4412-9B74-92CEEAA24319}"/>
              </a:ext>
            </a:extLst>
          </p:cNvPr>
          <p:cNvSpPr>
            <a:spLocks xmlns:a="http://schemas.openxmlformats.org/drawingml/2006/main" noGrp="1"/>
          </p:cNvSpPr>
          <p:nvPr/>
        </p:nvSpPr>
        <p:spPr>
          <a:xfrm xmlns:a="http://schemas.openxmlformats.org/drawingml/2006/main" rot="0">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12月｜月間1,000時間</a:t>
            </a:r>
          </a:p>
        </p:txBody>
      </p:sp>
      <p:sp>
        <p:nvSpPr>
          <p:cNvPr id="12" name="">
            <a:extLst xmlns:a="http://schemas.openxmlformats.org/drawingml/2006/main">
              <a:ext uri="{FF2B5EF4-FFF2-40B4-BE49-F238E27FC236}">
                <a16:creationId xmlns:a16="http://schemas.microsoft.com/office/drawing/2014/main" id="{69E14465-652D-4BB5-A95B-F0377425308D}"/>
              </a:ext>
            </a:extLst>
          </p:cNvPr>
          <p:cNvSpPr>
            <a:spLocks xmlns:a="http://schemas.openxmlformats.org/drawingml/2006/main" noGrp="1"/>
          </p:cNvSpPr>
          <p:nvPr/>
        </p:nvSpPr>
        <p:spPr>
          <a:xfrm xmlns:a="http://schemas.openxmlformats.org/drawingml/2006/main" rot="0">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既存現場からの紹介、SNSのDM・投稿で日本中の撮影先へアプローチ。飲食・小売業界を中心に拡大する。</a:t>
            </a:r>
          </a:p>
        </p:txBody>
      </p:sp>
      <p:sp>
        <p:nvSpPr>
          <p:cNvPr id="13" name="">
            <a:extLst xmlns:a="http://schemas.openxmlformats.org/drawingml/2006/main">
              <a:ext uri="{FF2B5EF4-FFF2-40B4-BE49-F238E27FC236}">
                <a16:creationId xmlns:a16="http://schemas.microsoft.com/office/drawing/2014/main" id="{2D89D49A-E773-49E6-AF53-F0C9D299EE27}"/>
              </a:ext>
            </a:extLst>
          </p:cNvPr>
          <p:cNvSpPr>
            <a:spLocks xmlns:a="http://schemas.openxmlformats.org/drawingml/2006/main" noGrp="1"/>
          </p:cNvSpPr>
          <p:nvPr/>
        </p:nvSpPr>
        <p:spPr>
          <a:xfrm xmlns:a="http://schemas.openxmlformats.org/drawingml/2006/main">
            <a:off x="723900" y="5238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1443504224"/>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36BA417-71AB-4360-A928-CB6242191AE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4BC3C8-C2C1-4B19-BDD1-9CC1639EBB6E}"/>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90688052-4E40-4271-988D-128FD8A82C9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065A26A-3891-4C6A-852B-0C72717A3D3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BB6DEBD4-3C74-4E94-84E2-7A714A907C8F}"/>
              </a:ext>
            </a:extLst>
          </p:cNvPr>
          <p:cNvSpPr>
            <a:spLocks xmlns:a="http://schemas.openxmlformats.org/drawingml/2006/main" noGrp="1"/>
          </p:cNvSpPr>
          <p:nvPr/>
        </p:nvSpPr>
        <p:spPr>
          <a:xfrm xmlns:a="http://schemas.openxmlformats.org/drawingml/2006/main" rot="0">
            <a:off x="723900" y="1666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Q1</a:t>
            </a:r>
          </a:p>
        </p:txBody>
      </p:sp>
      <p:sp>
        <p:nvSpPr>
          <p:cNvPr id="6" name="">
            <a:extLst xmlns:a="http://schemas.openxmlformats.org/drawingml/2006/main">
              <a:ext uri="{FF2B5EF4-FFF2-40B4-BE49-F238E27FC236}">
                <a16:creationId xmlns:a16="http://schemas.microsoft.com/office/drawing/2014/main" id="{38453341-51E9-4AA6-B54C-5133083F955E}"/>
              </a:ext>
            </a:extLst>
          </p:cNvPr>
          <p:cNvSpPr>
            <a:spLocks xmlns:a="http://schemas.openxmlformats.org/drawingml/2006/main" noGrp="1"/>
          </p:cNvSpPr>
          <p:nvPr/>
        </p:nvSpPr>
        <p:spPr>
          <a:xfrm xmlns:a="http://schemas.openxmlformats.org/drawingml/2006/main" rot="0">
            <a:off x="3714750" y="1647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利益に応じて撮影機材を増やし、宿泊・リフォーム・清掃へ撮影先を拡大。デバイス開発と意匠・特許取得に向けた準備・出願。</a:t>
            </a:r>
          </a:p>
        </p:txBody>
      </p:sp>
      <p:sp>
        <p:nvSpPr>
          <p:cNvPr id="7" name="">
            <a:extLst xmlns:a="http://schemas.openxmlformats.org/drawingml/2006/main">
              <a:ext uri="{FF2B5EF4-FFF2-40B4-BE49-F238E27FC236}">
                <a16:creationId xmlns:a16="http://schemas.microsoft.com/office/drawing/2014/main" id="{9AAEBB72-1C9A-4FC3-9622-186B2FBA4DC2}"/>
              </a:ext>
            </a:extLst>
          </p:cNvPr>
          <p:cNvSpPr>
            <a:spLocks xmlns:a="http://schemas.openxmlformats.org/drawingml/2006/main" noGrp="1"/>
          </p:cNvSpPr>
          <p:nvPr/>
        </p:nvSpPr>
        <p:spPr>
          <a:xfrm xmlns:a="http://schemas.openxmlformats.org/drawingml/2006/main">
            <a:off x="723900" y="2524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74C601C-5713-4B35-9930-E89843802E90}"/>
              </a:ext>
            </a:extLst>
          </p:cNvPr>
          <p:cNvSpPr>
            <a:spLocks xmlns:a="http://schemas.openxmlformats.org/drawingml/2006/main" noGrp="1"/>
          </p:cNvSpPr>
          <p:nvPr/>
        </p:nvSpPr>
        <p:spPr>
          <a:xfrm xmlns:a="http://schemas.openxmlformats.org/drawingml/2006/main" rot="0">
            <a:off x="723900" y="2619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Q2</a:t>
            </a:r>
          </a:p>
        </p:txBody>
      </p:sp>
      <p:sp>
        <p:nvSpPr>
          <p:cNvPr id="9" name="">
            <a:extLst xmlns:a="http://schemas.openxmlformats.org/drawingml/2006/main">
              <a:ext uri="{FF2B5EF4-FFF2-40B4-BE49-F238E27FC236}">
                <a16:creationId xmlns:a16="http://schemas.microsoft.com/office/drawing/2014/main" id="{4B8A6E37-0625-40B3-9373-7707FD0E4BBB}"/>
              </a:ext>
            </a:extLst>
          </p:cNvPr>
          <p:cNvSpPr>
            <a:spLocks xmlns:a="http://schemas.openxmlformats.org/drawingml/2006/main" noGrp="1"/>
          </p:cNvSpPr>
          <p:nvPr/>
        </p:nvSpPr>
        <p:spPr>
          <a:xfrm xmlns:a="http://schemas.openxmlformats.org/drawingml/2006/main" rot="0">
            <a:off x="3714750" y="2600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介護・医療へ撮影先を拡大。国内ロボット企業等と、プライバシー性の高い現場データを外部流出リスクを管理しながら活用する仕組みを構築。</a:t>
            </a:r>
          </a:p>
        </p:txBody>
      </p:sp>
      <p:sp>
        <p:nvSpPr>
          <p:cNvPr id="10" name="">
            <a:extLst xmlns:a="http://schemas.openxmlformats.org/drawingml/2006/main">
              <a:ext uri="{FF2B5EF4-FFF2-40B4-BE49-F238E27FC236}">
                <a16:creationId xmlns:a16="http://schemas.microsoft.com/office/drawing/2014/main" id="{37863561-06FC-4B35-8093-0A374084048B}"/>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8BD0819-AFE7-42F2-8FA9-E026CC1E907F}"/>
              </a:ext>
            </a:extLst>
          </p:cNvPr>
          <p:cNvSpPr>
            <a:spLocks xmlns:a="http://schemas.openxmlformats.org/drawingml/2006/main" noGrp="1"/>
          </p:cNvSpPr>
          <p:nvPr/>
        </p:nvSpPr>
        <p:spPr>
          <a:xfrm xmlns:a="http://schemas.openxmlformats.org/drawingml/2006/main" rot="0">
            <a:off x="723900" y="3667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Q3</a:t>
            </a:r>
          </a:p>
        </p:txBody>
      </p:sp>
      <p:sp>
        <p:nvSpPr>
          <p:cNvPr id="12" name="">
            <a:extLst xmlns:a="http://schemas.openxmlformats.org/drawingml/2006/main">
              <a:ext uri="{FF2B5EF4-FFF2-40B4-BE49-F238E27FC236}">
                <a16:creationId xmlns:a16="http://schemas.microsoft.com/office/drawing/2014/main" id="{3CB272CD-2AFF-4FF9-BA53-900C02E19A43}"/>
              </a:ext>
            </a:extLst>
          </p:cNvPr>
          <p:cNvSpPr>
            <a:spLocks xmlns:a="http://schemas.openxmlformats.org/drawingml/2006/main" noGrp="1"/>
          </p:cNvSpPr>
          <p:nvPr/>
        </p:nvSpPr>
        <p:spPr>
          <a:xfrm xmlns:a="http://schemas.openxmlformats.org/drawingml/2006/main" rot="0">
            <a:off x="3714750" y="3648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撮影先を拡大。国内の垂直統合型ロボティクス企業、政府プロジェクトなどへ現場データ収集を打診。</a:t>
            </a:r>
          </a:p>
        </p:txBody>
      </p:sp>
      <p:sp>
        <p:nvSpPr>
          <p:cNvPr id="13" name="">
            <a:extLst xmlns:a="http://schemas.openxmlformats.org/drawingml/2006/main">
              <a:ext uri="{FF2B5EF4-FFF2-40B4-BE49-F238E27FC236}">
                <a16:creationId xmlns:a16="http://schemas.microsoft.com/office/drawing/2014/main" id="{4F79F6F0-3945-404D-9A9B-A6BA9DB017E6}"/>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17A5350-10ED-46E2-9B4D-AA2B433DF02A}"/>
              </a:ext>
            </a:extLst>
          </p:cNvPr>
          <p:cNvSpPr>
            <a:spLocks xmlns:a="http://schemas.openxmlformats.org/drawingml/2006/main" noGrp="1"/>
          </p:cNvSpPr>
          <p:nvPr/>
        </p:nvSpPr>
        <p:spPr>
          <a:xfrm xmlns:a="http://schemas.openxmlformats.org/drawingml/2006/main" rot="0">
            <a:off x="723900" y="4619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FB4F1638-DA67-4574-8B43-88A8C412D1DA}"/>
              </a:ext>
            </a:extLst>
          </p:cNvPr>
          <p:cNvSpPr>
            <a:spLocks xmlns:a="http://schemas.openxmlformats.org/drawingml/2006/main" noGrp="1"/>
          </p:cNvSpPr>
          <p:nvPr/>
        </p:nvSpPr>
        <p:spPr>
          <a:xfrm xmlns:a="http://schemas.openxmlformats.org/drawingml/2006/main" rot="0">
            <a:off x="3714750" y="4600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撮影先を拡大。蓄積したデータを元に国内大学と提携し、AIモデル開発と現場環境のReal2Sim等の研究開発を開始。</a:t>
            </a:r>
          </a:p>
        </p:txBody>
      </p:sp>
    </p:spTree>
    <p:extLst>
      <p:ext uri="{BB962C8B-B14F-4D97-AF65-F5344CB8AC3E}">
        <p14:creationId xmlns:p14="http://schemas.microsoft.com/office/powerpoint/2010/main" val="76341477"/>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EFCA0FA-4579-4119-B3CB-E818264954E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60E6A4-FB43-4B91-BD13-7093169027B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44519097-AE4B-4C54-A926-9A8CC4B62AD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0B84513-B200-4EA0-B2BE-6B5A53DF8A1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977F6969-F6F3-4DA4-8605-015DB1B409E4}"/>
              </a:ext>
            </a:extLst>
          </p:cNvPr>
          <p:cNvSpPr>
            <a:spLocks xmlns:a="http://schemas.openxmlformats.org/drawingml/2006/main" noGrp="1"/>
          </p:cNvSpPr>
          <p:nvPr/>
        </p:nvSpPr>
        <p:spPr>
          <a:xfrm xmlns:a="http://schemas.openxmlformats.org/drawingml/2006/main" rot="0">
            <a:off x="7239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Q1〜Q2</a:t>
            </a:r>
          </a:p>
        </p:txBody>
      </p:sp>
      <p:sp>
        <p:nvSpPr>
          <p:cNvPr id="6" name="">
            <a:extLst xmlns:a="http://schemas.openxmlformats.org/drawingml/2006/main">
              <a:ext uri="{FF2B5EF4-FFF2-40B4-BE49-F238E27FC236}">
                <a16:creationId xmlns:a16="http://schemas.microsoft.com/office/drawing/2014/main" id="{8B86B1B8-FB69-46E2-8A08-DFFC6FB1BCD6}"/>
              </a:ext>
            </a:extLst>
          </p:cNvPr>
          <p:cNvSpPr>
            <a:spLocks xmlns:a="http://schemas.openxmlformats.org/drawingml/2006/main" noGrp="1"/>
          </p:cNvSpPr>
          <p:nvPr/>
        </p:nvSpPr>
        <p:spPr>
          <a:xfrm xmlns:a="http://schemas.openxmlformats.org/drawingml/2006/main" rot="0">
            <a:off x="723900" y="2428875"/>
            <a:ext cx="4762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撮影先と現場実装先を拡大する。ロボット企業と、ロボットの実証実験を行える現場のマッチングを開始する。大学と提携して行う研究についても、現場のマッチングを実施する。</a:t>
            </a:r>
          </a:p>
        </p:txBody>
      </p:sp>
      <p:sp>
        <p:nvSpPr>
          <p:cNvPr id="7" name="">
            <a:extLst xmlns:a="http://schemas.openxmlformats.org/drawingml/2006/main">
              <a:ext uri="{FF2B5EF4-FFF2-40B4-BE49-F238E27FC236}">
                <a16:creationId xmlns:a16="http://schemas.microsoft.com/office/drawing/2014/main" id="{EA70A35C-195A-4354-97E5-A4A7B9D4F330}"/>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98265EA-F9C4-4E3D-9C30-FE7139021815}"/>
              </a:ext>
            </a:extLst>
          </p:cNvPr>
          <p:cNvSpPr>
            <a:spLocks xmlns:a="http://schemas.openxmlformats.org/drawingml/2006/main" noGrp="1"/>
          </p:cNvSpPr>
          <p:nvPr/>
        </p:nvSpPr>
        <p:spPr>
          <a:xfrm xmlns:a="http://schemas.openxmlformats.org/drawingml/2006/main" rot="0">
            <a:off x="64770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Q3〜Q4</a:t>
            </a:r>
          </a:p>
        </p:txBody>
      </p:sp>
      <p:sp>
        <p:nvSpPr>
          <p:cNvPr id="9" name="">
            <a:extLst xmlns:a="http://schemas.openxmlformats.org/drawingml/2006/main">
              <a:ext uri="{FF2B5EF4-FFF2-40B4-BE49-F238E27FC236}">
                <a16:creationId xmlns:a16="http://schemas.microsoft.com/office/drawing/2014/main" id="{3334786B-4E40-4EEC-871F-9A665EE55EA0}"/>
              </a:ext>
            </a:extLst>
          </p:cNvPr>
          <p:cNvSpPr>
            <a:spLocks xmlns:a="http://schemas.openxmlformats.org/drawingml/2006/main" noGrp="1"/>
          </p:cNvSpPr>
          <p:nvPr/>
        </p:nvSpPr>
        <p:spPr>
          <a:xfrm xmlns:a="http://schemas.openxmlformats.org/drawingml/2006/main" rot="0">
            <a:off x="6477000" y="2428875"/>
            <a:ext cx="4667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業種を絞り、実際にロボットの現場統合を開始する。蓄積したデータや経験を元に、どのような現場がロボット導入に適しているか、優先順位をつける。</a:t>
            </a:r>
          </a:p>
        </p:txBody>
      </p:sp>
      <p:sp>
        <p:nvSpPr>
          <p:cNvPr id="10" name="">
            <a:extLst xmlns:a="http://schemas.openxmlformats.org/drawingml/2006/main">
              <a:ext uri="{FF2B5EF4-FFF2-40B4-BE49-F238E27FC236}">
                <a16:creationId xmlns:a16="http://schemas.microsoft.com/office/drawing/2014/main" id="{E3E1BED4-94AB-4B61-B6B4-2D75AF61042B}"/>
              </a:ext>
            </a:extLst>
          </p:cNvPr>
          <p:cNvSpPr>
            <a:spLocks xmlns:a="http://schemas.openxmlformats.org/drawingml/2006/main" noGrp="1"/>
          </p:cNvSpPr>
          <p:nvPr/>
        </p:nvSpPr>
        <p:spPr>
          <a:xfrm xmlns:a="http://schemas.openxmlformats.org/drawingml/2006/main" rot="0">
            <a:off x="723900" y="57150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現場データ収集から始めた企業が、現場統合を行う企業へ進化する。</a:t>
            </a:r>
          </a:p>
        </p:txBody>
      </p:sp>
    </p:spTree>
    <p:extLst>
      <p:ext uri="{BB962C8B-B14F-4D97-AF65-F5344CB8AC3E}">
        <p14:creationId xmlns:p14="http://schemas.microsoft.com/office/powerpoint/2010/main" val="665863914"/>
      </p:ext>
    </p:extLst>
  </p:cSld>
</p:sld>
</file>

<file path=ppt/slides/slide2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810205D-ED89-4B04-8897-F718A39A165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77DC68-DB36-40BA-A572-18CF0C7BF9A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6528545A-4289-440B-BE46-603BB992692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1A40987-5A26-4CF4-A193-EC06B30FAAF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26</a:t>
            </a:r>
          </a:p>
        </p:txBody>
      </p:sp>
      <p:sp>
        <p:nvSpPr>
          <p:cNvPr id="5" name="">
            <a:extLst xmlns:a="http://schemas.openxmlformats.org/drawingml/2006/main">
              <a:ext uri="{FF2B5EF4-FFF2-40B4-BE49-F238E27FC236}">
                <a16:creationId xmlns:a16="http://schemas.microsoft.com/office/drawing/2014/main" id="{16B9293F-636B-4D85-9E34-1EB9CC21414E}"/>
              </a:ext>
            </a:extLst>
          </p:cNvPr>
          <p:cNvSpPr>
            <a:spLocks xmlns:a="http://schemas.openxmlformats.org/drawingml/2006/main" noGrp="1"/>
          </p:cNvSpPr>
          <p:nvPr/>
        </p:nvSpPr>
        <p:spPr>
          <a:xfrm xmlns:a="http://schemas.openxmlformats.org/drawingml/2006/main" rot="0">
            <a:off x="723900" y="2047875"/>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315C78"/>
                </a:solidFill>
                <a:latin typeface="Hiragino Sans"/>
                <a:ea typeface="Hiragino Sans"/>
                <a:cs typeface="Hiragino Sans"/>
              </a:defRPr>
            </a:pPr>
            <a:r>
              <a:rPr sz="2250" b="1">
                <a:solidFill>
                  <a:srgbClr val="315C78"/>
                </a:solidFill>
                <a:latin typeface="Hiragino Sans"/>
                <a:ea typeface="Hiragino Sans"/>
                <a:cs typeface="Hiragino Sans"/>
              </a:rPr>
              <a:t>第2段階への移行</a:t>
            </a:r>
          </a:p>
        </p:txBody>
      </p:sp>
      <p:sp>
        <p:nvSpPr>
          <p:cNvPr id="6" name="">
            <a:extLst xmlns:a="http://schemas.openxmlformats.org/drawingml/2006/main">
              <a:ext uri="{FF2B5EF4-FFF2-40B4-BE49-F238E27FC236}">
                <a16:creationId xmlns:a16="http://schemas.microsoft.com/office/drawing/2014/main" id="{7CE25BA7-6CBF-4194-96DB-9BE4541E0F8A}"/>
              </a:ext>
            </a:extLst>
          </p:cNvPr>
          <p:cNvSpPr>
            <a:spLocks xmlns:a="http://schemas.openxmlformats.org/drawingml/2006/main" noGrp="1"/>
          </p:cNvSpPr>
          <p:nvPr/>
        </p:nvSpPr>
        <p:spPr>
          <a:xfrm xmlns:a="http://schemas.openxmlformats.org/drawingml/2006/main" rot="0">
            <a:off x="723900" y="29527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5191B"/>
                </a:solidFill>
                <a:latin typeface="Hiragino Sans"/>
                <a:ea typeface="Hiragino Sans"/>
                <a:cs typeface="Hiragino Sans"/>
              </a:defRPr>
            </a:pPr>
            <a:r>
              <a:rPr sz="2025" b="1">
                <a:solidFill>
                  <a:srgbClr val="15191B"/>
                </a:solidFill>
                <a:latin typeface="Hiragino Sans"/>
                <a:ea typeface="Hiragino Sans"/>
                <a:cs typeface="Hiragino Sans"/>
              </a:rPr>
              <a:t>現場実装先と、各現場の豊富な作業データを所有する。</a:t>
            </a:r>
          </a:p>
        </p:txBody>
      </p:sp>
      <p:sp>
        <p:nvSpPr>
          <p:cNvPr id="7" name="">
            <a:extLst xmlns:a="http://schemas.openxmlformats.org/drawingml/2006/main">
              <a:ext uri="{FF2B5EF4-FFF2-40B4-BE49-F238E27FC236}">
                <a16:creationId xmlns:a16="http://schemas.microsoft.com/office/drawing/2014/main" id="{3CAE3605-76B2-4485-918C-107544E4BAFC}"/>
              </a:ext>
            </a:extLst>
          </p:cNvPr>
          <p:cNvSpPr>
            <a:spLocks xmlns:a="http://schemas.openxmlformats.org/drawingml/2006/main" noGrp="1"/>
          </p:cNvSpPr>
          <p:nvPr/>
        </p:nvSpPr>
        <p:spPr>
          <a:xfrm xmlns:a="http://schemas.openxmlformats.org/drawingml/2006/main">
            <a:off x="723900" y="3810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FD282C9-C86C-40D8-8329-DC1556396D3A}"/>
              </a:ext>
            </a:extLst>
          </p:cNvPr>
          <p:cNvSpPr>
            <a:spLocks xmlns:a="http://schemas.openxmlformats.org/drawingml/2006/main" noGrp="1"/>
          </p:cNvSpPr>
          <p:nvPr/>
        </p:nvSpPr>
        <p:spPr>
          <a:xfrm xmlns:a="http://schemas.openxmlformats.org/drawingml/2006/main" rot="0">
            <a:off x="723900" y="42386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モデル開発・ハードウェア開発・現場統合のフィードバックループを</a:t>
            </a:r>
          </a:p>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自社で回すフィジカルAI企業へと転身する。</a:t>
            </a:r>
          </a:p>
        </p:txBody>
      </p:sp>
      <p:sp>
        <p:nvSpPr>
          <p:cNvPr id="9" name="">
            <a:extLst xmlns:a="http://schemas.openxmlformats.org/drawingml/2006/main">
              <a:ext uri="{FF2B5EF4-FFF2-40B4-BE49-F238E27FC236}">
                <a16:creationId xmlns:a16="http://schemas.microsoft.com/office/drawing/2014/main" id="{421D26A6-D400-400C-A0B6-DEBAAB6E9B3F}"/>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現場データ収集から始めるフィジカルAIプレーヤー</a:t>
            </a:r>
          </a:p>
        </p:txBody>
      </p:sp>
    </p:spTree>
    <p:extLst>
      <p:ext uri="{BB962C8B-B14F-4D97-AF65-F5344CB8AC3E}">
        <p14:creationId xmlns:p14="http://schemas.microsoft.com/office/powerpoint/2010/main" val="1269340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2026-09-15T03:44:57.5890000Z</dcterms:created>
  <dcterms:modified xsi:type="dcterms:W3CDTF">2026-09-15T03:44:57.5890000Z</dcterms:modified>
</coreProperties>
</file>
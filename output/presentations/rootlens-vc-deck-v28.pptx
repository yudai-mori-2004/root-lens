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4e78e6c3cb94267" /><Relationship Type="http://schemas.openxmlformats.org/officeDocument/2006/relationships/extended-properties" Target="/docProps/app.xml" Id="R872efddd3b804b73" /><Relationship Type="http://schemas.openxmlformats.org/officeDocument/2006/relationships/officeDocument" Target="/ppt/presentation.xml" Id="R830553229a3d4673" /></Relationships>
</file>

<file path=ppt/presentation.xml><?xml version="1.0" encoding="utf-8"?>
<p:presentation xmlns:p="http://schemas.openxmlformats.org/presentationml/2006/main">
  <p:sldMasterIdLst>
    <p:sldMasterId xmlns:r="http://schemas.openxmlformats.org/officeDocument/2006/relationships" id="2147483648" r:id="R7451e0650a6a47a0"/>
  </p:sldMasterIdLst>
  <p:notesMasterIdLst>
    <p:notesMasterId xmlns:r="http://schemas.openxmlformats.org/officeDocument/2006/relationships" r:id="R748f4d3bc8414d8c"/>
  </p:notesMasterIdLst>
  <p:sldIdLst>
    <p:sldId xmlns:r="http://schemas.openxmlformats.org/officeDocument/2006/relationships" id="256" r:id="R5de69a9ab4fb43a8"/>
    <p:sldId xmlns:r="http://schemas.openxmlformats.org/officeDocument/2006/relationships" id="257" r:id="R18bb70f544bf4798"/>
    <p:sldId xmlns:r="http://schemas.openxmlformats.org/officeDocument/2006/relationships" id="258" r:id="R882a32d762114493"/>
    <p:sldId xmlns:r="http://schemas.openxmlformats.org/officeDocument/2006/relationships" id="259" r:id="R0adfa66977fc447d"/>
    <p:sldId xmlns:r="http://schemas.openxmlformats.org/officeDocument/2006/relationships" id="260" r:id="R615fb1a11c2a4d5a"/>
    <p:sldId xmlns:r="http://schemas.openxmlformats.org/officeDocument/2006/relationships" id="261" r:id="Rc6d2274767c44b27"/>
    <p:sldId xmlns:r="http://schemas.openxmlformats.org/officeDocument/2006/relationships" id="262" r:id="R2d40de0134544bbe"/>
    <p:sldId xmlns:r="http://schemas.openxmlformats.org/officeDocument/2006/relationships" id="263" r:id="Rff736249da734e9d"/>
    <p:sldId xmlns:r="http://schemas.openxmlformats.org/officeDocument/2006/relationships" id="264" r:id="Reecc6f90352045d1"/>
    <p:sldId xmlns:r="http://schemas.openxmlformats.org/officeDocument/2006/relationships" id="265" r:id="R9b498b63566449c5"/>
    <p:sldId xmlns:r="http://schemas.openxmlformats.org/officeDocument/2006/relationships" id="266" r:id="R3a730bf1aba0424c"/>
    <p:sldId xmlns:r="http://schemas.openxmlformats.org/officeDocument/2006/relationships" id="267" r:id="Rc6c366b76d6b40f7"/>
    <p:sldId xmlns:r="http://schemas.openxmlformats.org/officeDocument/2006/relationships" id="268" r:id="R27189ee8d1804d45"/>
    <p:sldId xmlns:r="http://schemas.openxmlformats.org/officeDocument/2006/relationships" id="269" r:id="R9beeb4e1e687413a"/>
    <p:sldId xmlns:r="http://schemas.openxmlformats.org/officeDocument/2006/relationships" id="270" r:id="R4678bcbbe4794d86"/>
    <p:sldId xmlns:r="http://schemas.openxmlformats.org/officeDocument/2006/relationships" id="271" r:id="Rc7555eab659c4df5"/>
    <p:sldId xmlns:r="http://schemas.openxmlformats.org/officeDocument/2006/relationships" id="272" r:id="R728377a80fa64505"/>
    <p:sldId xmlns:r="http://schemas.openxmlformats.org/officeDocument/2006/relationships" id="273" r:id="R152f9f74f8c74b09"/>
    <p:sldId xmlns:r="http://schemas.openxmlformats.org/officeDocument/2006/relationships" id="274" r:id="R693645a03cb046e7"/>
    <p:sldId xmlns:r="http://schemas.openxmlformats.org/officeDocument/2006/relationships" id="275" r:id="Ra5d46181aa714ee1"/>
    <p:sldId xmlns:r="http://schemas.openxmlformats.org/officeDocument/2006/relationships" id="276" r:id="R9859faaebff941ba"/>
    <p:sldId xmlns:r="http://schemas.openxmlformats.org/officeDocument/2006/relationships" id="277" r:id="R51bcd118a3664d42"/>
    <p:sldId xmlns:r="http://schemas.openxmlformats.org/officeDocument/2006/relationships" id="278" r:id="R0b1bc4d620624c35"/>
    <p:sldId xmlns:r="http://schemas.openxmlformats.org/officeDocument/2006/relationships" id="279" r:id="R5774c5e429664f26"/>
    <p:sldId xmlns:r="http://schemas.openxmlformats.org/officeDocument/2006/relationships" id="280" r:id="R728ff32b9610497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58b3722282c4869" /><Relationship Type="http://schemas.openxmlformats.org/officeDocument/2006/relationships/slideMaster" Target="/ppt/slideMasters/slideMaster1.xml" Id="R7451e0650a6a47a0" /><Relationship Type="http://schemas.openxmlformats.org/officeDocument/2006/relationships/notesMaster" Target="/ppt/notesMasters/notesMaster1.xml" Id="R748f4d3bc8414d8c" /><Relationship Type="http://schemas.openxmlformats.org/officeDocument/2006/relationships/presProps" Target="/ppt/presProps.xml" Id="Rbaf104990ae647d2" /><Relationship Type="http://schemas.openxmlformats.org/officeDocument/2006/relationships/tableStyles" Target="/ppt/tableStyles.xml" Id="Rd10775b70a2041e7" /><Relationship Type="http://schemas.openxmlformats.org/officeDocument/2006/relationships/slide" Target="/ppt/slides/slide1.xml" Id="R5de69a9ab4fb43a8" /><Relationship Type="http://schemas.openxmlformats.org/officeDocument/2006/relationships/slide" Target="/ppt/slides/slide2.xml" Id="R18bb70f544bf4798" /><Relationship Type="http://schemas.openxmlformats.org/officeDocument/2006/relationships/slide" Target="/ppt/slides/slide3.xml" Id="R882a32d762114493" /><Relationship Type="http://schemas.openxmlformats.org/officeDocument/2006/relationships/slide" Target="/ppt/slides/slide4.xml" Id="R0adfa66977fc447d" /><Relationship Type="http://schemas.openxmlformats.org/officeDocument/2006/relationships/slide" Target="/ppt/slides/slide5.xml" Id="R615fb1a11c2a4d5a" /><Relationship Type="http://schemas.openxmlformats.org/officeDocument/2006/relationships/slide" Target="/ppt/slides/slide6.xml" Id="Rc6d2274767c44b27" /><Relationship Type="http://schemas.openxmlformats.org/officeDocument/2006/relationships/slide" Target="/ppt/slides/slide7.xml" Id="R2d40de0134544bbe" /><Relationship Type="http://schemas.openxmlformats.org/officeDocument/2006/relationships/slide" Target="/ppt/slides/slide8.xml" Id="Rff736249da734e9d" /><Relationship Type="http://schemas.openxmlformats.org/officeDocument/2006/relationships/slide" Target="/ppt/slides/slide9.xml" Id="Reecc6f90352045d1" /><Relationship Type="http://schemas.openxmlformats.org/officeDocument/2006/relationships/slide" Target="/ppt/slides/slide10.xml" Id="R9b498b63566449c5" /><Relationship Type="http://schemas.openxmlformats.org/officeDocument/2006/relationships/slide" Target="/ppt/slides/slide11.xml" Id="R3a730bf1aba0424c" /><Relationship Type="http://schemas.openxmlformats.org/officeDocument/2006/relationships/slide" Target="/ppt/slides/slide12.xml" Id="Rc6c366b76d6b40f7" /><Relationship Type="http://schemas.openxmlformats.org/officeDocument/2006/relationships/slide" Target="/ppt/slides/slide13.xml" Id="R27189ee8d1804d45" /><Relationship Type="http://schemas.openxmlformats.org/officeDocument/2006/relationships/slide" Target="/ppt/slides/slide14.xml" Id="R9beeb4e1e687413a" /><Relationship Type="http://schemas.openxmlformats.org/officeDocument/2006/relationships/slide" Target="/ppt/slides/slide15.xml" Id="R4678bcbbe4794d86" /><Relationship Type="http://schemas.openxmlformats.org/officeDocument/2006/relationships/slide" Target="/ppt/slides/slide16.xml" Id="Rc7555eab659c4df5" /><Relationship Type="http://schemas.openxmlformats.org/officeDocument/2006/relationships/slide" Target="/ppt/slides/slide17.xml" Id="R728377a80fa64505" /><Relationship Type="http://schemas.openxmlformats.org/officeDocument/2006/relationships/slide" Target="/ppt/slides/slide18.xml" Id="R152f9f74f8c74b09" /><Relationship Type="http://schemas.openxmlformats.org/officeDocument/2006/relationships/slide" Target="/ppt/slides/slide19.xml" Id="R693645a03cb046e7" /><Relationship Type="http://schemas.openxmlformats.org/officeDocument/2006/relationships/slide" Target="/ppt/slides/slide20.xml" Id="Ra5d46181aa714ee1" /><Relationship Type="http://schemas.openxmlformats.org/officeDocument/2006/relationships/slide" Target="/ppt/slides/slide21.xml" Id="R9859faaebff941ba" /><Relationship Type="http://schemas.openxmlformats.org/officeDocument/2006/relationships/slide" Target="/ppt/slides/slide22.xml" Id="R51bcd118a3664d42" /><Relationship Type="http://schemas.openxmlformats.org/officeDocument/2006/relationships/slide" Target="/ppt/slides/slide23.xml" Id="R0b1bc4d620624c35" /><Relationship Type="http://schemas.openxmlformats.org/officeDocument/2006/relationships/slide" Target="/ppt/slides/slide24.xml" Id="R5774c5e429664f26" /><Relationship Type="http://schemas.openxmlformats.org/officeDocument/2006/relationships/slide" Target="/ppt/slides/slide25.xml" Id="R728ff32b9610497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284753457df412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0639a1d9f21496a" /><Relationship Type="http://schemas.openxmlformats.org/officeDocument/2006/relationships/notesMaster" Target="/ppt/notesMasters/notesMaster1.xml" Id="Rca806633982a4f4f" /></Relationships>
</file>

<file path=ppt/notesSlides/_rels/notesSlide2.xml.rels>&#65279;<?xml version="1.0" encoding="utf-8"?><Relationships xmlns="http://schemas.openxmlformats.org/package/2006/relationships"><Relationship Type="http://schemas.openxmlformats.org/officeDocument/2006/relationships/slide" Target="/ppt/slides/slide2.xml" Id="R0ab70ade7a69492c" /><Relationship Type="http://schemas.openxmlformats.org/officeDocument/2006/relationships/notesMaster" Target="/ppt/notesMasters/notesMaster1.xml" Id="Rb2692cac793b45a7" /></Relationships>
</file>

<file path=ppt/notesSlides/_rels/notesSlide3.xml.rels>&#65279;<?xml version="1.0" encoding="utf-8"?><Relationships xmlns="http://schemas.openxmlformats.org/package/2006/relationships"><Relationship Type="http://schemas.openxmlformats.org/officeDocument/2006/relationships/slide" Target="/ppt/slides/slide3.xml" Id="R680807cdfbf14886" /><Relationship Type="http://schemas.openxmlformats.org/officeDocument/2006/relationships/notesMaster" Target="/ppt/notesMasters/notesMaster1.xml" Id="R933c2e1a09c64dc2" /></Relationships>
</file>

<file path=ppt/notesSlides/_rels/notesSlide4.xml.rels>&#65279;<?xml version="1.0" encoding="utf-8"?><Relationships xmlns="http://schemas.openxmlformats.org/package/2006/relationships"><Relationship Type="http://schemas.openxmlformats.org/officeDocument/2006/relationships/slide" Target="/ppt/slides/slide4.xml" Id="Rab656768d90e450b" /><Relationship Type="http://schemas.openxmlformats.org/officeDocument/2006/relationships/notesMaster" Target="/ppt/notesMasters/notesMaster1.xml" Id="R024511609e3d4ac3" /></Relationships>
</file>

<file path=ppt/notesSlides/_rels/notesSlide5.xml.rels>&#65279;<?xml version="1.0" encoding="utf-8"?><Relationships xmlns="http://schemas.openxmlformats.org/package/2006/relationships"><Relationship Type="http://schemas.openxmlformats.org/officeDocument/2006/relationships/slide" Target="/ppt/slides/slide5.xml" Id="R791253fd56ea422a" /><Relationship Type="http://schemas.openxmlformats.org/officeDocument/2006/relationships/notesMaster" Target="/ppt/notesMasters/notesMaster1.xml" Id="R46415e0e276a421d" /></Relationships>
</file>

<file path=ppt/notesSlides/_rels/notesSlide6.xml.rels>&#65279;<?xml version="1.0" encoding="utf-8"?><Relationships xmlns="http://schemas.openxmlformats.org/package/2006/relationships"><Relationship Type="http://schemas.openxmlformats.org/officeDocument/2006/relationships/slide" Target="/ppt/slides/slide6.xml" Id="Re954a111c9a146ca" /><Relationship Type="http://schemas.openxmlformats.org/officeDocument/2006/relationships/notesMaster" Target="/ppt/notesMasters/notesMaster1.xml" Id="R182b573f37f34b6b" /></Relationships>
</file>

<file path=ppt/notesSlides/_rels/notesSlide7.xml.rels>&#65279;<?xml version="1.0" encoding="utf-8"?><Relationships xmlns="http://schemas.openxmlformats.org/package/2006/relationships"><Relationship Type="http://schemas.openxmlformats.org/officeDocument/2006/relationships/slide" Target="/ppt/slides/slide7.xml" Id="R828d8f99618140a4" /><Relationship Type="http://schemas.openxmlformats.org/officeDocument/2006/relationships/notesMaster" Target="/ppt/notesMasters/notesMaster1.xml" Id="R4db0a7e450f7452b" /></Relationships>
</file>

<file path=ppt/notesSlides/_rels/notesSlide8.xml.rels>&#65279;<?xml version="1.0" encoding="utf-8"?><Relationships xmlns="http://schemas.openxmlformats.org/package/2006/relationships"><Relationship Type="http://schemas.openxmlformats.org/officeDocument/2006/relationships/slide" Target="/ppt/slides/slide8.xml" Id="R276948b6720641d6" /><Relationship Type="http://schemas.openxmlformats.org/officeDocument/2006/relationships/notesMaster" Target="/ppt/notesMasters/notesMaster1.xml" Id="Ra45ce25285d34c9f" /></Relationships>
</file>

<file path=ppt/notesSlides/_rels/notesSlide9.xml.rels>&#65279;<?xml version="1.0" encoding="utf-8"?><Relationships xmlns="http://schemas.openxmlformats.org/package/2006/relationships"><Relationship Type="http://schemas.openxmlformats.org/officeDocument/2006/relationships/slide" Target="/ppt/slides/slide9.xml" Id="R131052fae06d4081" /><Relationship Type="http://schemas.openxmlformats.org/officeDocument/2006/relationships/notesMaster" Target="/ppt/notesMasters/notesMaster1.xml" Id="R2a2f11c8e0cc45f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829c60d86ba43fd" /><Relationship Type="http://schemas.openxmlformats.org/officeDocument/2006/relationships/notesMaster" Target="/ppt/notesMasters/notesMaster1.xml" Id="R6c5b3621f47141f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1662b0d93c144cd" /><Relationship Type="http://schemas.openxmlformats.org/officeDocument/2006/relationships/notesMaster" Target="/ppt/notesMasters/notesMaster1.xml" Id="Rd6c4648ecbf14fe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9da4ec4ff7045c3" /><Relationship Type="http://schemas.openxmlformats.org/officeDocument/2006/relationships/notesMaster" Target="/ppt/notesMasters/notesMaster1.xml" Id="R75318fb71199454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d5dfe778224434e" /><Relationship Type="http://schemas.openxmlformats.org/officeDocument/2006/relationships/notesMaster" Target="/ppt/notesMasters/notesMaster1.xml" Id="R11da75304c74491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0ed4cb06b6d4019" /><Relationship Type="http://schemas.openxmlformats.org/officeDocument/2006/relationships/notesMaster" Target="/ppt/notesMasters/notesMaster1.xml" Id="R1729cd58869c479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79112d060e74277" /><Relationship Type="http://schemas.openxmlformats.org/officeDocument/2006/relationships/notesMaster" Target="/ppt/notesMasters/notesMaster1.xml" Id="R9e0d434dc826407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8ce6fc105414fc6" /><Relationship Type="http://schemas.openxmlformats.org/officeDocument/2006/relationships/notesMaster" Target="/ppt/notesMasters/notesMaster1.xml" Id="Rf40de36d099343f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db68da011a549d1" /><Relationship Type="http://schemas.openxmlformats.org/officeDocument/2006/relationships/notesMaster" Target="/ppt/notesMasters/notesMaster1.xml" Id="R4bd7f39891ba4bb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9d3891a087b4252" /><Relationship Type="http://schemas.openxmlformats.org/officeDocument/2006/relationships/notesMaster" Target="/ppt/notesMasters/notesMaster1.xml" Id="R99d43a91e58a463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64b58cfd6904ce5" /><Relationship Type="http://schemas.openxmlformats.org/officeDocument/2006/relationships/notesMaster" Target="/ppt/notesMasters/notesMaster1.xml" Id="R9ceafa3ca7714e2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499d855ed5e4d00" /><Relationship Type="http://schemas.openxmlformats.org/officeDocument/2006/relationships/notesMaster" Target="/ppt/notesMasters/notesMaster1.xml" Id="R4e7e2244321e464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8b7c323b57446dd" /><Relationship Type="http://schemas.openxmlformats.org/officeDocument/2006/relationships/notesMaster" Target="/ppt/notesMasters/notesMaster1.xml" Id="Rdd82eb414106415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35758d9034f488b" /><Relationship Type="http://schemas.openxmlformats.org/officeDocument/2006/relationships/notesMaster" Target="/ppt/notesMasters/notesMaster1.xml" Id="Rd27bc695b8e943d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e54030dbb184056" /><Relationship Type="http://schemas.openxmlformats.org/officeDocument/2006/relationships/notesMaster" Target="/ppt/notesMasters/notesMaster1.xml" Id="R53720a89b0ac49b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b0a5c60054f40ae" /><Relationship Type="http://schemas.openxmlformats.org/officeDocument/2006/relationships/notesMaster" Target="/ppt/notesMasters/notesMaster1.xml" Id="R6fd19d4a2f4342f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c3d26c623b3463e" /><Relationship Type="http://schemas.openxmlformats.org/officeDocument/2006/relationships/notesMaster" Target="/ppt/notesMasters/notesMaster1.xml" Id="Rbcbdbc20e3d54a7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私たちは、現場データ収集から始めるフィジカルAIプレーヤーになる企業です。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図の横幅は、その企業が接続している現場の範囲を表します。垂直統合型は特定の現場に絞るため横幅が短く、複数の技術レイヤーを自社で担うため縦に長くなります。水平統合型は一つの技術レイヤーを担いながら、多数の業種・現場へ接続するため横に広くなります。現場と直接接触するのは、一番下の現場統合層と、一番上流の現場データ収集層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多くのフィジカルAI企業はロボットと現場を垂直統合する形で研究開発を進めています。特定の業種・タスクに絞り、完全な自律運用が難しい場合は遠隔操作での商用化から始める企業もあれば、自律運用の幅を地道に広げる企業もあります。代表例は1XとSunday Roboticsです。</a:t>
            </a:r>
          </a:p>
          <a:p xmlns:a="http://schemas.openxmlformats.org/drawingml/2006/main">
            <a:r>
              <a:t/>
            </a:r>
          </a:p>
          <a:p xmlns:a="http://schemas.openxmlformats.org/drawingml/2006/main">
            <a:r>
              <a:t>一方、水平統合型は、そのバリューチェーンをレイヤーごとに分解した企業群です。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ータ収集層には、人間の作業データ、テレオペレーション、合成データ、生データの加工があり、DeepReachやBuildAIが挙げられます。基盤モデル・シミュレーション層にはPI、SkilledAI、NVIDIAがあります。ハードウェア開発層ではUnitreeが強く、現場統合層ではHIVE RoboticsやFormicが、既存のロボットやモデルを使った現場への導入を進めています。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私の考えでは、モデル開発・ハードウェア開発・現場統合という3つの領域を自社のループとして持ち、実際に現場でロボットを稼働させている企業が主流になります。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は独立したレイヤーとして存在するデータ収集も、現場へロボットが投入されれば、このループの中に吸収されると考えています。ロボットの稼働そのものがデータ収集になり、そのデータがモデル改善へ直結するためです。モデル、ハードウェア、現場統合を自社のループとして持つ企業ほど、改善速度が上が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と直接の接点を持つレイヤーは2つあります。一つは現場統合層。ロボットを実際にその場所に導入して動かす企業なので、当然現場と繋がります。しかしもう一つ、一番上流の現場データ収集企業も、撮影のために現場に入り込む必要があるため、将来ロボットが使われる現場と直接の関係を築くこと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現場統合はタスクごとに技術開発が必要ですが、人間の作業を撮影するデータ収集は、今の技術でも業種をまたいで広げられます。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は多いですが有限です。現場側の負担を考えると、一つの現場が複数の収集会社と契約するとは考えにくく、先行者優位が強いと見ています。RootLensは、日本で先に多くの現場との関係を築き、このポジションを取りに行き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ロボット企業が現場を含むフィードバックループを作るには、現場ネットワークが必要です。多業種で合意やコンプライアンス対応を積み重ねること自体が参入障壁になります。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現場データを先に持つことは、ロボット企業との協業だけでなく、自分たちがロボットを現場へ導入し、作業に合わせて運用を調整する側へ進むための布石になります。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たちの構想は2段階です。まず現場データネットワークを広げます。次に、そのデータとネットワークを使い、既存ロボットの現場導入と運用調整を担います。さらに先では、現場データを使った動作モデルと実機の改良まで自社で行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撮影先と販売先の両面を開拓する必要があります。現在は若干現場開拓が先行しています。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飛び込み営業からベーカリーでの実撮影へ進み、カフェチェーン、スーパーマーケットへ現場開拓を広げています。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海外8社とは、ベーカリーで収集したサンプルデータのやり取りまで進みました。合意に至っていない理由はデータの品質ではなく、私たちの収集規模が世界的にはまだ小さく、低い優先度として扱われているためです。収集規模を拡大すれば解決できる課題だと考えています。</a:t>
            </a:r>
          </a:p>
          <a:p xmlns:a="http://schemas.openxmlformats.org/drawingml/2006/main">
            <a:r>
              <a:t/>
            </a:r>
          </a:p>
          <a:p xmlns:a="http://schemas.openxmlformats.org/drawingml/2006/main">
            <a:r>
              <a:t>国内ではNextremerと、現場合意、加工、販売を含む運用フローを擦り合わせています。手数料なしのレベニューシェアなので、私たちは現場開拓とデータ収集に注力できます。Nextremerは私たちよりロボット実装に近い下流へアプローチできるため、高度なアノテーション付きデータを求める販売先へ届き、より高い単価を狙え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現在4名で活動しています。共同創業者2名に加え、ベーカリーで撮影と運用改善を支える川島健二さん、経営管理・法務・業界ネットワークを支援する大崎操さんが参画しています。</a:t>
            </a:r>
          </a:p>
          <a:p xmlns:a="http://schemas.openxmlformats.org/drawingml/2006/main">
            <a:r>
              <a:t/>
            </a:r>
          </a:p>
          <a:p xmlns:a="http://schemas.openxmlformats.org/drawingml/2006/main">
            <a:r>
              <a:t>公開情報：</a:t>
            </a:r>
          </a:p>
          <a:p xmlns:a="http://schemas.openxmlformats.org/drawingml/2006/main">
            <a:r>
              <a:t>河野瞭人 https://akitozizi818.github.io/portfolio/</a:t>
            </a:r>
          </a:p>
          <a:p xmlns:a="http://schemas.openxmlformats.org/drawingml/2006/main">
            <a:r>
              <a:t>神戸大学卒業研究発表会プログラム https://www.csi.kobe-u.ac.jp/current_students/kyougaku/file/Bprogram20250217.pdf</a:t>
            </a:r>
          </a:p>
          <a:p xmlns:a="http://schemas.openxmlformats.org/drawingml/2006/main">
            <a:r>
              <a:t>関西スーパーマーケットIR https://www.kansaisuper.co.jp/wp-content/uploads/2021/12/irinfo_536.pdf</a:t>
            </a:r>
          </a:p>
          <a:p xmlns:a="http://schemas.openxmlformats.org/drawingml/2006/main">
            <a:r>
              <a:t>箕面デニッシュ合同会社 https://info.gbiz.go.jp/hojin/ichiran?hojinBango=5120903005558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初期のスマートフォンヘッドマウントから、3Dモデルをゼロから設計した帽子型、スマートグラスへ進化させました。ベーカリーで試すと『これならつけてもいい』という反応が増え、軽さや見た目の違和感が現場の許可を想定以上に左右すると分かりました。</a:t>
            </a:r>
          </a:p>
          <a:p xmlns:a="http://schemas.openxmlformats.org/drawingml/2006/main">
            <a:r>
              <a:t/>
            </a:r>
          </a:p>
          <a:p xmlns:a="http://schemas.openxmlformats.org/drawingml/2006/main">
            <a:r>
              <a:t>専用の軽量撮影デバイスを試験的に購入し、負担の少ない形状で熱とバッテリーの問題を解決する撮影デバイスの開発も始めています。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販売単価は1,600円/hを下限とし、売上の50%を現場へ還元します。この試算は同一データを平均1回だけ販売する悲観シナリオです。複数のバイヤーへの販売は含めず、デバイス償却後は1時間あたり約727円です。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表は同一データを平均1回だけ販売する悲観シナリオです。月10,000時間を1年間続けると、12万時間のデータ資産が残ります。同一データを平均2回販売できれば月間の会社取り分は1,600万円、3回なら2,400万円です。</a:t>
            </a:r>
          </a:p>
          <a:p xmlns:a="http://schemas.openxmlformats.org/drawingml/2006/main">
            <a:r>
              <a:t/>
            </a:r>
          </a:p>
          <a:p xmlns:a="http://schemas.openxmlformats.org/drawingml/2006/main">
            <a:r>
              <a:t>データは在庫として積み上がり、過去に収集した分も売り続けられます。月ごとの売上だけでなく、累積データ資産の価値がこの事業の重要な性質です。</a:t>
            </a:r>
          </a:p>
          <a:p xmlns:a="http://schemas.openxmlformats.org/drawingml/2006/main">
            <a:r>
              <a:t/>
            </a:r>
          </a:p>
          <a:p xmlns:a="http://schemas.openxmlformats.org/drawingml/2006/main">
            <a:r>
              <a:t>原本のVC向け試算では、月10,000時間時に現場開拓・運用を4〜6人、人件費を月150〜250万円程度と置くと、営業利益は年6,000万円前後です。ここは実際の獲得サイクルと現場運用を通じて検証します。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バイス費以外には、ストレージ、現場運用の人件費、破損・紛失、法務のコストがあります。本命は現場開拓と維持の人件費です。飛び込み営業、契約、配布・回収、スタッフへの説明、トラブル対応、データチェックが、収集時間に対してどこまでリニアに増えるかがユニットエコノミクスの分岐点になります。</a:t>
            </a:r>
          </a:p>
          <a:p xmlns:a="http://schemas.openxmlformats.org/drawingml/2006/main">
            <a:r>
              <a:t/>
            </a:r>
          </a:p>
          <a:p xmlns:a="http://schemas.openxmlformats.org/drawingml/2006/main">
            <a:r>
              <a:t>川島さんのベーカリーでは、一度契約した現場が継続的にデータを出し続けるかを、収集時間の推移から検証しています。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月10,000時間へ拡大する際のボトルネックは、現場開拓、現場運用、買い手側の受け入れ規模です。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2026年Q4は、10月に500時間、12月に1,000時間を目標とし、現場運用と販売先の条件を確認します。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2027年は撮影先とデバイスを拡大します。Q1は宿泊・リフォーム・清掃とデバイスの意匠・特許、Q2は介護・医療とプライバシー性の高いデータの活用、Q3は国内の垂直統合型ロボティクス企業や政府プロジェクトへの打診、Q4は国内大学とAIモデル開発・Real2Simの研究開発へ進む流れ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2028年前半は、ロボット企業と実証実験を行える現場を繋ぎ、大学との研究にも現場を提供します。後半は、蓄積したデータと経験からロボットを導入しやすい業種と現場を絞り、既存ロボットを実際に導入します。この段階では自社でロボットを開発するのではなく、現場の作業に合わせた導入と運用調整から始め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セクション3で述べた第2段階への移行です。2028年に始めた既存ロボットの現場導入を広げながら、現場で得た作業データをロボットの動作モデル改善へ使います。実機についても、現場で見つかった課題を設計と改良へ戻します。2029年からは、導入と運用調整だけでなく、動作モデルと実機の開発も自社の事業へ加える構想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e5fe70e8b7446b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23919d8bcbb472d" /><Relationship Type="http://schemas.openxmlformats.org/officeDocument/2006/relationships/slideLayout" Target="/ppt/slideLayouts/slideLayout1.xml" Id="Rbd04ea80c171476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d04ea80c171476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7e9aa967ece4ee1" /><Relationship Type="http://schemas.openxmlformats.org/officeDocument/2006/relationships/notesSlide" Target="/ppt/notesSlides/notesSlide1.xml" Id="R54988ada68254ca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29d46bab13c4e20" /><Relationship Type="http://schemas.openxmlformats.org/officeDocument/2006/relationships/notesSlide" Target="/ppt/notesSlides/notesSlide2.xml" Id="R18f6ce35a59a4b2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29b7192cbb0487f" /><Relationship Type="http://schemas.openxmlformats.org/officeDocument/2006/relationships/notesSlide" Target="/ppt/notesSlides/notesSlide3.xml" Id="R4561096d084e42f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18d973492e046b4" /><Relationship Type="http://schemas.openxmlformats.org/officeDocument/2006/relationships/notesSlide" Target="/ppt/notesSlides/notesSlide4.xml" Id="Rd7df87cc7f6d4d9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13976a2a343473f" /><Relationship Type="http://schemas.openxmlformats.org/officeDocument/2006/relationships/notesSlide" Target="/ppt/notesSlides/notesSlide5.xml" Id="R7f921d60bccf458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458fc632d6a405a" /><Relationship Type="http://schemas.openxmlformats.org/officeDocument/2006/relationships/notesSlide" Target="/ppt/notesSlides/notesSlide6.xml" Id="R5613e3edb987402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de22c6ff11b4019" /><Relationship Type="http://schemas.openxmlformats.org/officeDocument/2006/relationships/notesSlide" Target="/ppt/notesSlides/notesSlide7.xml" Id="R14dca3903f274bb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26bcd0da2a840ac" /><Relationship Type="http://schemas.openxmlformats.org/officeDocument/2006/relationships/notesSlide" Target="/ppt/notesSlides/notesSlide8.xml" Id="Rfed92d2536f34e1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84eb57215cb4321" /><Relationship Type="http://schemas.openxmlformats.org/officeDocument/2006/relationships/notesSlide" Target="/ppt/notesSlides/notesSlide9.xml" Id="R81ce7137df6446b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6d43a1f68004c70" /><Relationship Type="http://schemas.openxmlformats.org/officeDocument/2006/relationships/notesSlide" Target="/ppt/notesSlides/notesSlide10.xml" Id="R2a67bfdb597046a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4c696fb3490428d" /><Relationship Type="http://schemas.openxmlformats.org/officeDocument/2006/relationships/notesSlide" Target="/ppt/notesSlides/notesSlide11.xml" Id="Rc9dfcabd910847e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6d818bdf070484a" /><Relationship Type="http://schemas.openxmlformats.org/officeDocument/2006/relationships/notesSlide" Target="/ppt/notesSlides/notesSlide12.xml" Id="Rcbce3ce259194ce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59d6c08c6814cab" /><Relationship Type="http://schemas.openxmlformats.org/officeDocument/2006/relationships/notesSlide" Target="/ppt/notesSlides/notesSlide13.xml" Id="R790d5a4967c542c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cd587e92c714abd" /><Relationship Type="http://schemas.openxmlformats.org/officeDocument/2006/relationships/notesSlide" Target="/ppt/notesSlides/notesSlide14.xml" Id="R81b9d28c84654d1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6f370b3b9aa46b4" /><Relationship Type="http://schemas.openxmlformats.org/officeDocument/2006/relationships/notesSlide" Target="/ppt/notesSlides/notesSlide15.xml" Id="R2f3e37642edc492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c6d183d80144fed" /><Relationship Type="http://schemas.openxmlformats.org/officeDocument/2006/relationships/notesSlide" Target="/ppt/notesSlides/notesSlide16.xml" Id="Rca85036bd2b441d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5069d30938849bf" /><Relationship Type="http://schemas.openxmlformats.org/officeDocument/2006/relationships/image" Target="/ppt/media/image.jpeg" Id="Rf9a3044878af4eae" /><Relationship Type="http://schemas.openxmlformats.org/officeDocument/2006/relationships/image" Target="/ppt/media/image2.jpeg" Id="R4734d1cb34aa4493" /><Relationship Type="http://schemas.openxmlformats.org/officeDocument/2006/relationships/image" Target="/ppt/media/image3.jpeg" Id="Rf8a0c6f406fa49a9" /><Relationship Type="http://schemas.openxmlformats.org/officeDocument/2006/relationships/notesSlide" Target="/ppt/notesSlides/notesSlide17.xml" Id="R17104b871e96444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ff0c84ad4bf4dfc" /><Relationship Type="http://schemas.openxmlformats.org/officeDocument/2006/relationships/notesSlide" Target="/ppt/notesSlides/notesSlide18.xml" Id="R4c059b7749624ba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69a7b9a15a524186" /><Relationship Type="http://schemas.openxmlformats.org/officeDocument/2006/relationships/notesSlide" Target="/ppt/notesSlides/notesSlide19.xml" Id="R679c0cab12e2485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c8000a1712b24c41" /><Relationship Type="http://schemas.openxmlformats.org/officeDocument/2006/relationships/notesSlide" Target="/ppt/notesSlides/notesSlide20.xml" Id="R83777c9dfebd44f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c71a01d64e647e1" /><Relationship Type="http://schemas.openxmlformats.org/officeDocument/2006/relationships/notesSlide" Target="/ppt/notesSlides/notesSlide21.xml" Id="Rf15d30d75f3544e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8e9eb9d60e6441a9" /><Relationship Type="http://schemas.openxmlformats.org/officeDocument/2006/relationships/notesSlide" Target="/ppt/notesSlides/notesSlide22.xml" Id="Rf35942b840294e9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cb53953c792e45b9" /><Relationship Type="http://schemas.openxmlformats.org/officeDocument/2006/relationships/notesSlide" Target="/ppt/notesSlides/notesSlide23.xml" Id="R867a827101a941a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bae98d6984a346a0" /><Relationship Type="http://schemas.openxmlformats.org/officeDocument/2006/relationships/notesSlide" Target="/ppt/notesSlides/notesSlide24.xml" Id="R062b8417d3aa4cc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94b793b55b0a4ee3" /><Relationship Type="http://schemas.openxmlformats.org/officeDocument/2006/relationships/notesSlide" Target="/ppt/notesSlides/notesSlide25.xml" Id="R13fcaf4108b449dc" /></Relationships>
</file>

<file path=ppt/slides/slide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EE4D792-DDC4-4DDE-B0A5-9C241A1D8A5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5532555-424D-43C3-A858-06A6B0E09E5F}"/>
              </a:ext>
            </a:extLst>
          </p:cNvPr>
          <p:cNvSpPr>
            <a:spLocks xmlns:a="http://schemas.openxmlformats.org/drawingml/2006/main" noGrp="1"/>
          </p:cNvSpPr>
          <p:nvPr/>
        </p:nvSpPr>
        <p:spPr>
          <a:xfrm xmlns:a="http://schemas.openxmlformats.org/drawingml/2006/main" rot="0">
            <a:off x="666750" y="1171575"/>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300" b="1">
                <a:solidFill>
                  <a:srgbClr val="15191B"/>
                </a:solidFill>
                <a:latin typeface="Hiragino Sans"/>
                <a:ea typeface="Hiragino Sans"/>
                <a:cs typeface="Hiragino Sans"/>
              </a:defRPr>
            </a:pPr>
            <a:r>
              <a:rPr sz="3300" b="1">
                <a:solidFill>
                  <a:srgbClr val="15191B"/>
                </a:solidFill>
                <a:latin typeface="Hiragino Sans"/>
                <a:ea typeface="Hiragino Sans"/>
                <a:cs typeface="Hiragino Sans"/>
              </a:rPr>
              <a:t>RootLens</a:t>
            </a:r>
          </a:p>
        </p:txBody>
      </p:sp>
      <p:sp>
        <p:nvSpPr>
          <p:cNvPr id="3" name="">
            <a:extLst xmlns:a="http://schemas.openxmlformats.org/drawingml/2006/main">
              <a:ext uri="{FF2B5EF4-FFF2-40B4-BE49-F238E27FC236}">
                <a16:creationId xmlns:a16="http://schemas.microsoft.com/office/drawing/2014/main" id="{68B3EA95-39C5-4957-BEE1-6B5262B53948}"/>
              </a:ext>
            </a:extLst>
          </p:cNvPr>
          <p:cNvSpPr>
            <a:spLocks xmlns:a="http://schemas.openxmlformats.org/drawingml/2006/main" noGrp="1"/>
          </p:cNvSpPr>
          <p:nvPr/>
        </p:nvSpPr>
        <p:spPr>
          <a:xfrm xmlns:a="http://schemas.openxmlformats.org/drawingml/2006/main" rot="0">
            <a:off x="666750" y="2543175"/>
            <a:ext cx="9906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050" b="1">
                <a:solidFill>
                  <a:srgbClr val="15191B"/>
                </a:solidFill>
                <a:latin typeface="Hiragino Sans"/>
                <a:ea typeface="Hiragino Sans"/>
                <a:cs typeface="Hiragino Sans"/>
              </a:defRPr>
            </a:pPr>
            <a:r>
              <a:rPr sz="4050" b="1">
                <a:solidFill>
                  <a:srgbClr val="15191B"/>
                </a:solidFill>
                <a:latin typeface="Hiragino Sans"/>
                <a:ea typeface="Hiragino Sans"/>
                <a:cs typeface="Hiragino Sans"/>
              </a:rPr>
              <a:t>現場データ収集から始める</a:t>
            </a:r>
          </a:p>
          <a:p xmlns:a="http://schemas.openxmlformats.org/drawingml/2006/main">
            <a:pPr algn="l">
              <a:defRPr sz="4050" b="1">
                <a:solidFill>
                  <a:srgbClr val="15191B"/>
                </a:solidFill>
                <a:latin typeface="Hiragino Sans"/>
                <a:ea typeface="Hiragino Sans"/>
                <a:cs typeface="Hiragino Sans"/>
              </a:defRPr>
            </a:pPr>
            <a:r>
              <a:rPr sz="4050" b="1">
                <a:solidFill>
                  <a:srgbClr val="15191B"/>
                </a:solidFill>
                <a:latin typeface="Hiragino Sans"/>
                <a:ea typeface="Hiragino Sans"/>
                <a:cs typeface="Hiragino Sans"/>
              </a:rPr>
              <a:t>フィジカルAIプレーヤー</a:t>
            </a:r>
          </a:p>
        </p:txBody>
      </p:sp>
      <p:sp>
        <p:nvSpPr>
          <p:cNvPr id="4" name="">
            <a:extLst xmlns:a="http://schemas.openxmlformats.org/drawingml/2006/main">
              <a:ext uri="{FF2B5EF4-FFF2-40B4-BE49-F238E27FC236}">
                <a16:creationId xmlns:a16="http://schemas.microsoft.com/office/drawing/2014/main" id="{10EB9C9B-8336-41AE-8FA0-5A56CC987BDA}"/>
              </a:ext>
            </a:extLst>
          </p:cNvPr>
          <p:cNvSpPr>
            <a:spLocks xmlns:a="http://schemas.openxmlformats.org/drawingml/2006/main" noGrp="1"/>
          </p:cNvSpPr>
          <p:nvPr/>
        </p:nvSpPr>
        <p:spPr>
          <a:xfrm xmlns:a="http://schemas.openxmlformats.org/drawingml/2006/main">
            <a:off x="666750" y="497205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D191C15-1E73-40BE-A9F8-5C717B6D84AD}"/>
              </a:ext>
            </a:extLst>
          </p:cNvPr>
          <p:cNvSpPr>
            <a:spLocks xmlns:a="http://schemas.openxmlformats.org/drawingml/2006/main" noGrp="1"/>
          </p:cNvSpPr>
          <p:nvPr/>
        </p:nvSpPr>
        <p:spPr>
          <a:xfrm xmlns:a="http://schemas.openxmlformats.org/drawingml/2006/main" rot="0">
            <a:off x="666750" y="52387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会社紹介資料</a:t>
            </a:r>
          </a:p>
        </p:txBody>
      </p:sp>
      <p:sp>
        <p:nvSpPr>
          <p:cNvPr id="6" name="">
            <a:extLst xmlns:a="http://schemas.openxmlformats.org/drawingml/2006/main">
              <a:ext uri="{FF2B5EF4-FFF2-40B4-BE49-F238E27FC236}">
                <a16:creationId xmlns:a16="http://schemas.microsoft.com/office/drawing/2014/main" id="{B87987E6-7BA3-40EA-A5F1-9D4F0EEC9E47}"/>
              </a:ext>
            </a:extLst>
          </p:cNvPr>
          <p:cNvSpPr>
            <a:spLocks xmlns:a="http://schemas.openxmlformats.org/drawingml/2006/main" noGrp="1"/>
          </p:cNvSpPr>
          <p:nvPr/>
        </p:nvSpPr>
        <p:spPr>
          <a:xfrm xmlns:a="http://schemas.openxmlformats.org/drawingml/2006/main" rot="0">
            <a:off x="10096500" y="52387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2026.09</a:t>
            </a:r>
          </a:p>
        </p:txBody>
      </p:sp>
    </p:spTree>
    <p:extLst>
      <p:ext uri="{BB962C8B-B14F-4D97-AF65-F5344CB8AC3E}">
        <p14:creationId xmlns:p14="http://schemas.microsoft.com/office/powerpoint/2010/main" val="1879731559"/>
      </p:ext>
    </p:extLst>
  </p:cSld>
</p:sld>
</file>

<file path=ppt/slides/slide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5788E3F5-FB35-4D5D-8C4B-A735EB1770A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B3928BC-C054-4F75-A331-07DA13E54AC1}"/>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フィジカルAI業界の構造</a:t>
            </a:r>
          </a:p>
        </p:txBody>
      </p:sp>
      <p:sp>
        <p:nvSpPr>
          <p:cNvPr id="3" name="">
            <a:extLst xmlns:a="http://schemas.openxmlformats.org/drawingml/2006/main">
              <a:ext uri="{FF2B5EF4-FFF2-40B4-BE49-F238E27FC236}">
                <a16:creationId xmlns:a16="http://schemas.microsoft.com/office/drawing/2014/main" id="{5649FCC3-FE56-44C9-8968-1AB5336F32D2}"/>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FC7C863-1612-4261-BCD6-3E43369E95CA}"/>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02</a:t>
            </a:r>
          </a:p>
        </p:txBody>
      </p:sp>
      <p:sp>
        <p:nvSpPr>
          <p:cNvPr id="5" name="">
            <a:extLst xmlns:a="http://schemas.openxmlformats.org/drawingml/2006/main">
              <a:ext uri="{FF2B5EF4-FFF2-40B4-BE49-F238E27FC236}">
                <a16:creationId xmlns:a16="http://schemas.microsoft.com/office/drawing/2014/main" id="{29F802D9-5E8B-4A76-A59F-111DCD0C7312}"/>
              </a:ext>
            </a:extLst>
          </p:cNvPr>
          <p:cNvSpPr>
            <a:spLocks xmlns:a="http://schemas.openxmlformats.org/drawingml/2006/main" noGrp="1"/>
          </p:cNvSpPr>
          <p:nvPr/>
        </p:nvSpPr>
        <p:spPr>
          <a:xfrm xmlns:a="http://schemas.openxmlformats.org/drawingml/2006/main" rot="0">
            <a:off x="2590800" y="16859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横幅：接続する現場の範囲</a:t>
            </a:r>
          </a:p>
        </p:txBody>
      </p:sp>
      <p:sp>
        <p:nvSpPr>
          <p:cNvPr id="6" name="">
            <a:extLst xmlns:a="http://schemas.openxmlformats.org/drawingml/2006/main">
              <a:ext uri="{FF2B5EF4-FFF2-40B4-BE49-F238E27FC236}">
                <a16:creationId xmlns:a16="http://schemas.microsoft.com/office/drawing/2014/main" id="{54DD8856-AAE6-4A61-A15D-E11ABE21115B}"/>
              </a:ext>
            </a:extLst>
          </p:cNvPr>
          <p:cNvSpPr>
            <a:spLocks xmlns:a="http://schemas.openxmlformats.org/drawingml/2006/main" noGrp="1"/>
          </p:cNvSpPr>
          <p:nvPr/>
        </p:nvSpPr>
        <p:spPr>
          <a:xfrm xmlns:a="http://schemas.openxmlformats.org/drawingml/2006/main">
            <a:off x="2590800" y="2009775"/>
            <a:ext cx="83820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BDD4703-933C-4C26-8215-B1B39FC5478B}"/>
              </a:ext>
            </a:extLst>
          </p:cNvPr>
          <p:cNvSpPr>
            <a:spLocks xmlns:a="http://schemas.openxmlformats.org/drawingml/2006/main" noGrp="1"/>
          </p:cNvSpPr>
          <p:nvPr/>
        </p:nvSpPr>
        <p:spPr>
          <a:xfrm xmlns:a="http://schemas.openxmlformats.org/drawingml/2006/main">
            <a:off x="259080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57DA898-04EB-4FA9-B8E5-F45873B20FB2}"/>
              </a:ext>
            </a:extLst>
          </p:cNvPr>
          <p:cNvSpPr>
            <a:spLocks xmlns:a="http://schemas.openxmlformats.org/drawingml/2006/main" noGrp="1"/>
          </p:cNvSpPr>
          <p:nvPr/>
        </p:nvSpPr>
        <p:spPr>
          <a:xfrm xmlns:a="http://schemas.openxmlformats.org/drawingml/2006/main">
            <a:off x="1095375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B6DD875-D329-4F0D-BCD7-92AD1A909CF7}"/>
              </a:ext>
            </a:extLst>
          </p:cNvPr>
          <p:cNvSpPr>
            <a:spLocks xmlns:a="http://schemas.openxmlformats.org/drawingml/2006/main" noGrp="1"/>
          </p:cNvSpPr>
          <p:nvPr/>
        </p:nvSpPr>
        <p:spPr>
          <a:xfrm xmlns:a="http://schemas.openxmlformats.org/drawingml/2006/main">
            <a:off x="2590800" y="23050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0" name="">
            <a:extLst xmlns:a="http://schemas.openxmlformats.org/drawingml/2006/main">
              <a:ext uri="{FF2B5EF4-FFF2-40B4-BE49-F238E27FC236}">
                <a16:creationId xmlns:a16="http://schemas.microsoft.com/office/drawing/2014/main" id="{0A2EA55B-2FDB-4243-B393-C363FD8297CE}"/>
              </a:ext>
            </a:extLst>
          </p:cNvPr>
          <p:cNvSpPr>
            <a:spLocks xmlns:a="http://schemas.openxmlformats.org/drawingml/2006/main" noGrp="1"/>
          </p:cNvSpPr>
          <p:nvPr/>
        </p:nvSpPr>
        <p:spPr>
          <a:xfrm xmlns:a="http://schemas.openxmlformats.org/drawingml/2006/main" rot="0">
            <a:off x="723900" y="24479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データ収集・加工</a:t>
            </a:r>
          </a:p>
        </p:txBody>
      </p:sp>
      <p:sp>
        <p:nvSpPr>
          <p:cNvPr id="11" name="">
            <a:extLst xmlns:a="http://schemas.openxmlformats.org/drawingml/2006/main">
              <a:ext uri="{FF2B5EF4-FFF2-40B4-BE49-F238E27FC236}">
                <a16:creationId xmlns:a16="http://schemas.microsoft.com/office/drawing/2014/main" id="{123556C4-F5E2-4D9A-B4A3-BDAE7285E42E}"/>
              </a:ext>
            </a:extLst>
          </p:cNvPr>
          <p:cNvSpPr>
            <a:spLocks xmlns:a="http://schemas.openxmlformats.org/drawingml/2006/main" noGrp="1"/>
          </p:cNvSpPr>
          <p:nvPr/>
        </p:nvSpPr>
        <p:spPr>
          <a:xfrm xmlns:a="http://schemas.openxmlformats.org/drawingml/2006/main">
            <a:off x="2590800" y="29908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2" name="">
            <a:extLst xmlns:a="http://schemas.openxmlformats.org/drawingml/2006/main">
              <a:ext uri="{FF2B5EF4-FFF2-40B4-BE49-F238E27FC236}">
                <a16:creationId xmlns:a16="http://schemas.microsoft.com/office/drawing/2014/main" id="{21FE4038-B94C-4FD1-8855-8A39C76CB59D}"/>
              </a:ext>
            </a:extLst>
          </p:cNvPr>
          <p:cNvSpPr>
            <a:spLocks xmlns:a="http://schemas.openxmlformats.org/drawingml/2006/main" noGrp="1"/>
          </p:cNvSpPr>
          <p:nvPr/>
        </p:nvSpPr>
        <p:spPr>
          <a:xfrm xmlns:a="http://schemas.openxmlformats.org/drawingml/2006/main" rot="0">
            <a:off x="723900" y="3048000"/>
            <a:ext cx="140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基盤モデル・</a:t>
            </a:r>
          </a:p>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シミュレーション</a:t>
            </a:r>
          </a:p>
        </p:txBody>
      </p:sp>
      <p:sp>
        <p:nvSpPr>
          <p:cNvPr id="13" name="">
            <a:extLst xmlns:a="http://schemas.openxmlformats.org/drawingml/2006/main">
              <a:ext uri="{FF2B5EF4-FFF2-40B4-BE49-F238E27FC236}">
                <a16:creationId xmlns:a16="http://schemas.microsoft.com/office/drawing/2014/main" id="{9DF4AC58-65E6-4360-B554-11DDE670C73C}"/>
              </a:ext>
            </a:extLst>
          </p:cNvPr>
          <p:cNvSpPr>
            <a:spLocks xmlns:a="http://schemas.openxmlformats.org/drawingml/2006/main" noGrp="1"/>
          </p:cNvSpPr>
          <p:nvPr/>
        </p:nvSpPr>
        <p:spPr>
          <a:xfrm xmlns:a="http://schemas.openxmlformats.org/drawingml/2006/main">
            <a:off x="2590800" y="36766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6A37FCB2-204E-453C-BD6E-E9E1CEB3F6D7}"/>
              </a:ext>
            </a:extLst>
          </p:cNvPr>
          <p:cNvSpPr>
            <a:spLocks xmlns:a="http://schemas.openxmlformats.org/drawingml/2006/main" noGrp="1"/>
          </p:cNvSpPr>
          <p:nvPr/>
        </p:nvSpPr>
        <p:spPr>
          <a:xfrm xmlns:a="http://schemas.openxmlformats.org/drawingml/2006/main" rot="0">
            <a:off x="723900" y="38195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ハードウェア</a:t>
            </a:r>
          </a:p>
        </p:txBody>
      </p:sp>
      <p:sp>
        <p:nvSpPr>
          <p:cNvPr id="15" name="">
            <a:extLst xmlns:a="http://schemas.openxmlformats.org/drawingml/2006/main">
              <a:ext uri="{FF2B5EF4-FFF2-40B4-BE49-F238E27FC236}">
                <a16:creationId xmlns:a16="http://schemas.microsoft.com/office/drawing/2014/main" id="{45E6CBD1-E326-4C60-80CB-0A0543869A43}"/>
              </a:ext>
            </a:extLst>
          </p:cNvPr>
          <p:cNvSpPr>
            <a:spLocks xmlns:a="http://schemas.openxmlformats.org/drawingml/2006/main" noGrp="1"/>
          </p:cNvSpPr>
          <p:nvPr/>
        </p:nvSpPr>
        <p:spPr>
          <a:xfrm xmlns:a="http://schemas.openxmlformats.org/drawingml/2006/main">
            <a:off x="2590800" y="43624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6E19379F-486F-4446-B84E-CD2A5D6DB50E}"/>
              </a:ext>
            </a:extLst>
          </p:cNvPr>
          <p:cNvSpPr>
            <a:spLocks xmlns:a="http://schemas.openxmlformats.org/drawingml/2006/main" noGrp="1"/>
          </p:cNvSpPr>
          <p:nvPr/>
        </p:nvSpPr>
        <p:spPr>
          <a:xfrm xmlns:a="http://schemas.openxmlformats.org/drawingml/2006/main" rot="0">
            <a:off x="723900" y="45053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現場統合</a:t>
            </a:r>
          </a:p>
        </p:txBody>
      </p:sp>
      <p:sp>
        <p:nvSpPr>
          <p:cNvPr id="17" name="">
            <a:extLst xmlns:a="http://schemas.openxmlformats.org/drawingml/2006/main">
              <a:ext uri="{FF2B5EF4-FFF2-40B4-BE49-F238E27FC236}">
                <a16:creationId xmlns:a16="http://schemas.microsoft.com/office/drawing/2014/main" id="{405518BB-60A9-4365-B4CD-A84C604E52F7}"/>
              </a:ext>
            </a:extLst>
          </p:cNvPr>
          <p:cNvSpPr>
            <a:spLocks xmlns:a="http://schemas.openxmlformats.org/drawingml/2006/main" noGrp="1"/>
          </p:cNvSpPr>
          <p:nvPr/>
        </p:nvSpPr>
        <p:spPr>
          <a:xfrm xmlns:a="http://schemas.openxmlformats.org/drawingml/2006/main">
            <a:off x="11029950" y="2305050"/>
            <a:ext cx="19050" cy="26098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544B9A7E-EAE2-4CDA-8EFC-5E9660D9288E}"/>
              </a:ext>
            </a:extLst>
          </p:cNvPr>
          <p:cNvSpPr>
            <a:spLocks xmlns:a="http://schemas.openxmlformats.org/drawingml/2006/main" noGrp="1"/>
          </p:cNvSpPr>
          <p:nvPr/>
        </p:nvSpPr>
        <p:spPr>
          <a:xfrm xmlns:a="http://schemas.openxmlformats.org/drawingml/2006/main">
            <a:off x="10972800" y="23050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046A41F-992B-461D-9C15-2897808EEA77}"/>
              </a:ext>
            </a:extLst>
          </p:cNvPr>
          <p:cNvSpPr>
            <a:spLocks xmlns:a="http://schemas.openxmlformats.org/drawingml/2006/main" noGrp="1"/>
          </p:cNvSpPr>
          <p:nvPr/>
        </p:nvSpPr>
        <p:spPr>
          <a:xfrm xmlns:a="http://schemas.openxmlformats.org/drawingml/2006/main">
            <a:off x="10972800" y="48958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84FE394E-E925-4AE2-9028-A1D89BA6718F}"/>
              </a:ext>
            </a:extLst>
          </p:cNvPr>
          <p:cNvSpPr>
            <a:spLocks xmlns:a="http://schemas.openxmlformats.org/drawingml/2006/main" noGrp="1"/>
          </p:cNvSpPr>
          <p:nvPr/>
        </p:nvSpPr>
        <p:spPr>
          <a:xfrm xmlns:a="http://schemas.openxmlformats.org/drawingml/2006/main" rot="5400000">
            <a:off x="10477500" y="37338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315C78"/>
                </a:solidFill>
                <a:latin typeface="Hiragino Sans"/>
                <a:ea typeface="Hiragino Sans"/>
                <a:cs typeface="Hiragino Sans"/>
              </a:defRPr>
            </a:pPr>
            <a:r>
              <a:rPr sz="975" b="1">
                <a:solidFill>
                  <a:srgbClr val="315C78"/>
                </a:solidFill>
                <a:latin typeface="Hiragino Sans"/>
                <a:ea typeface="Hiragino Sans"/>
                <a:cs typeface="Hiragino Sans"/>
              </a:rPr>
              <a:t>縦幅：担うレイヤーの範囲</a:t>
            </a:r>
          </a:p>
        </p:txBody>
      </p:sp>
      <p:sp>
        <p:nvSpPr>
          <p:cNvPr id="21" name="">
            <a:extLst xmlns:a="http://schemas.openxmlformats.org/drawingml/2006/main">
              <a:ext uri="{FF2B5EF4-FFF2-40B4-BE49-F238E27FC236}">
                <a16:creationId xmlns:a16="http://schemas.microsoft.com/office/drawing/2014/main" id="{A52CA1DB-0C2D-4F5D-BCC3-549091A3A7EC}"/>
              </a:ext>
            </a:extLst>
          </p:cNvPr>
          <p:cNvSpPr>
            <a:spLocks xmlns:a="http://schemas.openxmlformats.org/drawingml/2006/main" noGrp="1"/>
          </p:cNvSpPr>
          <p:nvPr/>
        </p:nvSpPr>
        <p:spPr>
          <a:xfrm xmlns:a="http://schemas.openxmlformats.org/drawingml/2006/main" rot="0">
            <a:off x="723900" y="53530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75" b="1">
                <a:solidFill>
                  <a:srgbClr val="58646A"/>
                </a:solidFill>
                <a:latin typeface="Hiragino Sans"/>
                <a:ea typeface="Hiragino Sans"/>
                <a:cs typeface="Hiragino Sans"/>
              </a:defRPr>
            </a:pPr>
            <a:r>
              <a:rPr sz="1275" b="1">
                <a:solidFill>
                  <a:srgbClr val="58646A"/>
                </a:solidFill>
                <a:latin typeface="Hiragino Sans"/>
                <a:ea typeface="Hiragino Sans"/>
                <a:cs typeface="Hiragino Sans"/>
              </a:rPr>
              <a:t>現場</a:t>
            </a:r>
          </a:p>
        </p:txBody>
      </p:sp>
      <p:sp>
        <p:nvSpPr>
          <p:cNvPr id="22" name="">
            <a:extLst xmlns:a="http://schemas.openxmlformats.org/drawingml/2006/main">
              <a:ext uri="{FF2B5EF4-FFF2-40B4-BE49-F238E27FC236}">
                <a16:creationId xmlns:a16="http://schemas.microsoft.com/office/drawing/2014/main" id="{1BC26668-DB44-4792-83E7-3E71CF09F021}"/>
              </a:ext>
            </a:extLst>
          </p:cNvPr>
          <p:cNvSpPr>
            <a:spLocks xmlns:a="http://schemas.openxmlformats.org/drawingml/2006/main" noGrp="1"/>
          </p:cNvSpPr>
          <p:nvPr/>
        </p:nvSpPr>
        <p:spPr>
          <a:xfrm xmlns:a="http://schemas.openxmlformats.org/drawingml/2006/main">
            <a:off x="2590800" y="5257800"/>
            <a:ext cx="838200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22DB4DDD-B55F-45AC-B1B7-67AF75193111}"/>
              </a:ext>
            </a:extLst>
          </p:cNvPr>
          <p:cNvSpPr>
            <a:spLocks xmlns:a="http://schemas.openxmlformats.org/drawingml/2006/main" noGrp="1"/>
          </p:cNvSpPr>
          <p:nvPr/>
        </p:nvSpPr>
        <p:spPr>
          <a:xfrm xmlns:a="http://schemas.openxmlformats.org/drawingml/2006/main" rot="0">
            <a:off x="2590800" y="53816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飲食　　小売　　製造　　物流　　建築　　医療　　その他の現場</a:t>
            </a:r>
          </a:p>
        </p:txBody>
      </p:sp>
      <p:sp>
        <p:nvSpPr>
          <p:cNvPr id="24" name="">
            <a:extLst xmlns:a="http://schemas.openxmlformats.org/drawingml/2006/main">
              <a:ext uri="{FF2B5EF4-FFF2-40B4-BE49-F238E27FC236}">
                <a16:creationId xmlns:a16="http://schemas.microsoft.com/office/drawing/2014/main" id="{88F71BB3-4225-4610-A802-7DABBB71D020}"/>
              </a:ext>
            </a:extLst>
          </p:cNvPr>
          <p:cNvSpPr>
            <a:spLocks xmlns:a="http://schemas.openxmlformats.org/drawingml/2006/main" noGrp="1"/>
          </p:cNvSpPr>
          <p:nvPr/>
        </p:nvSpPr>
        <p:spPr>
          <a:xfrm xmlns:a="http://schemas.openxmlformats.org/drawingml/2006/main">
            <a:off x="2990850" y="23050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5" name="">
            <a:extLst xmlns:a="http://schemas.openxmlformats.org/drawingml/2006/main">
              <a:ext uri="{FF2B5EF4-FFF2-40B4-BE49-F238E27FC236}">
                <a16:creationId xmlns:a16="http://schemas.microsoft.com/office/drawing/2014/main" id="{A8005F43-FA0D-498C-8C95-C0464C14DA71}"/>
              </a:ext>
            </a:extLst>
          </p:cNvPr>
          <p:cNvSpPr>
            <a:spLocks xmlns:a="http://schemas.openxmlformats.org/drawingml/2006/main" noGrp="1"/>
          </p:cNvSpPr>
          <p:nvPr/>
        </p:nvSpPr>
        <p:spPr>
          <a:xfrm xmlns:a="http://schemas.openxmlformats.org/drawingml/2006/main" rot="0">
            <a:off x="5248275" y="2371725"/>
            <a:ext cx="51530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水平統合型　　一つのレイヤーで、多数の現場を占める</a:t>
            </a:r>
          </a:p>
        </p:txBody>
      </p:sp>
      <p:sp>
        <p:nvSpPr>
          <p:cNvPr id="26" name="">
            <a:extLst xmlns:a="http://schemas.openxmlformats.org/drawingml/2006/main">
              <a:ext uri="{FF2B5EF4-FFF2-40B4-BE49-F238E27FC236}">
                <a16:creationId xmlns:a16="http://schemas.microsoft.com/office/drawing/2014/main" id="{3A173FBE-6A61-488C-AC65-6517F4DF5DC8}"/>
              </a:ext>
            </a:extLst>
          </p:cNvPr>
          <p:cNvSpPr>
            <a:spLocks xmlns:a="http://schemas.openxmlformats.org/drawingml/2006/main" noGrp="1"/>
          </p:cNvSpPr>
          <p:nvPr/>
        </p:nvSpPr>
        <p:spPr>
          <a:xfrm xmlns:a="http://schemas.openxmlformats.org/drawingml/2006/main" rot="0">
            <a:off x="5248275" y="2600325"/>
            <a:ext cx="51530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DeepReach / BuildAI</a:t>
            </a:r>
          </a:p>
        </p:txBody>
      </p:sp>
      <p:sp>
        <p:nvSpPr>
          <p:cNvPr id="27" name="">
            <a:extLst xmlns:a="http://schemas.openxmlformats.org/drawingml/2006/main">
              <a:ext uri="{FF2B5EF4-FFF2-40B4-BE49-F238E27FC236}">
                <a16:creationId xmlns:a16="http://schemas.microsoft.com/office/drawing/2014/main" id="{8886B80B-ED8C-4A22-9F40-CCB2A899795B}"/>
              </a:ext>
            </a:extLst>
          </p:cNvPr>
          <p:cNvSpPr>
            <a:spLocks xmlns:a="http://schemas.openxmlformats.org/drawingml/2006/main" noGrp="1"/>
          </p:cNvSpPr>
          <p:nvPr/>
        </p:nvSpPr>
        <p:spPr>
          <a:xfrm xmlns:a="http://schemas.openxmlformats.org/drawingml/2006/main">
            <a:off x="2990850" y="29908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8" name="">
            <a:extLst xmlns:a="http://schemas.openxmlformats.org/drawingml/2006/main">
              <a:ext uri="{FF2B5EF4-FFF2-40B4-BE49-F238E27FC236}">
                <a16:creationId xmlns:a16="http://schemas.microsoft.com/office/drawing/2014/main" id="{86132A4D-2E18-44A5-8657-E054F03D99A4}"/>
              </a:ext>
            </a:extLst>
          </p:cNvPr>
          <p:cNvSpPr>
            <a:spLocks xmlns:a="http://schemas.openxmlformats.org/drawingml/2006/main" noGrp="1"/>
          </p:cNvSpPr>
          <p:nvPr/>
        </p:nvSpPr>
        <p:spPr>
          <a:xfrm xmlns:a="http://schemas.openxmlformats.org/drawingml/2006/main" rot="0">
            <a:off x="5248275" y="31432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PI / SkilledAI / NVIDIA</a:t>
            </a:r>
          </a:p>
        </p:txBody>
      </p:sp>
      <p:sp>
        <p:nvSpPr>
          <p:cNvPr id="29" name="">
            <a:extLst xmlns:a="http://schemas.openxmlformats.org/drawingml/2006/main">
              <a:ext uri="{FF2B5EF4-FFF2-40B4-BE49-F238E27FC236}">
                <a16:creationId xmlns:a16="http://schemas.microsoft.com/office/drawing/2014/main" id="{6236F544-E6A9-4F8E-A2A1-6BF5804BC743}"/>
              </a:ext>
            </a:extLst>
          </p:cNvPr>
          <p:cNvSpPr>
            <a:spLocks xmlns:a="http://schemas.openxmlformats.org/drawingml/2006/main" noGrp="1"/>
          </p:cNvSpPr>
          <p:nvPr/>
        </p:nvSpPr>
        <p:spPr>
          <a:xfrm xmlns:a="http://schemas.openxmlformats.org/drawingml/2006/main">
            <a:off x="2990850" y="36766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0" name="">
            <a:extLst xmlns:a="http://schemas.openxmlformats.org/drawingml/2006/main">
              <a:ext uri="{FF2B5EF4-FFF2-40B4-BE49-F238E27FC236}">
                <a16:creationId xmlns:a16="http://schemas.microsoft.com/office/drawing/2014/main" id="{C12B0A84-B14E-49A8-AEA6-5DC845AF86D3}"/>
              </a:ext>
            </a:extLst>
          </p:cNvPr>
          <p:cNvSpPr>
            <a:spLocks xmlns:a="http://schemas.openxmlformats.org/drawingml/2006/main" noGrp="1"/>
          </p:cNvSpPr>
          <p:nvPr/>
        </p:nvSpPr>
        <p:spPr>
          <a:xfrm xmlns:a="http://schemas.openxmlformats.org/drawingml/2006/main" rot="0">
            <a:off x="5248275" y="38290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Unitree</a:t>
            </a:r>
          </a:p>
        </p:txBody>
      </p:sp>
      <p:sp>
        <p:nvSpPr>
          <p:cNvPr id="31" name="">
            <a:extLst xmlns:a="http://schemas.openxmlformats.org/drawingml/2006/main">
              <a:ext uri="{FF2B5EF4-FFF2-40B4-BE49-F238E27FC236}">
                <a16:creationId xmlns:a16="http://schemas.microsoft.com/office/drawing/2014/main" id="{7C1FECE1-D7FD-4395-BF9D-EFA165EF185F}"/>
              </a:ext>
            </a:extLst>
          </p:cNvPr>
          <p:cNvSpPr>
            <a:spLocks xmlns:a="http://schemas.openxmlformats.org/drawingml/2006/main" noGrp="1"/>
          </p:cNvSpPr>
          <p:nvPr/>
        </p:nvSpPr>
        <p:spPr>
          <a:xfrm xmlns:a="http://schemas.openxmlformats.org/drawingml/2006/main">
            <a:off x="2990850" y="43624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2" name="">
            <a:extLst xmlns:a="http://schemas.openxmlformats.org/drawingml/2006/main">
              <a:ext uri="{FF2B5EF4-FFF2-40B4-BE49-F238E27FC236}">
                <a16:creationId xmlns:a16="http://schemas.microsoft.com/office/drawing/2014/main" id="{C893DBFD-4754-4B44-BB23-1D3B22FFCC7D}"/>
              </a:ext>
            </a:extLst>
          </p:cNvPr>
          <p:cNvSpPr>
            <a:spLocks xmlns:a="http://schemas.openxmlformats.org/drawingml/2006/main" noGrp="1"/>
          </p:cNvSpPr>
          <p:nvPr/>
        </p:nvSpPr>
        <p:spPr>
          <a:xfrm xmlns:a="http://schemas.openxmlformats.org/drawingml/2006/main" rot="0">
            <a:off x="5248275" y="45148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HIVE Robotics / Formic</a:t>
            </a:r>
          </a:p>
        </p:txBody>
      </p:sp>
      <p:sp>
        <p:nvSpPr>
          <p:cNvPr id="33" name="">
            <a:extLst xmlns:a="http://schemas.openxmlformats.org/drawingml/2006/main">
              <a:ext uri="{FF2B5EF4-FFF2-40B4-BE49-F238E27FC236}">
                <a16:creationId xmlns:a16="http://schemas.microsoft.com/office/drawing/2014/main" id="{43832FB4-E05D-494D-A081-1177DE854103}"/>
              </a:ext>
            </a:extLst>
          </p:cNvPr>
          <p:cNvSpPr>
            <a:spLocks xmlns:a="http://schemas.openxmlformats.org/drawingml/2006/main" noGrp="1"/>
          </p:cNvSpPr>
          <p:nvPr/>
        </p:nvSpPr>
        <p:spPr>
          <a:xfrm xmlns:a="http://schemas.openxmlformats.org/drawingml/2006/main">
            <a:off x="2990850" y="2305050"/>
            <a:ext cx="2047875" cy="26098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4" name="">
            <a:extLst xmlns:a="http://schemas.openxmlformats.org/drawingml/2006/main">
              <a:ext uri="{FF2B5EF4-FFF2-40B4-BE49-F238E27FC236}">
                <a16:creationId xmlns:a16="http://schemas.microsoft.com/office/drawing/2014/main" id="{BDE9FF30-2E09-40DD-BCF9-1338BC87563C}"/>
              </a:ext>
            </a:extLst>
          </p:cNvPr>
          <p:cNvSpPr>
            <a:spLocks xmlns:a="http://schemas.openxmlformats.org/drawingml/2006/main" noGrp="1"/>
          </p:cNvSpPr>
          <p:nvPr/>
        </p:nvSpPr>
        <p:spPr>
          <a:xfrm xmlns:a="http://schemas.openxmlformats.org/drawingml/2006/main" rot="0">
            <a:off x="3162300" y="2571750"/>
            <a:ext cx="17049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垂直統合型</a:t>
            </a:r>
          </a:p>
        </p:txBody>
      </p:sp>
      <p:sp>
        <p:nvSpPr>
          <p:cNvPr id="35" name="">
            <a:extLst xmlns:a="http://schemas.openxmlformats.org/drawingml/2006/main">
              <a:ext uri="{FF2B5EF4-FFF2-40B4-BE49-F238E27FC236}">
                <a16:creationId xmlns:a16="http://schemas.microsoft.com/office/drawing/2014/main" id="{8BD95A40-6A59-49A6-88C7-8F1AC3C2F419}"/>
              </a:ext>
            </a:extLst>
          </p:cNvPr>
          <p:cNvSpPr>
            <a:spLocks xmlns:a="http://schemas.openxmlformats.org/drawingml/2006/main" noGrp="1"/>
          </p:cNvSpPr>
          <p:nvPr/>
        </p:nvSpPr>
        <p:spPr>
          <a:xfrm xmlns:a="http://schemas.openxmlformats.org/drawingml/2006/main" rot="0">
            <a:off x="3162300" y="3133725"/>
            <a:ext cx="17049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特定の現場を</a:t>
            </a:r>
          </a:p>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複数レイヤーで担う</a:t>
            </a:r>
          </a:p>
        </p:txBody>
      </p:sp>
      <p:sp>
        <p:nvSpPr>
          <p:cNvPr id="36" name="">
            <a:extLst xmlns:a="http://schemas.openxmlformats.org/drawingml/2006/main">
              <a:ext uri="{FF2B5EF4-FFF2-40B4-BE49-F238E27FC236}">
                <a16:creationId xmlns:a16="http://schemas.microsoft.com/office/drawing/2014/main" id="{EA7C7941-9D7B-4989-910A-010DA2DBC553}"/>
              </a:ext>
            </a:extLst>
          </p:cNvPr>
          <p:cNvSpPr>
            <a:spLocks xmlns:a="http://schemas.openxmlformats.org/drawingml/2006/main" noGrp="1"/>
          </p:cNvSpPr>
          <p:nvPr/>
        </p:nvSpPr>
        <p:spPr>
          <a:xfrm xmlns:a="http://schemas.openxmlformats.org/drawingml/2006/main" rot="0">
            <a:off x="3162300" y="4067175"/>
            <a:ext cx="17049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1X</a:t>
            </a:r>
          </a:p>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Sunday Robotics</a:t>
            </a:r>
          </a:p>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ATOM</a:t>
            </a:r>
          </a:p>
        </p:txBody>
      </p:sp>
    </p:spTree>
    <p:extLst>
      <p:ext uri="{BB962C8B-B14F-4D97-AF65-F5344CB8AC3E}">
        <p14:creationId xmlns:p14="http://schemas.microsoft.com/office/powerpoint/2010/main" val="162749756"/>
      </p:ext>
    </p:extLst>
  </p:cSld>
</p:sld>
</file>

<file path=ppt/slides/slide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62BB60A-33A9-4D57-BFE6-D9B9F2471F0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DC89D0E-9F63-42B3-8F2B-0874515D4D35}"/>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垂直統合型と水平統合型</a:t>
            </a:r>
          </a:p>
        </p:txBody>
      </p:sp>
      <p:sp>
        <p:nvSpPr>
          <p:cNvPr id="3" name="">
            <a:extLst xmlns:a="http://schemas.openxmlformats.org/drawingml/2006/main">
              <a:ext uri="{FF2B5EF4-FFF2-40B4-BE49-F238E27FC236}">
                <a16:creationId xmlns:a16="http://schemas.microsoft.com/office/drawing/2014/main" id="{EC9BB026-5C34-4D4E-9557-F0681D949CA7}"/>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EBB1A12-1E5C-4D7A-AEA1-E5D379FE0CC6}"/>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03</a:t>
            </a:r>
          </a:p>
        </p:txBody>
      </p:sp>
      <p:sp>
        <p:nvSpPr>
          <p:cNvPr id="5" name="">
            <a:extLst xmlns:a="http://schemas.openxmlformats.org/drawingml/2006/main">
              <a:ext uri="{FF2B5EF4-FFF2-40B4-BE49-F238E27FC236}">
                <a16:creationId xmlns:a16="http://schemas.microsoft.com/office/drawing/2014/main" id="{B9A29412-3DE3-4D4D-BBE6-5760EA4742BB}"/>
              </a:ext>
            </a:extLst>
          </p:cNvPr>
          <p:cNvSpPr>
            <a:spLocks xmlns:a="http://schemas.openxmlformats.org/drawingml/2006/main" noGrp="1"/>
          </p:cNvSpPr>
          <p:nvPr/>
        </p:nvSpPr>
        <p:spPr>
          <a:xfrm xmlns:a="http://schemas.openxmlformats.org/drawingml/2006/main" rot="0">
            <a:off x="723900" y="192405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垂直統合型</a:t>
            </a:r>
          </a:p>
        </p:txBody>
      </p:sp>
      <p:sp>
        <p:nvSpPr>
          <p:cNvPr id="6" name="">
            <a:extLst xmlns:a="http://schemas.openxmlformats.org/drawingml/2006/main">
              <a:ext uri="{FF2B5EF4-FFF2-40B4-BE49-F238E27FC236}">
                <a16:creationId xmlns:a16="http://schemas.microsoft.com/office/drawing/2014/main" id="{6CF08262-E8C7-4A8C-98AB-8F5654F4CE11}"/>
              </a:ext>
            </a:extLst>
          </p:cNvPr>
          <p:cNvSpPr>
            <a:spLocks xmlns:a="http://schemas.openxmlformats.org/drawingml/2006/main" noGrp="1"/>
          </p:cNvSpPr>
          <p:nvPr/>
        </p:nvSpPr>
        <p:spPr>
          <a:xfrm xmlns:a="http://schemas.openxmlformats.org/drawingml/2006/main" rot="0">
            <a:off x="723900" y="2381250"/>
            <a:ext cx="47625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特定の業種・タスクに絞り、決め打ちで</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現場で実際に動くロボットを作る。</a:t>
            </a:r>
          </a:p>
          <a:p xmlns:a="http://schemas.openxmlformats.org/drawingml/2006/main">
            <a:r>
              <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完全な自律運用が難しい場合は、遠隔操作で働くレベルから商用化する企業もあれば、自律運用の幅を地道に広げる企業もある。</a:t>
            </a:r>
          </a:p>
        </p:txBody>
      </p:sp>
      <p:sp>
        <p:nvSpPr>
          <p:cNvPr id="7" name="">
            <a:extLst xmlns:a="http://schemas.openxmlformats.org/drawingml/2006/main">
              <a:ext uri="{FF2B5EF4-FFF2-40B4-BE49-F238E27FC236}">
                <a16:creationId xmlns:a16="http://schemas.microsoft.com/office/drawing/2014/main" id="{427213C4-D5AF-4062-9063-25F356011D5A}"/>
              </a:ext>
            </a:extLst>
          </p:cNvPr>
          <p:cNvSpPr>
            <a:spLocks xmlns:a="http://schemas.openxmlformats.org/drawingml/2006/main" noGrp="1"/>
          </p:cNvSpPr>
          <p:nvPr/>
        </p:nvSpPr>
        <p:spPr>
          <a:xfrm xmlns:a="http://schemas.openxmlformats.org/drawingml/2006/main" rot="0">
            <a:off x="723900" y="46672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8646A"/>
                </a:solidFill>
                <a:latin typeface="Hiragino Sans"/>
                <a:ea typeface="Hiragino Sans"/>
                <a:cs typeface="Hiragino Sans"/>
              </a:defRPr>
            </a:pPr>
            <a:r>
              <a:rPr sz="1125" b="1">
                <a:solidFill>
                  <a:srgbClr val="58646A"/>
                </a:solidFill>
                <a:latin typeface="Hiragino Sans"/>
                <a:ea typeface="Hiragino Sans"/>
                <a:cs typeface="Hiragino Sans"/>
              </a:rPr>
              <a:t>代表例</a:t>
            </a:r>
          </a:p>
        </p:txBody>
      </p:sp>
      <p:sp>
        <p:nvSpPr>
          <p:cNvPr id="8" name="">
            <a:extLst xmlns:a="http://schemas.openxmlformats.org/drawingml/2006/main">
              <a:ext uri="{FF2B5EF4-FFF2-40B4-BE49-F238E27FC236}">
                <a16:creationId xmlns:a16="http://schemas.microsoft.com/office/drawing/2014/main" id="{780D7D26-612E-4C98-B4ED-175C56BBF9A2}"/>
              </a:ext>
            </a:extLst>
          </p:cNvPr>
          <p:cNvSpPr>
            <a:spLocks xmlns:a="http://schemas.openxmlformats.org/drawingml/2006/main" noGrp="1"/>
          </p:cNvSpPr>
          <p:nvPr/>
        </p:nvSpPr>
        <p:spPr>
          <a:xfrm xmlns:a="http://schemas.openxmlformats.org/drawingml/2006/main" rot="0">
            <a:off x="723900" y="5000625"/>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1X / Sunday Robotics</a:t>
            </a:r>
          </a:p>
        </p:txBody>
      </p:sp>
      <p:sp>
        <p:nvSpPr>
          <p:cNvPr id="9" name="">
            <a:extLst xmlns:a="http://schemas.openxmlformats.org/drawingml/2006/main">
              <a:ext uri="{FF2B5EF4-FFF2-40B4-BE49-F238E27FC236}">
                <a16:creationId xmlns:a16="http://schemas.microsoft.com/office/drawing/2014/main" id="{825F12BA-7C1E-4CBF-B69A-E728703C9F25}"/>
              </a:ext>
            </a:extLst>
          </p:cNvPr>
          <p:cNvSpPr>
            <a:spLocks xmlns:a="http://schemas.openxmlformats.org/drawingml/2006/main" noGrp="1"/>
          </p:cNvSpPr>
          <p:nvPr/>
        </p:nvSpPr>
        <p:spPr>
          <a:xfrm xmlns:a="http://schemas.openxmlformats.org/drawingml/2006/main">
            <a:off x="5972175" y="1952625"/>
            <a:ext cx="9525" cy="38576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EA52C86-1CF7-4BD8-9EB9-4F7EAEED3C41}"/>
              </a:ext>
            </a:extLst>
          </p:cNvPr>
          <p:cNvSpPr>
            <a:spLocks xmlns:a="http://schemas.openxmlformats.org/drawingml/2006/main" noGrp="1"/>
          </p:cNvSpPr>
          <p:nvPr/>
        </p:nvSpPr>
        <p:spPr>
          <a:xfrm xmlns:a="http://schemas.openxmlformats.org/drawingml/2006/main" rot="0">
            <a:off x="6477000" y="192405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水平統合型</a:t>
            </a:r>
          </a:p>
        </p:txBody>
      </p:sp>
      <p:sp>
        <p:nvSpPr>
          <p:cNvPr id="11" name="">
            <a:extLst xmlns:a="http://schemas.openxmlformats.org/drawingml/2006/main">
              <a:ext uri="{FF2B5EF4-FFF2-40B4-BE49-F238E27FC236}">
                <a16:creationId xmlns:a16="http://schemas.microsoft.com/office/drawing/2014/main" id="{6A0E9976-91B3-4193-9C3F-C860372D1CC1}"/>
              </a:ext>
            </a:extLst>
          </p:cNvPr>
          <p:cNvSpPr>
            <a:spLocks xmlns:a="http://schemas.openxmlformats.org/drawingml/2006/main" noGrp="1"/>
          </p:cNvSpPr>
          <p:nvPr/>
        </p:nvSpPr>
        <p:spPr>
          <a:xfrm xmlns:a="http://schemas.openxmlformats.org/drawingml/2006/main" rot="0">
            <a:off x="6477000" y="2381250"/>
            <a:ext cx="46672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垂直統合型のバリューチェーンを分解するイメージであり、現在多くのレイヤーが存在する。データ収集・加工、基盤モデル・シミュレーション、ハードウェア、現場統合が、それぞれ独立した事業として広がっている。</a:t>
            </a:r>
          </a:p>
        </p:txBody>
      </p:sp>
      <p:sp>
        <p:nvSpPr>
          <p:cNvPr id="12" name="">
            <a:extLst xmlns:a="http://schemas.openxmlformats.org/drawingml/2006/main">
              <a:ext uri="{FF2B5EF4-FFF2-40B4-BE49-F238E27FC236}">
                <a16:creationId xmlns:a16="http://schemas.microsoft.com/office/drawing/2014/main" id="{97B70B9A-F860-40C4-B264-75B05485280E}"/>
              </a:ext>
            </a:extLst>
          </p:cNvPr>
          <p:cNvSpPr>
            <a:spLocks xmlns:a="http://schemas.openxmlformats.org/drawingml/2006/main" noGrp="1"/>
          </p:cNvSpPr>
          <p:nvPr/>
        </p:nvSpPr>
        <p:spPr>
          <a:xfrm xmlns:a="http://schemas.openxmlformats.org/drawingml/2006/main" rot="0">
            <a:off x="6477000" y="4476750"/>
            <a:ext cx="466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実際には、垂直統合と水平展開の両方の性質を持つ企業もある。</a:t>
            </a:r>
          </a:p>
        </p:txBody>
      </p:sp>
    </p:spTree>
    <p:extLst>
      <p:ext uri="{BB962C8B-B14F-4D97-AF65-F5344CB8AC3E}">
        <p14:creationId xmlns:p14="http://schemas.microsoft.com/office/powerpoint/2010/main" val="94483704"/>
      </p:ext>
    </p:extLst>
  </p:cSld>
</p:sld>
</file>

<file path=ppt/slides/slide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9A4B1B97-F115-481E-BFD3-E109852B4AD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C4E0969-B948-46D4-96D5-E07DC5848D6C}"/>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水平統合型に存在するレイヤー</a:t>
            </a:r>
          </a:p>
        </p:txBody>
      </p:sp>
      <p:sp>
        <p:nvSpPr>
          <p:cNvPr id="3" name="">
            <a:extLst xmlns:a="http://schemas.openxmlformats.org/drawingml/2006/main">
              <a:ext uri="{FF2B5EF4-FFF2-40B4-BE49-F238E27FC236}">
                <a16:creationId xmlns:a16="http://schemas.microsoft.com/office/drawing/2014/main" id="{6FEFB3F8-31C4-47CD-916D-B875E71FCDFA}"/>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B260F88-0BA7-435E-8833-CF7C66E2E21F}"/>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04</a:t>
            </a:r>
          </a:p>
        </p:txBody>
      </p:sp>
      <p:sp>
        <p:nvSpPr>
          <p:cNvPr id="5" name="">
            <a:extLst xmlns:a="http://schemas.openxmlformats.org/drawingml/2006/main">
              <a:ext uri="{FF2B5EF4-FFF2-40B4-BE49-F238E27FC236}">
                <a16:creationId xmlns:a16="http://schemas.microsoft.com/office/drawing/2014/main" id="{8EA9835D-9123-4C14-B4A4-B1006D800F14}"/>
              </a:ext>
            </a:extLst>
          </p:cNvPr>
          <p:cNvSpPr>
            <a:spLocks xmlns:a="http://schemas.openxmlformats.org/drawingml/2006/main" noGrp="1"/>
          </p:cNvSpPr>
          <p:nvPr/>
        </p:nvSpPr>
        <p:spPr>
          <a:xfrm xmlns:a="http://schemas.openxmlformats.org/drawingml/2006/main" rot="0">
            <a:off x="9191625" y="1571625"/>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企業例</a:t>
            </a:r>
          </a:p>
        </p:txBody>
      </p:sp>
      <p:sp>
        <p:nvSpPr>
          <p:cNvPr id="6" name="">
            <a:extLst xmlns:a="http://schemas.openxmlformats.org/drawingml/2006/main">
              <a:ext uri="{FF2B5EF4-FFF2-40B4-BE49-F238E27FC236}">
                <a16:creationId xmlns:a16="http://schemas.microsoft.com/office/drawing/2014/main" id="{752B4333-6511-49EB-86A2-8DCF55451B81}"/>
              </a:ext>
            </a:extLst>
          </p:cNvPr>
          <p:cNvSpPr>
            <a:spLocks xmlns:a="http://schemas.openxmlformats.org/drawingml/2006/main" noGrp="1"/>
          </p:cNvSpPr>
          <p:nvPr/>
        </p:nvSpPr>
        <p:spPr>
          <a:xfrm xmlns:a="http://schemas.openxmlformats.org/drawingml/2006/main" rot="0">
            <a:off x="723900" y="1809750"/>
            <a:ext cx="2238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データ収集層</a:t>
            </a:r>
          </a:p>
        </p:txBody>
      </p:sp>
      <p:sp>
        <p:nvSpPr>
          <p:cNvPr id="7" name="">
            <a:extLst xmlns:a="http://schemas.openxmlformats.org/drawingml/2006/main">
              <a:ext uri="{FF2B5EF4-FFF2-40B4-BE49-F238E27FC236}">
                <a16:creationId xmlns:a16="http://schemas.microsoft.com/office/drawing/2014/main" id="{47E35A47-D5D1-418C-B2D4-0EB7A9FD5BB7}"/>
              </a:ext>
            </a:extLst>
          </p:cNvPr>
          <p:cNvSpPr>
            <a:spLocks xmlns:a="http://schemas.openxmlformats.org/drawingml/2006/main" noGrp="1"/>
          </p:cNvSpPr>
          <p:nvPr/>
        </p:nvSpPr>
        <p:spPr>
          <a:xfrm xmlns:a="http://schemas.openxmlformats.org/drawingml/2006/main" rot="0">
            <a:off x="3143250" y="1790700"/>
            <a:ext cx="5715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人間の作業データ、遠隔操作による収集、合成データ、生データの加工。収集に特化したデバイス開発も広がりはじめている。</a:t>
            </a:r>
          </a:p>
        </p:txBody>
      </p:sp>
      <p:sp>
        <p:nvSpPr>
          <p:cNvPr id="8" name="">
            <a:extLst xmlns:a="http://schemas.openxmlformats.org/drawingml/2006/main">
              <a:ext uri="{FF2B5EF4-FFF2-40B4-BE49-F238E27FC236}">
                <a16:creationId xmlns:a16="http://schemas.microsoft.com/office/drawing/2014/main" id="{98962ED0-3481-4FD5-9012-0ED1818F7536}"/>
              </a:ext>
            </a:extLst>
          </p:cNvPr>
          <p:cNvSpPr>
            <a:spLocks xmlns:a="http://schemas.openxmlformats.org/drawingml/2006/main" noGrp="1"/>
          </p:cNvSpPr>
          <p:nvPr/>
        </p:nvSpPr>
        <p:spPr>
          <a:xfrm xmlns:a="http://schemas.openxmlformats.org/drawingml/2006/main">
            <a:off x="723900" y="27432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1247E93-E12E-41F6-BC1B-D7F5F3347994}"/>
              </a:ext>
            </a:extLst>
          </p:cNvPr>
          <p:cNvSpPr>
            <a:spLocks xmlns:a="http://schemas.openxmlformats.org/drawingml/2006/main" noGrp="1"/>
          </p:cNvSpPr>
          <p:nvPr/>
        </p:nvSpPr>
        <p:spPr>
          <a:xfrm xmlns:a="http://schemas.openxmlformats.org/drawingml/2006/main" rot="0">
            <a:off x="9191625" y="20097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DeepReach / BuildAI</a:t>
            </a:r>
          </a:p>
        </p:txBody>
      </p:sp>
      <p:sp>
        <p:nvSpPr>
          <p:cNvPr id="10" name="">
            <a:extLst xmlns:a="http://schemas.openxmlformats.org/drawingml/2006/main">
              <a:ext uri="{FF2B5EF4-FFF2-40B4-BE49-F238E27FC236}">
                <a16:creationId xmlns:a16="http://schemas.microsoft.com/office/drawing/2014/main" id="{2417DBE9-85C7-4505-8588-370D1E4FDD81}"/>
              </a:ext>
            </a:extLst>
          </p:cNvPr>
          <p:cNvSpPr>
            <a:spLocks xmlns:a="http://schemas.openxmlformats.org/drawingml/2006/main" noGrp="1"/>
          </p:cNvSpPr>
          <p:nvPr/>
        </p:nvSpPr>
        <p:spPr>
          <a:xfrm xmlns:a="http://schemas.openxmlformats.org/drawingml/2006/main" rot="0">
            <a:off x="723900" y="2857500"/>
            <a:ext cx="2238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基盤モデル・</a:t>
            </a:r>
          </a:p>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シミュレーション</a:t>
            </a:r>
          </a:p>
        </p:txBody>
      </p:sp>
      <p:sp>
        <p:nvSpPr>
          <p:cNvPr id="11" name="">
            <a:extLst xmlns:a="http://schemas.openxmlformats.org/drawingml/2006/main">
              <a:ext uri="{FF2B5EF4-FFF2-40B4-BE49-F238E27FC236}">
                <a16:creationId xmlns:a16="http://schemas.microsoft.com/office/drawing/2014/main" id="{22370D3B-783C-4DAA-BEC5-9032B74407B2}"/>
              </a:ext>
            </a:extLst>
          </p:cNvPr>
          <p:cNvSpPr>
            <a:spLocks xmlns:a="http://schemas.openxmlformats.org/drawingml/2006/main" noGrp="1"/>
          </p:cNvSpPr>
          <p:nvPr/>
        </p:nvSpPr>
        <p:spPr>
          <a:xfrm xmlns:a="http://schemas.openxmlformats.org/drawingml/2006/main" rot="0">
            <a:off x="3143250" y="2838450"/>
            <a:ext cx="5715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現実世界を仮想環境に再現し、必要な実データ量を抑えながらモデル開発を進める。</a:t>
            </a:r>
          </a:p>
        </p:txBody>
      </p:sp>
      <p:sp>
        <p:nvSpPr>
          <p:cNvPr id="12" name="">
            <a:extLst xmlns:a="http://schemas.openxmlformats.org/drawingml/2006/main">
              <a:ext uri="{FF2B5EF4-FFF2-40B4-BE49-F238E27FC236}">
                <a16:creationId xmlns:a16="http://schemas.microsoft.com/office/drawing/2014/main" id="{6445174F-9E55-4303-A34D-6C9BFF9FE03C}"/>
              </a:ext>
            </a:extLst>
          </p:cNvPr>
          <p:cNvSpPr>
            <a:spLocks xmlns:a="http://schemas.openxmlformats.org/drawingml/2006/main" noGrp="1"/>
          </p:cNvSpPr>
          <p:nvPr/>
        </p:nvSpPr>
        <p:spPr>
          <a:xfrm xmlns:a="http://schemas.openxmlformats.org/drawingml/2006/main">
            <a:off x="723900" y="38862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BC16E53-15A6-433F-A359-45897EB1D4E6}"/>
              </a:ext>
            </a:extLst>
          </p:cNvPr>
          <p:cNvSpPr>
            <a:spLocks xmlns:a="http://schemas.openxmlformats.org/drawingml/2006/main" noGrp="1"/>
          </p:cNvSpPr>
          <p:nvPr/>
        </p:nvSpPr>
        <p:spPr>
          <a:xfrm xmlns:a="http://schemas.openxmlformats.org/drawingml/2006/main" rot="0">
            <a:off x="9191625" y="3057525"/>
            <a:ext cx="209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PI / SkilledAI / NVIDIA</a:t>
            </a:r>
          </a:p>
        </p:txBody>
      </p:sp>
      <p:sp>
        <p:nvSpPr>
          <p:cNvPr id="14" name="">
            <a:extLst xmlns:a="http://schemas.openxmlformats.org/drawingml/2006/main">
              <a:ext uri="{FF2B5EF4-FFF2-40B4-BE49-F238E27FC236}">
                <a16:creationId xmlns:a16="http://schemas.microsoft.com/office/drawing/2014/main" id="{62F315AB-5D7B-4F14-9E07-43AC15FA216A}"/>
              </a:ext>
            </a:extLst>
          </p:cNvPr>
          <p:cNvSpPr>
            <a:spLocks xmlns:a="http://schemas.openxmlformats.org/drawingml/2006/main" noGrp="1"/>
          </p:cNvSpPr>
          <p:nvPr/>
        </p:nvSpPr>
        <p:spPr>
          <a:xfrm xmlns:a="http://schemas.openxmlformats.org/drawingml/2006/main" rot="0">
            <a:off x="723900" y="4000500"/>
            <a:ext cx="2238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ハードウェア開発層</a:t>
            </a:r>
          </a:p>
        </p:txBody>
      </p:sp>
      <p:sp>
        <p:nvSpPr>
          <p:cNvPr id="15" name="">
            <a:extLst xmlns:a="http://schemas.openxmlformats.org/drawingml/2006/main">
              <a:ext uri="{FF2B5EF4-FFF2-40B4-BE49-F238E27FC236}">
                <a16:creationId xmlns:a16="http://schemas.microsoft.com/office/drawing/2014/main" id="{D3516839-4653-4D45-BDBD-312F00543EAC}"/>
              </a:ext>
            </a:extLst>
          </p:cNvPr>
          <p:cNvSpPr>
            <a:spLocks xmlns:a="http://schemas.openxmlformats.org/drawingml/2006/main" noGrp="1"/>
          </p:cNvSpPr>
          <p:nvPr/>
        </p:nvSpPr>
        <p:spPr>
          <a:xfrm xmlns:a="http://schemas.openxmlformats.org/drawingml/2006/main" rot="0">
            <a:off x="3143250" y="3981450"/>
            <a:ext cx="5715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特に中国系企業が、安価なロボットを提供する面で強い。</a:t>
            </a:r>
          </a:p>
        </p:txBody>
      </p:sp>
      <p:sp>
        <p:nvSpPr>
          <p:cNvPr id="16" name="">
            <a:extLst xmlns:a="http://schemas.openxmlformats.org/drawingml/2006/main">
              <a:ext uri="{FF2B5EF4-FFF2-40B4-BE49-F238E27FC236}">
                <a16:creationId xmlns:a16="http://schemas.microsoft.com/office/drawing/2014/main" id="{4BDA8229-373E-48BF-94D6-4B3F0F4C54DC}"/>
              </a:ext>
            </a:extLst>
          </p:cNvPr>
          <p:cNvSpPr>
            <a:spLocks xmlns:a="http://schemas.openxmlformats.org/drawingml/2006/main" noGrp="1"/>
          </p:cNvSpPr>
          <p:nvPr/>
        </p:nvSpPr>
        <p:spPr>
          <a:xfrm xmlns:a="http://schemas.openxmlformats.org/drawingml/2006/main">
            <a:off x="723900" y="47434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9B6342F-C529-43D2-86B6-CD60907BAD6E}"/>
              </a:ext>
            </a:extLst>
          </p:cNvPr>
          <p:cNvSpPr>
            <a:spLocks xmlns:a="http://schemas.openxmlformats.org/drawingml/2006/main" noGrp="1"/>
          </p:cNvSpPr>
          <p:nvPr/>
        </p:nvSpPr>
        <p:spPr>
          <a:xfrm xmlns:a="http://schemas.openxmlformats.org/drawingml/2006/main" rot="0">
            <a:off x="9191625" y="420052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Unitree</a:t>
            </a:r>
          </a:p>
        </p:txBody>
      </p:sp>
      <p:sp>
        <p:nvSpPr>
          <p:cNvPr id="18" name="">
            <a:extLst xmlns:a="http://schemas.openxmlformats.org/drawingml/2006/main">
              <a:ext uri="{FF2B5EF4-FFF2-40B4-BE49-F238E27FC236}">
                <a16:creationId xmlns:a16="http://schemas.microsoft.com/office/drawing/2014/main" id="{03747550-14D5-4690-84EF-1AE14DC265C2}"/>
              </a:ext>
            </a:extLst>
          </p:cNvPr>
          <p:cNvSpPr>
            <a:spLocks xmlns:a="http://schemas.openxmlformats.org/drawingml/2006/main" noGrp="1"/>
          </p:cNvSpPr>
          <p:nvPr/>
        </p:nvSpPr>
        <p:spPr>
          <a:xfrm xmlns:a="http://schemas.openxmlformats.org/drawingml/2006/main" rot="0">
            <a:off x="723900" y="4857750"/>
            <a:ext cx="2238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現場統合層</a:t>
            </a:r>
          </a:p>
        </p:txBody>
      </p:sp>
      <p:sp>
        <p:nvSpPr>
          <p:cNvPr id="19" name="">
            <a:extLst xmlns:a="http://schemas.openxmlformats.org/drawingml/2006/main">
              <a:ext uri="{FF2B5EF4-FFF2-40B4-BE49-F238E27FC236}">
                <a16:creationId xmlns:a16="http://schemas.microsoft.com/office/drawing/2014/main" id="{B530DEB9-7D82-4E8E-8A6D-088B333413E7}"/>
              </a:ext>
            </a:extLst>
          </p:cNvPr>
          <p:cNvSpPr>
            <a:spLocks xmlns:a="http://schemas.openxmlformats.org/drawingml/2006/main" noGrp="1"/>
          </p:cNvSpPr>
          <p:nvPr/>
        </p:nvSpPr>
        <p:spPr>
          <a:xfrm xmlns:a="http://schemas.openxmlformats.org/drawingml/2006/main" rot="0">
            <a:off x="3143250" y="4838700"/>
            <a:ext cx="5715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既存のロボットやモデルを利用し、現場への導入と運用調整を優先する。</a:t>
            </a:r>
          </a:p>
        </p:txBody>
      </p:sp>
      <p:sp>
        <p:nvSpPr>
          <p:cNvPr id="20" name="">
            <a:extLst xmlns:a="http://schemas.openxmlformats.org/drawingml/2006/main">
              <a:ext uri="{FF2B5EF4-FFF2-40B4-BE49-F238E27FC236}">
                <a16:creationId xmlns:a16="http://schemas.microsoft.com/office/drawing/2014/main" id="{BAFEE581-30D4-4D50-B897-65EEB263C9D2}"/>
              </a:ext>
            </a:extLst>
          </p:cNvPr>
          <p:cNvSpPr>
            <a:spLocks xmlns:a="http://schemas.openxmlformats.org/drawingml/2006/main" noGrp="1"/>
          </p:cNvSpPr>
          <p:nvPr/>
        </p:nvSpPr>
        <p:spPr>
          <a:xfrm xmlns:a="http://schemas.openxmlformats.org/drawingml/2006/main" rot="0">
            <a:off x="9191625" y="5057775"/>
            <a:ext cx="209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HIVE Robotics / Formic</a:t>
            </a:r>
          </a:p>
        </p:txBody>
      </p:sp>
    </p:spTree>
    <p:extLst>
      <p:ext uri="{BB962C8B-B14F-4D97-AF65-F5344CB8AC3E}">
        <p14:creationId xmlns:p14="http://schemas.microsoft.com/office/powerpoint/2010/main" val="764923970"/>
      </p:ext>
    </p:extLst>
  </p:cSld>
</p:sld>
</file>

<file path=ppt/slides/slide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65" name="">
            <a:extLst xmlns:a="http://schemas.openxmlformats.org/drawingml/2006/main">
              <a:ext uri="{FF2B5EF4-FFF2-40B4-BE49-F238E27FC236}">
                <a16:creationId xmlns:a16="http://schemas.microsoft.com/office/drawing/2014/main" id="{9F66C1E9-D742-4B3F-9A3A-51852973223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C1CDF88-F6A3-47E2-AEC0-0D9E81E9E3C9}"/>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現場を含む「ループ」を持つ企業が勝つ</a:t>
            </a:r>
          </a:p>
        </p:txBody>
      </p:sp>
      <p:sp>
        <p:nvSpPr>
          <p:cNvPr id="3" name="">
            <a:extLst xmlns:a="http://schemas.openxmlformats.org/drawingml/2006/main">
              <a:ext uri="{FF2B5EF4-FFF2-40B4-BE49-F238E27FC236}">
                <a16:creationId xmlns:a16="http://schemas.microsoft.com/office/drawing/2014/main" id="{C4A6AFF2-B8DA-4011-849B-FD97835BCDD6}"/>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1C01EDE-F08C-4476-8451-9DB3F1CED145}"/>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05</a:t>
            </a:r>
          </a:p>
        </p:txBody>
      </p:sp>
      <p:sp>
        <p:nvSpPr>
          <p:cNvPr id="5" name="">
            <a:extLst xmlns:a="http://schemas.openxmlformats.org/drawingml/2006/main">
              <a:ext uri="{FF2B5EF4-FFF2-40B4-BE49-F238E27FC236}">
                <a16:creationId xmlns:a16="http://schemas.microsoft.com/office/drawing/2014/main" id="{19A71799-187E-434B-8F37-0D055130DD71}"/>
              </a:ext>
            </a:extLst>
          </p:cNvPr>
          <p:cNvSpPr>
            <a:spLocks xmlns:a="http://schemas.openxmlformats.org/drawingml/2006/main" noGrp="1"/>
          </p:cNvSpPr>
          <p:nvPr/>
        </p:nvSpPr>
        <p:spPr>
          <a:xfrm xmlns:a="http://schemas.openxmlformats.org/drawingml/2006/main" rot="0">
            <a:off x="2590800" y="16859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横幅：接続する現場の範囲</a:t>
            </a:r>
          </a:p>
        </p:txBody>
      </p:sp>
      <p:sp>
        <p:nvSpPr>
          <p:cNvPr id="6" name="">
            <a:extLst xmlns:a="http://schemas.openxmlformats.org/drawingml/2006/main">
              <a:ext uri="{FF2B5EF4-FFF2-40B4-BE49-F238E27FC236}">
                <a16:creationId xmlns:a16="http://schemas.microsoft.com/office/drawing/2014/main" id="{EE5E345E-EEB4-4105-8EC3-06F65E100071}"/>
              </a:ext>
            </a:extLst>
          </p:cNvPr>
          <p:cNvSpPr>
            <a:spLocks xmlns:a="http://schemas.openxmlformats.org/drawingml/2006/main" noGrp="1"/>
          </p:cNvSpPr>
          <p:nvPr/>
        </p:nvSpPr>
        <p:spPr>
          <a:xfrm xmlns:a="http://schemas.openxmlformats.org/drawingml/2006/main">
            <a:off x="2590800" y="2009775"/>
            <a:ext cx="83820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CC1E5C7-734F-45E6-93A7-166964D2DD67}"/>
              </a:ext>
            </a:extLst>
          </p:cNvPr>
          <p:cNvSpPr>
            <a:spLocks xmlns:a="http://schemas.openxmlformats.org/drawingml/2006/main" noGrp="1"/>
          </p:cNvSpPr>
          <p:nvPr/>
        </p:nvSpPr>
        <p:spPr>
          <a:xfrm xmlns:a="http://schemas.openxmlformats.org/drawingml/2006/main">
            <a:off x="259080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4C2138D-C251-4F89-B07E-9C600561B033}"/>
              </a:ext>
            </a:extLst>
          </p:cNvPr>
          <p:cNvSpPr>
            <a:spLocks xmlns:a="http://schemas.openxmlformats.org/drawingml/2006/main" noGrp="1"/>
          </p:cNvSpPr>
          <p:nvPr/>
        </p:nvSpPr>
        <p:spPr>
          <a:xfrm xmlns:a="http://schemas.openxmlformats.org/drawingml/2006/main">
            <a:off x="1095375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EA045A8-4782-40F4-8ED3-53827208C949}"/>
              </a:ext>
            </a:extLst>
          </p:cNvPr>
          <p:cNvSpPr>
            <a:spLocks xmlns:a="http://schemas.openxmlformats.org/drawingml/2006/main" noGrp="1"/>
          </p:cNvSpPr>
          <p:nvPr/>
        </p:nvSpPr>
        <p:spPr>
          <a:xfrm xmlns:a="http://schemas.openxmlformats.org/drawingml/2006/main">
            <a:off x="2590800" y="23050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0" name="">
            <a:extLst xmlns:a="http://schemas.openxmlformats.org/drawingml/2006/main">
              <a:ext uri="{FF2B5EF4-FFF2-40B4-BE49-F238E27FC236}">
                <a16:creationId xmlns:a16="http://schemas.microsoft.com/office/drawing/2014/main" id="{BCE8D89E-BEFC-411A-9333-E4B6C5BE3DA6}"/>
              </a:ext>
            </a:extLst>
          </p:cNvPr>
          <p:cNvSpPr>
            <a:spLocks xmlns:a="http://schemas.openxmlformats.org/drawingml/2006/main" noGrp="1"/>
          </p:cNvSpPr>
          <p:nvPr/>
        </p:nvSpPr>
        <p:spPr>
          <a:xfrm xmlns:a="http://schemas.openxmlformats.org/drawingml/2006/main" rot="0">
            <a:off x="723900" y="24479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データ収集・加工</a:t>
            </a:r>
          </a:p>
        </p:txBody>
      </p:sp>
      <p:sp>
        <p:nvSpPr>
          <p:cNvPr id="11" name="">
            <a:extLst xmlns:a="http://schemas.openxmlformats.org/drawingml/2006/main">
              <a:ext uri="{FF2B5EF4-FFF2-40B4-BE49-F238E27FC236}">
                <a16:creationId xmlns:a16="http://schemas.microsoft.com/office/drawing/2014/main" id="{0237C90A-3AD2-4CBB-9911-8095DA751F28}"/>
              </a:ext>
            </a:extLst>
          </p:cNvPr>
          <p:cNvSpPr>
            <a:spLocks xmlns:a="http://schemas.openxmlformats.org/drawingml/2006/main" noGrp="1"/>
          </p:cNvSpPr>
          <p:nvPr/>
        </p:nvSpPr>
        <p:spPr>
          <a:xfrm xmlns:a="http://schemas.openxmlformats.org/drawingml/2006/main">
            <a:off x="2590800" y="29908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2" name="">
            <a:extLst xmlns:a="http://schemas.openxmlformats.org/drawingml/2006/main">
              <a:ext uri="{FF2B5EF4-FFF2-40B4-BE49-F238E27FC236}">
                <a16:creationId xmlns:a16="http://schemas.microsoft.com/office/drawing/2014/main" id="{F47561BC-2C13-4F46-8561-B4FE81884B0D}"/>
              </a:ext>
            </a:extLst>
          </p:cNvPr>
          <p:cNvSpPr>
            <a:spLocks xmlns:a="http://schemas.openxmlformats.org/drawingml/2006/main" noGrp="1"/>
          </p:cNvSpPr>
          <p:nvPr/>
        </p:nvSpPr>
        <p:spPr>
          <a:xfrm xmlns:a="http://schemas.openxmlformats.org/drawingml/2006/main" rot="0">
            <a:off x="723900" y="3048000"/>
            <a:ext cx="140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基盤モデル・</a:t>
            </a:r>
          </a:p>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シミュレーション</a:t>
            </a:r>
          </a:p>
        </p:txBody>
      </p:sp>
      <p:sp>
        <p:nvSpPr>
          <p:cNvPr id="13" name="">
            <a:extLst xmlns:a="http://schemas.openxmlformats.org/drawingml/2006/main">
              <a:ext uri="{FF2B5EF4-FFF2-40B4-BE49-F238E27FC236}">
                <a16:creationId xmlns:a16="http://schemas.microsoft.com/office/drawing/2014/main" id="{A880753D-F91F-4CB5-9CB3-1553154A8BD8}"/>
              </a:ext>
            </a:extLst>
          </p:cNvPr>
          <p:cNvSpPr>
            <a:spLocks xmlns:a="http://schemas.openxmlformats.org/drawingml/2006/main" noGrp="1"/>
          </p:cNvSpPr>
          <p:nvPr/>
        </p:nvSpPr>
        <p:spPr>
          <a:xfrm xmlns:a="http://schemas.openxmlformats.org/drawingml/2006/main">
            <a:off x="2590800" y="36766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BA412AAE-8237-49D4-8229-D8A96D77BADC}"/>
              </a:ext>
            </a:extLst>
          </p:cNvPr>
          <p:cNvSpPr>
            <a:spLocks xmlns:a="http://schemas.openxmlformats.org/drawingml/2006/main" noGrp="1"/>
          </p:cNvSpPr>
          <p:nvPr/>
        </p:nvSpPr>
        <p:spPr>
          <a:xfrm xmlns:a="http://schemas.openxmlformats.org/drawingml/2006/main" rot="0">
            <a:off x="723900" y="38195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ハードウェア</a:t>
            </a:r>
          </a:p>
        </p:txBody>
      </p:sp>
      <p:sp>
        <p:nvSpPr>
          <p:cNvPr id="15" name="">
            <a:extLst xmlns:a="http://schemas.openxmlformats.org/drawingml/2006/main">
              <a:ext uri="{FF2B5EF4-FFF2-40B4-BE49-F238E27FC236}">
                <a16:creationId xmlns:a16="http://schemas.microsoft.com/office/drawing/2014/main" id="{98665654-2E31-4D77-BC89-F7469D918804}"/>
              </a:ext>
            </a:extLst>
          </p:cNvPr>
          <p:cNvSpPr>
            <a:spLocks xmlns:a="http://schemas.openxmlformats.org/drawingml/2006/main" noGrp="1"/>
          </p:cNvSpPr>
          <p:nvPr/>
        </p:nvSpPr>
        <p:spPr>
          <a:xfrm xmlns:a="http://schemas.openxmlformats.org/drawingml/2006/main">
            <a:off x="2590800" y="43624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EB1885C0-E1AD-4E95-A29D-01DF36021BD8}"/>
              </a:ext>
            </a:extLst>
          </p:cNvPr>
          <p:cNvSpPr>
            <a:spLocks xmlns:a="http://schemas.openxmlformats.org/drawingml/2006/main" noGrp="1"/>
          </p:cNvSpPr>
          <p:nvPr/>
        </p:nvSpPr>
        <p:spPr>
          <a:xfrm xmlns:a="http://schemas.openxmlformats.org/drawingml/2006/main" rot="0">
            <a:off x="723900" y="45053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現場統合</a:t>
            </a:r>
          </a:p>
        </p:txBody>
      </p:sp>
      <p:sp>
        <p:nvSpPr>
          <p:cNvPr id="17" name="">
            <a:extLst xmlns:a="http://schemas.openxmlformats.org/drawingml/2006/main">
              <a:ext uri="{FF2B5EF4-FFF2-40B4-BE49-F238E27FC236}">
                <a16:creationId xmlns:a16="http://schemas.microsoft.com/office/drawing/2014/main" id="{1BE2700E-6D67-4D1A-B6F9-0B6CF5974168}"/>
              </a:ext>
            </a:extLst>
          </p:cNvPr>
          <p:cNvSpPr>
            <a:spLocks xmlns:a="http://schemas.openxmlformats.org/drawingml/2006/main" noGrp="1"/>
          </p:cNvSpPr>
          <p:nvPr/>
        </p:nvSpPr>
        <p:spPr>
          <a:xfrm xmlns:a="http://schemas.openxmlformats.org/drawingml/2006/main">
            <a:off x="11029950" y="2305050"/>
            <a:ext cx="19050" cy="26098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90C8530-B5E2-49BB-ADBE-68B7F779C3BE}"/>
              </a:ext>
            </a:extLst>
          </p:cNvPr>
          <p:cNvSpPr>
            <a:spLocks xmlns:a="http://schemas.openxmlformats.org/drawingml/2006/main" noGrp="1"/>
          </p:cNvSpPr>
          <p:nvPr/>
        </p:nvSpPr>
        <p:spPr>
          <a:xfrm xmlns:a="http://schemas.openxmlformats.org/drawingml/2006/main">
            <a:off x="10972800" y="23050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EE54E75-FCB9-4DA1-88AA-25A4E229F614}"/>
              </a:ext>
            </a:extLst>
          </p:cNvPr>
          <p:cNvSpPr>
            <a:spLocks xmlns:a="http://schemas.openxmlformats.org/drawingml/2006/main" noGrp="1"/>
          </p:cNvSpPr>
          <p:nvPr/>
        </p:nvSpPr>
        <p:spPr>
          <a:xfrm xmlns:a="http://schemas.openxmlformats.org/drawingml/2006/main">
            <a:off x="10972800" y="48958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B4DB05B9-219A-418E-A465-DD9A318A3913}"/>
              </a:ext>
            </a:extLst>
          </p:cNvPr>
          <p:cNvSpPr>
            <a:spLocks xmlns:a="http://schemas.openxmlformats.org/drawingml/2006/main" noGrp="1"/>
          </p:cNvSpPr>
          <p:nvPr/>
        </p:nvSpPr>
        <p:spPr>
          <a:xfrm xmlns:a="http://schemas.openxmlformats.org/drawingml/2006/main" rot="5400000">
            <a:off x="10477500" y="37338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315C78"/>
                </a:solidFill>
                <a:latin typeface="Hiragino Sans"/>
                <a:ea typeface="Hiragino Sans"/>
                <a:cs typeface="Hiragino Sans"/>
              </a:defRPr>
            </a:pPr>
            <a:r>
              <a:rPr sz="975" b="1">
                <a:solidFill>
                  <a:srgbClr val="315C78"/>
                </a:solidFill>
                <a:latin typeface="Hiragino Sans"/>
                <a:ea typeface="Hiragino Sans"/>
                <a:cs typeface="Hiragino Sans"/>
              </a:rPr>
              <a:t>縦幅：担うレイヤーの範囲</a:t>
            </a:r>
          </a:p>
        </p:txBody>
      </p:sp>
      <p:sp>
        <p:nvSpPr>
          <p:cNvPr id="21" name="">
            <a:extLst xmlns:a="http://schemas.openxmlformats.org/drawingml/2006/main">
              <a:ext uri="{FF2B5EF4-FFF2-40B4-BE49-F238E27FC236}">
                <a16:creationId xmlns:a16="http://schemas.microsoft.com/office/drawing/2014/main" id="{DA80F0F1-919F-4F5C-ABF1-EBF34A29E27D}"/>
              </a:ext>
            </a:extLst>
          </p:cNvPr>
          <p:cNvSpPr>
            <a:spLocks xmlns:a="http://schemas.openxmlformats.org/drawingml/2006/main" noGrp="1"/>
          </p:cNvSpPr>
          <p:nvPr/>
        </p:nvSpPr>
        <p:spPr>
          <a:xfrm xmlns:a="http://schemas.openxmlformats.org/drawingml/2006/main" rot="0">
            <a:off x="723900" y="53530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75" b="1">
                <a:solidFill>
                  <a:srgbClr val="58646A"/>
                </a:solidFill>
                <a:latin typeface="Hiragino Sans"/>
                <a:ea typeface="Hiragino Sans"/>
                <a:cs typeface="Hiragino Sans"/>
              </a:defRPr>
            </a:pPr>
            <a:r>
              <a:rPr sz="1275" b="1">
                <a:solidFill>
                  <a:srgbClr val="58646A"/>
                </a:solidFill>
                <a:latin typeface="Hiragino Sans"/>
                <a:ea typeface="Hiragino Sans"/>
                <a:cs typeface="Hiragino Sans"/>
              </a:rPr>
              <a:t>現場</a:t>
            </a:r>
          </a:p>
        </p:txBody>
      </p:sp>
      <p:sp>
        <p:nvSpPr>
          <p:cNvPr id="22" name="">
            <a:extLst xmlns:a="http://schemas.openxmlformats.org/drawingml/2006/main">
              <a:ext uri="{FF2B5EF4-FFF2-40B4-BE49-F238E27FC236}">
                <a16:creationId xmlns:a16="http://schemas.microsoft.com/office/drawing/2014/main" id="{B9B2349E-7330-42BA-9289-47F677689431}"/>
              </a:ext>
            </a:extLst>
          </p:cNvPr>
          <p:cNvSpPr>
            <a:spLocks xmlns:a="http://schemas.openxmlformats.org/drawingml/2006/main" noGrp="1"/>
          </p:cNvSpPr>
          <p:nvPr/>
        </p:nvSpPr>
        <p:spPr>
          <a:xfrm xmlns:a="http://schemas.openxmlformats.org/drawingml/2006/main">
            <a:off x="2590800" y="5257800"/>
            <a:ext cx="838200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52F802B5-25BC-4135-9B9B-45014CD86603}"/>
              </a:ext>
            </a:extLst>
          </p:cNvPr>
          <p:cNvSpPr>
            <a:spLocks xmlns:a="http://schemas.openxmlformats.org/drawingml/2006/main" noGrp="1"/>
          </p:cNvSpPr>
          <p:nvPr/>
        </p:nvSpPr>
        <p:spPr>
          <a:xfrm xmlns:a="http://schemas.openxmlformats.org/drawingml/2006/main" rot="0">
            <a:off x="2590800" y="53816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飲食　　小売　　製造　　物流　　建築　　医療　　その他の現場</a:t>
            </a:r>
          </a:p>
        </p:txBody>
      </p:sp>
      <p:sp>
        <p:nvSpPr>
          <p:cNvPr id="24" name="">
            <a:extLst xmlns:a="http://schemas.openxmlformats.org/drawingml/2006/main">
              <a:ext uri="{FF2B5EF4-FFF2-40B4-BE49-F238E27FC236}">
                <a16:creationId xmlns:a16="http://schemas.microsoft.com/office/drawing/2014/main" id="{DAB252F8-135A-43FD-9D1A-A46EB4AD7E3B}"/>
              </a:ext>
            </a:extLst>
          </p:cNvPr>
          <p:cNvSpPr>
            <a:spLocks xmlns:a="http://schemas.openxmlformats.org/drawingml/2006/main" noGrp="1"/>
          </p:cNvSpPr>
          <p:nvPr/>
        </p:nvSpPr>
        <p:spPr>
          <a:xfrm xmlns:a="http://schemas.openxmlformats.org/drawingml/2006/main">
            <a:off x="2990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D16FF0EA-98FF-4632-9231-DDE2EF68B74E}"/>
              </a:ext>
            </a:extLst>
          </p:cNvPr>
          <p:cNvSpPr>
            <a:spLocks xmlns:a="http://schemas.openxmlformats.org/drawingml/2006/main" noGrp="1"/>
          </p:cNvSpPr>
          <p:nvPr/>
        </p:nvSpPr>
        <p:spPr>
          <a:xfrm xmlns:a="http://schemas.openxmlformats.org/drawingml/2006/main">
            <a:off x="2990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13CBEE7C-8DDA-4B37-91B8-FCB1B64EA409}"/>
              </a:ext>
            </a:extLst>
          </p:cNvPr>
          <p:cNvSpPr>
            <a:spLocks xmlns:a="http://schemas.openxmlformats.org/drawingml/2006/main" noGrp="1"/>
          </p:cNvSpPr>
          <p:nvPr/>
        </p:nvSpPr>
        <p:spPr>
          <a:xfrm xmlns:a="http://schemas.openxmlformats.org/drawingml/2006/main">
            <a:off x="3181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C63F04F8-263D-4BF4-A8F6-9DDAB161EFBD}"/>
              </a:ext>
            </a:extLst>
          </p:cNvPr>
          <p:cNvSpPr>
            <a:spLocks xmlns:a="http://schemas.openxmlformats.org/drawingml/2006/main" noGrp="1"/>
          </p:cNvSpPr>
          <p:nvPr/>
        </p:nvSpPr>
        <p:spPr>
          <a:xfrm xmlns:a="http://schemas.openxmlformats.org/drawingml/2006/main">
            <a:off x="3181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5120759A-C679-4D3B-913E-71FB332326C8}"/>
              </a:ext>
            </a:extLst>
          </p:cNvPr>
          <p:cNvSpPr>
            <a:spLocks xmlns:a="http://schemas.openxmlformats.org/drawingml/2006/main" noGrp="1"/>
          </p:cNvSpPr>
          <p:nvPr/>
        </p:nvSpPr>
        <p:spPr>
          <a:xfrm xmlns:a="http://schemas.openxmlformats.org/drawingml/2006/main">
            <a:off x="3371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77D2D2B4-0DF3-4DF0-B158-D5D77B3CABFC}"/>
              </a:ext>
            </a:extLst>
          </p:cNvPr>
          <p:cNvSpPr>
            <a:spLocks xmlns:a="http://schemas.openxmlformats.org/drawingml/2006/main" noGrp="1"/>
          </p:cNvSpPr>
          <p:nvPr/>
        </p:nvSpPr>
        <p:spPr>
          <a:xfrm xmlns:a="http://schemas.openxmlformats.org/drawingml/2006/main">
            <a:off x="3371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35FA38FA-9382-4332-A440-FC0358CF8EA5}"/>
              </a:ext>
            </a:extLst>
          </p:cNvPr>
          <p:cNvSpPr>
            <a:spLocks xmlns:a="http://schemas.openxmlformats.org/drawingml/2006/main" noGrp="1"/>
          </p:cNvSpPr>
          <p:nvPr/>
        </p:nvSpPr>
        <p:spPr>
          <a:xfrm xmlns:a="http://schemas.openxmlformats.org/drawingml/2006/main">
            <a:off x="3562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ACE8DAA0-09D8-464C-8AAE-5F042C51A09A}"/>
              </a:ext>
            </a:extLst>
          </p:cNvPr>
          <p:cNvSpPr>
            <a:spLocks xmlns:a="http://schemas.openxmlformats.org/drawingml/2006/main" noGrp="1"/>
          </p:cNvSpPr>
          <p:nvPr/>
        </p:nvSpPr>
        <p:spPr>
          <a:xfrm xmlns:a="http://schemas.openxmlformats.org/drawingml/2006/main">
            <a:off x="3562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9D0875C3-E786-48A9-92B9-3887F29A5F2B}"/>
              </a:ext>
            </a:extLst>
          </p:cNvPr>
          <p:cNvSpPr>
            <a:spLocks xmlns:a="http://schemas.openxmlformats.org/drawingml/2006/main" noGrp="1"/>
          </p:cNvSpPr>
          <p:nvPr/>
        </p:nvSpPr>
        <p:spPr>
          <a:xfrm xmlns:a="http://schemas.openxmlformats.org/drawingml/2006/main">
            <a:off x="3752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408A30A8-5006-453E-AD0E-4F289E582059}"/>
              </a:ext>
            </a:extLst>
          </p:cNvPr>
          <p:cNvSpPr>
            <a:spLocks xmlns:a="http://schemas.openxmlformats.org/drawingml/2006/main" noGrp="1"/>
          </p:cNvSpPr>
          <p:nvPr/>
        </p:nvSpPr>
        <p:spPr>
          <a:xfrm xmlns:a="http://schemas.openxmlformats.org/drawingml/2006/main">
            <a:off x="3752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EFDF581B-937F-46EC-A6DA-ADE9C8587083}"/>
              </a:ext>
            </a:extLst>
          </p:cNvPr>
          <p:cNvSpPr>
            <a:spLocks xmlns:a="http://schemas.openxmlformats.org/drawingml/2006/main" noGrp="1"/>
          </p:cNvSpPr>
          <p:nvPr/>
        </p:nvSpPr>
        <p:spPr>
          <a:xfrm xmlns:a="http://schemas.openxmlformats.org/drawingml/2006/main">
            <a:off x="3943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2AA65D71-B6E6-4AB4-8681-8D773EDB28B0}"/>
              </a:ext>
            </a:extLst>
          </p:cNvPr>
          <p:cNvSpPr>
            <a:spLocks xmlns:a="http://schemas.openxmlformats.org/drawingml/2006/main" noGrp="1"/>
          </p:cNvSpPr>
          <p:nvPr/>
        </p:nvSpPr>
        <p:spPr>
          <a:xfrm xmlns:a="http://schemas.openxmlformats.org/drawingml/2006/main">
            <a:off x="3943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A3811DA8-FCF0-4BD1-ACD9-D8F4C45E664D}"/>
              </a:ext>
            </a:extLst>
          </p:cNvPr>
          <p:cNvSpPr>
            <a:spLocks xmlns:a="http://schemas.openxmlformats.org/drawingml/2006/main" noGrp="1"/>
          </p:cNvSpPr>
          <p:nvPr/>
        </p:nvSpPr>
        <p:spPr>
          <a:xfrm xmlns:a="http://schemas.openxmlformats.org/drawingml/2006/main">
            <a:off x="4133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7C1D5FDE-7D99-468A-A2F1-87EE49CDEBCA}"/>
              </a:ext>
            </a:extLst>
          </p:cNvPr>
          <p:cNvSpPr>
            <a:spLocks xmlns:a="http://schemas.openxmlformats.org/drawingml/2006/main" noGrp="1"/>
          </p:cNvSpPr>
          <p:nvPr/>
        </p:nvSpPr>
        <p:spPr>
          <a:xfrm xmlns:a="http://schemas.openxmlformats.org/drawingml/2006/main">
            <a:off x="4133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E6D7979F-E0C4-430F-A87B-68F8B0B99258}"/>
              </a:ext>
            </a:extLst>
          </p:cNvPr>
          <p:cNvSpPr>
            <a:spLocks xmlns:a="http://schemas.openxmlformats.org/drawingml/2006/main" noGrp="1"/>
          </p:cNvSpPr>
          <p:nvPr/>
        </p:nvSpPr>
        <p:spPr>
          <a:xfrm xmlns:a="http://schemas.openxmlformats.org/drawingml/2006/main">
            <a:off x="4324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911CED4D-B570-4D8C-8512-769E709D2C98}"/>
              </a:ext>
            </a:extLst>
          </p:cNvPr>
          <p:cNvSpPr>
            <a:spLocks xmlns:a="http://schemas.openxmlformats.org/drawingml/2006/main" noGrp="1"/>
          </p:cNvSpPr>
          <p:nvPr/>
        </p:nvSpPr>
        <p:spPr>
          <a:xfrm xmlns:a="http://schemas.openxmlformats.org/drawingml/2006/main">
            <a:off x="4324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1C1AD89A-5D3C-4479-9701-EFFC98EC5CCD}"/>
              </a:ext>
            </a:extLst>
          </p:cNvPr>
          <p:cNvSpPr>
            <a:spLocks xmlns:a="http://schemas.openxmlformats.org/drawingml/2006/main" noGrp="1"/>
          </p:cNvSpPr>
          <p:nvPr/>
        </p:nvSpPr>
        <p:spPr>
          <a:xfrm xmlns:a="http://schemas.openxmlformats.org/drawingml/2006/main">
            <a:off x="4514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7118851F-F761-4AA4-BAC9-41B9A8DF644B}"/>
              </a:ext>
            </a:extLst>
          </p:cNvPr>
          <p:cNvSpPr>
            <a:spLocks xmlns:a="http://schemas.openxmlformats.org/drawingml/2006/main" noGrp="1"/>
          </p:cNvSpPr>
          <p:nvPr/>
        </p:nvSpPr>
        <p:spPr>
          <a:xfrm xmlns:a="http://schemas.openxmlformats.org/drawingml/2006/main">
            <a:off x="4514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D15C202C-9DD7-4EA4-B7E1-A3AA8B29E0B9}"/>
              </a:ext>
            </a:extLst>
          </p:cNvPr>
          <p:cNvSpPr>
            <a:spLocks xmlns:a="http://schemas.openxmlformats.org/drawingml/2006/main" noGrp="1"/>
          </p:cNvSpPr>
          <p:nvPr/>
        </p:nvSpPr>
        <p:spPr>
          <a:xfrm xmlns:a="http://schemas.openxmlformats.org/drawingml/2006/main">
            <a:off x="4705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8E6CA164-F7BE-441B-8AB4-12EC7A98505C}"/>
              </a:ext>
            </a:extLst>
          </p:cNvPr>
          <p:cNvSpPr>
            <a:spLocks xmlns:a="http://schemas.openxmlformats.org/drawingml/2006/main" noGrp="1"/>
          </p:cNvSpPr>
          <p:nvPr/>
        </p:nvSpPr>
        <p:spPr>
          <a:xfrm xmlns:a="http://schemas.openxmlformats.org/drawingml/2006/main">
            <a:off x="4705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FFFED3B4-673D-4400-B93F-2F9093EF04BE}"/>
              </a:ext>
            </a:extLst>
          </p:cNvPr>
          <p:cNvSpPr>
            <a:spLocks xmlns:a="http://schemas.openxmlformats.org/drawingml/2006/main" noGrp="1"/>
          </p:cNvSpPr>
          <p:nvPr/>
        </p:nvSpPr>
        <p:spPr>
          <a:xfrm xmlns:a="http://schemas.openxmlformats.org/drawingml/2006/main">
            <a:off x="4895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74FEFFBC-F0FE-4635-866A-5C2DC75536B4}"/>
              </a:ext>
            </a:extLst>
          </p:cNvPr>
          <p:cNvSpPr>
            <a:spLocks xmlns:a="http://schemas.openxmlformats.org/drawingml/2006/main" noGrp="1"/>
          </p:cNvSpPr>
          <p:nvPr/>
        </p:nvSpPr>
        <p:spPr>
          <a:xfrm xmlns:a="http://schemas.openxmlformats.org/drawingml/2006/main">
            <a:off x="4895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4E75E1C6-8C3E-4FF0-96E6-53A3DEBCB13A}"/>
              </a:ext>
            </a:extLst>
          </p:cNvPr>
          <p:cNvSpPr>
            <a:spLocks xmlns:a="http://schemas.openxmlformats.org/drawingml/2006/main" noGrp="1"/>
          </p:cNvSpPr>
          <p:nvPr/>
        </p:nvSpPr>
        <p:spPr>
          <a:xfrm xmlns:a="http://schemas.openxmlformats.org/drawingml/2006/main">
            <a:off x="5086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B36B7C83-AF4B-4941-9186-119466FAFFF7}"/>
              </a:ext>
            </a:extLst>
          </p:cNvPr>
          <p:cNvSpPr>
            <a:spLocks xmlns:a="http://schemas.openxmlformats.org/drawingml/2006/main" noGrp="1"/>
          </p:cNvSpPr>
          <p:nvPr/>
        </p:nvSpPr>
        <p:spPr>
          <a:xfrm xmlns:a="http://schemas.openxmlformats.org/drawingml/2006/main">
            <a:off x="5086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C852E7EB-E6D9-41F2-ACC2-8088AA3E06BA}"/>
              </a:ext>
            </a:extLst>
          </p:cNvPr>
          <p:cNvSpPr>
            <a:spLocks xmlns:a="http://schemas.openxmlformats.org/drawingml/2006/main" noGrp="1"/>
          </p:cNvSpPr>
          <p:nvPr/>
        </p:nvSpPr>
        <p:spPr>
          <a:xfrm xmlns:a="http://schemas.openxmlformats.org/drawingml/2006/main">
            <a:off x="5276850" y="23050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F29560A7-5AA8-41EF-AD1A-685C99FF332E}"/>
              </a:ext>
            </a:extLst>
          </p:cNvPr>
          <p:cNvSpPr>
            <a:spLocks xmlns:a="http://schemas.openxmlformats.org/drawingml/2006/main" noGrp="1"/>
          </p:cNvSpPr>
          <p:nvPr/>
        </p:nvSpPr>
        <p:spPr>
          <a:xfrm xmlns:a="http://schemas.openxmlformats.org/drawingml/2006/main">
            <a:off x="5276850" y="28384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6C8344C2-606A-43B6-8222-A8B9D91D984E}"/>
              </a:ext>
            </a:extLst>
          </p:cNvPr>
          <p:cNvSpPr>
            <a:spLocks xmlns:a="http://schemas.openxmlformats.org/drawingml/2006/main" noGrp="1"/>
          </p:cNvSpPr>
          <p:nvPr/>
        </p:nvSpPr>
        <p:spPr>
          <a:xfrm xmlns:a="http://schemas.openxmlformats.org/drawingml/2006/main">
            <a:off x="2990850" y="2305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E758FC81-34B5-41E7-9901-8E50EF7AF820}"/>
              </a:ext>
            </a:extLst>
          </p:cNvPr>
          <p:cNvSpPr>
            <a:spLocks xmlns:a="http://schemas.openxmlformats.org/drawingml/2006/main" noGrp="1"/>
          </p:cNvSpPr>
          <p:nvPr/>
        </p:nvSpPr>
        <p:spPr>
          <a:xfrm xmlns:a="http://schemas.openxmlformats.org/drawingml/2006/main">
            <a:off x="5353050" y="2305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56DE19A6-3FB8-444A-BFC0-AA6F538CFB41}"/>
              </a:ext>
            </a:extLst>
          </p:cNvPr>
          <p:cNvSpPr>
            <a:spLocks xmlns:a="http://schemas.openxmlformats.org/drawingml/2006/main" noGrp="1"/>
          </p:cNvSpPr>
          <p:nvPr/>
        </p:nvSpPr>
        <p:spPr>
          <a:xfrm xmlns:a="http://schemas.openxmlformats.org/drawingml/2006/main">
            <a:off x="2990850" y="24955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FE3B6518-FB2A-4B92-9A62-BB68147BA816}"/>
              </a:ext>
            </a:extLst>
          </p:cNvPr>
          <p:cNvSpPr>
            <a:spLocks xmlns:a="http://schemas.openxmlformats.org/drawingml/2006/main" noGrp="1"/>
          </p:cNvSpPr>
          <p:nvPr/>
        </p:nvSpPr>
        <p:spPr>
          <a:xfrm xmlns:a="http://schemas.openxmlformats.org/drawingml/2006/main">
            <a:off x="5353050" y="24955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39A5C0EA-2789-451F-9799-40B968CDAB4C}"/>
              </a:ext>
            </a:extLst>
          </p:cNvPr>
          <p:cNvSpPr>
            <a:spLocks xmlns:a="http://schemas.openxmlformats.org/drawingml/2006/main" noGrp="1"/>
          </p:cNvSpPr>
          <p:nvPr/>
        </p:nvSpPr>
        <p:spPr>
          <a:xfrm xmlns:a="http://schemas.openxmlformats.org/drawingml/2006/main">
            <a:off x="2990850" y="2686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BA454A55-FF78-4089-8F37-4BFAF0647F43}"/>
              </a:ext>
            </a:extLst>
          </p:cNvPr>
          <p:cNvSpPr>
            <a:spLocks xmlns:a="http://schemas.openxmlformats.org/drawingml/2006/main" noGrp="1"/>
          </p:cNvSpPr>
          <p:nvPr/>
        </p:nvSpPr>
        <p:spPr>
          <a:xfrm xmlns:a="http://schemas.openxmlformats.org/drawingml/2006/main">
            <a:off x="5353050" y="2686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000C49C2-8FDB-47C3-BDDC-B0D3DA8339F9}"/>
              </a:ext>
            </a:extLst>
          </p:cNvPr>
          <p:cNvSpPr>
            <a:spLocks xmlns:a="http://schemas.openxmlformats.org/drawingml/2006/main" noGrp="1"/>
          </p:cNvSpPr>
          <p:nvPr/>
        </p:nvSpPr>
        <p:spPr>
          <a:xfrm xmlns:a="http://schemas.openxmlformats.org/drawingml/2006/main">
            <a:off x="2990850" y="2990850"/>
            <a:ext cx="2381250" cy="19240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7" name="">
            <a:extLst xmlns:a="http://schemas.openxmlformats.org/drawingml/2006/main">
              <a:ext uri="{FF2B5EF4-FFF2-40B4-BE49-F238E27FC236}">
                <a16:creationId xmlns:a16="http://schemas.microsoft.com/office/drawing/2014/main" id="{AAB4E6C2-D379-443B-9D22-DD1EDCBC3B2A}"/>
              </a:ext>
            </a:extLst>
          </p:cNvPr>
          <p:cNvSpPr>
            <a:spLocks xmlns:a="http://schemas.openxmlformats.org/drawingml/2006/main" noGrp="1"/>
          </p:cNvSpPr>
          <p:nvPr/>
        </p:nvSpPr>
        <p:spPr>
          <a:xfrm xmlns:a="http://schemas.openxmlformats.org/drawingml/2006/main" rot="0">
            <a:off x="3181350" y="31432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モデル開発</a:t>
            </a:r>
          </a:p>
        </p:txBody>
      </p:sp>
      <p:sp>
        <p:nvSpPr>
          <p:cNvPr id="58" name="">
            <a:extLst xmlns:a="http://schemas.openxmlformats.org/drawingml/2006/main">
              <a:ext uri="{FF2B5EF4-FFF2-40B4-BE49-F238E27FC236}">
                <a16:creationId xmlns:a16="http://schemas.microsoft.com/office/drawing/2014/main" id="{AE2FDC58-022C-4FA4-AFB7-E2A5F7A6B49E}"/>
              </a:ext>
            </a:extLst>
          </p:cNvPr>
          <p:cNvSpPr>
            <a:spLocks xmlns:a="http://schemas.openxmlformats.org/drawingml/2006/main" noGrp="1"/>
          </p:cNvSpPr>
          <p:nvPr/>
        </p:nvSpPr>
        <p:spPr>
          <a:xfrm xmlns:a="http://schemas.openxmlformats.org/drawingml/2006/main" rot="0">
            <a:off x="3181350" y="38290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ハードウェア開発</a:t>
            </a:r>
          </a:p>
        </p:txBody>
      </p:sp>
      <p:sp>
        <p:nvSpPr>
          <p:cNvPr id="59" name="">
            <a:extLst xmlns:a="http://schemas.openxmlformats.org/drawingml/2006/main">
              <a:ext uri="{FF2B5EF4-FFF2-40B4-BE49-F238E27FC236}">
                <a16:creationId xmlns:a16="http://schemas.microsoft.com/office/drawing/2014/main" id="{7E8A0E7A-34DF-466D-B767-A2C8D3626C38}"/>
              </a:ext>
            </a:extLst>
          </p:cNvPr>
          <p:cNvSpPr>
            <a:spLocks xmlns:a="http://schemas.openxmlformats.org/drawingml/2006/main" noGrp="1"/>
          </p:cNvSpPr>
          <p:nvPr/>
        </p:nvSpPr>
        <p:spPr>
          <a:xfrm xmlns:a="http://schemas.openxmlformats.org/drawingml/2006/main" rot="0">
            <a:off x="3181350" y="45148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現場統合</a:t>
            </a:r>
          </a:p>
        </p:txBody>
      </p:sp>
      <p:sp>
        <p:nvSpPr>
          <p:cNvPr id="60" name="">
            <a:extLst xmlns:a="http://schemas.openxmlformats.org/drawingml/2006/main">
              <a:ext uri="{FF2B5EF4-FFF2-40B4-BE49-F238E27FC236}">
                <a16:creationId xmlns:a16="http://schemas.microsoft.com/office/drawing/2014/main" id="{134331A9-76F1-4D06-AF61-A09A744923C6}"/>
              </a:ext>
            </a:extLst>
          </p:cNvPr>
          <p:cNvSpPr>
            <a:spLocks xmlns:a="http://schemas.openxmlformats.org/drawingml/2006/main" noGrp="1"/>
          </p:cNvSpPr>
          <p:nvPr/>
        </p:nvSpPr>
        <p:spPr>
          <a:xfrm xmlns:a="http://schemas.openxmlformats.org/drawingml/2006/main">
            <a:off x="5372100" y="3257550"/>
            <a:ext cx="3429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DBC03D9F-7EC2-44F4-BBE3-0D4A2C065D81}"/>
              </a:ext>
            </a:extLst>
          </p:cNvPr>
          <p:cNvSpPr>
            <a:spLocks xmlns:a="http://schemas.openxmlformats.org/drawingml/2006/main" noGrp="1"/>
          </p:cNvSpPr>
          <p:nvPr/>
        </p:nvSpPr>
        <p:spPr>
          <a:xfrm xmlns:a="http://schemas.openxmlformats.org/drawingml/2006/main">
            <a:off x="5695950" y="3257550"/>
            <a:ext cx="19050" cy="13716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2" name="">
            <a:extLst xmlns:a="http://schemas.openxmlformats.org/drawingml/2006/main">
              <a:ext uri="{FF2B5EF4-FFF2-40B4-BE49-F238E27FC236}">
                <a16:creationId xmlns:a16="http://schemas.microsoft.com/office/drawing/2014/main" id="{37CDE784-7BA8-499C-BCC8-C3D482B89B89}"/>
              </a:ext>
            </a:extLst>
          </p:cNvPr>
          <p:cNvSpPr>
            <a:spLocks xmlns:a="http://schemas.openxmlformats.org/drawingml/2006/main" noGrp="1"/>
          </p:cNvSpPr>
          <p:nvPr/>
        </p:nvSpPr>
        <p:spPr>
          <a:xfrm xmlns:a="http://schemas.openxmlformats.org/drawingml/2006/main">
            <a:off x="5372100" y="4629150"/>
            <a:ext cx="3429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3" name="">
            <a:extLst xmlns:a="http://schemas.openxmlformats.org/drawingml/2006/main">
              <a:ext uri="{FF2B5EF4-FFF2-40B4-BE49-F238E27FC236}">
                <a16:creationId xmlns:a16="http://schemas.microsoft.com/office/drawing/2014/main" id="{44011867-A9D2-40C3-AE78-0B3F2B668A39}"/>
              </a:ext>
            </a:extLst>
          </p:cNvPr>
          <p:cNvSpPr>
            <a:spLocks xmlns:a="http://schemas.openxmlformats.org/drawingml/2006/main" noGrp="1"/>
          </p:cNvSpPr>
          <p:nvPr/>
        </p:nvSpPr>
        <p:spPr>
          <a:xfrm xmlns:a="http://schemas.openxmlformats.org/drawingml/2006/main" rot="0">
            <a:off x="5867400" y="3457575"/>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現場で得たデータを戻す</a:t>
            </a:r>
          </a:p>
        </p:txBody>
      </p:sp>
      <p:sp>
        <p:nvSpPr>
          <p:cNvPr id="64" name="">
            <a:extLst xmlns:a="http://schemas.openxmlformats.org/drawingml/2006/main">
              <a:ext uri="{FF2B5EF4-FFF2-40B4-BE49-F238E27FC236}">
                <a16:creationId xmlns:a16="http://schemas.microsoft.com/office/drawing/2014/main" id="{D2A3CB9A-0E2B-4F65-B832-AB9167402D44}"/>
              </a:ext>
            </a:extLst>
          </p:cNvPr>
          <p:cNvSpPr>
            <a:spLocks xmlns:a="http://schemas.openxmlformats.org/drawingml/2006/main" noGrp="1"/>
          </p:cNvSpPr>
          <p:nvPr/>
        </p:nvSpPr>
        <p:spPr>
          <a:xfrm xmlns:a="http://schemas.openxmlformats.org/drawingml/2006/main" rot="0">
            <a:off x="6019800" y="451485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8646A"/>
                </a:solidFill>
                <a:latin typeface="Hiragino Sans"/>
                <a:ea typeface="Hiragino Sans"/>
                <a:cs typeface="Hiragino Sans"/>
              </a:defRPr>
            </a:pPr>
            <a:r>
              <a:rPr sz="1125" b="1">
                <a:solidFill>
                  <a:srgbClr val="58646A"/>
                </a:solidFill>
                <a:latin typeface="Hiragino Sans"/>
                <a:ea typeface="Hiragino Sans"/>
                <a:cs typeface="Hiragino Sans"/>
              </a:rPr>
              <a:t>現場で稼働</a:t>
            </a:r>
          </a:p>
        </p:txBody>
      </p:sp>
    </p:spTree>
    <p:extLst>
      <p:ext uri="{BB962C8B-B14F-4D97-AF65-F5344CB8AC3E}">
        <p14:creationId xmlns:p14="http://schemas.microsoft.com/office/powerpoint/2010/main" val="1806288774"/>
      </p:ext>
    </p:extLst>
  </p:cSld>
</p:sld>
</file>

<file path=ppt/slides/slide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69" name="">
            <a:extLst xmlns:a="http://schemas.openxmlformats.org/drawingml/2006/main">
              <a:ext uri="{FF2B5EF4-FFF2-40B4-BE49-F238E27FC236}">
                <a16:creationId xmlns:a16="http://schemas.microsoft.com/office/drawing/2014/main" id="{AD650B0F-A53C-481F-8C2C-3DAB1C0425D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E3EA9B7-52D5-4C14-8534-F380BE27104B}"/>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データ収集は、将来この「ループ」の中に吸収される</a:t>
            </a:r>
          </a:p>
        </p:txBody>
      </p:sp>
      <p:sp>
        <p:nvSpPr>
          <p:cNvPr id="3" name="">
            <a:extLst xmlns:a="http://schemas.openxmlformats.org/drawingml/2006/main">
              <a:ext uri="{FF2B5EF4-FFF2-40B4-BE49-F238E27FC236}">
                <a16:creationId xmlns:a16="http://schemas.microsoft.com/office/drawing/2014/main" id="{6FA8CD90-1E99-4900-926C-15ECFF7D1880}"/>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AA271F3-DF88-4B7C-A310-7BBA6AAEF3A2}"/>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06</a:t>
            </a:r>
          </a:p>
        </p:txBody>
      </p:sp>
      <p:sp>
        <p:nvSpPr>
          <p:cNvPr id="5" name="">
            <a:extLst xmlns:a="http://schemas.openxmlformats.org/drawingml/2006/main">
              <a:ext uri="{FF2B5EF4-FFF2-40B4-BE49-F238E27FC236}">
                <a16:creationId xmlns:a16="http://schemas.microsoft.com/office/drawing/2014/main" id="{CE705ADF-3E52-41B1-9112-DAE0F5D35AED}"/>
              </a:ext>
            </a:extLst>
          </p:cNvPr>
          <p:cNvSpPr>
            <a:spLocks xmlns:a="http://schemas.openxmlformats.org/drawingml/2006/main" noGrp="1"/>
          </p:cNvSpPr>
          <p:nvPr/>
        </p:nvSpPr>
        <p:spPr>
          <a:xfrm xmlns:a="http://schemas.openxmlformats.org/drawingml/2006/main">
            <a:off x="1428750" y="2095500"/>
            <a:ext cx="2667000" cy="7810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6" name="">
            <a:extLst xmlns:a="http://schemas.openxmlformats.org/drawingml/2006/main">
              <a:ext uri="{FF2B5EF4-FFF2-40B4-BE49-F238E27FC236}">
                <a16:creationId xmlns:a16="http://schemas.microsoft.com/office/drawing/2014/main" id="{3B38C793-1BEA-4BA4-8CD7-3B5448FAB4C3}"/>
              </a:ext>
            </a:extLst>
          </p:cNvPr>
          <p:cNvSpPr>
            <a:spLocks xmlns:a="http://schemas.openxmlformats.org/drawingml/2006/main" noGrp="1"/>
          </p:cNvSpPr>
          <p:nvPr/>
        </p:nvSpPr>
        <p:spPr>
          <a:xfrm xmlns:a="http://schemas.openxmlformats.org/drawingml/2006/main" rot="0">
            <a:off x="1562100" y="2209800"/>
            <a:ext cx="2400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モデル開発</a:t>
            </a:r>
          </a:p>
        </p:txBody>
      </p:sp>
      <p:sp>
        <p:nvSpPr>
          <p:cNvPr id="7" name="">
            <a:extLst xmlns:a="http://schemas.openxmlformats.org/drawingml/2006/main">
              <a:ext uri="{FF2B5EF4-FFF2-40B4-BE49-F238E27FC236}">
                <a16:creationId xmlns:a16="http://schemas.microsoft.com/office/drawing/2014/main" id="{C835C674-998C-4761-AC66-513B1399D863}"/>
              </a:ext>
            </a:extLst>
          </p:cNvPr>
          <p:cNvSpPr>
            <a:spLocks xmlns:a="http://schemas.openxmlformats.org/drawingml/2006/main" noGrp="1"/>
          </p:cNvSpPr>
          <p:nvPr/>
        </p:nvSpPr>
        <p:spPr>
          <a:xfrm xmlns:a="http://schemas.openxmlformats.org/drawingml/2006/main">
            <a:off x="7524750" y="2095500"/>
            <a:ext cx="2667000" cy="7810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8" name="">
            <a:extLst xmlns:a="http://schemas.openxmlformats.org/drawingml/2006/main">
              <a:ext uri="{FF2B5EF4-FFF2-40B4-BE49-F238E27FC236}">
                <a16:creationId xmlns:a16="http://schemas.microsoft.com/office/drawing/2014/main" id="{F4C90A09-E4FA-4346-BAF7-E37DBADC26FC}"/>
              </a:ext>
            </a:extLst>
          </p:cNvPr>
          <p:cNvSpPr>
            <a:spLocks xmlns:a="http://schemas.openxmlformats.org/drawingml/2006/main" noGrp="1"/>
          </p:cNvSpPr>
          <p:nvPr/>
        </p:nvSpPr>
        <p:spPr>
          <a:xfrm xmlns:a="http://schemas.openxmlformats.org/drawingml/2006/main" rot="0">
            <a:off x="7658100" y="2209800"/>
            <a:ext cx="2400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ハードウェア開発</a:t>
            </a:r>
          </a:p>
        </p:txBody>
      </p:sp>
      <p:sp>
        <p:nvSpPr>
          <p:cNvPr id="9" name="">
            <a:extLst xmlns:a="http://schemas.openxmlformats.org/drawingml/2006/main">
              <a:ext uri="{FF2B5EF4-FFF2-40B4-BE49-F238E27FC236}">
                <a16:creationId xmlns:a16="http://schemas.microsoft.com/office/drawing/2014/main" id="{8D41C2CB-DA16-4DE8-AF6C-0D491B4F76E3}"/>
              </a:ext>
            </a:extLst>
          </p:cNvPr>
          <p:cNvSpPr>
            <a:spLocks xmlns:a="http://schemas.openxmlformats.org/drawingml/2006/main" noGrp="1"/>
          </p:cNvSpPr>
          <p:nvPr/>
        </p:nvSpPr>
        <p:spPr>
          <a:xfrm xmlns:a="http://schemas.openxmlformats.org/drawingml/2006/main">
            <a:off x="7524750" y="4286250"/>
            <a:ext cx="2667000" cy="8763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0" name="">
            <a:extLst xmlns:a="http://schemas.openxmlformats.org/drawingml/2006/main">
              <a:ext uri="{FF2B5EF4-FFF2-40B4-BE49-F238E27FC236}">
                <a16:creationId xmlns:a16="http://schemas.microsoft.com/office/drawing/2014/main" id="{755D6124-8AFB-470F-B9EC-0A8AC9AA6CE8}"/>
              </a:ext>
            </a:extLst>
          </p:cNvPr>
          <p:cNvSpPr>
            <a:spLocks xmlns:a="http://schemas.openxmlformats.org/drawingml/2006/main" noGrp="1"/>
          </p:cNvSpPr>
          <p:nvPr/>
        </p:nvSpPr>
        <p:spPr>
          <a:xfrm xmlns:a="http://schemas.openxmlformats.org/drawingml/2006/main" rot="0">
            <a:off x="7658100" y="4400550"/>
            <a:ext cx="2400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現場統合</a:t>
            </a:r>
          </a:p>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ロボットが稼働</a:t>
            </a:r>
          </a:p>
        </p:txBody>
      </p:sp>
      <p:sp>
        <p:nvSpPr>
          <p:cNvPr id="11" name="">
            <a:extLst xmlns:a="http://schemas.openxmlformats.org/drawingml/2006/main">
              <a:ext uri="{FF2B5EF4-FFF2-40B4-BE49-F238E27FC236}">
                <a16:creationId xmlns:a16="http://schemas.microsoft.com/office/drawing/2014/main" id="{9239DA9F-240A-42EE-AEE8-B77235CA718F}"/>
              </a:ext>
            </a:extLst>
          </p:cNvPr>
          <p:cNvSpPr>
            <a:spLocks xmlns:a="http://schemas.openxmlformats.org/drawingml/2006/main" noGrp="1"/>
          </p:cNvSpPr>
          <p:nvPr/>
        </p:nvSpPr>
        <p:spPr>
          <a:xfrm xmlns:a="http://schemas.openxmlformats.org/drawingml/2006/main">
            <a:off x="142875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2965AC2-7A77-4475-A61C-A685240A4784}"/>
              </a:ext>
            </a:extLst>
          </p:cNvPr>
          <p:cNvSpPr>
            <a:spLocks xmlns:a="http://schemas.openxmlformats.org/drawingml/2006/main" noGrp="1"/>
          </p:cNvSpPr>
          <p:nvPr/>
        </p:nvSpPr>
        <p:spPr>
          <a:xfrm xmlns:a="http://schemas.openxmlformats.org/drawingml/2006/main">
            <a:off x="142875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0481695-80C4-4F4D-A001-963EE74A72D8}"/>
              </a:ext>
            </a:extLst>
          </p:cNvPr>
          <p:cNvSpPr>
            <a:spLocks xmlns:a="http://schemas.openxmlformats.org/drawingml/2006/main" noGrp="1"/>
          </p:cNvSpPr>
          <p:nvPr/>
        </p:nvSpPr>
        <p:spPr>
          <a:xfrm xmlns:a="http://schemas.openxmlformats.org/drawingml/2006/main">
            <a:off x="159067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2A1947E-7B80-47BD-BF66-BB4C5CEB42DA}"/>
              </a:ext>
            </a:extLst>
          </p:cNvPr>
          <p:cNvSpPr>
            <a:spLocks xmlns:a="http://schemas.openxmlformats.org/drawingml/2006/main" noGrp="1"/>
          </p:cNvSpPr>
          <p:nvPr/>
        </p:nvSpPr>
        <p:spPr>
          <a:xfrm xmlns:a="http://schemas.openxmlformats.org/drawingml/2006/main">
            <a:off x="159067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658FFE4-2850-49AD-ABCA-66DD77C42902}"/>
              </a:ext>
            </a:extLst>
          </p:cNvPr>
          <p:cNvSpPr>
            <a:spLocks xmlns:a="http://schemas.openxmlformats.org/drawingml/2006/main" noGrp="1"/>
          </p:cNvSpPr>
          <p:nvPr/>
        </p:nvSpPr>
        <p:spPr>
          <a:xfrm xmlns:a="http://schemas.openxmlformats.org/drawingml/2006/main">
            <a:off x="175260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A862FE4-6470-40B3-9D8E-1586C1AFFC50}"/>
              </a:ext>
            </a:extLst>
          </p:cNvPr>
          <p:cNvSpPr>
            <a:spLocks xmlns:a="http://schemas.openxmlformats.org/drawingml/2006/main" noGrp="1"/>
          </p:cNvSpPr>
          <p:nvPr/>
        </p:nvSpPr>
        <p:spPr>
          <a:xfrm xmlns:a="http://schemas.openxmlformats.org/drawingml/2006/main">
            <a:off x="175260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EE43D5D-D4BD-455A-9B35-316C8EB8F314}"/>
              </a:ext>
            </a:extLst>
          </p:cNvPr>
          <p:cNvSpPr>
            <a:spLocks xmlns:a="http://schemas.openxmlformats.org/drawingml/2006/main" noGrp="1"/>
          </p:cNvSpPr>
          <p:nvPr/>
        </p:nvSpPr>
        <p:spPr>
          <a:xfrm xmlns:a="http://schemas.openxmlformats.org/drawingml/2006/main">
            <a:off x="191452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74DE319-B4C7-4B7C-9743-A039C4EC1405}"/>
              </a:ext>
            </a:extLst>
          </p:cNvPr>
          <p:cNvSpPr>
            <a:spLocks xmlns:a="http://schemas.openxmlformats.org/drawingml/2006/main" noGrp="1"/>
          </p:cNvSpPr>
          <p:nvPr/>
        </p:nvSpPr>
        <p:spPr>
          <a:xfrm xmlns:a="http://schemas.openxmlformats.org/drawingml/2006/main">
            <a:off x="191452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E0D1619-EC82-4825-8CD4-D528F6939B30}"/>
              </a:ext>
            </a:extLst>
          </p:cNvPr>
          <p:cNvSpPr>
            <a:spLocks xmlns:a="http://schemas.openxmlformats.org/drawingml/2006/main" noGrp="1"/>
          </p:cNvSpPr>
          <p:nvPr/>
        </p:nvSpPr>
        <p:spPr>
          <a:xfrm xmlns:a="http://schemas.openxmlformats.org/drawingml/2006/main">
            <a:off x="207645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12B277D0-835F-4C32-9605-7A74F090B404}"/>
              </a:ext>
            </a:extLst>
          </p:cNvPr>
          <p:cNvSpPr>
            <a:spLocks xmlns:a="http://schemas.openxmlformats.org/drawingml/2006/main" noGrp="1"/>
          </p:cNvSpPr>
          <p:nvPr/>
        </p:nvSpPr>
        <p:spPr>
          <a:xfrm xmlns:a="http://schemas.openxmlformats.org/drawingml/2006/main">
            <a:off x="207645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89158ABF-3EA1-4DCA-AAA9-3A2F3AAF883B}"/>
              </a:ext>
            </a:extLst>
          </p:cNvPr>
          <p:cNvSpPr>
            <a:spLocks xmlns:a="http://schemas.openxmlformats.org/drawingml/2006/main" noGrp="1"/>
          </p:cNvSpPr>
          <p:nvPr/>
        </p:nvSpPr>
        <p:spPr>
          <a:xfrm xmlns:a="http://schemas.openxmlformats.org/drawingml/2006/main">
            <a:off x="223837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E51B422C-8CAB-40F4-9F45-976186DE4FDC}"/>
              </a:ext>
            </a:extLst>
          </p:cNvPr>
          <p:cNvSpPr>
            <a:spLocks xmlns:a="http://schemas.openxmlformats.org/drawingml/2006/main" noGrp="1"/>
          </p:cNvSpPr>
          <p:nvPr/>
        </p:nvSpPr>
        <p:spPr>
          <a:xfrm xmlns:a="http://schemas.openxmlformats.org/drawingml/2006/main">
            <a:off x="223837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8A5B0D6C-23CC-4A4D-AC95-315D590A590A}"/>
              </a:ext>
            </a:extLst>
          </p:cNvPr>
          <p:cNvSpPr>
            <a:spLocks xmlns:a="http://schemas.openxmlformats.org/drawingml/2006/main" noGrp="1"/>
          </p:cNvSpPr>
          <p:nvPr/>
        </p:nvSpPr>
        <p:spPr>
          <a:xfrm xmlns:a="http://schemas.openxmlformats.org/drawingml/2006/main">
            <a:off x="240030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E80693C7-9E17-4608-9FA6-E950426C7B41}"/>
              </a:ext>
            </a:extLst>
          </p:cNvPr>
          <p:cNvSpPr>
            <a:spLocks xmlns:a="http://schemas.openxmlformats.org/drawingml/2006/main" noGrp="1"/>
          </p:cNvSpPr>
          <p:nvPr/>
        </p:nvSpPr>
        <p:spPr>
          <a:xfrm xmlns:a="http://schemas.openxmlformats.org/drawingml/2006/main">
            <a:off x="240030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36641695-FA11-49DA-BC95-0AEE6BE44042}"/>
              </a:ext>
            </a:extLst>
          </p:cNvPr>
          <p:cNvSpPr>
            <a:spLocks xmlns:a="http://schemas.openxmlformats.org/drawingml/2006/main" noGrp="1"/>
          </p:cNvSpPr>
          <p:nvPr/>
        </p:nvSpPr>
        <p:spPr>
          <a:xfrm xmlns:a="http://schemas.openxmlformats.org/drawingml/2006/main">
            <a:off x="256222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FD42BE79-5B74-4547-81CD-DA5E34FE5260}"/>
              </a:ext>
            </a:extLst>
          </p:cNvPr>
          <p:cNvSpPr>
            <a:spLocks xmlns:a="http://schemas.openxmlformats.org/drawingml/2006/main" noGrp="1"/>
          </p:cNvSpPr>
          <p:nvPr/>
        </p:nvSpPr>
        <p:spPr>
          <a:xfrm xmlns:a="http://schemas.openxmlformats.org/drawingml/2006/main">
            <a:off x="256222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CF6D6B34-80ED-44CE-B5DF-AC61162B9336}"/>
              </a:ext>
            </a:extLst>
          </p:cNvPr>
          <p:cNvSpPr>
            <a:spLocks xmlns:a="http://schemas.openxmlformats.org/drawingml/2006/main" noGrp="1"/>
          </p:cNvSpPr>
          <p:nvPr/>
        </p:nvSpPr>
        <p:spPr>
          <a:xfrm xmlns:a="http://schemas.openxmlformats.org/drawingml/2006/main">
            <a:off x="272415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11F1E190-9E5A-43D8-B812-B9B00C611C90}"/>
              </a:ext>
            </a:extLst>
          </p:cNvPr>
          <p:cNvSpPr>
            <a:spLocks xmlns:a="http://schemas.openxmlformats.org/drawingml/2006/main" noGrp="1"/>
          </p:cNvSpPr>
          <p:nvPr/>
        </p:nvSpPr>
        <p:spPr>
          <a:xfrm xmlns:a="http://schemas.openxmlformats.org/drawingml/2006/main">
            <a:off x="272415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B10EE20D-E0C1-47AD-9609-5274433C96F5}"/>
              </a:ext>
            </a:extLst>
          </p:cNvPr>
          <p:cNvSpPr>
            <a:spLocks xmlns:a="http://schemas.openxmlformats.org/drawingml/2006/main" noGrp="1"/>
          </p:cNvSpPr>
          <p:nvPr/>
        </p:nvSpPr>
        <p:spPr>
          <a:xfrm xmlns:a="http://schemas.openxmlformats.org/drawingml/2006/main">
            <a:off x="288607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2D955969-E632-46FB-B482-C9DE51C5E96A}"/>
              </a:ext>
            </a:extLst>
          </p:cNvPr>
          <p:cNvSpPr>
            <a:spLocks xmlns:a="http://schemas.openxmlformats.org/drawingml/2006/main" noGrp="1"/>
          </p:cNvSpPr>
          <p:nvPr/>
        </p:nvSpPr>
        <p:spPr>
          <a:xfrm xmlns:a="http://schemas.openxmlformats.org/drawingml/2006/main">
            <a:off x="288607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F3BFF136-5D22-475B-8096-2BCCA9BC28FD}"/>
              </a:ext>
            </a:extLst>
          </p:cNvPr>
          <p:cNvSpPr>
            <a:spLocks xmlns:a="http://schemas.openxmlformats.org/drawingml/2006/main" noGrp="1"/>
          </p:cNvSpPr>
          <p:nvPr/>
        </p:nvSpPr>
        <p:spPr>
          <a:xfrm xmlns:a="http://schemas.openxmlformats.org/drawingml/2006/main">
            <a:off x="304800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2C39869D-1E34-49C3-811A-ACC2826523D5}"/>
              </a:ext>
            </a:extLst>
          </p:cNvPr>
          <p:cNvSpPr>
            <a:spLocks xmlns:a="http://schemas.openxmlformats.org/drawingml/2006/main" noGrp="1"/>
          </p:cNvSpPr>
          <p:nvPr/>
        </p:nvSpPr>
        <p:spPr>
          <a:xfrm xmlns:a="http://schemas.openxmlformats.org/drawingml/2006/main">
            <a:off x="304800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F62D6B05-3AF8-4C07-9B37-3F1ACB4F68DB}"/>
              </a:ext>
            </a:extLst>
          </p:cNvPr>
          <p:cNvSpPr>
            <a:spLocks xmlns:a="http://schemas.openxmlformats.org/drawingml/2006/main" noGrp="1"/>
          </p:cNvSpPr>
          <p:nvPr/>
        </p:nvSpPr>
        <p:spPr>
          <a:xfrm xmlns:a="http://schemas.openxmlformats.org/drawingml/2006/main">
            <a:off x="320992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171D8E46-B790-4822-9E62-CFE2F94CA432}"/>
              </a:ext>
            </a:extLst>
          </p:cNvPr>
          <p:cNvSpPr>
            <a:spLocks xmlns:a="http://schemas.openxmlformats.org/drawingml/2006/main" noGrp="1"/>
          </p:cNvSpPr>
          <p:nvPr/>
        </p:nvSpPr>
        <p:spPr>
          <a:xfrm xmlns:a="http://schemas.openxmlformats.org/drawingml/2006/main">
            <a:off x="320992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589832EF-B078-42E5-93E1-934A89E3009C}"/>
              </a:ext>
            </a:extLst>
          </p:cNvPr>
          <p:cNvSpPr>
            <a:spLocks xmlns:a="http://schemas.openxmlformats.org/drawingml/2006/main" noGrp="1"/>
          </p:cNvSpPr>
          <p:nvPr/>
        </p:nvSpPr>
        <p:spPr>
          <a:xfrm xmlns:a="http://schemas.openxmlformats.org/drawingml/2006/main">
            <a:off x="337185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3C1CAE66-C497-4033-A176-4DA14A476679}"/>
              </a:ext>
            </a:extLst>
          </p:cNvPr>
          <p:cNvSpPr>
            <a:spLocks xmlns:a="http://schemas.openxmlformats.org/drawingml/2006/main" noGrp="1"/>
          </p:cNvSpPr>
          <p:nvPr/>
        </p:nvSpPr>
        <p:spPr>
          <a:xfrm xmlns:a="http://schemas.openxmlformats.org/drawingml/2006/main">
            <a:off x="337185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F10CA625-304D-4875-B3B0-D90D18749D68}"/>
              </a:ext>
            </a:extLst>
          </p:cNvPr>
          <p:cNvSpPr>
            <a:spLocks xmlns:a="http://schemas.openxmlformats.org/drawingml/2006/main" noGrp="1"/>
          </p:cNvSpPr>
          <p:nvPr/>
        </p:nvSpPr>
        <p:spPr>
          <a:xfrm xmlns:a="http://schemas.openxmlformats.org/drawingml/2006/main">
            <a:off x="353377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8863E110-79DF-46D7-93BD-02D25ADB7395}"/>
              </a:ext>
            </a:extLst>
          </p:cNvPr>
          <p:cNvSpPr>
            <a:spLocks xmlns:a="http://schemas.openxmlformats.org/drawingml/2006/main" noGrp="1"/>
          </p:cNvSpPr>
          <p:nvPr/>
        </p:nvSpPr>
        <p:spPr>
          <a:xfrm xmlns:a="http://schemas.openxmlformats.org/drawingml/2006/main">
            <a:off x="353377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9FE8F192-0376-418F-A3FB-F390E37E6D53}"/>
              </a:ext>
            </a:extLst>
          </p:cNvPr>
          <p:cNvSpPr>
            <a:spLocks xmlns:a="http://schemas.openxmlformats.org/drawingml/2006/main" noGrp="1"/>
          </p:cNvSpPr>
          <p:nvPr/>
        </p:nvSpPr>
        <p:spPr>
          <a:xfrm xmlns:a="http://schemas.openxmlformats.org/drawingml/2006/main">
            <a:off x="369570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5E9A96A7-23A6-46C5-A925-3EBD83E11F51}"/>
              </a:ext>
            </a:extLst>
          </p:cNvPr>
          <p:cNvSpPr>
            <a:spLocks xmlns:a="http://schemas.openxmlformats.org/drawingml/2006/main" noGrp="1"/>
          </p:cNvSpPr>
          <p:nvPr/>
        </p:nvSpPr>
        <p:spPr>
          <a:xfrm xmlns:a="http://schemas.openxmlformats.org/drawingml/2006/main">
            <a:off x="369570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1E9D502D-E39F-4A43-A17C-0E115ECB5BA5}"/>
              </a:ext>
            </a:extLst>
          </p:cNvPr>
          <p:cNvSpPr>
            <a:spLocks xmlns:a="http://schemas.openxmlformats.org/drawingml/2006/main" noGrp="1"/>
          </p:cNvSpPr>
          <p:nvPr/>
        </p:nvSpPr>
        <p:spPr>
          <a:xfrm xmlns:a="http://schemas.openxmlformats.org/drawingml/2006/main">
            <a:off x="385762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8B1A59EC-FBC3-4854-8529-8E3990944392}"/>
              </a:ext>
            </a:extLst>
          </p:cNvPr>
          <p:cNvSpPr>
            <a:spLocks xmlns:a="http://schemas.openxmlformats.org/drawingml/2006/main" noGrp="1"/>
          </p:cNvSpPr>
          <p:nvPr/>
        </p:nvSpPr>
        <p:spPr>
          <a:xfrm xmlns:a="http://schemas.openxmlformats.org/drawingml/2006/main">
            <a:off x="385762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B3014626-17CB-4849-B6A6-D912070BFD46}"/>
              </a:ext>
            </a:extLst>
          </p:cNvPr>
          <p:cNvSpPr>
            <a:spLocks xmlns:a="http://schemas.openxmlformats.org/drawingml/2006/main" noGrp="1"/>
          </p:cNvSpPr>
          <p:nvPr/>
        </p:nvSpPr>
        <p:spPr>
          <a:xfrm xmlns:a="http://schemas.openxmlformats.org/drawingml/2006/main">
            <a:off x="4019550" y="4286250"/>
            <a:ext cx="762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675344D7-2676-4080-90F3-B07F5BF44269}"/>
              </a:ext>
            </a:extLst>
          </p:cNvPr>
          <p:cNvSpPr>
            <a:spLocks xmlns:a="http://schemas.openxmlformats.org/drawingml/2006/main" noGrp="1"/>
          </p:cNvSpPr>
          <p:nvPr/>
        </p:nvSpPr>
        <p:spPr>
          <a:xfrm xmlns:a="http://schemas.openxmlformats.org/drawingml/2006/main">
            <a:off x="4019550" y="5143500"/>
            <a:ext cx="762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12AF0FD5-6276-4B6E-83DC-C5CAE2462786}"/>
              </a:ext>
            </a:extLst>
          </p:cNvPr>
          <p:cNvSpPr>
            <a:spLocks xmlns:a="http://schemas.openxmlformats.org/drawingml/2006/main" noGrp="1"/>
          </p:cNvSpPr>
          <p:nvPr/>
        </p:nvSpPr>
        <p:spPr>
          <a:xfrm xmlns:a="http://schemas.openxmlformats.org/drawingml/2006/main">
            <a:off x="1428750" y="428625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E289130A-3A7A-47F1-A547-0871FDD818C9}"/>
              </a:ext>
            </a:extLst>
          </p:cNvPr>
          <p:cNvSpPr>
            <a:spLocks xmlns:a="http://schemas.openxmlformats.org/drawingml/2006/main" noGrp="1"/>
          </p:cNvSpPr>
          <p:nvPr/>
        </p:nvSpPr>
        <p:spPr>
          <a:xfrm xmlns:a="http://schemas.openxmlformats.org/drawingml/2006/main">
            <a:off x="4076700" y="428625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C5F144FF-549C-4412-BDDB-51564F84A88D}"/>
              </a:ext>
            </a:extLst>
          </p:cNvPr>
          <p:cNvSpPr>
            <a:spLocks xmlns:a="http://schemas.openxmlformats.org/drawingml/2006/main" noGrp="1"/>
          </p:cNvSpPr>
          <p:nvPr/>
        </p:nvSpPr>
        <p:spPr>
          <a:xfrm xmlns:a="http://schemas.openxmlformats.org/drawingml/2006/main">
            <a:off x="1428750" y="4448175"/>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778C4416-C9B2-466A-861D-777CABD9D0B5}"/>
              </a:ext>
            </a:extLst>
          </p:cNvPr>
          <p:cNvSpPr>
            <a:spLocks xmlns:a="http://schemas.openxmlformats.org/drawingml/2006/main" noGrp="1"/>
          </p:cNvSpPr>
          <p:nvPr/>
        </p:nvSpPr>
        <p:spPr>
          <a:xfrm xmlns:a="http://schemas.openxmlformats.org/drawingml/2006/main">
            <a:off x="4076700" y="4448175"/>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9ACDE5F8-2D9C-4B66-B7E9-2B722E376E22}"/>
              </a:ext>
            </a:extLst>
          </p:cNvPr>
          <p:cNvSpPr>
            <a:spLocks xmlns:a="http://schemas.openxmlformats.org/drawingml/2006/main" noGrp="1"/>
          </p:cNvSpPr>
          <p:nvPr/>
        </p:nvSpPr>
        <p:spPr>
          <a:xfrm xmlns:a="http://schemas.openxmlformats.org/drawingml/2006/main">
            <a:off x="1428750" y="461010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5889DE01-3A79-458A-BD90-E89F066CCDCE}"/>
              </a:ext>
            </a:extLst>
          </p:cNvPr>
          <p:cNvSpPr>
            <a:spLocks xmlns:a="http://schemas.openxmlformats.org/drawingml/2006/main" noGrp="1"/>
          </p:cNvSpPr>
          <p:nvPr/>
        </p:nvSpPr>
        <p:spPr>
          <a:xfrm xmlns:a="http://schemas.openxmlformats.org/drawingml/2006/main">
            <a:off x="4076700" y="461010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FE24D1A4-999D-4C6D-904D-C3F251BDAB85}"/>
              </a:ext>
            </a:extLst>
          </p:cNvPr>
          <p:cNvSpPr>
            <a:spLocks xmlns:a="http://schemas.openxmlformats.org/drawingml/2006/main" noGrp="1"/>
          </p:cNvSpPr>
          <p:nvPr/>
        </p:nvSpPr>
        <p:spPr>
          <a:xfrm xmlns:a="http://schemas.openxmlformats.org/drawingml/2006/main">
            <a:off x="1428750" y="4772025"/>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EC18A642-BAB0-4CC9-BAD7-932743133366}"/>
              </a:ext>
            </a:extLst>
          </p:cNvPr>
          <p:cNvSpPr>
            <a:spLocks xmlns:a="http://schemas.openxmlformats.org/drawingml/2006/main" noGrp="1"/>
          </p:cNvSpPr>
          <p:nvPr/>
        </p:nvSpPr>
        <p:spPr>
          <a:xfrm xmlns:a="http://schemas.openxmlformats.org/drawingml/2006/main">
            <a:off x="4076700" y="4772025"/>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81D06FB2-F04C-4C1C-914E-0BD9821B30A9}"/>
              </a:ext>
            </a:extLst>
          </p:cNvPr>
          <p:cNvSpPr>
            <a:spLocks xmlns:a="http://schemas.openxmlformats.org/drawingml/2006/main" noGrp="1"/>
          </p:cNvSpPr>
          <p:nvPr/>
        </p:nvSpPr>
        <p:spPr>
          <a:xfrm xmlns:a="http://schemas.openxmlformats.org/drawingml/2006/main">
            <a:off x="1428750" y="493395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0AABDFB6-75A4-43BB-8AC7-28AD14ADA6DD}"/>
              </a:ext>
            </a:extLst>
          </p:cNvPr>
          <p:cNvSpPr>
            <a:spLocks xmlns:a="http://schemas.openxmlformats.org/drawingml/2006/main" noGrp="1"/>
          </p:cNvSpPr>
          <p:nvPr/>
        </p:nvSpPr>
        <p:spPr>
          <a:xfrm xmlns:a="http://schemas.openxmlformats.org/drawingml/2006/main">
            <a:off x="4076700" y="493395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46E800C1-9547-40A8-BE1C-B12B3542B53D}"/>
              </a:ext>
            </a:extLst>
          </p:cNvPr>
          <p:cNvSpPr>
            <a:spLocks xmlns:a="http://schemas.openxmlformats.org/drawingml/2006/main" noGrp="1"/>
          </p:cNvSpPr>
          <p:nvPr/>
        </p:nvSpPr>
        <p:spPr>
          <a:xfrm xmlns:a="http://schemas.openxmlformats.org/drawingml/2006/main">
            <a:off x="1428750" y="5095875"/>
            <a:ext cx="19050" cy="666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457EBD81-3ED9-4769-AEBC-D0044AD3D48A}"/>
              </a:ext>
            </a:extLst>
          </p:cNvPr>
          <p:cNvSpPr>
            <a:spLocks xmlns:a="http://schemas.openxmlformats.org/drawingml/2006/main" noGrp="1"/>
          </p:cNvSpPr>
          <p:nvPr/>
        </p:nvSpPr>
        <p:spPr>
          <a:xfrm xmlns:a="http://schemas.openxmlformats.org/drawingml/2006/main">
            <a:off x="4076700" y="5095875"/>
            <a:ext cx="19050" cy="666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935B3F13-270C-4535-B592-03D4352BA2D5}"/>
              </a:ext>
            </a:extLst>
          </p:cNvPr>
          <p:cNvSpPr>
            <a:spLocks xmlns:a="http://schemas.openxmlformats.org/drawingml/2006/main" noGrp="1"/>
          </p:cNvSpPr>
          <p:nvPr/>
        </p:nvSpPr>
        <p:spPr>
          <a:xfrm xmlns:a="http://schemas.openxmlformats.org/drawingml/2006/main" rot="0">
            <a:off x="1562100" y="4400550"/>
            <a:ext cx="2400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現場で得たデータ</a:t>
            </a:r>
          </a:p>
        </p:txBody>
      </p:sp>
      <p:sp>
        <p:nvSpPr>
          <p:cNvPr id="58" name="">
            <a:extLst xmlns:a="http://schemas.openxmlformats.org/drawingml/2006/main">
              <a:ext uri="{FF2B5EF4-FFF2-40B4-BE49-F238E27FC236}">
                <a16:creationId xmlns:a16="http://schemas.microsoft.com/office/drawing/2014/main" id="{2AE59B7F-C88B-4562-BBC1-F320F960722D}"/>
              </a:ext>
            </a:extLst>
          </p:cNvPr>
          <p:cNvSpPr>
            <a:spLocks xmlns:a="http://schemas.openxmlformats.org/drawingml/2006/main" noGrp="1"/>
          </p:cNvSpPr>
          <p:nvPr/>
        </p:nvSpPr>
        <p:spPr>
          <a:xfrm xmlns:a="http://schemas.openxmlformats.org/drawingml/2006/main">
            <a:off x="4238625" y="2476500"/>
            <a:ext cx="3000375"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9" name="">
            <a:extLst xmlns:a="http://schemas.openxmlformats.org/drawingml/2006/main">
              <a:ext uri="{FF2B5EF4-FFF2-40B4-BE49-F238E27FC236}">
                <a16:creationId xmlns:a16="http://schemas.microsoft.com/office/drawing/2014/main" id="{C8C1EF89-98CF-4230-97A2-B5A2741D147B}"/>
              </a:ext>
            </a:extLst>
          </p:cNvPr>
          <p:cNvSpPr>
            <a:spLocks xmlns:a="http://schemas.openxmlformats.org/drawingml/2006/main" noGrp="1"/>
          </p:cNvSpPr>
          <p:nvPr/>
        </p:nvSpPr>
        <p:spPr>
          <a:xfrm xmlns:a="http://schemas.openxmlformats.org/drawingml/2006/main" rot="5400000">
            <a:off x="7210425" y="2409825"/>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60" name="">
            <a:extLst xmlns:a="http://schemas.openxmlformats.org/drawingml/2006/main">
              <a:ext uri="{FF2B5EF4-FFF2-40B4-BE49-F238E27FC236}">
                <a16:creationId xmlns:a16="http://schemas.microsoft.com/office/drawing/2014/main" id="{C0313570-3B9F-4CE2-8A11-467BE36B3129}"/>
              </a:ext>
            </a:extLst>
          </p:cNvPr>
          <p:cNvSpPr>
            <a:spLocks xmlns:a="http://schemas.openxmlformats.org/drawingml/2006/main" noGrp="1"/>
          </p:cNvSpPr>
          <p:nvPr/>
        </p:nvSpPr>
        <p:spPr>
          <a:xfrm xmlns:a="http://schemas.openxmlformats.org/drawingml/2006/main">
            <a:off x="8839200" y="3019425"/>
            <a:ext cx="28575" cy="9810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5C441527-0774-4BBA-B15F-35D673127BE5}"/>
              </a:ext>
            </a:extLst>
          </p:cNvPr>
          <p:cNvSpPr>
            <a:spLocks xmlns:a="http://schemas.openxmlformats.org/drawingml/2006/main" noGrp="1"/>
          </p:cNvSpPr>
          <p:nvPr/>
        </p:nvSpPr>
        <p:spPr>
          <a:xfrm xmlns:a="http://schemas.openxmlformats.org/drawingml/2006/main" rot="10800000">
            <a:off x="8772525" y="3971925"/>
            <a:ext cx="161925" cy="171450"/>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62" name="">
            <a:extLst xmlns:a="http://schemas.openxmlformats.org/drawingml/2006/main">
              <a:ext uri="{FF2B5EF4-FFF2-40B4-BE49-F238E27FC236}">
                <a16:creationId xmlns:a16="http://schemas.microsoft.com/office/drawing/2014/main" id="{EE6C287A-43D9-4C9E-86BD-DE88BC50E3BF}"/>
              </a:ext>
            </a:extLst>
          </p:cNvPr>
          <p:cNvSpPr>
            <a:spLocks xmlns:a="http://schemas.openxmlformats.org/drawingml/2006/main" noGrp="1"/>
          </p:cNvSpPr>
          <p:nvPr/>
        </p:nvSpPr>
        <p:spPr>
          <a:xfrm xmlns:a="http://schemas.openxmlformats.org/drawingml/2006/main">
            <a:off x="4381500" y="4724400"/>
            <a:ext cx="3000375"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3" name="">
            <a:extLst xmlns:a="http://schemas.openxmlformats.org/drawingml/2006/main">
              <a:ext uri="{FF2B5EF4-FFF2-40B4-BE49-F238E27FC236}">
                <a16:creationId xmlns:a16="http://schemas.microsoft.com/office/drawing/2014/main" id="{3482FF63-02F2-4533-8D54-50993C222E08}"/>
              </a:ext>
            </a:extLst>
          </p:cNvPr>
          <p:cNvSpPr>
            <a:spLocks xmlns:a="http://schemas.openxmlformats.org/drawingml/2006/main" noGrp="1"/>
          </p:cNvSpPr>
          <p:nvPr/>
        </p:nvSpPr>
        <p:spPr>
          <a:xfrm xmlns:a="http://schemas.openxmlformats.org/drawingml/2006/main" rot="16200000">
            <a:off x="4238625" y="4657725"/>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64" name="">
            <a:extLst xmlns:a="http://schemas.openxmlformats.org/drawingml/2006/main">
              <a:ext uri="{FF2B5EF4-FFF2-40B4-BE49-F238E27FC236}">
                <a16:creationId xmlns:a16="http://schemas.microsoft.com/office/drawing/2014/main" id="{58583FFD-2D01-4062-9DCE-0FE46E9688F0}"/>
              </a:ext>
            </a:extLst>
          </p:cNvPr>
          <p:cNvSpPr>
            <a:spLocks xmlns:a="http://schemas.openxmlformats.org/drawingml/2006/main" noGrp="1"/>
          </p:cNvSpPr>
          <p:nvPr/>
        </p:nvSpPr>
        <p:spPr>
          <a:xfrm xmlns:a="http://schemas.openxmlformats.org/drawingml/2006/main">
            <a:off x="2743200" y="3162300"/>
            <a:ext cx="28575" cy="9810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5" name="">
            <a:extLst xmlns:a="http://schemas.openxmlformats.org/drawingml/2006/main">
              <a:ext uri="{FF2B5EF4-FFF2-40B4-BE49-F238E27FC236}">
                <a16:creationId xmlns:a16="http://schemas.microsoft.com/office/drawing/2014/main" id="{5F86C0D6-CF63-442C-8A7C-295A01E2F7BB}"/>
              </a:ext>
            </a:extLst>
          </p:cNvPr>
          <p:cNvSpPr>
            <a:spLocks xmlns:a="http://schemas.openxmlformats.org/drawingml/2006/main" noGrp="1"/>
          </p:cNvSpPr>
          <p:nvPr/>
        </p:nvSpPr>
        <p:spPr>
          <a:xfrm xmlns:a="http://schemas.openxmlformats.org/drawingml/2006/main" rot="0">
            <a:off x="2676525" y="3019425"/>
            <a:ext cx="161925" cy="171450"/>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66" name="">
            <a:extLst xmlns:a="http://schemas.openxmlformats.org/drawingml/2006/main">
              <a:ext uri="{FF2B5EF4-FFF2-40B4-BE49-F238E27FC236}">
                <a16:creationId xmlns:a16="http://schemas.microsoft.com/office/drawing/2014/main" id="{D3AAAFE8-9725-4479-A9C1-3007E3D232E7}"/>
              </a:ext>
            </a:extLst>
          </p:cNvPr>
          <p:cNvSpPr>
            <a:spLocks xmlns:a="http://schemas.openxmlformats.org/drawingml/2006/main" noGrp="1"/>
          </p:cNvSpPr>
          <p:nvPr/>
        </p:nvSpPr>
        <p:spPr>
          <a:xfrm xmlns:a="http://schemas.openxmlformats.org/drawingml/2006/main" rot="0">
            <a:off x="4905375" y="2143125"/>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58646A"/>
                </a:solidFill>
                <a:latin typeface="Hiragino Sans"/>
                <a:ea typeface="Hiragino Sans"/>
                <a:cs typeface="Hiragino Sans"/>
              </a:defRPr>
            </a:pPr>
            <a:r>
              <a:rPr sz="1125" b="0">
                <a:solidFill>
                  <a:srgbClr val="58646A"/>
                </a:solidFill>
                <a:latin typeface="Hiragino Sans"/>
                <a:ea typeface="Hiragino Sans"/>
                <a:cs typeface="Hiragino Sans"/>
              </a:rPr>
              <a:t>モデルを実機へ</a:t>
            </a:r>
          </a:p>
        </p:txBody>
      </p:sp>
      <p:sp>
        <p:nvSpPr>
          <p:cNvPr id="67" name="">
            <a:extLst xmlns:a="http://schemas.openxmlformats.org/drawingml/2006/main">
              <a:ext uri="{FF2B5EF4-FFF2-40B4-BE49-F238E27FC236}">
                <a16:creationId xmlns:a16="http://schemas.microsoft.com/office/drawing/2014/main" id="{DEA865D9-8D2E-4FF5-8055-517AA10EA694}"/>
              </a:ext>
            </a:extLst>
          </p:cNvPr>
          <p:cNvSpPr>
            <a:spLocks xmlns:a="http://schemas.openxmlformats.org/drawingml/2006/main" noGrp="1"/>
          </p:cNvSpPr>
          <p:nvPr/>
        </p:nvSpPr>
        <p:spPr>
          <a:xfrm xmlns:a="http://schemas.openxmlformats.org/drawingml/2006/main" rot="0">
            <a:off x="4953000" y="3476625"/>
            <a:ext cx="171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稼働そのものが</a:t>
            </a:r>
          </a:p>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データ収集になる</a:t>
            </a:r>
          </a:p>
        </p:txBody>
      </p:sp>
      <p:sp>
        <p:nvSpPr>
          <p:cNvPr id="68" name="">
            <a:extLst xmlns:a="http://schemas.openxmlformats.org/drawingml/2006/main">
              <a:ext uri="{FF2B5EF4-FFF2-40B4-BE49-F238E27FC236}">
                <a16:creationId xmlns:a16="http://schemas.microsoft.com/office/drawing/2014/main" id="{4DF476B3-B9BB-4B3B-9679-DDDF2B9FECFA}"/>
              </a:ext>
            </a:extLst>
          </p:cNvPr>
          <p:cNvSpPr>
            <a:spLocks xmlns:a="http://schemas.openxmlformats.org/drawingml/2006/main" noGrp="1"/>
          </p:cNvSpPr>
          <p:nvPr/>
        </p:nvSpPr>
        <p:spPr>
          <a:xfrm xmlns:a="http://schemas.openxmlformats.org/drawingml/2006/main" rot="0">
            <a:off x="723900" y="581025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現場稼働データが直接モデル改善</a:t>
            </a:r>
          </a:p>
        </p:txBody>
      </p:sp>
    </p:spTree>
    <p:extLst>
      <p:ext uri="{BB962C8B-B14F-4D97-AF65-F5344CB8AC3E}">
        <p14:creationId xmlns:p14="http://schemas.microsoft.com/office/powerpoint/2010/main" val="937333987"/>
      </p:ext>
    </p:extLst>
  </p:cSld>
</p:sld>
</file>

<file path=ppt/slides/slide7.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A20701AF-89CD-48A7-855E-6515C8760FE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DFB8F26-62A5-4FF6-86B7-F502870F997E}"/>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5191B"/>
                </a:solidFill>
                <a:latin typeface="Hiragino Sans"/>
                <a:ea typeface="Hiragino Sans"/>
                <a:cs typeface="Hiragino Sans"/>
              </a:defRPr>
            </a:pPr>
            <a:r>
              <a:rPr sz="2325" b="1">
                <a:solidFill>
                  <a:srgbClr val="15191B"/>
                </a:solidFill>
                <a:latin typeface="Hiragino Sans"/>
                <a:ea typeface="Hiragino Sans"/>
                <a:cs typeface="Hiragino Sans"/>
              </a:rPr>
              <a:t>データ収集を通じて、先に実現場ネットワークを構築することが有利</a:t>
            </a:r>
          </a:p>
        </p:txBody>
      </p:sp>
      <p:sp>
        <p:nvSpPr>
          <p:cNvPr id="3" name="">
            <a:extLst xmlns:a="http://schemas.openxmlformats.org/drawingml/2006/main">
              <a:ext uri="{FF2B5EF4-FFF2-40B4-BE49-F238E27FC236}">
                <a16:creationId xmlns:a16="http://schemas.microsoft.com/office/drawing/2014/main" id="{1798520F-15F9-44FD-8BF9-7101C8799983}"/>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067914C-EA1F-416D-B28F-8A20C6122D22}"/>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07</a:t>
            </a:r>
          </a:p>
        </p:txBody>
      </p:sp>
      <p:sp>
        <p:nvSpPr>
          <p:cNvPr id="5" name="">
            <a:extLst xmlns:a="http://schemas.openxmlformats.org/drawingml/2006/main">
              <a:ext uri="{FF2B5EF4-FFF2-40B4-BE49-F238E27FC236}">
                <a16:creationId xmlns:a16="http://schemas.microsoft.com/office/drawing/2014/main" id="{60974777-8209-4768-BC24-660A2D63BB48}"/>
              </a:ext>
            </a:extLst>
          </p:cNvPr>
          <p:cNvSpPr>
            <a:spLocks xmlns:a="http://schemas.openxmlformats.org/drawingml/2006/main" noGrp="1"/>
          </p:cNvSpPr>
          <p:nvPr/>
        </p:nvSpPr>
        <p:spPr>
          <a:xfrm xmlns:a="http://schemas.openxmlformats.org/drawingml/2006/main" rot="0">
            <a:off x="723900" y="160020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フィジカルAIは実現場のデータなしに成立しないからこそ、最上流のデータ収集層と最下流の現場統合が繋がる、この業界特有の構造がある</a:t>
            </a:r>
          </a:p>
        </p:txBody>
      </p:sp>
      <p:sp>
        <p:nvSpPr>
          <p:cNvPr id="6" name="">
            <a:extLst xmlns:a="http://schemas.openxmlformats.org/drawingml/2006/main">
              <a:ext uri="{FF2B5EF4-FFF2-40B4-BE49-F238E27FC236}">
                <a16:creationId xmlns:a16="http://schemas.microsoft.com/office/drawing/2014/main" id="{09C5E331-7E09-4ACB-AA78-1D6F68602A97}"/>
              </a:ext>
            </a:extLst>
          </p:cNvPr>
          <p:cNvSpPr>
            <a:spLocks xmlns:a="http://schemas.openxmlformats.org/drawingml/2006/main" noGrp="1"/>
          </p:cNvSpPr>
          <p:nvPr/>
        </p:nvSpPr>
        <p:spPr>
          <a:xfrm xmlns:a="http://schemas.openxmlformats.org/drawingml/2006/main">
            <a:off x="3667125" y="2143125"/>
            <a:ext cx="409575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7" name="">
            <a:extLst xmlns:a="http://schemas.openxmlformats.org/drawingml/2006/main">
              <a:ext uri="{FF2B5EF4-FFF2-40B4-BE49-F238E27FC236}">
                <a16:creationId xmlns:a16="http://schemas.microsoft.com/office/drawing/2014/main" id="{A0C469D2-A11B-452F-99BD-8C084EB184D2}"/>
              </a:ext>
            </a:extLst>
          </p:cNvPr>
          <p:cNvSpPr>
            <a:spLocks xmlns:a="http://schemas.openxmlformats.org/drawingml/2006/main" noGrp="1"/>
          </p:cNvSpPr>
          <p:nvPr/>
        </p:nvSpPr>
        <p:spPr>
          <a:xfrm xmlns:a="http://schemas.openxmlformats.org/drawingml/2006/main" rot="0">
            <a:off x="3800475" y="2257425"/>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データ収集・加工</a:t>
            </a:r>
          </a:p>
        </p:txBody>
      </p:sp>
      <p:sp>
        <p:nvSpPr>
          <p:cNvPr id="8" name="">
            <a:extLst xmlns:a="http://schemas.openxmlformats.org/drawingml/2006/main">
              <a:ext uri="{FF2B5EF4-FFF2-40B4-BE49-F238E27FC236}">
                <a16:creationId xmlns:a16="http://schemas.microsoft.com/office/drawing/2014/main" id="{AAB7432B-66DE-4FEC-950C-B6362494E168}"/>
              </a:ext>
            </a:extLst>
          </p:cNvPr>
          <p:cNvSpPr>
            <a:spLocks xmlns:a="http://schemas.openxmlformats.org/drawingml/2006/main" noGrp="1"/>
          </p:cNvSpPr>
          <p:nvPr/>
        </p:nvSpPr>
        <p:spPr>
          <a:xfrm xmlns:a="http://schemas.openxmlformats.org/drawingml/2006/main">
            <a:off x="3667125" y="2809875"/>
            <a:ext cx="40957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9" name="">
            <a:extLst xmlns:a="http://schemas.openxmlformats.org/drawingml/2006/main">
              <a:ext uri="{FF2B5EF4-FFF2-40B4-BE49-F238E27FC236}">
                <a16:creationId xmlns:a16="http://schemas.microsoft.com/office/drawing/2014/main" id="{E6F60EAB-95EF-408F-B763-9C107BA443F6}"/>
              </a:ext>
            </a:extLst>
          </p:cNvPr>
          <p:cNvSpPr>
            <a:spLocks xmlns:a="http://schemas.openxmlformats.org/drawingml/2006/main" noGrp="1"/>
          </p:cNvSpPr>
          <p:nvPr/>
        </p:nvSpPr>
        <p:spPr>
          <a:xfrm xmlns:a="http://schemas.openxmlformats.org/drawingml/2006/main" rot="0">
            <a:off x="3800475" y="2924175"/>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基盤モデル・シミュレーション</a:t>
            </a:r>
          </a:p>
        </p:txBody>
      </p:sp>
      <p:sp>
        <p:nvSpPr>
          <p:cNvPr id="10" name="">
            <a:extLst xmlns:a="http://schemas.openxmlformats.org/drawingml/2006/main">
              <a:ext uri="{FF2B5EF4-FFF2-40B4-BE49-F238E27FC236}">
                <a16:creationId xmlns:a16="http://schemas.microsoft.com/office/drawing/2014/main" id="{10CDFEED-00E9-4CAB-B029-33BF16E3C64D}"/>
              </a:ext>
            </a:extLst>
          </p:cNvPr>
          <p:cNvSpPr>
            <a:spLocks xmlns:a="http://schemas.openxmlformats.org/drawingml/2006/main" noGrp="1"/>
          </p:cNvSpPr>
          <p:nvPr/>
        </p:nvSpPr>
        <p:spPr>
          <a:xfrm xmlns:a="http://schemas.openxmlformats.org/drawingml/2006/main">
            <a:off x="3667125" y="3476625"/>
            <a:ext cx="40957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11" name="">
            <a:extLst xmlns:a="http://schemas.openxmlformats.org/drawingml/2006/main">
              <a:ext uri="{FF2B5EF4-FFF2-40B4-BE49-F238E27FC236}">
                <a16:creationId xmlns:a16="http://schemas.microsoft.com/office/drawing/2014/main" id="{04D77C45-953C-474B-8AAC-E22D715BAFFC}"/>
              </a:ext>
            </a:extLst>
          </p:cNvPr>
          <p:cNvSpPr>
            <a:spLocks xmlns:a="http://schemas.openxmlformats.org/drawingml/2006/main" noGrp="1"/>
          </p:cNvSpPr>
          <p:nvPr/>
        </p:nvSpPr>
        <p:spPr>
          <a:xfrm xmlns:a="http://schemas.openxmlformats.org/drawingml/2006/main" rot="0">
            <a:off x="3800475" y="3590925"/>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ハードウェア</a:t>
            </a:r>
          </a:p>
        </p:txBody>
      </p:sp>
      <p:sp>
        <p:nvSpPr>
          <p:cNvPr id="12" name="">
            <a:extLst xmlns:a="http://schemas.openxmlformats.org/drawingml/2006/main">
              <a:ext uri="{FF2B5EF4-FFF2-40B4-BE49-F238E27FC236}">
                <a16:creationId xmlns:a16="http://schemas.microsoft.com/office/drawing/2014/main" id="{D5A00114-1AE1-485A-9089-C8463311A894}"/>
              </a:ext>
            </a:extLst>
          </p:cNvPr>
          <p:cNvSpPr>
            <a:spLocks xmlns:a="http://schemas.openxmlformats.org/drawingml/2006/main" noGrp="1"/>
          </p:cNvSpPr>
          <p:nvPr/>
        </p:nvSpPr>
        <p:spPr>
          <a:xfrm xmlns:a="http://schemas.openxmlformats.org/drawingml/2006/main">
            <a:off x="3667125" y="4143375"/>
            <a:ext cx="409575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3" name="">
            <a:extLst xmlns:a="http://schemas.openxmlformats.org/drawingml/2006/main">
              <a:ext uri="{FF2B5EF4-FFF2-40B4-BE49-F238E27FC236}">
                <a16:creationId xmlns:a16="http://schemas.microsoft.com/office/drawing/2014/main" id="{FAC7E529-563E-4584-962C-F8CD2D186D35}"/>
              </a:ext>
            </a:extLst>
          </p:cNvPr>
          <p:cNvSpPr>
            <a:spLocks xmlns:a="http://schemas.openxmlformats.org/drawingml/2006/main" noGrp="1"/>
          </p:cNvSpPr>
          <p:nvPr/>
        </p:nvSpPr>
        <p:spPr>
          <a:xfrm xmlns:a="http://schemas.openxmlformats.org/drawingml/2006/main" rot="0">
            <a:off x="3800475" y="4257675"/>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現場統合</a:t>
            </a:r>
          </a:p>
        </p:txBody>
      </p:sp>
      <p:sp>
        <p:nvSpPr>
          <p:cNvPr id="14" name="">
            <a:extLst xmlns:a="http://schemas.openxmlformats.org/drawingml/2006/main">
              <a:ext uri="{FF2B5EF4-FFF2-40B4-BE49-F238E27FC236}">
                <a16:creationId xmlns:a16="http://schemas.microsoft.com/office/drawing/2014/main" id="{5D3380BA-5249-41FD-B8DA-9BF1995E1EF0}"/>
              </a:ext>
            </a:extLst>
          </p:cNvPr>
          <p:cNvSpPr>
            <a:spLocks xmlns:a="http://schemas.openxmlformats.org/drawingml/2006/main" noGrp="1"/>
          </p:cNvSpPr>
          <p:nvPr/>
        </p:nvSpPr>
        <p:spPr>
          <a:xfrm xmlns:a="http://schemas.openxmlformats.org/drawingml/2006/main">
            <a:off x="3667125" y="5238750"/>
            <a:ext cx="4095750" cy="552450"/>
          </a:xfrm>
          <a:prstGeom xmlns:a="http://schemas.openxmlformats.org/drawingml/2006/main" prst="rect">
            <a:avLst/>
          </a:prstGeom>
          <a:solidFill xmlns:a="http://schemas.openxmlformats.org/drawingml/2006/main">
            <a:srgbClr val="25333A"/>
          </a:solidFill>
          <a:ln xmlns:a="http://schemas.openxmlformats.org/drawingml/2006/main" w="19050">
            <a:solidFill>
              <a:srgbClr val="25333A"/>
            </a:solidFill>
          </a:ln>
        </p:spPr>
      </p:sp>
      <p:sp>
        <p:nvSpPr>
          <p:cNvPr id="15" name="">
            <a:extLst xmlns:a="http://schemas.openxmlformats.org/drawingml/2006/main">
              <a:ext uri="{FF2B5EF4-FFF2-40B4-BE49-F238E27FC236}">
                <a16:creationId xmlns:a16="http://schemas.microsoft.com/office/drawing/2014/main" id="{3F2D26FB-3FBD-4C8B-96BE-99464D4C8ADB}"/>
              </a:ext>
            </a:extLst>
          </p:cNvPr>
          <p:cNvSpPr>
            <a:spLocks xmlns:a="http://schemas.openxmlformats.org/drawingml/2006/main" noGrp="1"/>
          </p:cNvSpPr>
          <p:nvPr/>
        </p:nvSpPr>
        <p:spPr>
          <a:xfrm xmlns:a="http://schemas.openxmlformats.org/drawingml/2006/main" rot="0">
            <a:off x="3800475" y="5353050"/>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FFFFFF"/>
                </a:solidFill>
                <a:latin typeface="Hiragino Sans"/>
                <a:ea typeface="Hiragino Sans"/>
                <a:cs typeface="Hiragino Sans"/>
              </a:defRPr>
            </a:pPr>
            <a:r>
              <a:rPr sz="1500" b="1">
                <a:solidFill>
                  <a:srgbClr val="FFFFFF"/>
                </a:solidFill>
                <a:latin typeface="Hiragino Sans"/>
                <a:ea typeface="Hiragino Sans"/>
                <a:cs typeface="Hiragino Sans"/>
              </a:rPr>
              <a:t>現場</a:t>
            </a:r>
          </a:p>
        </p:txBody>
      </p:sp>
      <p:sp>
        <p:nvSpPr>
          <p:cNvPr id="16" name="">
            <a:extLst xmlns:a="http://schemas.openxmlformats.org/drawingml/2006/main">
              <a:ext uri="{FF2B5EF4-FFF2-40B4-BE49-F238E27FC236}">
                <a16:creationId xmlns:a16="http://schemas.microsoft.com/office/drawing/2014/main" id="{2DAB3E4F-7D79-4FB5-910D-555330F5E212}"/>
              </a:ext>
            </a:extLst>
          </p:cNvPr>
          <p:cNvSpPr>
            <a:spLocks xmlns:a="http://schemas.openxmlformats.org/drawingml/2006/main" noGrp="1"/>
          </p:cNvSpPr>
          <p:nvPr/>
        </p:nvSpPr>
        <p:spPr>
          <a:xfrm xmlns:a="http://schemas.openxmlformats.org/drawingml/2006/main">
            <a:off x="5715000" y="4791075"/>
            <a:ext cx="28575" cy="2095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1DDCCBD-DB24-49BF-893A-9FF25844D4D1}"/>
              </a:ext>
            </a:extLst>
          </p:cNvPr>
          <p:cNvSpPr>
            <a:spLocks xmlns:a="http://schemas.openxmlformats.org/drawingml/2006/main" noGrp="1"/>
          </p:cNvSpPr>
          <p:nvPr/>
        </p:nvSpPr>
        <p:spPr>
          <a:xfrm xmlns:a="http://schemas.openxmlformats.org/drawingml/2006/main" rot="10800000">
            <a:off x="5648325" y="4972050"/>
            <a:ext cx="161925" cy="171450"/>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18" name="">
            <a:extLst xmlns:a="http://schemas.openxmlformats.org/drawingml/2006/main">
              <a:ext uri="{FF2B5EF4-FFF2-40B4-BE49-F238E27FC236}">
                <a16:creationId xmlns:a16="http://schemas.microsoft.com/office/drawing/2014/main" id="{0A0D2515-1184-44AB-A290-5A2800CDC726}"/>
              </a:ext>
            </a:extLst>
          </p:cNvPr>
          <p:cNvSpPr>
            <a:spLocks xmlns:a="http://schemas.openxmlformats.org/drawingml/2006/main" noGrp="1"/>
          </p:cNvSpPr>
          <p:nvPr/>
        </p:nvSpPr>
        <p:spPr>
          <a:xfrm xmlns:a="http://schemas.openxmlformats.org/drawingml/2006/main">
            <a:off x="7762875" y="2419350"/>
            <a:ext cx="1619250"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CB4DCDA-5E85-4E9B-AA6D-B04C3E352DED}"/>
              </a:ext>
            </a:extLst>
          </p:cNvPr>
          <p:cNvSpPr>
            <a:spLocks xmlns:a="http://schemas.openxmlformats.org/drawingml/2006/main" noGrp="1"/>
          </p:cNvSpPr>
          <p:nvPr/>
        </p:nvSpPr>
        <p:spPr>
          <a:xfrm xmlns:a="http://schemas.openxmlformats.org/drawingml/2006/main">
            <a:off x="9353550" y="2419350"/>
            <a:ext cx="28575" cy="309562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4056EAF-D060-4A8A-A2A6-7A9A58362F52}"/>
              </a:ext>
            </a:extLst>
          </p:cNvPr>
          <p:cNvSpPr>
            <a:spLocks xmlns:a="http://schemas.openxmlformats.org/drawingml/2006/main" noGrp="1"/>
          </p:cNvSpPr>
          <p:nvPr/>
        </p:nvSpPr>
        <p:spPr>
          <a:xfrm xmlns:a="http://schemas.openxmlformats.org/drawingml/2006/main">
            <a:off x="7762875" y="5486400"/>
            <a:ext cx="1619250"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F30FE6B9-9D5F-4518-979B-09C3FBE7BF4A}"/>
              </a:ext>
            </a:extLst>
          </p:cNvPr>
          <p:cNvSpPr>
            <a:spLocks xmlns:a="http://schemas.openxmlformats.org/drawingml/2006/main" noGrp="1"/>
          </p:cNvSpPr>
          <p:nvPr/>
        </p:nvSpPr>
        <p:spPr>
          <a:xfrm xmlns:a="http://schemas.openxmlformats.org/drawingml/2006/main" rot="16200000">
            <a:off x="7743825" y="5419725"/>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22" name="">
            <a:extLst xmlns:a="http://schemas.openxmlformats.org/drawingml/2006/main">
              <a:ext uri="{FF2B5EF4-FFF2-40B4-BE49-F238E27FC236}">
                <a16:creationId xmlns:a16="http://schemas.microsoft.com/office/drawing/2014/main" id="{0E7FA490-EC81-43FA-8112-435E817ED20D}"/>
              </a:ext>
            </a:extLst>
          </p:cNvPr>
          <p:cNvSpPr>
            <a:spLocks xmlns:a="http://schemas.openxmlformats.org/drawingml/2006/main" noGrp="1"/>
          </p:cNvSpPr>
          <p:nvPr/>
        </p:nvSpPr>
        <p:spPr>
          <a:xfrm xmlns:a="http://schemas.openxmlformats.org/drawingml/2006/main" rot="0">
            <a:off x="9572625" y="3333750"/>
            <a:ext cx="1619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上流からも</a:t>
            </a:r>
          </a:p>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現場へ直接入る</a:t>
            </a:r>
          </a:p>
        </p:txBody>
      </p:sp>
      <p:sp>
        <p:nvSpPr>
          <p:cNvPr id="23" name="">
            <a:extLst xmlns:a="http://schemas.openxmlformats.org/drawingml/2006/main">
              <a:ext uri="{FF2B5EF4-FFF2-40B4-BE49-F238E27FC236}">
                <a16:creationId xmlns:a16="http://schemas.microsoft.com/office/drawing/2014/main" id="{614BD850-B205-4245-9147-D6E607BC4163}"/>
              </a:ext>
            </a:extLst>
          </p:cNvPr>
          <p:cNvSpPr>
            <a:spLocks xmlns:a="http://schemas.openxmlformats.org/drawingml/2006/main" noGrp="1"/>
          </p:cNvSpPr>
          <p:nvPr/>
        </p:nvSpPr>
        <p:spPr>
          <a:xfrm xmlns:a="http://schemas.openxmlformats.org/drawingml/2006/main" rot="0">
            <a:off x="723900" y="60007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上流のデータ収集と最下流の現場統合が、同じ現場と直接つながる</a:t>
            </a:r>
          </a:p>
        </p:txBody>
      </p:sp>
    </p:spTree>
    <p:extLst>
      <p:ext uri="{BB962C8B-B14F-4D97-AF65-F5344CB8AC3E}">
        <p14:creationId xmlns:p14="http://schemas.microsoft.com/office/powerpoint/2010/main" val="1792699500"/>
      </p:ext>
    </p:extLst>
  </p:cSld>
</p:sld>
</file>

<file path=ppt/slides/slide8.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B7B8371-722D-493B-BF86-BF3D396ABF9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B0FA09B-7238-4B25-94CB-9C2C1D631E68}"/>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5191B"/>
                </a:solidFill>
                <a:latin typeface="Hiragino Sans"/>
                <a:ea typeface="Hiragino Sans"/>
                <a:cs typeface="Hiragino Sans"/>
              </a:defRPr>
            </a:pPr>
            <a:r>
              <a:rPr sz="2325" b="1">
                <a:solidFill>
                  <a:srgbClr val="15191B"/>
                </a:solidFill>
                <a:latin typeface="Hiragino Sans"/>
                <a:ea typeface="Hiragino Sans"/>
                <a:cs typeface="Hiragino Sans"/>
              </a:rPr>
              <a:t>現場統合層は横に広げられないが、データ収集層なら今すぐ広げられる</a:t>
            </a:r>
          </a:p>
        </p:txBody>
      </p:sp>
      <p:sp>
        <p:nvSpPr>
          <p:cNvPr id="3" name="">
            <a:extLst xmlns:a="http://schemas.openxmlformats.org/drawingml/2006/main">
              <a:ext uri="{FF2B5EF4-FFF2-40B4-BE49-F238E27FC236}">
                <a16:creationId xmlns:a16="http://schemas.microsoft.com/office/drawing/2014/main" id="{C35F14AD-1099-4206-B13F-299762533DFE}"/>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2136B8A-2069-45F5-B9E8-4563399232DF}"/>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08</a:t>
            </a:r>
          </a:p>
        </p:txBody>
      </p:sp>
      <p:sp>
        <p:nvSpPr>
          <p:cNvPr id="5" name="">
            <a:extLst xmlns:a="http://schemas.openxmlformats.org/drawingml/2006/main">
              <a:ext uri="{FF2B5EF4-FFF2-40B4-BE49-F238E27FC236}">
                <a16:creationId xmlns:a16="http://schemas.microsoft.com/office/drawing/2014/main" id="{C6974602-0A79-48DC-BA17-A871D0FE4BD4}"/>
              </a:ext>
            </a:extLst>
          </p:cNvPr>
          <p:cNvSpPr>
            <a:spLocks xmlns:a="http://schemas.openxmlformats.org/drawingml/2006/main" noGrp="1"/>
          </p:cNvSpPr>
          <p:nvPr/>
        </p:nvSpPr>
        <p:spPr>
          <a:xfrm xmlns:a="http://schemas.openxmlformats.org/drawingml/2006/main" rot="0">
            <a:off x="723900" y="16002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業種をまたぐ技術的障壁がないのはデータ収集層だけである</a:t>
            </a:r>
          </a:p>
        </p:txBody>
      </p:sp>
      <p:sp>
        <p:nvSpPr>
          <p:cNvPr id="6" name="">
            <a:extLst xmlns:a="http://schemas.openxmlformats.org/drawingml/2006/main">
              <a:ext uri="{FF2B5EF4-FFF2-40B4-BE49-F238E27FC236}">
                <a16:creationId xmlns:a16="http://schemas.microsoft.com/office/drawing/2014/main" id="{B3077ED5-FABC-4C68-95E8-400C615C2510}"/>
              </a:ext>
            </a:extLst>
          </p:cNvPr>
          <p:cNvSpPr>
            <a:spLocks xmlns:a="http://schemas.openxmlformats.org/drawingml/2006/main" noGrp="1"/>
          </p:cNvSpPr>
          <p:nvPr/>
        </p:nvSpPr>
        <p:spPr>
          <a:xfrm xmlns:a="http://schemas.openxmlformats.org/drawingml/2006/main" rot="0">
            <a:off x="857250" y="247650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5191B"/>
                </a:solidFill>
                <a:latin typeface="Hiragino Sans"/>
                <a:ea typeface="Hiragino Sans"/>
                <a:cs typeface="Hiragino Sans"/>
              </a:defRPr>
            </a:pPr>
            <a:r>
              <a:rPr sz="1875" b="1">
                <a:solidFill>
                  <a:srgbClr val="15191B"/>
                </a:solidFill>
                <a:latin typeface="Hiragino Sans"/>
                <a:ea typeface="Hiragino Sans"/>
                <a:cs typeface="Hiragino Sans"/>
              </a:rPr>
              <a:t>現場統合層</a:t>
            </a:r>
          </a:p>
        </p:txBody>
      </p:sp>
      <p:sp>
        <p:nvSpPr>
          <p:cNvPr id="7" name="">
            <a:extLst xmlns:a="http://schemas.openxmlformats.org/drawingml/2006/main">
              <a:ext uri="{FF2B5EF4-FFF2-40B4-BE49-F238E27FC236}">
                <a16:creationId xmlns:a16="http://schemas.microsoft.com/office/drawing/2014/main" id="{1A0F13D7-266F-4CE7-A738-DDD43F1BE2C6}"/>
              </a:ext>
            </a:extLst>
          </p:cNvPr>
          <p:cNvSpPr>
            <a:spLocks xmlns:a="http://schemas.openxmlformats.org/drawingml/2006/main" noGrp="1"/>
          </p:cNvSpPr>
          <p:nvPr/>
        </p:nvSpPr>
        <p:spPr>
          <a:xfrm xmlns:a="http://schemas.openxmlformats.org/drawingml/2006/main">
            <a:off x="857250" y="2952750"/>
            <a:ext cx="4762500"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25C10D6-E4EE-49DE-84C6-AE1AF21D75EA}"/>
              </a:ext>
            </a:extLst>
          </p:cNvPr>
          <p:cNvSpPr>
            <a:spLocks xmlns:a="http://schemas.openxmlformats.org/drawingml/2006/main" noGrp="1"/>
          </p:cNvSpPr>
          <p:nvPr/>
        </p:nvSpPr>
        <p:spPr>
          <a:xfrm xmlns:a="http://schemas.openxmlformats.org/drawingml/2006/main">
            <a:off x="857250" y="3333750"/>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B72DE29-AA33-4158-9F48-3CBB5DFFD556}"/>
              </a:ext>
            </a:extLst>
          </p:cNvPr>
          <p:cNvSpPr>
            <a:spLocks xmlns:a="http://schemas.openxmlformats.org/drawingml/2006/main" noGrp="1"/>
          </p:cNvSpPr>
          <p:nvPr/>
        </p:nvSpPr>
        <p:spPr>
          <a:xfrm xmlns:a="http://schemas.openxmlformats.org/drawingml/2006/main" rot="0">
            <a:off x="1104900" y="3171825"/>
            <a:ext cx="409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業種・タスクごとに</a:t>
            </a:r>
          </a:p>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個別の技術開発が必要</a:t>
            </a:r>
          </a:p>
        </p:txBody>
      </p:sp>
      <p:sp>
        <p:nvSpPr>
          <p:cNvPr id="10" name="">
            <a:extLst xmlns:a="http://schemas.openxmlformats.org/drawingml/2006/main">
              <a:ext uri="{FF2B5EF4-FFF2-40B4-BE49-F238E27FC236}">
                <a16:creationId xmlns:a16="http://schemas.microsoft.com/office/drawing/2014/main" id="{A7412563-F394-4466-86EB-9B1F06D6F770}"/>
              </a:ext>
            </a:extLst>
          </p:cNvPr>
          <p:cNvSpPr>
            <a:spLocks xmlns:a="http://schemas.openxmlformats.org/drawingml/2006/main" noGrp="1"/>
          </p:cNvSpPr>
          <p:nvPr/>
        </p:nvSpPr>
        <p:spPr>
          <a:xfrm xmlns:a="http://schemas.openxmlformats.org/drawingml/2006/main">
            <a:off x="857250" y="4429125"/>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936C49E-D190-4B36-BA16-A2B38B08C770}"/>
              </a:ext>
            </a:extLst>
          </p:cNvPr>
          <p:cNvSpPr>
            <a:spLocks xmlns:a="http://schemas.openxmlformats.org/drawingml/2006/main" noGrp="1"/>
          </p:cNvSpPr>
          <p:nvPr/>
        </p:nvSpPr>
        <p:spPr>
          <a:xfrm xmlns:a="http://schemas.openxmlformats.org/drawingml/2006/main" rot="0">
            <a:off x="1104900" y="4267200"/>
            <a:ext cx="409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横展開している企業は</a:t>
            </a:r>
          </a:p>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現時点でゼロ</a:t>
            </a:r>
          </a:p>
        </p:txBody>
      </p:sp>
      <p:sp>
        <p:nvSpPr>
          <p:cNvPr id="12" name="">
            <a:extLst xmlns:a="http://schemas.openxmlformats.org/drawingml/2006/main">
              <a:ext uri="{FF2B5EF4-FFF2-40B4-BE49-F238E27FC236}">
                <a16:creationId xmlns:a16="http://schemas.microsoft.com/office/drawing/2014/main" id="{B1B5D1D6-2FE2-4C80-A8FE-AF232C9E5888}"/>
              </a:ext>
            </a:extLst>
          </p:cNvPr>
          <p:cNvSpPr>
            <a:spLocks xmlns:a="http://schemas.openxmlformats.org/drawingml/2006/main" noGrp="1"/>
          </p:cNvSpPr>
          <p:nvPr/>
        </p:nvSpPr>
        <p:spPr>
          <a:xfrm xmlns:a="http://schemas.openxmlformats.org/drawingml/2006/main">
            <a:off x="6096000" y="2333625"/>
            <a:ext cx="9525" cy="319087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A8C3707-FA96-41B1-9C96-17D370C23B3F}"/>
              </a:ext>
            </a:extLst>
          </p:cNvPr>
          <p:cNvSpPr>
            <a:spLocks xmlns:a="http://schemas.openxmlformats.org/drawingml/2006/main" noGrp="1"/>
          </p:cNvSpPr>
          <p:nvPr/>
        </p:nvSpPr>
        <p:spPr>
          <a:xfrm xmlns:a="http://schemas.openxmlformats.org/drawingml/2006/main" rot="0">
            <a:off x="6572250" y="247650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315C78"/>
                </a:solidFill>
                <a:latin typeface="Hiragino Sans"/>
                <a:ea typeface="Hiragino Sans"/>
                <a:cs typeface="Hiragino Sans"/>
              </a:defRPr>
            </a:pPr>
            <a:r>
              <a:rPr sz="1875" b="1">
                <a:solidFill>
                  <a:srgbClr val="315C78"/>
                </a:solidFill>
                <a:latin typeface="Hiragino Sans"/>
                <a:ea typeface="Hiragino Sans"/>
                <a:cs typeface="Hiragino Sans"/>
              </a:rPr>
              <a:t>データ収集層</a:t>
            </a:r>
          </a:p>
        </p:txBody>
      </p:sp>
      <p:sp>
        <p:nvSpPr>
          <p:cNvPr id="14" name="">
            <a:extLst xmlns:a="http://schemas.openxmlformats.org/drawingml/2006/main">
              <a:ext uri="{FF2B5EF4-FFF2-40B4-BE49-F238E27FC236}">
                <a16:creationId xmlns:a16="http://schemas.microsoft.com/office/drawing/2014/main" id="{B30599F3-6913-4A6C-8C12-DABCFA0A1B96}"/>
              </a:ext>
            </a:extLst>
          </p:cNvPr>
          <p:cNvSpPr>
            <a:spLocks xmlns:a="http://schemas.openxmlformats.org/drawingml/2006/main" noGrp="1"/>
          </p:cNvSpPr>
          <p:nvPr/>
        </p:nvSpPr>
        <p:spPr>
          <a:xfrm xmlns:a="http://schemas.openxmlformats.org/drawingml/2006/main">
            <a:off x="6572250" y="2952750"/>
            <a:ext cx="4762500"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8ED381A-362E-4FEC-80FE-B80C1599FBE4}"/>
              </a:ext>
            </a:extLst>
          </p:cNvPr>
          <p:cNvSpPr>
            <a:spLocks xmlns:a="http://schemas.openxmlformats.org/drawingml/2006/main" noGrp="1"/>
          </p:cNvSpPr>
          <p:nvPr/>
        </p:nvSpPr>
        <p:spPr>
          <a:xfrm xmlns:a="http://schemas.openxmlformats.org/drawingml/2006/main">
            <a:off x="6572250" y="3333750"/>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5C984E6-740B-47F4-A598-5E8397146C22}"/>
              </a:ext>
            </a:extLst>
          </p:cNvPr>
          <p:cNvSpPr>
            <a:spLocks xmlns:a="http://schemas.openxmlformats.org/drawingml/2006/main" noGrp="1"/>
          </p:cNvSpPr>
          <p:nvPr/>
        </p:nvSpPr>
        <p:spPr>
          <a:xfrm xmlns:a="http://schemas.openxmlformats.org/drawingml/2006/main" rot="0">
            <a:off x="6819900" y="3171825"/>
            <a:ext cx="409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カメラを装着した人間の</a:t>
            </a:r>
          </a:p>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作業を撮影するだけ</a:t>
            </a:r>
          </a:p>
        </p:txBody>
      </p:sp>
      <p:sp>
        <p:nvSpPr>
          <p:cNvPr id="17" name="">
            <a:extLst xmlns:a="http://schemas.openxmlformats.org/drawingml/2006/main">
              <a:ext uri="{FF2B5EF4-FFF2-40B4-BE49-F238E27FC236}">
                <a16:creationId xmlns:a16="http://schemas.microsoft.com/office/drawing/2014/main" id="{C770C6D4-FC32-403F-85B5-BB323B0A69EB}"/>
              </a:ext>
            </a:extLst>
          </p:cNvPr>
          <p:cNvSpPr>
            <a:spLocks xmlns:a="http://schemas.openxmlformats.org/drawingml/2006/main" noGrp="1"/>
          </p:cNvSpPr>
          <p:nvPr/>
        </p:nvSpPr>
        <p:spPr>
          <a:xfrm xmlns:a="http://schemas.openxmlformats.org/drawingml/2006/main">
            <a:off x="6572250" y="4429125"/>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5384462-1C9F-4A18-93AC-C0C031E04008}"/>
              </a:ext>
            </a:extLst>
          </p:cNvPr>
          <p:cNvSpPr>
            <a:spLocks xmlns:a="http://schemas.openxmlformats.org/drawingml/2006/main" noGrp="1"/>
          </p:cNvSpPr>
          <p:nvPr/>
        </p:nvSpPr>
        <p:spPr>
          <a:xfrm xmlns:a="http://schemas.openxmlformats.org/drawingml/2006/main" rot="0">
            <a:off x="6819900" y="4267200"/>
            <a:ext cx="409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今の技術で</a:t>
            </a:r>
          </a:p>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複数業種に展開可能</a:t>
            </a:r>
          </a:p>
        </p:txBody>
      </p:sp>
    </p:spTree>
    <p:extLst>
      <p:ext uri="{BB962C8B-B14F-4D97-AF65-F5344CB8AC3E}">
        <p14:creationId xmlns:p14="http://schemas.microsoft.com/office/powerpoint/2010/main" val="1457057559"/>
      </p:ext>
    </p:extLst>
  </p:cSld>
</p:sld>
</file>

<file path=ppt/slides/slide9.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35347B18-DB2D-44E0-BFE2-CC00E4A6324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6100C02-EE9C-4DB7-A93E-7C77D5A02029}"/>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現場は有限の資産であり、先行者優位が極めて強い</a:t>
            </a:r>
          </a:p>
        </p:txBody>
      </p:sp>
      <p:sp>
        <p:nvSpPr>
          <p:cNvPr id="3" name="">
            <a:extLst xmlns:a="http://schemas.openxmlformats.org/drawingml/2006/main">
              <a:ext uri="{FF2B5EF4-FFF2-40B4-BE49-F238E27FC236}">
                <a16:creationId xmlns:a16="http://schemas.microsoft.com/office/drawing/2014/main" id="{4736FCF6-2C62-47A3-B69F-3EFA5C5CA90C}"/>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1F36660-C53E-4291-9E1D-766EC8789289}"/>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09</a:t>
            </a:r>
          </a:p>
        </p:txBody>
      </p:sp>
      <p:sp>
        <p:nvSpPr>
          <p:cNvPr id="5" name="">
            <a:extLst xmlns:a="http://schemas.openxmlformats.org/drawingml/2006/main">
              <a:ext uri="{FF2B5EF4-FFF2-40B4-BE49-F238E27FC236}">
                <a16:creationId xmlns:a16="http://schemas.microsoft.com/office/drawing/2014/main" id="{4B5EE398-7970-4FE3-9829-01188438D5C1}"/>
              </a:ext>
            </a:extLst>
          </p:cNvPr>
          <p:cNvSpPr>
            <a:spLocks xmlns:a="http://schemas.openxmlformats.org/drawingml/2006/main" noGrp="1"/>
          </p:cNvSpPr>
          <p:nvPr/>
        </p:nvSpPr>
        <p:spPr>
          <a:xfrm xmlns:a="http://schemas.openxmlformats.org/drawingml/2006/main">
            <a:off x="723900" y="1952625"/>
            <a:ext cx="1905000" cy="428625"/>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6" name="">
            <a:extLst xmlns:a="http://schemas.openxmlformats.org/drawingml/2006/main">
              <a:ext uri="{FF2B5EF4-FFF2-40B4-BE49-F238E27FC236}">
                <a16:creationId xmlns:a16="http://schemas.microsoft.com/office/drawing/2014/main" id="{D858426F-4DBB-480B-9AC5-9F01726A2723}"/>
              </a:ext>
            </a:extLst>
          </p:cNvPr>
          <p:cNvSpPr>
            <a:spLocks xmlns:a="http://schemas.openxmlformats.org/drawingml/2006/main" noGrp="1"/>
          </p:cNvSpPr>
          <p:nvPr/>
        </p:nvSpPr>
        <p:spPr>
          <a:xfrm xmlns:a="http://schemas.openxmlformats.org/drawingml/2006/main">
            <a:off x="2628900" y="1952625"/>
            <a:ext cx="2190750" cy="428625"/>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7" name="">
            <a:extLst xmlns:a="http://schemas.openxmlformats.org/drawingml/2006/main">
              <a:ext uri="{FF2B5EF4-FFF2-40B4-BE49-F238E27FC236}">
                <a16:creationId xmlns:a16="http://schemas.microsoft.com/office/drawing/2014/main" id="{6EC94BCF-1E06-4D72-982A-003C3021AA68}"/>
              </a:ext>
            </a:extLst>
          </p:cNvPr>
          <p:cNvSpPr>
            <a:spLocks xmlns:a="http://schemas.openxmlformats.org/drawingml/2006/main" noGrp="1"/>
          </p:cNvSpPr>
          <p:nvPr/>
        </p:nvSpPr>
        <p:spPr>
          <a:xfrm xmlns:a="http://schemas.openxmlformats.org/drawingml/2006/main">
            <a:off x="4819650" y="1952625"/>
            <a:ext cx="6477000" cy="428625"/>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6556E471-5CF9-4289-A627-AC59B6728D29}"/>
              </a:ext>
            </a:extLst>
          </p:cNvPr>
          <p:cNvSpPr>
            <a:spLocks xmlns:a="http://schemas.openxmlformats.org/drawingml/2006/main" noGrp="1"/>
          </p:cNvSpPr>
          <p:nvPr/>
        </p:nvSpPr>
        <p:spPr>
          <a:xfrm xmlns:a="http://schemas.openxmlformats.org/drawingml/2006/main" rot="0">
            <a:off x="876300" y="2066925"/>
            <a:ext cx="1600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FFFFFF"/>
                </a:solidFill>
                <a:latin typeface="Hiragino Sans"/>
                <a:ea typeface="Hiragino Sans"/>
                <a:cs typeface="Hiragino Sans"/>
              </a:defRPr>
            </a:pPr>
            <a:r>
              <a:rPr sz="1125" b="1">
                <a:solidFill>
                  <a:srgbClr val="FFFFFF"/>
                </a:solidFill>
                <a:latin typeface="Hiragino Sans"/>
                <a:ea typeface="Hiragino Sans"/>
                <a:cs typeface="Hiragino Sans"/>
              </a:rPr>
              <a:t>地域</a:t>
            </a:r>
          </a:p>
        </p:txBody>
      </p:sp>
      <p:sp>
        <p:nvSpPr>
          <p:cNvPr id="9" name="">
            <a:extLst xmlns:a="http://schemas.openxmlformats.org/drawingml/2006/main">
              <a:ext uri="{FF2B5EF4-FFF2-40B4-BE49-F238E27FC236}">
                <a16:creationId xmlns:a16="http://schemas.microsoft.com/office/drawing/2014/main" id="{02800561-F38C-4B74-8766-F29FE910670D}"/>
              </a:ext>
            </a:extLst>
          </p:cNvPr>
          <p:cNvSpPr>
            <a:spLocks xmlns:a="http://schemas.openxmlformats.org/drawingml/2006/main" noGrp="1"/>
          </p:cNvSpPr>
          <p:nvPr/>
        </p:nvSpPr>
        <p:spPr>
          <a:xfrm xmlns:a="http://schemas.openxmlformats.org/drawingml/2006/main" rot="0">
            <a:off x="2781300" y="2066925"/>
            <a:ext cx="1885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FFFFFF"/>
                </a:solidFill>
                <a:latin typeface="Hiragino Sans"/>
                <a:ea typeface="Hiragino Sans"/>
                <a:cs typeface="Hiragino Sans"/>
              </a:defRPr>
            </a:pPr>
            <a:r>
              <a:rPr sz="1125" b="1">
                <a:solidFill>
                  <a:srgbClr val="FFFFFF"/>
                </a:solidFill>
                <a:latin typeface="Hiragino Sans"/>
                <a:ea typeface="Hiragino Sans"/>
                <a:cs typeface="Hiragino Sans"/>
              </a:rPr>
              <a:t>接続状況</a:t>
            </a:r>
          </a:p>
        </p:txBody>
      </p:sp>
      <p:sp>
        <p:nvSpPr>
          <p:cNvPr id="10" name="">
            <a:extLst xmlns:a="http://schemas.openxmlformats.org/drawingml/2006/main">
              <a:ext uri="{FF2B5EF4-FFF2-40B4-BE49-F238E27FC236}">
                <a16:creationId xmlns:a16="http://schemas.microsoft.com/office/drawing/2014/main" id="{0B73F513-6DEA-4D46-9BF7-653C59145BD1}"/>
              </a:ext>
            </a:extLst>
          </p:cNvPr>
          <p:cNvSpPr>
            <a:spLocks xmlns:a="http://schemas.openxmlformats.org/drawingml/2006/main" noGrp="1"/>
          </p:cNvSpPr>
          <p:nvPr/>
        </p:nvSpPr>
        <p:spPr>
          <a:xfrm xmlns:a="http://schemas.openxmlformats.org/drawingml/2006/main" rot="0">
            <a:off x="4972050" y="2066925"/>
            <a:ext cx="6172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FFFFFF"/>
                </a:solidFill>
                <a:latin typeface="Hiragino Sans"/>
                <a:ea typeface="Hiragino Sans"/>
                <a:cs typeface="Hiragino Sans"/>
              </a:defRPr>
            </a:pPr>
            <a:r>
              <a:rPr sz="1125" b="1">
                <a:solidFill>
                  <a:srgbClr val="FFFFFF"/>
                </a:solidFill>
                <a:latin typeface="Hiragino Sans"/>
                <a:ea typeface="Hiragino Sans"/>
                <a:cs typeface="Hiragino Sans"/>
              </a:rPr>
              <a:t>現場との接続</a:t>
            </a:r>
          </a:p>
        </p:txBody>
      </p:sp>
      <p:sp>
        <p:nvSpPr>
          <p:cNvPr id="11" name="">
            <a:extLst xmlns:a="http://schemas.openxmlformats.org/drawingml/2006/main">
              <a:ext uri="{FF2B5EF4-FFF2-40B4-BE49-F238E27FC236}">
                <a16:creationId xmlns:a16="http://schemas.microsoft.com/office/drawing/2014/main" id="{CC1C0FFC-313B-4DA4-A81D-1DF06B000BCB}"/>
              </a:ext>
            </a:extLst>
          </p:cNvPr>
          <p:cNvSpPr>
            <a:spLocks xmlns:a="http://schemas.openxmlformats.org/drawingml/2006/main" noGrp="1"/>
          </p:cNvSpPr>
          <p:nvPr/>
        </p:nvSpPr>
        <p:spPr>
          <a:xfrm xmlns:a="http://schemas.openxmlformats.org/drawingml/2006/main">
            <a:off x="723900" y="2381250"/>
            <a:ext cx="1905000"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2" name="">
            <a:extLst xmlns:a="http://schemas.openxmlformats.org/drawingml/2006/main">
              <a:ext uri="{FF2B5EF4-FFF2-40B4-BE49-F238E27FC236}">
                <a16:creationId xmlns:a16="http://schemas.microsoft.com/office/drawing/2014/main" id="{605E630F-0586-4499-8645-5BD84FB8A95C}"/>
              </a:ext>
            </a:extLst>
          </p:cNvPr>
          <p:cNvSpPr>
            <a:spLocks xmlns:a="http://schemas.openxmlformats.org/drawingml/2006/main" noGrp="1"/>
          </p:cNvSpPr>
          <p:nvPr/>
        </p:nvSpPr>
        <p:spPr>
          <a:xfrm xmlns:a="http://schemas.openxmlformats.org/drawingml/2006/main">
            <a:off x="2628900" y="2381250"/>
            <a:ext cx="2190750"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3" name="">
            <a:extLst xmlns:a="http://schemas.openxmlformats.org/drawingml/2006/main">
              <a:ext uri="{FF2B5EF4-FFF2-40B4-BE49-F238E27FC236}">
                <a16:creationId xmlns:a16="http://schemas.microsoft.com/office/drawing/2014/main" id="{556368F5-FE6C-4B1E-8A27-A11456FCD222}"/>
              </a:ext>
            </a:extLst>
          </p:cNvPr>
          <p:cNvSpPr>
            <a:spLocks xmlns:a="http://schemas.openxmlformats.org/drawingml/2006/main" noGrp="1"/>
          </p:cNvSpPr>
          <p:nvPr/>
        </p:nvSpPr>
        <p:spPr>
          <a:xfrm xmlns:a="http://schemas.openxmlformats.org/drawingml/2006/main">
            <a:off x="4819650" y="2381250"/>
            <a:ext cx="6477000"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4D1C6CF8-DE32-4469-BAC6-7651D995E76C}"/>
              </a:ext>
            </a:extLst>
          </p:cNvPr>
          <p:cNvSpPr>
            <a:spLocks xmlns:a="http://schemas.openxmlformats.org/drawingml/2006/main" noGrp="1"/>
          </p:cNvSpPr>
          <p:nvPr/>
        </p:nvSpPr>
        <p:spPr>
          <a:xfrm xmlns:a="http://schemas.openxmlformats.org/drawingml/2006/main" rot="0">
            <a:off x="876300" y="2724150"/>
            <a:ext cx="1600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海外</a:t>
            </a:r>
          </a:p>
        </p:txBody>
      </p:sp>
      <p:sp>
        <p:nvSpPr>
          <p:cNvPr id="15" name="">
            <a:extLst xmlns:a="http://schemas.openxmlformats.org/drawingml/2006/main">
              <a:ext uri="{FF2B5EF4-FFF2-40B4-BE49-F238E27FC236}">
                <a16:creationId xmlns:a16="http://schemas.microsoft.com/office/drawing/2014/main" id="{D0A99B5B-B52D-4BF3-A29F-895911A1C710}"/>
              </a:ext>
            </a:extLst>
          </p:cNvPr>
          <p:cNvSpPr>
            <a:spLocks xmlns:a="http://schemas.openxmlformats.org/drawingml/2006/main" noGrp="1"/>
          </p:cNvSpPr>
          <p:nvPr/>
        </p:nvSpPr>
        <p:spPr>
          <a:xfrm xmlns:a="http://schemas.openxmlformats.org/drawingml/2006/main" rot="0">
            <a:off x="2781300" y="2743200"/>
            <a:ext cx="1885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接続が進む</a:t>
            </a:r>
          </a:p>
        </p:txBody>
      </p:sp>
      <p:sp>
        <p:nvSpPr>
          <p:cNvPr id="16" name="">
            <a:extLst xmlns:a="http://schemas.openxmlformats.org/drawingml/2006/main">
              <a:ext uri="{FF2B5EF4-FFF2-40B4-BE49-F238E27FC236}">
                <a16:creationId xmlns:a16="http://schemas.microsoft.com/office/drawing/2014/main" id="{056EA6A8-98B1-49E0-AE7E-0F4A5EF0F606}"/>
              </a:ext>
            </a:extLst>
          </p:cNvPr>
          <p:cNvSpPr>
            <a:spLocks xmlns:a="http://schemas.openxmlformats.org/drawingml/2006/main" noGrp="1"/>
          </p:cNvSpPr>
          <p:nvPr/>
        </p:nvSpPr>
        <p:spPr>
          <a:xfrm xmlns:a="http://schemas.openxmlformats.org/drawingml/2006/main">
            <a:off x="5143500" y="2619375"/>
            <a:ext cx="495300" cy="49530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7" name="">
            <a:extLst xmlns:a="http://schemas.openxmlformats.org/drawingml/2006/main">
              <a:ext uri="{FF2B5EF4-FFF2-40B4-BE49-F238E27FC236}">
                <a16:creationId xmlns:a16="http://schemas.microsoft.com/office/drawing/2014/main" id="{C11F1DE0-DFCD-4543-8A18-DA01BAEE4802}"/>
              </a:ext>
            </a:extLst>
          </p:cNvPr>
          <p:cNvSpPr>
            <a:spLocks xmlns:a="http://schemas.openxmlformats.org/drawingml/2006/main" noGrp="1"/>
          </p:cNvSpPr>
          <p:nvPr/>
        </p:nvSpPr>
        <p:spPr>
          <a:xfrm xmlns:a="http://schemas.openxmlformats.org/drawingml/2006/main" rot="0">
            <a:off x="5143500" y="2771775"/>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FFFFFF"/>
                </a:solidFill>
                <a:latin typeface="Hiragino Sans"/>
                <a:ea typeface="Hiragino Sans"/>
                <a:cs typeface="Hiragino Sans"/>
              </a:defRPr>
            </a:pPr>
            <a:r>
              <a:rPr sz="900" b="1">
                <a:solidFill>
                  <a:srgbClr val="FFFFFF"/>
                </a:solidFill>
                <a:latin typeface="Hiragino Sans"/>
                <a:ea typeface="Hiragino Sans"/>
                <a:cs typeface="Hiragino Sans"/>
              </a:rPr>
              <a:t>現場</a:t>
            </a:r>
          </a:p>
        </p:txBody>
      </p:sp>
      <p:sp>
        <p:nvSpPr>
          <p:cNvPr id="18" name="">
            <a:extLst xmlns:a="http://schemas.openxmlformats.org/drawingml/2006/main">
              <a:ext uri="{FF2B5EF4-FFF2-40B4-BE49-F238E27FC236}">
                <a16:creationId xmlns:a16="http://schemas.microsoft.com/office/drawing/2014/main" id="{2685865A-35D0-4E7A-ABED-682061F60B52}"/>
              </a:ext>
            </a:extLst>
          </p:cNvPr>
          <p:cNvSpPr>
            <a:spLocks xmlns:a="http://schemas.openxmlformats.org/drawingml/2006/main" noGrp="1"/>
          </p:cNvSpPr>
          <p:nvPr/>
        </p:nvSpPr>
        <p:spPr>
          <a:xfrm xmlns:a="http://schemas.openxmlformats.org/drawingml/2006/main">
            <a:off x="6048375" y="2619375"/>
            <a:ext cx="495300" cy="49530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9" name="">
            <a:extLst xmlns:a="http://schemas.openxmlformats.org/drawingml/2006/main">
              <a:ext uri="{FF2B5EF4-FFF2-40B4-BE49-F238E27FC236}">
                <a16:creationId xmlns:a16="http://schemas.microsoft.com/office/drawing/2014/main" id="{519B5300-D291-4C53-A7E8-58904A95AC32}"/>
              </a:ext>
            </a:extLst>
          </p:cNvPr>
          <p:cNvSpPr>
            <a:spLocks xmlns:a="http://schemas.openxmlformats.org/drawingml/2006/main" noGrp="1"/>
          </p:cNvSpPr>
          <p:nvPr/>
        </p:nvSpPr>
        <p:spPr>
          <a:xfrm xmlns:a="http://schemas.openxmlformats.org/drawingml/2006/main" rot="0">
            <a:off x="6048375" y="2771775"/>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FFFFFF"/>
                </a:solidFill>
                <a:latin typeface="Hiragino Sans"/>
                <a:ea typeface="Hiragino Sans"/>
                <a:cs typeface="Hiragino Sans"/>
              </a:defRPr>
            </a:pPr>
            <a:r>
              <a:rPr sz="900" b="1">
                <a:solidFill>
                  <a:srgbClr val="FFFFFF"/>
                </a:solidFill>
                <a:latin typeface="Hiragino Sans"/>
                <a:ea typeface="Hiragino Sans"/>
                <a:cs typeface="Hiragino Sans"/>
              </a:rPr>
              <a:t>現場</a:t>
            </a:r>
          </a:p>
        </p:txBody>
      </p:sp>
      <p:sp>
        <p:nvSpPr>
          <p:cNvPr id="20" name="">
            <a:extLst xmlns:a="http://schemas.openxmlformats.org/drawingml/2006/main">
              <a:ext uri="{FF2B5EF4-FFF2-40B4-BE49-F238E27FC236}">
                <a16:creationId xmlns:a16="http://schemas.microsoft.com/office/drawing/2014/main" id="{C8C6481E-8D65-4ADD-BFAE-BC79D8E02078}"/>
              </a:ext>
            </a:extLst>
          </p:cNvPr>
          <p:cNvSpPr>
            <a:spLocks xmlns:a="http://schemas.openxmlformats.org/drawingml/2006/main" noGrp="1"/>
          </p:cNvSpPr>
          <p:nvPr/>
        </p:nvSpPr>
        <p:spPr>
          <a:xfrm xmlns:a="http://schemas.openxmlformats.org/drawingml/2006/main">
            <a:off x="6953250" y="2619375"/>
            <a:ext cx="495300" cy="49530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21" name="">
            <a:extLst xmlns:a="http://schemas.openxmlformats.org/drawingml/2006/main">
              <a:ext uri="{FF2B5EF4-FFF2-40B4-BE49-F238E27FC236}">
                <a16:creationId xmlns:a16="http://schemas.microsoft.com/office/drawing/2014/main" id="{81456714-296E-47E3-BA6C-DA4923D520F0}"/>
              </a:ext>
            </a:extLst>
          </p:cNvPr>
          <p:cNvSpPr>
            <a:spLocks xmlns:a="http://schemas.openxmlformats.org/drawingml/2006/main" noGrp="1"/>
          </p:cNvSpPr>
          <p:nvPr/>
        </p:nvSpPr>
        <p:spPr>
          <a:xfrm xmlns:a="http://schemas.openxmlformats.org/drawingml/2006/main" rot="0">
            <a:off x="6953250" y="2771775"/>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FFFFFF"/>
                </a:solidFill>
                <a:latin typeface="Hiragino Sans"/>
                <a:ea typeface="Hiragino Sans"/>
                <a:cs typeface="Hiragino Sans"/>
              </a:defRPr>
            </a:pPr>
            <a:r>
              <a:rPr sz="900" b="1">
                <a:solidFill>
                  <a:srgbClr val="FFFFFF"/>
                </a:solidFill>
                <a:latin typeface="Hiragino Sans"/>
                <a:ea typeface="Hiragino Sans"/>
                <a:cs typeface="Hiragino Sans"/>
              </a:rPr>
              <a:t>現場</a:t>
            </a:r>
          </a:p>
        </p:txBody>
      </p:sp>
      <p:sp>
        <p:nvSpPr>
          <p:cNvPr id="22" name="">
            <a:extLst xmlns:a="http://schemas.openxmlformats.org/drawingml/2006/main">
              <a:ext uri="{FF2B5EF4-FFF2-40B4-BE49-F238E27FC236}">
                <a16:creationId xmlns:a16="http://schemas.microsoft.com/office/drawing/2014/main" id="{61FF16CC-A0F9-4637-8E0E-98978CD8BA6F}"/>
              </a:ext>
            </a:extLst>
          </p:cNvPr>
          <p:cNvSpPr>
            <a:spLocks xmlns:a="http://schemas.openxmlformats.org/drawingml/2006/main" noGrp="1"/>
          </p:cNvSpPr>
          <p:nvPr/>
        </p:nvSpPr>
        <p:spPr>
          <a:xfrm xmlns:a="http://schemas.openxmlformats.org/drawingml/2006/main">
            <a:off x="7858125" y="2619375"/>
            <a:ext cx="495300" cy="49530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23" name="">
            <a:extLst xmlns:a="http://schemas.openxmlformats.org/drawingml/2006/main">
              <a:ext uri="{FF2B5EF4-FFF2-40B4-BE49-F238E27FC236}">
                <a16:creationId xmlns:a16="http://schemas.microsoft.com/office/drawing/2014/main" id="{274360F2-9177-46E9-9AB2-3574639250A3}"/>
              </a:ext>
            </a:extLst>
          </p:cNvPr>
          <p:cNvSpPr>
            <a:spLocks xmlns:a="http://schemas.openxmlformats.org/drawingml/2006/main" noGrp="1"/>
          </p:cNvSpPr>
          <p:nvPr/>
        </p:nvSpPr>
        <p:spPr>
          <a:xfrm xmlns:a="http://schemas.openxmlformats.org/drawingml/2006/main" rot="0">
            <a:off x="7858125" y="2771775"/>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FFFFFF"/>
                </a:solidFill>
                <a:latin typeface="Hiragino Sans"/>
                <a:ea typeface="Hiragino Sans"/>
                <a:cs typeface="Hiragino Sans"/>
              </a:defRPr>
            </a:pPr>
            <a:r>
              <a:rPr sz="900" b="1">
                <a:solidFill>
                  <a:srgbClr val="FFFFFF"/>
                </a:solidFill>
                <a:latin typeface="Hiragino Sans"/>
                <a:ea typeface="Hiragino Sans"/>
                <a:cs typeface="Hiragino Sans"/>
              </a:rPr>
              <a:t>現場</a:t>
            </a:r>
          </a:p>
        </p:txBody>
      </p:sp>
      <p:sp>
        <p:nvSpPr>
          <p:cNvPr id="24" name="">
            <a:extLst xmlns:a="http://schemas.openxmlformats.org/drawingml/2006/main">
              <a:ext uri="{FF2B5EF4-FFF2-40B4-BE49-F238E27FC236}">
                <a16:creationId xmlns:a16="http://schemas.microsoft.com/office/drawing/2014/main" id="{443EDE24-7FAB-47A8-A340-F827439D5979}"/>
              </a:ext>
            </a:extLst>
          </p:cNvPr>
          <p:cNvSpPr>
            <a:spLocks xmlns:a="http://schemas.openxmlformats.org/drawingml/2006/main" noGrp="1"/>
          </p:cNvSpPr>
          <p:nvPr/>
        </p:nvSpPr>
        <p:spPr>
          <a:xfrm xmlns:a="http://schemas.openxmlformats.org/drawingml/2006/main">
            <a:off x="8763000" y="2619375"/>
            <a:ext cx="495300" cy="49530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25" name="">
            <a:extLst xmlns:a="http://schemas.openxmlformats.org/drawingml/2006/main">
              <a:ext uri="{FF2B5EF4-FFF2-40B4-BE49-F238E27FC236}">
                <a16:creationId xmlns:a16="http://schemas.microsoft.com/office/drawing/2014/main" id="{82A43769-7646-465C-B119-725CECB68582}"/>
              </a:ext>
            </a:extLst>
          </p:cNvPr>
          <p:cNvSpPr>
            <a:spLocks xmlns:a="http://schemas.openxmlformats.org/drawingml/2006/main" noGrp="1"/>
          </p:cNvSpPr>
          <p:nvPr/>
        </p:nvSpPr>
        <p:spPr>
          <a:xfrm xmlns:a="http://schemas.openxmlformats.org/drawingml/2006/main" rot="0">
            <a:off x="8763000" y="2771775"/>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FFFFFF"/>
                </a:solidFill>
                <a:latin typeface="Hiragino Sans"/>
                <a:ea typeface="Hiragino Sans"/>
                <a:cs typeface="Hiragino Sans"/>
              </a:defRPr>
            </a:pPr>
            <a:r>
              <a:rPr sz="900" b="1">
                <a:solidFill>
                  <a:srgbClr val="FFFFFF"/>
                </a:solidFill>
                <a:latin typeface="Hiragino Sans"/>
                <a:ea typeface="Hiragino Sans"/>
                <a:cs typeface="Hiragino Sans"/>
              </a:rPr>
              <a:t>現場</a:t>
            </a:r>
          </a:p>
        </p:txBody>
      </p:sp>
      <p:sp>
        <p:nvSpPr>
          <p:cNvPr id="26" name="">
            <a:extLst xmlns:a="http://schemas.openxmlformats.org/drawingml/2006/main">
              <a:ext uri="{FF2B5EF4-FFF2-40B4-BE49-F238E27FC236}">
                <a16:creationId xmlns:a16="http://schemas.microsoft.com/office/drawing/2014/main" id="{D05DF26F-E939-4660-8329-201E27096FF6}"/>
              </a:ext>
            </a:extLst>
          </p:cNvPr>
          <p:cNvSpPr>
            <a:spLocks xmlns:a="http://schemas.openxmlformats.org/drawingml/2006/main" noGrp="1"/>
          </p:cNvSpPr>
          <p:nvPr/>
        </p:nvSpPr>
        <p:spPr>
          <a:xfrm xmlns:a="http://schemas.openxmlformats.org/drawingml/2006/main">
            <a:off x="9667875" y="2619375"/>
            <a:ext cx="495300" cy="49530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27" name="">
            <a:extLst xmlns:a="http://schemas.openxmlformats.org/drawingml/2006/main">
              <a:ext uri="{FF2B5EF4-FFF2-40B4-BE49-F238E27FC236}">
                <a16:creationId xmlns:a16="http://schemas.microsoft.com/office/drawing/2014/main" id="{714EB6CE-CC1C-4748-A36B-245B1C256EE4}"/>
              </a:ext>
            </a:extLst>
          </p:cNvPr>
          <p:cNvSpPr>
            <a:spLocks xmlns:a="http://schemas.openxmlformats.org/drawingml/2006/main" noGrp="1"/>
          </p:cNvSpPr>
          <p:nvPr/>
        </p:nvSpPr>
        <p:spPr>
          <a:xfrm xmlns:a="http://schemas.openxmlformats.org/drawingml/2006/main" rot="0">
            <a:off x="9667875" y="2771775"/>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58646A"/>
                </a:solidFill>
                <a:latin typeface="Hiragino Sans"/>
                <a:ea typeface="Hiragino Sans"/>
                <a:cs typeface="Hiragino Sans"/>
              </a:defRPr>
            </a:pPr>
            <a:r>
              <a:rPr sz="900" b="1">
                <a:solidFill>
                  <a:srgbClr val="58646A"/>
                </a:solidFill>
                <a:latin typeface="Hiragino Sans"/>
                <a:ea typeface="Hiragino Sans"/>
                <a:cs typeface="Hiragino Sans"/>
              </a:rPr>
              <a:t>現場</a:t>
            </a:r>
          </a:p>
        </p:txBody>
      </p:sp>
      <p:sp>
        <p:nvSpPr>
          <p:cNvPr id="28" name="">
            <a:extLst xmlns:a="http://schemas.openxmlformats.org/drawingml/2006/main">
              <a:ext uri="{FF2B5EF4-FFF2-40B4-BE49-F238E27FC236}">
                <a16:creationId xmlns:a16="http://schemas.microsoft.com/office/drawing/2014/main" id="{E97859FE-8075-4AEA-8CCC-766CD527265E}"/>
              </a:ext>
            </a:extLst>
          </p:cNvPr>
          <p:cNvSpPr>
            <a:spLocks xmlns:a="http://schemas.openxmlformats.org/drawingml/2006/main" noGrp="1"/>
          </p:cNvSpPr>
          <p:nvPr/>
        </p:nvSpPr>
        <p:spPr>
          <a:xfrm xmlns:a="http://schemas.openxmlformats.org/drawingml/2006/main">
            <a:off x="723900" y="3381375"/>
            <a:ext cx="1905000"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5099AC41-097D-4CA2-8FB2-BDE3EC7D1921}"/>
              </a:ext>
            </a:extLst>
          </p:cNvPr>
          <p:cNvSpPr>
            <a:spLocks xmlns:a="http://schemas.openxmlformats.org/drawingml/2006/main" noGrp="1"/>
          </p:cNvSpPr>
          <p:nvPr/>
        </p:nvSpPr>
        <p:spPr>
          <a:xfrm xmlns:a="http://schemas.openxmlformats.org/drawingml/2006/main">
            <a:off x="2628900" y="3381375"/>
            <a:ext cx="2190750"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0" name="">
            <a:extLst xmlns:a="http://schemas.openxmlformats.org/drawingml/2006/main">
              <a:ext uri="{FF2B5EF4-FFF2-40B4-BE49-F238E27FC236}">
                <a16:creationId xmlns:a16="http://schemas.microsoft.com/office/drawing/2014/main" id="{C018BB67-E6FF-46A8-B2E7-AAB6438AF722}"/>
              </a:ext>
            </a:extLst>
          </p:cNvPr>
          <p:cNvSpPr>
            <a:spLocks xmlns:a="http://schemas.openxmlformats.org/drawingml/2006/main" noGrp="1"/>
          </p:cNvSpPr>
          <p:nvPr/>
        </p:nvSpPr>
        <p:spPr>
          <a:xfrm xmlns:a="http://schemas.openxmlformats.org/drawingml/2006/main">
            <a:off x="4819650" y="3381375"/>
            <a:ext cx="6477000"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1" name="">
            <a:extLst xmlns:a="http://schemas.openxmlformats.org/drawingml/2006/main">
              <a:ext uri="{FF2B5EF4-FFF2-40B4-BE49-F238E27FC236}">
                <a16:creationId xmlns:a16="http://schemas.microsoft.com/office/drawing/2014/main" id="{86CB893B-6629-4D9A-81F9-58CCBC7C1B8D}"/>
              </a:ext>
            </a:extLst>
          </p:cNvPr>
          <p:cNvSpPr>
            <a:spLocks xmlns:a="http://schemas.openxmlformats.org/drawingml/2006/main" noGrp="1"/>
          </p:cNvSpPr>
          <p:nvPr/>
        </p:nvSpPr>
        <p:spPr>
          <a:xfrm xmlns:a="http://schemas.openxmlformats.org/drawingml/2006/main" rot="0">
            <a:off x="876300" y="3724275"/>
            <a:ext cx="1600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日本</a:t>
            </a:r>
          </a:p>
        </p:txBody>
      </p:sp>
      <p:sp>
        <p:nvSpPr>
          <p:cNvPr id="32" name="">
            <a:extLst xmlns:a="http://schemas.openxmlformats.org/drawingml/2006/main">
              <a:ext uri="{FF2B5EF4-FFF2-40B4-BE49-F238E27FC236}">
                <a16:creationId xmlns:a16="http://schemas.microsoft.com/office/drawing/2014/main" id="{B9D81429-2845-4923-B5EA-820340CE0FF2}"/>
              </a:ext>
            </a:extLst>
          </p:cNvPr>
          <p:cNvSpPr>
            <a:spLocks xmlns:a="http://schemas.openxmlformats.org/drawingml/2006/main" noGrp="1"/>
          </p:cNvSpPr>
          <p:nvPr/>
        </p:nvSpPr>
        <p:spPr>
          <a:xfrm xmlns:a="http://schemas.openxmlformats.org/drawingml/2006/main" rot="0">
            <a:off x="2781300" y="3743325"/>
            <a:ext cx="1885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ほぼ空白</a:t>
            </a:r>
          </a:p>
        </p:txBody>
      </p:sp>
      <p:sp>
        <p:nvSpPr>
          <p:cNvPr id="33" name="">
            <a:extLst xmlns:a="http://schemas.openxmlformats.org/drawingml/2006/main">
              <a:ext uri="{FF2B5EF4-FFF2-40B4-BE49-F238E27FC236}">
                <a16:creationId xmlns:a16="http://schemas.microsoft.com/office/drawing/2014/main" id="{1384C40F-586C-4C9B-9DCC-F2DBFBE1F871}"/>
              </a:ext>
            </a:extLst>
          </p:cNvPr>
          <p:cNvSpPr>
            <a:spLocks xmlns:a="http://schemas.openxmlformats.org/drawingml/2006/main" noGrp="1"/>
          </p:cNvSpPr>
          <p:nvPr/>
        </p:nvSpPr>
        <p:spPr>
          <a:xfrm xmlns:a="http://schemas.openxmlformats.org/drawingml/2006/main">
            <a:off x="5143500" y="3619500"/>
            <a:ext cx="495300" cy="49530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34" name="">
            <a:extLst xmlns:a="http://schemas.openxmlformats.org/drawingml/2006/main">
              <a:ext uri="{FF2B5EF4-FFF2-40B4-BE49-F238E27FC236}">
                <a16:creationId xmlns:a16="http://schemas.microsoft.com/office/drawing/2014/main" id="{2B158318-5FC8-45F9-BB0E-F4904429E8F3}"/>
              </a:ext>
            </a:extLst>
          </p:cNvPr>
          <p:cNvSpPr>
            <a:spLocks xmlns:a="http://schemas.openxmlformats.org/drawingml/2006/main" noGrp="1"/>
          </p:cNvSpPr>
          <p:nvPr/>
        </p:nvSpPr>
        <p:spPr>
          <a:xfrm xmlns:a="http://schemas.openxmlformats.org/drawingml/2006/main" rot="0">
            <a:off x="5143500" y="377190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FFFFFF"/>
                </a:solidFill>
                <a:latin typeface="Hiragino Sans"/>
                <a:ea typeface="Hiragino Sans"/>
                <a:cs typeface="Hiragino Sans"/>
              </a:defRPr>
            </a:pPr>
            <a:r>
              <a:rPr sz="900" b="1">
                <a:solidFill>
                  <a:srgbClr val="FFFFFF"/>
                </a:solidFill>
                <a:latin typeface="Hiragino Sans"/>
                <a:ea typeface="Hiragino Sans"/>
                <a:cs typeface="Hiragino Sans"/>
              </a:rPr>
              <a:t>現場</a:t>
            </a:r>
          </a:p>
        </p:txBody>
      </p:sp>
      <p:sp>
        <p:nvSpPr>
          <p:cNvPr id="35" name="">
            <a:extLst xmlns:a="http://schemas.openxmlformats.org/drawingml/2006/main">
              <a:ext uri="{FF2B5EF4-FFF2-40B4-BE49-F238E27FC236}">
                <a16:creationId xmlns:a16="http://schemas.microsoft.com/office/drawing/2014/main" id="{69372BCA-4785-4D6C-B72A-3D34443B2768}"/>
              </a:ext>
            </a:extLst>
          </p:cNvPr>
          <p:cNvSpPr>
            <a:spLocks xmlns:a="http://schemas.openxmlformats.org/drawingml/2006/main" noGrp="1"/>
          </p:cNvSpPr>
          <p:nvPr/>
        </p:nvSpPr>
        <p:spPr>
          <a:xfrm xmlns:a="http://schemas.openxmlformats.org/drawingml/2006/main">
            <a:off x="6048375" y="3619500"/>
            <a:ext cx="495300" cy="49530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36" name="">
            <a:extLst xmlns:a="http://schemas.openxmlformats.org/drawingml/2006/main">
              <a:ext uri="{FF2B5EF4-FFF2-40B4-BE49-F238E27FC236}">
                <a16:creationId xmlns:a16="http://schemas.microsoft.com/office/drawing/2014/main" id="{22B32F56-DC39-4183-B43A-C85CF8235C03}"/>
              </a:ext>
            </a:extLst>
          </p:cNvPr>
          <p:cNvSpPr>
            <a:spLocks xmlns:a="http://schemas.openxmlformats.org/drawingml/2006/main" noGrp="1"/>
          </p:cNvSpPr>
          <p:nvPr/>
        </p:nvSpPr>
        <p:spPr>
          <a:xfrm xmlns:a="http://schemas.openxmlformats.org/drawingml/2006/main" rot="0">
            <a:off x="6048375" y="377190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58646A"/>
                </a:solidFill>
                <a:latin typeface="Hiragino Sans"/>
                <a:ea typeface="Hiragino Sans"/>
                <a:cs typeface="Hiragino Sans"/>
              </a:defRPr>
            </a:pPr>
            <a:r>
              <a:rPr sz="900" b="1">
                <a:solidFill>
                  <a:srgbClr val="58646A"/>
                </a:solidFill>
                <a:latin typeface="Hiragino Sans"/>
                <a:ea typeface="Hiragino Sans"/>
                <a:cs typeface="Hiragino Sans"/>
              </a:rPr>
              <a:t>現場</a:t>
            </a:r>
          </a:p>
        </p:txBody>
      </p:sp>
      <p:sp>
        <p:nvSpPr>
          <p:cNvPr id="37" name="">
            <a:extLst xmlns:a="http://schemas.openxmlformats.org/drawingml/2006/main">
              <a:ext uri="{FF2B5EF4-FFF2-40B4-BE49-F238E27FC236}">
                <a16:creationId xmlns:a16="http://schemas.microsoft.com/office/drawing/2014/main" id="{5C9FCDA8-E503-40D3-A265-FC4D77063906}"/>
              </a:ext>
            </a:extLst>
          </p:cNvPr>
          <p:cNvSpPr>
            <a:spLocks xmlns:a="http://schemas.openxmlformats.org/drawingml/2006/main" noGrp="1"/>
          </p:cNvSpPr>
          <p:nvPr/>
        </p:nvSpPr>
        <p:spPr>
          <a:xfrm xmlns:a="http://schemas.openxmlformats.org/drawingml/2006/main">
            <a:off x="6953250" y="3619500"/>
            <a:ext cx="495300" cy="49530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38" name="">
            <a:extLst xmlns:a="http://schemas.openxmlformats.org/drawingml/2006/main">
              <a:ext uri="{FF2B5EF4-FFF2-40B4-BE49-F238E27FC236}">
                <a16:creationId xmlns:a16="http://schemas.microsoft.com/office/drawing/2014/main" id="{38973680-C583-4EC3-AD6F-78BF53D02EDA}"/>
              </a:ext>
            </a:extLst>
          </p:cNvPr>
          <p:cNvSpPr>
            <a:spLocks xmlns:a="http://schemas.openxmlformats.org/drawingml/2006/main" noGrp="1"/>
          </p:cNvSpPr>
          <p:nvPr/>
        </p:nvSpPr>
        <p:spPr>
          <a:xfrm xmlns:a="http://schemas.openxmlformats.org/drawingml/2006/main" rot="0">
            <a:off x="6953250" y="377190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58646A"/>
                </a:solidFill>
                <a:latin typeface="Hiragino Sans"/>
                <a:ea typeface="Hiragino Sans"/>
                <a:cs typeface="Hiragino Sans"/>
              </a:defRPr>
            </a:pPr>
            <a:r>
              <a:rPr sz="900" b="1">
                <a:solidFill>
                  <a:srgbClr val="58646A"/>
                </a:solidFill>
                <a:latin typeface="Hiragino Sans"/>
                <a:ea typeface="Hiragino Sans"/>
                <a:cs typeface="Hiragino Sans"/>
              </a:rPr>
              <a:t>現場</a:t>
            </a:r>
          </a:p>
        </p:txBody>
      </p:sp>
      <p:sp>
        <p:nvSpPr>
          <p:cNvPr id="39" name="">
            <a:extLst xmlns:a="http://schemas.openxmlformats.org/drawingml/2006/main">
              <a:ext uri="{FF2B5EF4-FFF2-40B4-BE49-F238E27FC236}">
                <a16:creationId xmlns:a16="http://schemas.microsoft.com/office/drawing/2014/main" id="{4BC4FFBC-7121-4CE8-940E-DBBD146E93F9}"/>
              </a:ext>
            </a:extLst>
          </p:cNvPr>
          <p:cNvSpPr>
            <a:spLocks xmlns:a="http://schemas.openxmlformats.org/drawingml/2006/main" noGrp="1"/>
          </p:cNvSpPr>
          <p:nvPr/>
        </p:nvSpPr>
        <p:spPr>
          <a:xfrm xmlns:a="http://schemas.openxmlformats.org/drawingml/2006/main">
            <a:off x="7858125" y="3619500"/>
            <a:ext cx="495300" cy="49530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40" name="">
            <a:extLst xmlns:a="http://schemas.openxmlformats.org/drawingml/2006/main">
              <a:ext uri="{FF2B5EF4-FFF2-40B4-BE49-F238E27FC236}">
                <a16:creationId xmlns:a16="http://schemas.microsoft.com/office/drawing/2014/main" id="{A286743A-DF07-4619-8FCA-E919D73BAD01}"/>
              </a:ext>
            </a:extLst>
          </p:cNvPr>
          <p:cNvSpPr>
            <a:spLocks xmlns:a="http://schemas.openxmlformats.org/drawingml/2006/main" noGrp="1"/>
          </p:cNvSpPr>
          <p:nvPr/>
        </p:nvSpPr>
        <p:spPr>
          <a:xfrm xmlns:a="http://schemas.openxmlformats.org/drawingml/2006/main" rot="0">
            <a:off x="7858125" y="377190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58646A"/>
                </a:solidFill>
                <a:latin typeface="Hiragino Sans"/>
                <a:ea typeface="Hiragino Sans"/>
                <a:cs typeface="Hiragino Sans"/>
              </a:defRPr>
            </a:pPr>
            <a:r>
              <a:rPr sz="900" b="1">
                <a:solidFill>
                  <a:srgbClr val="58646A"/>
                </a:solidFill>
                <a:latin typeface="Hiragino Sans"/>
                <a:ea typeface="Hiragino Sans"/>
                <a:cs typeface="Hiragino Sans"/>
              </a:rPr>
              <a:t>現場</a:t>
            </a:r>
          </a:p>
        </p:txBody>
      </p:sp>
      <p:sp>
        <p:nvSpPr>
          <p:cNvPr id="41" name="">
            <a:extLst xmlns:a="http://schemas.openxmlformats.org/drawingml/2006/main">
              <a:ext uri="{FF2B5EF4-FFF2-40B4-BE49-F238E27FC236}">
                <a16:creationId xmlns:a16="http://schemas.microsoft.com/office/drawing/2014/main" id="{7CDF3130-B01D-46EF-9AE0-12977D6CE0C9}"/>
              </a:ext>
            </a:extLst>
          </p:cNvPr>
          <p:cNvSpPr>
            <a:spLocks xmlns:a="http://schemas.openxmlformats.org/drawingml/2006/main" noGrp="1"/>
          </p:cNvSpPr>
          <p:nvPr/>
        </p:nvSpPr>
        <p:spPr>
          <a:xfrm xmlns:a="http://schemas.openxmlformats.org/drawingml/2006/main">
            <a:off x="8763000" y="3619500"/>
            <a:ext cx="495300" cy="49530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42" name="">
            <a:extLst xmlns:a="http://schemas.openxmlformats.org/drawingml/2006/main">
              <a:ext uri="{FF2B5EF4-FFF2-40B4-BE49-F238E27FC236}">
                <a16:creationId xmlns:a16="http://schemas.microsoft.com/office/drawing/2014/main" id="{643A7267-3064-4E01-8D34-4647F2EE836D}"/>
              </a:ext>
            </a:extLst>
          </p:cNvPr>
          <p:cNvSpPr>
            <a:spLocks xmlns:a="http://schemas.openxmlformats.org/drawingml/2006/main" noGrp="1"/>
          </p:cNvSpPr>
          <p:nvPr/>
        </p:nvSpPr>
        <p:spPr>
          <a:xfrm xmlns:a="http://schemas.openxmlformats.org/drawingml/2006/main" rot="0">
            <a:off x="8763000" y="377190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58646A"/>
                </a:solidFill>
                <a:latin typeface="Hiragino Sans"/>
                <a:ea typeface="Hiragino Sans"/>
                <a:cs typeface="Hiragino Sans"/>
              </a:defRPr>
            </a:pPr>
            <a:r>
              <a:rPr sz="900" b="1">
                <a:solidFill>
                  <a:srgbClr val="58646A"/>
                </a:solidFill>
                <a:latin typeface="Hiragino Sans"/>
                <a:ea typeface="Hiragino Sans"/>
                <a:cs typeface="Hiragino Sans"/>
              </a:rPr>
              <a:t>現場</a:t>
            </a:r>
          </a:p>
        </p:txBody>
      </p:sp>
      <p:sp>
        <p:nvSpPr>
          <p:cNvPr id="43" name="">
            <a:extLst xmlns:a="http://schemas.openxmlformats.org/drawingml/2006/main">
              <a:ext uri="{FF2B5EF4-FFF2-40B4-BE49-F238E27FC236}">
                <a16:creationId xmlns:a16="http://schemas.microsoft.com/office/drawing/2014/main" id="{BEA7E115-9DD9-4DDB-A876-5D90B79C5ADB}"/>
              </a:ext>
            </a:extLst>
          </p:cNvPr>
          <p:cNvSpPr>
            <a:spLocks xmlns:a="http://schemas.openxmlformats.org/drawingml/2006/main" noGrp="1"/>
          </p:cNvSpPr>
          <p:nvPr/>
        </p:nvSpPr>
        <p:spPr>
          <a:xfrm xmlns:a="http://schemas.openxmlformats.org/drawingml/2006/main">
            <a:off x="9667875" y="3619500"/>
            <a:ext cx="495300" cy="49530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44" name="">
            <a:extLst xmlns:a="http://schemas.openxmlformats.org/drawingml/2006/main">
              <a:ext uri="{FF2B5EF4-FFF2-40B4-BE49-F238E27FC236}">
                <a16:creationId xmlns:a16="http://schemas.microsoft.com/office/drawing/2014/main" id="{65F967B0-AA9E-4E64-97D9-4DE94F8970E6}"/>
              </a:ext>
            </a:extLst>
          </p:cNvPr>
          <p:cNvSpPr>
            <a:spLocks xmlns:a="http://schemas.openxmlformats.org/drawingml/2006/main" noGrp="1"/>
          </p:cNvSpPr>
          <p:nvPr/>
        </p:nvSpPr>
        <p:spPr>
          <a:xfrm xmlns:a="http://schemas.openxmlformats.org/drawingml/2006/main" rot="0">
            <a:off x="9667875" y="377190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58646A"/>
                </a:solidFill>
                <a:latin typeface="Hiragino Sans"/>
                <a:ea typeface="Hiragino Sans"/>
                <a:cs typeface="Hiragino Sans"/>
              </a:defRPr>
            </a:pPr>
            <a:r>
              <a:rPr sz="900" b="1">
                <a:solidFill>
                  <a:srgbClr val="58646A"/>
                </a:solidFill>
                <a:latin typeface="Hiragino Sans"/>
                <a:ea typeface="Hiragino Sans"/>
                <a:cs typeface="Hiragino Sans"/>
              </a:rPr>
              <a:t>現場</a:t>
            </a:r>
          </a:p>
        </p:txBody>
      </p:sp>
      <p:sp>
        <p:nvSpPr>
          <p:cNvPr id="45" name="">
            <a:extLst xmlns:a="http://schemas.openxmlformats.org/drawingml/2006/main">
              <a:ext uri="{FF2B5EF4-FFF2-40B4-BE49-F238E27FC236}">
                <a16:creationId xmlns:a16="http://schemas.microsoft.com/office/drawing/2014/main" id="{9E3E14BF-C368-4CBF-AC4E-0CB37DC7D116}"/>
              </a:ext>
            </a:extLst>
          </p:cNvPr>
          <p:cNvSpPr>
            <a:spLocks xmlns:a="http://schemas.openxmlformats.org/drawingml/2006/main" noGrp="1"/>
          </p:cNvSpPr>
          <p:nvPr/>
        </p:nvSpPr>
        <p:spPr>
          <a:xfrm xmlns:a="http://schemas.openxmlformats.org/drawingml/2006/main" rot="0">
            <a:off x="723900" y="476250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一つの現場が複数社と契約する負担は大きい</a:t>
            </a:r>
          </a:p>
        </p:txBody>
      </p:sp>
      <p:sp>
        <p:nvSpPr>
          <p:cNvPr id="46" name="">
            <a:extLst xmlns:a="http://schemas.openxmlformats.org/drawingml/2006/main">
              <a:ext uri="{FF2B5EF4-FFF2-40B4-BE49-F238E27FC236}">
                <a16:creationId xmlns:a16="http://schemas.microsoft.com/office/drawing/2014/main" id="{1BAFF869-1BE1-4B64-8197-23FDD1E7C1A4}"/>
              </a:ext>
            </a:extLst>
          </p:cNvPr>
          <p:cNvSpPr>
            <a:spLocks xmlns:a="http://schemas.openxmlformats.org/drawingml/2006/main" noGrp="1"/>
          </p:cNvSpPr>
          <p:nvPr/>
        </p:nvSpPr>
        <p:spPr>
          <a:xfrm xmlns:a="http://schemas.openxmlformats.org/drawingml/2006/main" rot="0">
            <a:off x="723900" y="51911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撮影機材の管理　　スタッフへの説明　　プライバシーに関する合意</a:t>
            </a:r>
          </a:p>
        </p:txBody>
      </p:sp>
      <p:sp>
        <p:nvSpPr>
          <p:cNvPr id="47" name="">
            <a:extLst xmlns:a="http://schemas.openxmlformats.org/drawingml/2006/main">
              <a:ext uri="{FF2B5EF4-FFF2-40B4-BE49-F238E27FC236}">
                <a16:creationId xmlns:a16="http://schemas.microsoft.com/office/drawing/2014/main" id="{4229E40A-45E4-49B0-98E5-74D4598EB2C4}"/>
              </a:ext>
            </a:extLst>
          </p:cNvPr>
          <p:cNvSpPr>
            <a:spLocks xmlns:a="http://schemas.openxmlformats.org/drawingml/2006/main" noGrp="1"/>
          </p:cNvSpPr>
          <p:nvPr/>
        </p:nvSpPr>
        <p:spPr>
          <a:xfrm xmlns:a="http://schemas.openxmlformats.org/drawingml/2006/main" rot="0">
            <a:off x="723900" y="609600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1">
                <a:solidFill>
                  <a:srgbClr val="315C78"/>
                </a:solidFill>
                <a:latin typeface="Hiragino Sans"/>
                <a:ea typeface="Hiragino Sans"/>
                <a:cs typeface="Hiragino Sans"/>
              </a:defRPr>
            </a:pPr>
            <a:r>
              <a:rPr sz="1425" b="1">
                <a:solidFill>
                  <a:srgbClr val="315C78"/>
                </a:solidFill>
                <a:latin typeface="Hiragino Sans"/>
                <a:ea typeface="Hiragino Sans"/>
                <a:cs typeface="Hiragino Sans"/>
              </a:rPr>
              <a:t>RootLensは、日本で最初にこのポジションを取りに行く</a:t>
            </a:r>
          </a:p>
        </p:txBody>
      </p:sp>
    </p:spTree>
    <p:extLst>
      <p:ext uri="{BB962C8B-B14F-4D97-AF65-F5344CB8AC3E}">
        <p14:creationId xmlns:p14="http://schemas.microsoft.com/office/powerpoint/2010/main" val="640037683"/>
      </p:ext>
    </p:extLst>
  </p:cSld>
</p:sld>
</file>

<file path=ppt/slides/slide10.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0D5532E5-B783-4C42-BF53-EBF41BA031D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A5EE4B7-4EAA-4330-B818-36D390E78016}"/>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現場ネットワークは、時間とともに参入障壁になる</a:t>
            </a:r>
          </a:p>
        </p:txBody>
      </p:sp>
      <p:sp>
        <p:nvSpPr>
          <p:cNvPr id="3" name="">
            <a:extLst xmlns:a="http://schemas.openxmlformats.org/drawingml/2006/main">
              <a:ext uri="{FF2B5EF4-FFF2-40B4-BE49-F238E27FC236}">
                <a16:creationId xmlns:a16="http://schemas.microsoft.com/office/drawing/2014/main" id="{90884FBA-2B1F-4F51-BFFF-74F8F048F70A}"/>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CA62842-3B59-45B7-9929-50ADCDB2F593}"/>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10</a:t>
            </a:r>
          </a:p>
        </p:txBody>
      </p:sp>
      <p:sp>
        <p:nvSpPr>
          <p:cNvPr id="5" name="">
            <a:extLst xmlns:a="http://schemas.openxmlformats.org/drawingml/2006/main">
              <a:ext uri="{FF2B5EF4-FFF2-40B4-BE49-F238E27FC236}">
                <a16:creationId xmlns:a16="http://schemas.microsoft.com/office/drawing/2014/main" id="{6C4931BB-1B13-440A-ACB3-6889AE2DEDC3}"/>
              </a:ext>
            </a:extLst>
          </p:cNvPr>
          <p:cNvSpPr>
            <a:spLocks xmlns:a="http://schemas.openxmlformats.org/drawingml/2006/main" noGrp="1"/>
          </p:cNvSpPr>
          <p:nvPr/>
        </p:nvSpPr>
        <p:spPr>
          <a:xfrm xmlns:a="http://schemas.openxmlformats.org/drawingml/2006/main" rot="0">
            <a:off x="762000" y="56769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時間と現場数</a:t>
            </a:r>
          </a:p>
        </p:txBody>
      </p:sp>
      <p:sp>
        <p:nvSpPr>
          <p:cNvPr id="6" name="">
            <a:extLst xmlns:a="http://schemas.openxmlformats.org/drawingml/2006/main">
              <a:ext uri="{FF2B5EF4-FFF2-40B4-BE49-F238E27FC236}">
                <a16:creationId xmlns:a16="http://schemas.microsoft.com/office/drawing/2014/main" id="{DFA293BA-0994-4C81-8C31-9F87692C9A04}"/>
              </a:ext>
            </a:extLst>
          </p:cNvPr>
          <p:cNvSpPr>
            <a:spLocks xmlns:a="http://schemas.openxmlformats.org/drawingml/2006/main" noGrp="1"/>
          </p:cNvSpPr>
          <p:nvPr/>
        </p:nvSpPr>
        <p:spPr>
          <a:xfrm xmlns:a="http://schemas.openxmlformats.org/drawingml/2006/main">
            <a:off x="2095500" y="5791200"/>
            <a:ext cx="7572375"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6D57880-B104-4464-9996-0E4DEBF372F5}"/>
              </a:ext>
            </a:extLst>
          </p:cNvPr>
          <p:cNvSpPr>
            <a:spLocks xmlns:a="http://schemas.openxmlformats.org/drawingml/2006/main" noGrp="1"/>
          </p:cNvSpPr>
          <p:nvPr/>
        </p:nvSpPr>
        <p:spPr>
          <a:xfrm xmlns:a="http://schemas.openxmlformats.org/drawingml/2006/main" rot="5400000">
            <a:off x="9639300" y="5724525"/>
            <a:ext cx="171450" cy="161925"/>
          </a:xfrm>
          <a:prstGeom xmlns:a="http://schemas.openxmlformats.org/drawingml/2006/main" prst="triangle">
            <a:avLst/>
          </a:prstGeom>
          <a:solidFill xmlns:a="http://schemas.openxmlformats.org/drawingml/2006/main">
            <a:srgbClr val="AAB6BC"/>
          </a:solidFill>
          <a:ln xmlns:a="http://schemas.openxmlformats.org/drawingml/2006/main" w="0">
            <a:solidFill>
              <a:srgbClr val="AAB6BC"/>
            </a:solidFill>
          </a:ln>
        </p:spPr>
      </p:sp>
      <p:sp>
        <p:nvSpPr>
          <p:cNvPr id="8" name="">
            <a:extLst xmlns:a="http://schemas.openxmlformats.org/drawingml/2006/main">
              <a:ext uri="{FF2B5EF4-FFF2-40B4-BE49-F238E27FC236}">
                <a16:creationId xmlns:a16="http://schemas.microsoft.com/office/drawing/2014/main" id="{92BA2FD7-F2A2-4B72-B612-3D05B1E6198B}"/>
              </a:ext>
            </a:extLst>
          </p:cNvPr>
          <p:cNvSpPr>
            <a:spLocks xmlns:a="http://schemas.openxmlformats.org/drawingml/2006/main" noGrp="1"/>
          </p:cNvSpPr>
          <p:nvPr/>
        </p:nvSpPr>
        <p:spPr>
          <a:xfrm xmlns:a="http://schemas.openxmlformats.org/drawingml/2006/main">
            <a:off x="2381250" y="4905375"/>
            <a:ext cx="66675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9" name="">
            <a:extLst xmlns:a="http://schemas.openxmlformats.org/drawingml/2006/main">
              <a:ext uri="{FF2B5EF4-FFF2-40B4-BE49-F238E27FC236}">
                <a16:creationId xmlns:a16="http://schemas.microsoft.com/office/drawing/2014/main" id="{31C5E073-35B1-4222-8790-B50D4C581BD9}"/>
              </a:ext>
            </a:extLst>
          </p:cNvPr>
          <p:cNvSpPr>
            <a:spLocks xmlns:a="http://schemas.openxmlformats.org/drawingml/2006/main" noGrp="1"/>
          </p:cNvSpPr>
          <p:nvPr/>
        </p:nvSpPr>
        <p:spPr>
          <a:xfrm xmlns:a="http://schemas.openxmlformats.org/drawingml/2006/main" rot="0">
            <a:off x="2533650" y="5067300"/>
            <a:ext cx="6362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現場との関係</a:t>
            </a:r>
          </a:p>
        </p:txBody>
      </p:sp>
      <p:sp>
        <p:nvSpPr>
          <p:cNvPr id="10" name="">
            <a:extLst xmlns:a="http://schemas.openxmlformats.org/drawingml/2006/main">
              <a:ext uri="{FF2B5EF4-FFF2-40B4-BE49-F238E27FC236}">
                <a16:creationId xmlns:a16="http://schemas.microsoft.com/office/drawing/2014/main" id="{27297E79-8AFE-4CDE-85C1-6E7B261A7303}"/>
              </a:ext>
            </a:extLst>
          </p:cNvPr>
          <p:cNvSpPr>
            <a:spLocks xmlns:a="http://schemas.openxmlformats.org/drawingml/2006/main" noGrp="1"/>
          </p:cNvSpPr>
          <p:nvPr/>
        </p:nvSpPr>
        <p:spPr>
          <a:xfrm xmlns:a="http://schemas.openxmlformats.org/drawingml/2006/main">
            <a:off x="3143250" y="4238625"/>
            <a:ext cx="59055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1" name="">
            <a:extLst xmlns:a="http://schemas.openxmlformats.org/drawingml/2006/main">
              <a:ext uri="{FF2B5EF4-FFF2-40B4-BE49-F238E27FC236}">
                <a16:creationId xmlns:a16="http://schemas.microsoft.com/office/drawing/2014/main" id="{1A76D661-4EBD-4F3F-B521-50B96944BE39}"/>
              </a:ext>
            </a:extLst>
          </p:cNvPr>
          <p:cNvSpPr>
            <a:spLocks xmlns:a="http://schemas.openxmlformats.org/drawingml/2006/main" noGrp="1"/>
          </p:cNvSpPr>
          <p:nvPr/>
        </p:nvSpPr>
        <p:spPr>
          <a:xfrm xmlns:a="http://schemas.openxmlformats.org/drawingml/2006/main" rot="0">
            <a:off x="3295650" y="4400550"/>
            <a:ext cx="5600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撮影を続ける運用</a:t>
            </a:r>
          </a:p>
        </p:txBody>
      </p:sp>
      <p:sp>
        <p:nvSpPr>
          <p:cNvPr id="12" name="">
            <a:extLst xmlns:a="http://schemas.openxmlformats.org/drawingml/2006/main">
              <a:ext uri="{FF2B5EF4-FFF2-40B4-BE49-F238E27FC236}">
                <a16:creationId xmlns:a16="http://schemas.microsoft.com/office/drawing/2014/main" id="{7803D12C-8DB3-45DB-86FE-A78F81B621C2}"/>
              </a:ext>
            </a:extLst>
          </p:cNvPr>
          <p:cNvSpPr>
            <a:spLocks xmlns:a="http://schemas.openxmlformats.org/drawingml/2006/main" noGrp="1"/>
          </p:cNvSpPr>
          <p:nvPr/>
        </p:nvSpPr>
        <p:spPr>
          <a:xfrm xmlns:a="http://schemas.openxmlformats.org/drawingml/2006/main">
            <a:off x="3905250" y="3571875"/>
            <a:ext cx="51435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3" name="">
            <a:extLst xmlns:a="http://schemas.openxmlformats.org/drawingml/2006/main">
              <a:ext uri="{FF2B5EF4-FFF2-40B4-BE49-F238E27FC236}">
                <a16:creationId xmlns:a16="http://schemas.microsoft.com/office/drawing/2014/main" id="{99C3653E-2195-4557-A7FA-DBE7BBF1A967}"/>
              </a:ext>
            </a:extLst>
          </p:cNvPr>
          <p:cNvSpPr>
            <a:spLocks xmlns:a="http://schemas.openxmlformats.org/drawingml/2006/main" noGrp="1"/>
          </p:cNvSpPr>
          <p:nvPr/>
        </p:nvSpPr>
        <p:spPr>
          <a:xfrm xmlns:a="http://schemas.openxmlformats.org/drawingml/2006/main" rot="0">
            <a:off x="4057650" y="3733800"/>
            <a:ext cx="4838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スタッフへの説明・合意</a:t>
            </a:r>
          </a:p>
        </p:txBody>
      </p:sp>
      <p:sp>
        <p:nvSpPr>
          <p:cNvPr id="14" name="">
            <a:extLst xmlns:a="http://schemas.openxmlformats.org/drawingml/2006/main">
              <a:ext uri="{FF2B5EF4-FFF2-40B4-BE49-F238E27FC236}">
                <a16:creationId xmlns:a16="http://schemas.microsoft.com/office/drawing/2014/main" id="{296E2268-C704-4025-92E7-3612AED246CD}"/>
              </a:ext>
            </a:extLst>
          </p:cNvPr>
          <p:cNvSpPr>
            <a:spLocks xmlns:a="http://schemas.openxmlformats.org/drawingml/2006/main" noGrp="1"/>
          </p:cNvSpPr>
          <p:nvPr/>
        </p:nvSpPr>
        <p:spPr>
          <a:xfrm xmlns:a="http://schemas.openxmlformats.org/drawingml/2006/main">
            <a:off x="4667250" y="2905125"/>
            <a:ext cx="438150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5" name="">
            <a:extLst xmlns:a="http://schemas.openxmlformats.org/drawingml/2006/main">
              <a:ext uri="{FF2B5EF4-FFF2-40B4-BE49-F238E27FC236}">
                <a16:creationId xmlns:a16="http://schemas.microsoft.com/office/drawing/2014/main" id="{C1375471-79E7-4EEF-B463-7D4DD6E11171}"/>
              </a:ext>
            </a:extLst>
          </p:cNvPr>
          <p:cNvSpPr>
            <a:spLocks xmlns:a="http://schemas.openxmlformats.org/drawingml/2006/main" noGrp="1"/>
          </p:cNvSpPr>
          <p:nvPr/>
        </p:nvSpPr>
        <p:spPr>
          <a:xfrm xmlns:a="http://schemas.openxmlformats.org/drawingml/2006/main" rot="0">
            <a:off x="4819650" y="3067050"/>
            <a:ext cx="407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業種ごとの法令・ルールへの対応</a:t>
            </a:r>
          </a:p>
        </p:txBody>
      </p:sp>
      <p:sp>
        <p:nvSpPr>
          <p:cNvPr id="16" name="">
            <a:extLst xmlns:a="http://schemas.openxmlformats.org/drawingml/2006/main">
              <a:ext uri="{FF2B5EF4-FFF2-40B4-BE49-F238E27FC236}">
                <a16:creationId xmlns:a16="http://schemas.microsoft.com/office/drawing/2014/main" id="{33DFC177-258F-48FF-A455-A2C73A65F118}"/>
              </a:ext>
            </a:extLst>
          </p:cNvPr>
          <p:cNvSpPr>
            <a:spLocks xmlns:a="http://schemas.openxmlformats.org/drawingml/2006/main" noGrp="1"/>
          </p:cNvSpPr>
          <p:nvPr/>
        </p:nvSpPr>
        <p:spPr>
          <a:xfrm xmlns:a="http://schemas.openxmlformats.org/drawingml/2006/main">
            <a:off x="11334750" y="3095625"/>
            <a:ext cx="28575" cy="22383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E2229B8-30E1-4E2D-9150-32B10F58E13D}"/>
              </a:ext>
            </a:extLst>
          </p:cNvPr>
          <p:cNvSpPr>
            <a:spLocks xmlns:a="http://schemas.openxmlformats.org/drawingml/2006/main" noGrp="1"/>
          </p:cNvSpPr>
          <p:nvPr/>
        </p:nvSpPr>
        <p:spPr>
          <a:xfrm xmlns:a="http://schemas.openxmlformats.org/drawingml/2006/main" rot="0">
            <a:off x="11268075" y="2952750"/>
            <a:ext cx="161925" cy="171450"/>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18" name="">
            <a:extLst xmlns:a="http://schemas.openxmlformats.org/drawingml/2006/main">
              <a:ext uri="{FF2B5EF4-FFF2-40B4-BE49-F238E27FC236}">
                <a16:creationId xmlns:a16="http://schemas.microsoft.com/office/drawing/2014/main" id="{1CB644E3-0392-4236-8590-FD374D373CFD}"/>
              </a:ext>
            </a:extLst>
          </p:cNvPr>
          <p:cNvSpPr>
            <a:spLocks xmlns:a="http://schemas.openxmlformats.org/drawingml/2006/main" noGrp="1"/>
          </p:cNvSpPr>
          <p:nvPr/>
        </p:nvSpPr>
        <p:spPr>
          <a:xfrm xmlns:a="http://schemas.openxmlformats.org/drawingml/2006/main" rot="0">
            <a:off x="9239250" y="4171950"/>
            <a:ext cx="1857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後発は関係と運用を</a:t>
            </a:r>
          </a:p>
          <a:p xmlns:a="http://schemas.openxmlformats.org/drawingml/2006/main">
            <a:pPr algn="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一から積み直す</a:t>
            </a:r>
          </a:p>
        </p:txBody>
      </p:sp>
      <p:sp>
        <p:nvSpPr>
          <p:cNvPr id="19" name="">
            <a:extLst xmlns:a="http://schemas.openxmlformats.org/drawingml/2006/main">
              <a:ext uri="{FF2B5EF4-FFF2-40B4-BE49-F238E27FC236}">
                <a16:creationId xmlns:a16="http://schemas.microsoft.com/office/drawing/2014/main" id="{7F0E37F8-F962-4436-B09D-99AF5378EF38}"/>
              </a:ext>
            </a:extLst>
          </p:cNvPr>
          <p:cNvSpPr>
            <a:spLocks xmlns:a="http://schemas.openxmlformats.org/drawingml/2006/main" noGrp="1"/>
          </p:cNvSpPr>
          <p:nvPr/>
        </p:nvSpPr>
        <p:spPr>
          <a:xfrm xmlns:a="http://schemas.openxmlformats.org/drawingml/2006/main" rot="0">
            <a:off x="723900" y="61436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データだけでなく、現場へ入り続けるための関係と運用が蓄積される</a:t>
            </a:r>
          </a:p>
        </p:txBody>
      </p:sp>
    </p:spTree>
    <p:extLst>
      <p:ext uri="{BB962C8B-B14F-4D97-AF65-F5344CB8AC3E}">
        <p14:creationId xmlns:p14="http://schemas.microsoft.com/office/powerpoint/2010/main" val="1706598441"/>
      </p:ext>
    </p:extLst>
  </p:cSld>
</p:sld>
</file>

<file path=ppt/slides/slide1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A35A5C3C-11A4-4067-A89F-45573F00420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38305CF-3E2B-4D9D-8251-1F4634D1EA84}"/>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75" b="1">
                <a:solidFill>
                  <a:srgbClr val="15191B"/>
                </a:solidFill>
                <a:latin typeface="Hiragino Sans"/>
                <a:ea typeface="Hiragino Sans"/>
                <a:cs typeface="Hiragino Sans"/>
              </a:defRPr>
            </a:pPr>
            <a:r>
              <a:rPr sz="2475" b="1">
                <a:solidFill>
                  <a:srgbClr val="15191B"/>
                </a:solidFill>
                <a:latin typeface="Hiragino Sans"/>
                <a:ea typeface="Hiragino Sans"/>
                <a:cs typeface="Hiragino Sans"/>
              </a:rPr>
              <a:t>現場データを先に持つことで、ロボット導入まで進みやすくなる</a:t>
            </a:r>
          </a:p>
        </p:txBody>
      </p:sp>
      <p:sp>
        <p:nvSpPr>
          <p:cNvPr id="3" name="">
            <a:extLst xmlns:a="http://schemas.openxmlformats.org/drawingml/2006/main">
              <a:ext uri="{FF2B5EF4-FFF2-40B4-BE49-F238E27FC236}">
                <a16:creationId xmlns:a16="http://schemas.microsoft.com/office/drawing/2014/main" id="{537A6AC9-F9C6-43A5-92DF-0D309C3D7A03}"/>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B669AFB-863A-472C-903A-172F1918E086}"/>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11</a:t>
            </a:r>
          </a:p>
        </p:txBody>
      </p:sp>
      <p:sp>
        <p:nvSpPr>
          <p:cNvPr id="5" name="">
            <a:extLst xmlns:a="http://schemas.openxmlformats.org/drawingml/2006/main">
              <a:ext uri="{FF2B5EF4-FFF2-40B4-BE49-F238E27FC236}">
                <a16:creationId xmlns:a16="http://schemas.microsoft.com/office/drawing/2014/main" id="{5B408B9B-0D97-45AD-B512-7C29B6D157AE}"/>
              </a:ext>
            </a:extLst>
          </p:cNvPr>
          <p:cNvSpPr>
            <a:spLocks xmlns:a="http://schemas.openxmlformats.org/drawingml/2006/main" noGrp="1"/>
          </p:cNvSpPr>
          <p:nvPr/>
        </p:nvSpPr>
        <p:spPr>
          <a:xfrm xmlns:a="http://schemas.openxmlformats.org/drawingml/2006/main" rot="0">
            <a:off x="857250" y="195262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第1段階</a:t>
            </a:r>
          </a:p>
        </p:txBody>
      </p:sp>
      <p:sp>
        <p:nvSpPr>
          <p:cNvPr id="6" name="">
            <a:extLst xmlns:a="http://schemas.openxmlformats.org/drawingml/2006/main">
              <a:ext uri="{FF2B5EF4-FFF2-40B4-BE49-F238E27FC236}">
                <a16:creationId xmlns:a16="http://schemas.microsoft.com/office/drawing/2014/main" id="{B8E1B57D-5359-4388-90E4-58ADF0225D61}"/>
              </a:ext>
            </a:extLst>
          </p:cNvPr>
          <p:cNvSpPr>
            <a:spLocks xmlns:a="http://schemas.openxmlformats.org/drawingml/2006/main" noGrp="1"/>
          </p:cNvSpPr>
          <p:nvPr/>
        </p:nvSpPr>
        <p:spPr>
          <a:xfrm xmlns:a="http://schemas.openxmlformats.org/drawingml/2006/main">
            <a:off x="857250" y="2381250"/>
            <a:ext cx="2476500" cy="11430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7" name="">
            <a:extLst xmlns:a="http://schemas.openxmlformats.org/drawingml/2006/main">
              <a:ext uri="{FF2B5EF4-FFF2-40B4-BE49-F238E27FC236}">
                <a16:creationId xmlns:a16="http://schemas.microsoft.com/office/drawing/2014/main" id="{0EFEB300-A7D2-4768-BC86-CE0F16569863}"/>
              </a:ext>
            </a:extLst>
          </p:cNvPr>
          <p:cNvSpPr>
            <a:spLocks xmlns:a="http://schemas.openxmlformats.org/drawingml/2006/main" noGrp="1"/>
          </p:cNvSpPr>
          <p:nvPr/>
        </p:nvSpPr>
        <p:spPr>
          <a:xfrm xmlns:a="http://schemas.openxmlformats.org/drawingml/2006/main" rot="0">
            <a:off x="990600" y="2495550"/>
            <a:ext cx="2209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現場データ収集</a:t>
            </a:r>
          </a:p>
        </p:txBody>
      </p:sp>
      <p:sp>
        <p:nvSpPr>
          <p:cNvPr id="8" name="">
            <a:extLst xmlns:a="http://schemas.openxmlformats.org/drawingml/2006/main">
              <a:ext uri="{FF2B5EF4-FFF2-40B4-BE49-F238E27FC236}">
                <a16:creationId xmlns:a16="http://schemas.microsoft.com/office/drawing/2014/main" id="{AA6BD1A8-5C8A-4B3D-B2A6-780580590BD2}"/>
              </a:ext>
            </a:extLst>
          </p:cNvPr>
          <p:cNvSpPr>
            <a:spLocks xmlns:a="http://schemas.openxmlformats.org/drawingml/2006/main" noGrp="1"/>
          </p:cNvSpPr>
          <p:nvPr/>
        </p:nvSpPr>
        <p:spPr>
          <a:xfrm xmlns:a="http://schemas.openxmlformats.org/drawingml/2006/main" rot="0">
            <a:off x="857250" y="3762375"/>
            <a:ext cx="247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人間の作業の流れを</a:t>
            </a:r>
          </a:p>
          <a:p xmlns:a="http://schemas.openxmlformats.org/drawingml/2006/main">
            <a:pPr algn="ctr">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先に把握する</a:t>
            </a:r>
          </a:p>
        </p:txBody>
      </p:sp>
      <p:sp>
        <p:nvSpPr>
          <p:cNvPr id="9" name="">
            <a:extLst xmlns:a="http://schemas.openxmlformats.org/drawingml/2006/main">
              <a:ext uri="{FF2B5EF4-FFF2-40B4-BE49-F238E27FC236}">
                <a16:creationId xmlns:a16="http://schemas.microsoft.com/office/drawing/2014/main" id="{4EF6875C-A650-4385-B3AA-AF502142C7CA}"/>
              </a:ext>
            </a:extLst>
          </p:cNvPr>
          <p:cNvSpPr>
            <a:spLocks xmlns:a="http://schemas.openxmlformats.org/drawingml/2006/main" noGrp="1"/>
          </p:cNvSpPr>
          <p:nvPr/>
        </p:nvSpPr>
        <p:spPr>
          <a:xfrm xmlns:a="http://schemas.openxmlformats.org/drawingml/2006/main">
            <a:off x="3524250" y="2924175"/>
            <a:ext cx="1428750"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C9412CF-6ADE-4E09-8711-C5852BCE71D0}"/>
              </a:ext>
            </a:extLst>
          </p:cNvPr>
          <p:cNvSpPr>
            <a:spLocks xmlns:a="http://schemas.openxmlformats.org/drawingml/2006/main" noGrp="1"/>
          </p:cNvSpPr>
          <p:nvPr/>
        </p:nvSpPr>
        <p:spPr>
          <a:xfrm xmlns:a="http://schemas.openxmlformats.org/drawingml/2006/main" rot="5400000">
            <a:off x="4924425" y="2857500"/>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11" name="">
            <a:extLst xmlns:a="http://schemas.openxmlformats.org/drawingml/2006/main">
              <a:ext uri="{FF2B5EF4-FFF2-40B4-BE49-F238E27FC236}">
                <a16:creationId xmlns:a16="http://schemas.microsoft.com/office/drawing/2014/main" id="{C9790ECC-95E4-4FF2-AFE4-8F67FCD4D218}"/>
              </a:ext>
            </a:extLst>
          </p:cNvPr>
          <p:cNvSpPr>
            <a:spLocks xmlns:a="http://schemas.openxmlformats.org/drawingml/2006/main" noGrp="1"/>
          </p:cNvSpPr>
          <p:nvPr/>
        </p:nvSpPr>
        <p:spPr>
          <a:xfrm xmlns:a="http://schemas.openxmlformats.org/drawingml/2006/main" rot="0">
            <a:off x="3952875" y="25241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蓄積</a:t>
            </a:r>
          </a:p>
        </p:txBody>
      </p:sp>
      <p:sp>
        <p:nvSpPr>
          <p:cNvPr id="12" name="">
            <a:extLst xmlns:a="http://schemas.openxmlformats.org/drawingml/2006/main">
              <a:ext uri="{FF2B5EF4-FFF2-40B4-BE49-F238E27FC236}">
                <a16:creationId xmlns:a16="http://schemas.microsoft.com/office/drawing/2014/main" id="{0C1B0701-AE50-4D97-9CC6-EB15DC4D3CCD}"/>
              </a:ext>
            </a:extLst>
          </p:cNvPr>
          <p:cNvSpPr>
            <a:spLocks xmlns:a="http://schemas.openxmlformats.org/drawingml/2006/main" noGrp="1"/>
          </p:cNvSpPr>
          <p:nvPr/>
        </p:nvSpPr>
        <p:spPr>
          <a:xfrm xmlns:a="http://schemas.openxmlformats.org/drawingml/2006/main">
            <a:off x="5238750" y="2190750"/>
            <a:ext cx="2381250" cy="152400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13" name="">
            <a:extLst xmlns:a="http://schemas.openxmlformats.org/drawingml/2006/main">
              <a:ext uri="{FF2B5EF4-FFF2-40B4-BE49-F238E27FC236}">
                <a16:creationId xmlns:a16="http://schemas.microsoft.com/office/drawing/2014/main" id="{C6F77ABF-AB38-441B-B856-240A9EF9CD45}"/>
              </a:ext>
            </a:extLst>
          </p:cNvPr>
          <p:cNvSpPr>
            <a:spLocks xmlns:a="http://schemas.openxmlformats.org/drawingml/2006/main" noGrp="1"/>
          </p:cNvSpPr>
          <p:nvPr/>
        </p:nvSpPr>
        <p:spPr>
          <a:xfrm xmlns:a="http://schemas.openxmlformats.org/drawingml/2006/main" rot="0">
            <a:off x="5372100" y="2305050"/>
            <a:ext cx="21145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現場データ</a:t>
            </a:r>
          </a:p>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現場ネットワーク</a:t>
            </a:r>
          </a:p>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現場の知見</a:t>
            </a:r>
          </a:p>
        </p:txBody>
      </p:sp>
      <p:sp>
        <p:nvSpPr>
          <p:cNvPr id="14" name="">
            <a:extLst xmlns:a="http://schemas.openxmlformats.org/drawingml/2006/main">
              <a:ext uri="{FF2B5EF4-FFF2-40B4-BE49-F238E27FC236}">
                <a16:creationId xmlns:a16="http://schemas.microsoft.com/office/drawing/2014/main" id="{BFFF531E-684A-4AB2-B686-DC44096AF49C}"/>
              </a:ext>
            </a:extLst>
          </p:cNvPr>
          <p:cNvSpPr>
            <a:spLocks xmlns:a="http://schemas.openxmlformats.org/drawingml/2006/main" noGrp="1"/>
          </p:cNvSpPr>
          <p:nvPr/>
        </p:nvSpPr>
        <p:spPr>
          <a:xfrm xmlns:a="http://schemas.openxmlformats.org/drawingml/2006/main">
            <a:off x="7810500" y="2924175"/>
            <a:ext cx="1428750"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8A66D62-5176-4237-9F26-4AB9BDCB7840}"/>
              </a:ext>
            </a:extLst>
          </p:cNvPr>
          <p:cNvSpPr>
            <a:spLocks xmlns:a="http://schemas.openxmlformats.org/drawingml/2006/main" noGrp="1"/>
          </p:cNvSpPr>
          <p:nvPr/>
        </p:nvSpPr>
        <p:spPr>
          <a:xfrm xmlns:a="http://schemas.openxmlformats.org/drawingml/2006/main" rot="5400000">
            <a:off x="9210675" y="2857500"/>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16" name="">
            <a:extLst xmlns:a="http://schemas.openxmlformats.org/drawingml/2006/main">
              <a:ext uri="{FF2B5EF4-FFF2-40B4-BE49-F238E27FC236}">
                <a16:creationId xmlns:a16="http://schemas.microsoft.com/office/drawing/2014/main" id="{1C6E7A5D-EB20-4E74-AA0D-27B303979199}"/>
              </a:ext>
            </a:extLst>
          </p:cNvPr>
          <p:cNvSpPr>
            <a:spLocks xmlns:a="http://schemas.openxmlformats.org/drawingml/2006/main" noGrp="1"/>
          </p:cNvSpPr>
          <p:nvPr/>
        </p:nvSpPr>
        <p:spPr>
          <a:xfrm xmlns:a="http://schemas.openxmlformats.org/drawingml/2006/main" rot="0">
            <a:off x="8239125" y="25241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活用</a:t>
            </a:r>
          </a:p>
        </p:txBody>
      </p:sp>
      <p:sp>
        <p:nvSpPr>
          <p:cNvPr id="17" name="">
            <a:extLst xmlns:a="http://schemas.openxmlformats.org/drawingml/2006/main">
              <a:ext uri="{FF2B5EF4-FFF2-40B4-BE49-F238E27FC236}">
                <a16:creationId xmlns:a16="http://schemas.microsoft.com/office/drawing/2014/main" id="{5728F766-9647-40FC-BD80-7C4457611BC9}"/>
              </a:ext>
            </a:extLst>
          </p:cNvPr>
          <p:cNvSpPr>
            <a:spLocks xmlns:a="http://schemas.openxmlformats.org/drawingml/2006/main" noGrp="1"/>
          </p:cNvSpPr>
          <p:nvPr/>
        </p:nvSpPr>
        <p:spPr>
          <a:xfrm xmlns:a="http://schemas.openxmlformats.org/drawingml/2006/main" rot="0">
            <a:off x="8953500" y="195262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第2段階</a:t>
            </a:r>
          </a:p>
        </p:txBody>
      </p:sp>
      <p:sp>
        <p:nvSpPr>
          <p:cNvPr id="18" name="">
            <a:extLst xmlns:a="http://schemas.openxmlformats.org/drawingml/2006/main">
              <a:ext uri="{FF2B5EF4-FFF2-40B4-BE49-F238E27FC236}">
                <a16:creationId xmlns:a16="http://schemas.microsoft.com/office/drawing/2014/main" id="{538DDD3B-0EFD-4429-B187-1BD8AF797E55}"/>
              </a:ext>
            </a:extLst>
          </p:cNvPr>
          <p:cNvSpPr>
            <a:spLocks xmlns:a="http://schemas.openxmlformats.org/drawingml/2006/main" noGrp="1"/>
          </p:cNvSpPr>
          <p:nvPr/>
        </p:nvSpPr>
        <p:spPr>
          <a:xfrm xmlns:a="http://schemas.openxmlformats.org/drawingml/2006/main">
            <a:off x="8953500" y="2381250"/>
            <a:ext cx="2476500" cy="1143000"/>
          </a:xfrm>
          <a:prstGeom xmlns:a="http://schemas.openxmlformats.org/drawingml/2006/main" prst="rect">
            <a:avLst/>
          </a:prstGeom>
          <a:solidFill xmlns:a="http://schemas.openxmlformats.org/drawingml/2006/main">
            <a:srgbClr val="25333A"/>
          </a:solidFill>
          <a:ln xmlns:a="http://schemas.openxmlformats.org/drawingml/2006/main" w="19050">
            <a:solidFill>
              <a:srgbClr val="25333A"/>
            </a:solidFill>
          </a:ln>
        </p:spPr>
      </p:sp>
      <p:sp>
        <p:nvSpPr>
          <p:cNvPr id="19" name="">
            <a:extLst xmlns:a="http://schemas.openxmlformats.org/drawingml/2006/main">
              <a:ext uri="{FF2B5EF4-FFF2-40B4-BE49-F238E27FC236}">
                <a16:creationId xmlns:a16="http://schemas.microsoft.com/office/drawing/2014/main" id="{45ECCA17-7BA9-4D44-AAD4-D8D288934AC1}"/>
              </a:ext>
            </a:extLst>
          </p:cNvPr>
          <p:cNvSpPr>
            <a:spLocks xmlns:a="http://schemas.openxmlformats.org/drawingml/2006/main" noGrp="1"/>
          </p:cNvSpPr>
          <p:nvPr/>
        </p:nvSpPr>
        <p:spPr>
          <a:xfrm xmlns:a="http://schemas.openxmlformats.org/drawingml/2006/main" rot="0">
            <a:off x="9086850" y="2495550"/>
            <a:ext cx="2209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FFFFFF"/>
                </a:solidFill>
                <a:latin typeface="Hiragino Sans"/>
                <a:ea typeface="Hiragino Sans"/>
                <a:cs typeface="Hiragino Sans"/>
              </a:defRPr>
            </a:pPr>
            <a:r>
              <a:rPr sz="1725" b="1">
                <a:solidFill>
                  <a:srgbClr val="FFFFFF"/>
                </a:solidFill>
                <a:latin typeface="Hiragino Sans"/>
                <a:ea typeface="Hiragino Sans"/>
                <a:cs typeface="Hiragino Sans"/>
              </a:rPr>
              <a:t>ロボットを</a:t>
            </a:r>
          </a:p>
          <a:p xmlns:a="http://schemas.openxmlformats.org/drawingml/2006/main">
            <a:pPr algn="ctr">
              <a:defRPr sz="1725" b="1">
                <a:solidFill>
                  <a:srgbClr val="FFFFFF"/>
                </a:solidFill>
                <a:latin typeface="Hiragino Sans"/>
                <a:ea typeface="Hiragino Sans"/>
                <a:cs typeface="Hiragino Sans"/>
              </a:defRPr>
            </a:pPr>
            <a:r>
              <a:rPr sz="1725" b="1">
                <a:solidFill>
                  <a:srgbClr val="FFFFFF"/>
                </a:solidFill>
                <a:latin typeface="Hiragino Sans"/>
                <a:ea typeface="Hiragino Sans"/>
                <a:cs typeface="Hiragino Sans"/>
              </a:rPr>
              <a:t>現場へ導入</a:t>
            </a:r>
          </a:p>
        </p:txBody>
      </p:sp>
      <p:sp>
        <p:nvSpPr>
          <p:cNvPr id="20" name="">
            <a:extLst xmlns:a="http://schemas.openxmlformats.org/drawingml/2006/main">
              <a:ext uri="{FF2B5EF4-FFF2-40B4-BE49-F238E27FC236}">
                <a16:creationId xmlns:a16="http://schemas.microsoft.com/office/drawing/2014/main" id="{8B760594-D3DA-45EA-8549-BB31DE88AA28}"/>
              </a:ext>
            </a:extLst>
          </p:cNvPr>
          <p:cNvSpPr>
            <a:spLocks xmlns:a="http://schemas.openxmlformats.org/drawingml/2006/main" noGrp="1"/>
          </p:cNvSpPr>
          <p:nvPr/>
        </p:nvSpPr>
        <p:spPr>
          <a:xfrm xmlns:a="http://schemas.openxmlformats.org/drawingml/2006/main" rot="0">
            <a:off x="8953500" y="3762375"/>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作業に合わせて導入・運用を調整</a:t>
            </a:r>
          </a:p>
        </p:txBody>
      </p:sp>
      <p:sp>
        <p:nvSpPr>
          <p:cNvPr id="21" name="">
            <a:extLst xmlns:a="http://schemas.openxmlformats.org/drawingml/2006/main">
              <a:ext uri="{FF2B5EF4-FFF2-40B4-BE49-F238E27FC236}">
                <a16:creationId xmlns:a16="http://schemas.microsoft.com/office/drawing/2014/main" id="{31877F95-653A-48AB-B990-0981B2B11841}"/>
              </a:ext>
            </a:extLst>
          </p:cNvPr>
          <p:cNvSpPr>
            <a:spLocks xmlns:a="http://schemas.openxmlformats.org/drawingml/2006/main" noGrp="1"/>
          </p:cNvSpPr>
          <p:nvPr/>
        </p:nvSpPr>
        <p:spPr>
          <a:xfrm xmlns:a="http://schemas.openxmlformats.org/drawingml/2006/main">
            <a:off x="857250" y="47625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B6D89CBA-B1B3-4D31-9708-872A5064C4F6}"/>
              </a:ext>
            </a:extLst>
          </p:cNvPr>
          <p:cNvSpPr>
            <a:spLocks xmlns:a="http://schemas.openxmlformats.org/drawingml/2006/main" noGrp="1"/>
          </p:cNvSpPr>
          <p:nvPr/>
        </p:nvSpPr>
        <p:spPr>
          <a:xfrm xmlns:a="http://schemas.openxmlformats.org/drawingml/2006/main" rot="0">
            <a:off x="723900" y="528637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ロボット企業と協業し、自ら導入と運用調整を担うこともできる</a:t>
            </a:r>
          </a:p>
        </p:txBody>
      </p:sp>
    </p:spTree>
    <p:extLst>
      <p:ext uri="{BB962C8B-B14F-4D97-AF65-F5344CB8AC3E}">
        <p14:creationId xmlns:p14="http://schemas.microsoft.com/office/powerpoint/2010/main" val="704052948"/>
      </p:ext>
    </p:extLst>
  </p:cSld>
</p:sld>
</file>

<file path=ppt/slides/slide1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E431141-07B9-4188-97E6-3C00777CF37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AD0A8B7-B345-41CF-81BF-296D1FCF84CF}"/>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RootLensの方向性</a:t>
            </a:r>
          </a:p>
        </p:txBody>
      </p:sp>
      <p:sp>
        <p:nvSpPr>
          <p:cNvPr id="3" name="">
            <a:extLst xmlns:a="http://schemas.openxmlformats.org/drawingml/2006/main">
              <a:ext uri="{FF2B5EF4-FFF2-40B4-BE49-F238E27FC236}">
                <a16:creationId xmlns:a16="http://schemas.microsoft.com/office/drawing/2014/main" id="{A77494B5-6142-4D43-9E4E-C8463A9D8353}"/>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B423FDD-0FAA-4F3E-9CA9-417E545DAEEE}"/>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12</a:t>
            </a:r>
          </a:p>
        </p:txBody>
      </p:sp>
      <p:sp>
        <p:nvSpPr>
          <p:cNvPr id="5" name="">
            <a:extLst xmlns:a="http://schemas.openxmlformats.org/drawingml/2006/main">
              <a:ext uri="{FF2B5EF4-FFF2-40B4-BE49-F238E27FC236}">
                <a16:creationId xmlns:a16="http://schemas.microsoft.com/office/drawing/2014/main" id="{35D65ACF-F811-469A-97C1-E9BFD7B4146B}"/>
              </a:ext>
            </a:extLst>
          </p:cNvPr>
          <p:cNvSpPr>
            <a:spLocks xmlns:a="http://schemas.openxmlformats.org/drawingml/2006/main" noGrp="1"/>
          </p:cNvSpPr>
          <p:nvPr/>
        </p:nvSpPr>
        <p:spPr>
          <a:xfrm xmlns:a="http://schemas.openxmlformats.org/drawingml/2006/main" rot="0">
            <a:off x="723900" y="1952625"/>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第1段階</a:t>
            </a:r>
          </a:p>
        </p:txBody>
      </p:sp>
      <p:sp>
        <p:nvSpPr>
          <p:cNvPr id="6" name="">
            <a:extLst xmlns:a="http://schemas.openxmlformats.org/drawingml/2006/main">
              <a:ext uri="{FF2B5EF4-FFF2-40B4-BE49-F238E27FC236}">
                <a16:creationId xmlns:a16="http://schemas.microsoft.com/office/drawing/2014/main" id="{EF320425-7582-4C28-9E65-C7C96E8685C3}"/>
              </a:ext>
            </a:extLst>
          </p:cNvPr>
          <p:cNvSpPr>
            <a:spLocks xmlns:a="http://schemas.openxmlformats.org/drawingml/2006/main" noGrp="1"/>
          </p:cNvSpPr>
          <p:nvPr/>
        </p:nvSpPr>
        <p:spPr>
          <a:xfrm xmlns:a="http://schemas.openxmlformats.org/drawingml/2006/main" rot="0">
            <a:off x="723900" y="2428875"/>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現場データネットワークを広げる</a:t>
            </a:r>
          </a:p>
        </p:txBody>
      </p:sp>
      <p:sp>
        <p:nvSpPr>
          <p:cNvPr id="7" name="">
            <a:extLst xmlns:a="http://schemas.openxmlformats.org/drawingml/2006/main">
              <a:ext uri="{FF2B5EF4-FFF2-40B4-BE49-F238E27FC236}">
                <a16:creationId xmlns:a16="http://schemas.microsoft.com/office/drawing/2014/main" id="{8B6061F6-917D-4674-97BC-0B73C8139DB5}"/>
              </a:ext>
            </a:extLst>
          </p:cNvPr>
          <p:cNvSpPr>
            <a:spLocks xmlns:a="http://schemas.openxmlformats.org/drawingml/2006/main" noGrp="1"/>
          </p:cNvSpPr>
          <p:nvPr/>
        </p:nvSpPr>
        <p:spPr>
          <a:xfrm xmlns:a="http://schemas.openxmlformats.org/drawingml/2006/main" rot="0">
            <a:off x="723900" y="3095625"/>
            <a:ext cx="4762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データ収集・販売による収益を確保する。現場との関係構築と、業種ごとの法令・ルールへの対応を通じて、後発が真似できない参入障壁を積み上げる。</a:t>
            </a:r>
          </a:p>
        </p:txBody>
      </p:sp>
      <p:sp>
        <p:nvSpPr>
          <p:cNvPr id="8" name="">
            <a:extLst xmlns:a="http://schemas.openxmlformats.org/drawingml/2006/main">
              <a:ext uri="{FF2B5EF4-FFF2-40B4-BE49-F238E27FC236}">
                <a16:creationId xmlns:a16="http://schemas.microsoft.com/office/drawing/2014/main" id="{CF486B7F-EC85-4B6E-8BE7-80DE8F7F505C}"/>
              </a:ext>
            </a:extLst>
          </p:cNvPr>
          <p:cNvSpPr>
            <a:spLocks xmlns:a="http://schemas.openxmlformats.org/drawingml/2006/main" noGrp="1"/>
          </p:cNvSpPr>
          <p:nvPr/>
        </p:nvSpPr>
        <p:spPr>
          <a:xfrm xmlns:a="http://schemas.openxmlformats.org/drawingml/2006/main">
            <a:off x="5981700" y="1952625"/>
            <a:ext cx="9525" cy="338137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88FA3CA-9480-42B2-9DA4-D65E803766B7}"/>
              </a:ext>
            </a:extLst>
          </p:cNvPr>
          <p:cNvSpPr>
            <a:spLocks xmlns:a="http://schemas.openxmlformats.org/drawingml/2006/main" noGrp="1"/>
          </p:cNvSpPr>
          <p:nvPr/>
        </p:nvSpPr>
        <p:spPr>
          <a:xfrm xmlns:a="http://schemas.openxmlformats.org/drawingml/2006/main" rot="0">
            <a:off x="6477000" y="1952625"/>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第2段階</a:t>
            </a:r>
          </a:p>
        </p:txBody>
      </p:sp>
      <p:sp>
        <p:nvSpPr>
          <p:cNvPr id="10" name="">
            <a:extLst xmlns:a="http://schemas.openxmlformats.org/drawingml/2006/main">
              <a:ext uri="{FF2B5EF4-FFF2-40B4-BE49-F238E27FC236}">
                <a16:creationId xmlns:a16="http://schemas.microsoft.com/office/drawing/2014/main" id="{C363F075-8DF4-4F9A-83E6-ACE1DDF05798}"/>
              </a:ext>
            </a:extLst>
          </p:cNvPr>
          <p:cNvSpPr>
            <a:spLocks xmlns:a="http://schemas.openxmlformats.org/drawingml/2006/main" noGrp="1"/>
          </p:cNvSpPr>
          <p:nvPr/>
        </p:nvSpPr>
        <p:spPr>
          <a:xfrm xmlns:a="http://schemas.openxmlformats.org/drawingml/2006/main" rot="0">
            <a:off x="6477000" y="2428875"/>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自らロボットの現場導入を担う</a:t>
            </a:r>
          </a:p>
        </p:txBody>
      </p:sp>
      <p:sp>
        <p:nvSpPr>
          <p:cNvPr id="11" name="">
            <a:extLst xmlns:a="http://schemas.openxmlformats.org/drawingml/2006/main">
              <a:ext uri="{FF2B5EF4-FFF2-40B4-BE49-F238E27FC236}">
                <a16:creationId xmlns:a16="http://schemas.microsoft.com/office/drawing/2014/main" id="{69B54E97-F615-4848-B5BE-8339F936D2F6}"/>
              </a:ext>
            </a:extLst>
          </p:cNvPr>
          <p:cNvSpPr>
            <a:spLocks xmlns:a="http://schemas.openxmlformats.org/drawingml/2006/main" noGrp="1"/>
          </p:cNvSpPr>
          <p:nvPr/>
        </p:nvSpPr>
        <p:spPr>
          <a:xfrm xmlns:a="http://schemas.openxmlformats.org/drawingml/2006/main" rot="0">
            <a:off x="6477000" y="3286125"/>
            <a:ext cx="4667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まず既存ロボットを現場へ導入し、作業に合わせて運用を調整する。その後、現場データを使った動作モデルと実機の改良まで自社で担う。</a:t>
            </a:r>
          </a:p>
        </p:txBody>
      </p:sp>
      <p:sp>
        <p:nvSpPr>
          <p:cNvPr id="12" name="">
            <a:extLst xmlns:a="http://schemas.openxmlformats.org/drawingml/2006/main">
              <a:ext uri="{FF2B5EF4-FFF2-40B4-BE49-F238E27FC236}">
                <a16:creationId xmlns:a16="http://schemas.microsoft.com/office/drawing/2014/main" id="{1F802228-92AA-4A4E-969C-66413F677004}"/>
              </a:ext>
            </a:extLst>
          </p:cNvPr>
          <p:cNvSpPr>
            <a:spLocks xmlns:a="http://schemas.openxmlformats.org/drawingml/2006/main" noGrp="1"/>
          </p:cNvSpPr>
          <p:nvPr/>
        </p:nvSpPr>
        <p:spPr>
          <a:xfrm xmlns:a="http://schemas.openxmlformats.org/drawingml/2006/main" rot="0">
            <a:off x="723900" y="55721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この方向性を一言で表したのが、「現場データ収集から始めるフィジカルAIプレーヤー」である。</a:t>
            </a:r>
          </a:p>
        </p:txBody>
      </p:sp>
    </p:spTree>
    <p:extLst>
      <p:ext uri="{BB962C8B-B14F-4D97-AF65-F5344CB8AC3E}">
        <p14:creationId xmlns:p14="http://schemas.microsoft.com/office/powerpoint/2010/main" val="451369901"/>
      </p:ext>
    </p:extLst>
  </p:cSld>
</p:sld>
</file>

<file path=ppt/slides/slide1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EE493E05-72F3-4344-A477-7698F5DA5C4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3E93649-CB90-44D8-A6BD-66603AB6F8D3}"/>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事業構造と両面市場</a:t>
            </a:r>
          </a:p>
        </p:txBody>
      </p:sp>
      <p:sp>
        <p:nvSpPr>
          <p:cNvPr id="3" name="">
            <a:extLst xmlns:a="http://schemas.openxmlformats.org/drawingml/2006/main">
              <a:ext uri="{FF2B5EF4-FFF2-40B4-BE49-F238E27FC236}">
                <a16:creationId xmlns:a16="http://schemas.microsoft.com/office/drawing/2014/main" id="{9384042E-C6ED-43BC-B018-285A4A364688}"/>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6ABFA75-86D4-4206-9FD6-015A7BCE95CD}"/>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13</a:t>
            </a:r>
          </a:p>
        </p:txBody>
      </p:sp>
      <p:sp>
        <p:nvSpPr>
          <p:cNvPr id="5" name="">
            <a:extLst xmlns:a="http://schemas.openxmlformats.org/drawingml/2006/main">
              <a:ext uri="{FF2B5EF4-FFF2-40B4-BE49-F238E27FC236}">
                <a16:creationId xmlns:a16="http://schemas.microsoft.com/office/drawing/2014/main" id="{EC693859-88D0-4BB8-8A65-4BA3867F70D0}"/>
              </a:ext>
            </a:extLst>
          </p:cNvPr>
          <p:cNvSpPr>
            <a:spLocks xmlns:a="http://schemas.openxmlformats.org/drawingml/2006/main" noGrp="1"/>
          </p:cNvSpPr>
          <p:nvPr/>
        </p:nvSpPr>
        <p:spPr>
          <a:xfrm xmlns:a="http://schemas.openxmlformats.org/drawingml/2006/main" rot="0">
            <a:off x="8667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撮影先</a:t>
            </a:r>
          </a:p>
        </p:txBody>
      </p:sp>
      <p:sp>
        <p:nvSpPr>
          <p:cNvPr id="6" name="">
            <a:extLst xmlns:a="http://schemas.openxmlformats.org/drawingml/2006/main">
              <a:ext uri="{FF2B5EF4-FFF2-40B4-BE49-F238E27FC236}">
                <a16:creationId xmlns:a16="http://schemas.microsoft.com/office/drawing/2014/main" id="{D3189854-120A-4D00-9B1D-0BC3036EE1CB}"/>
              </a:ext>
            </a:extLst>
          </p:cNvPr>
          <p:cNvSpPr>
            <a:spLocks xmlns:a="http://schemas.openxmlformats.org/drawingml/2006/main" noGrp="1"/>
          </p:cNvSpPr>
          <p:nvPr/>
        </p:nvSpPr>
        <p:spPr>
          <a:xfrm xmlns:a="http://schemas.openxmlformats.org/drawingml/2006/main" rot="0">
            <a:off x="50577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RootLens</a:t>
            </a:r>
          </a:p>
        </p:txBody>
      </p:sp>
      <p:sp>
        <p:nvSpPr>
          <p:cNvPr id="7" name="">
            <a:extLst xmlns:a="http://schemas.openxmlformats.org/drawingml/2006/main">
              <a:ext uri="{FF2B5EF4-FFF2-40B4-BE49-F238E27FC236}">
                <a16:creationId xmlns:a16="http://schemas.microsoft.com/office/drawing/2014/main" id="{A42F9A9A-23D0-4237-A81F-D297CBB211E8}"/>
              </a:ext>
            </a:extLst>
          </p:cNvPr>
          <p:cNvSpPr>
            <a:spLocks xmlns:a="http://schemas.openxmlformats.org/drawingml/2006/main" noGrp="1"/>
          </p:cNvSpPr>
          <p:nvPr/>
        </p:nvSpPr>
        <p:spPr>
          <a:xfrm xmlns:a="http://schemas.openxmlformats.org/drawingml/2006/main" rot="0">
            <a:off x="90963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販売先</a:t>
            </a:r>
          </a:p>
        </p:txBody>
      </p:sp>
      <p:sp>
        <p:nvSpPr>
          <p:cNvPr id="8" name="">
            <a:extLst xmlns:a="http://schemas.openxmlformats.org/drawingml/2006/main">
              <a:ext uri="{FF2B5EF4-FFF2-40B4-BE49-F238E27FC236}">
                <a16:creationId xmlns:a16="http://schemas.microsoft.com/office/drawing/2014/main" id="{5CF4A43B-BEF9-4B00-9CFE-9E3F2EE9C4B1}"/>
              </a:ext>
            </a:extLst>
          </p:cNvPr>
          <p:cNvSpPr>
            <a:spLocks xmlns:a="http://schemas.openxmlformats.org/drawingml/2006/main" noGrp="1"/>
          </p:cNvSpPr>
          <p:nvPr/>
        </p:nvSpPr>
        <p:spPr>
          <a:xfrm xmlns:a="http://schemas.openxmlformats.org/drawingml/2006/main">
            <a:off x="723900" y="2400300"/>
            <a:ext cx="2571750" cy="18859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9" name="">
            <a:extLst xmlns:a="http://schemas.openxmlformats.org/drawingml/2006/main">
              <a:ext uri="{FF2B5EF4-FFF2-40B4-BE49-F238E27FC236}">
                <a16:creationId xmlns:a16="http://schemas.microsoft.com/office/drawing/2014/main" id="{3630CA7B-4DF4-4A7F-92D8-1B1C6CA578EB}"/>
              </a:ext>
            </a:extLst>
          </p:cNvPr>
          <p:cNvSpPr>
            <a:spLocks xmlns:a="http://schemas.openxmlformats.org/drawingml/2006/main" noGrp="1"/>
          </p:cNvSpPr>
          <p:nvPr/>
        </p:nvSpPr>
        <p:spPr>
          <a:xfrm xmlns:a="http://schemas.openxmlformats.org/drawingml/2006/main" rot="0">
            <a:off x="1009650"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現場</a:t>
            </a:r>
          </a:p>
        </p:txBody>
      </p:sp>
      <p:sp>
        <p:nvSpPr>
          <p:cNvPr id="10" name="">
            <a:extLst xmlns:a="http://schemas.openxmlformats.org/drawingml/2006/main">
              <a:ext uri="{FF2B5EF4-FFF2-40B4-BE49-F238E27FC236}">
                <a16:creationId xmlns:a16="http://schemas.microsoft.com/office/drawing/2014/main" id="{85FB9A48-EB76-48D1-A1D1-933012616E47}"/>
              </a:ext>
            </a:extLst>
          </p:cNvPr>
          <p:cNvSpPr>
            <a:spLocks xmlns:a="http://schemas.openxmlformats.org/drawingml/2006/main" noGrp="1"/>
          </p:cNvSpPr>
          <p:nvPr/>
        </p:nvSpPr>
        <p:spPr>
          <a:xfrm xmlns:a="http://schemas.openxmlformats.org/drawingml/2006/main" rot="0">
            <a:off x="1009650" y="3305175"/>
            <a:ext cx="200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0">
                <a:solidFill>
                  <a:srgbClr val="58646A"/>
                </a:solidFill>
                <a:latin typeface="Hiragino Sans"/>
                <a:ea typeface="Hiragino Sans"/>
                <a:cs typeface="Hiragino Sans"/>
              </a:defRPr>
            </a:pPr>
            <a:r>
              <a:rPr sz="1425" b="0">
                <a:solidFill>
                  <a:srgbClr val="58646A"/>
                </a:solidFill>
                <a:latin typeface="Hiragino Sans"/>
                <a:ea typeface="Hiragino Sans"/>
                <a:cs typeface="Hiragino Sans"/>
              </a:rPr>
              <a:t>作業データを撮影</a:t>
            </a:r>
          </a:p>
          <a:p xmlns:a="http://schemas.openxmlformats.org/drawingml/2006/main">
            <a:pPr algn="ctr">
              <a:defRPr sz="1425" b="0">
                <a:solidFill>
                  <a:srgbClr val="58646A"/>
                </a:solidFill>
                <a:latin typeface="Hiragino Sans"/>
                <a:ea typeface="Hiragino Sans"/>
                <a:cs typeface="Hiragino Sans"/>
              </a:defRPr>
            </a:pPr>
            <a:r>
              <a:rPr sz="1425" b="0">
                <a:solidFill>
                  <a:srgbClr val="58646A"/>
                </a:solidFill>
                <a:latin typeface="Hiragino Sans"/>
                <a:ea typeface="Hiragino Sans"/>
                <a:cs typeface="Hiragino Sans"/>
              </a:rPr>
              <a:t>スタッフ・店舗の合意</a:t>
            </a:r>
          </a:p>
        </p:txBody>
      </p:sp>
      <p:sp>
        <p:nvSpPr>
          <p:cNvPr id="11" name="">
            <a:extLst xmlns:a="http://schemas.openxmlformats.org/drawingml/2006/main">
              <a:ext uri="{FF2B5EF4-FFF2-40B4-BE49-F238E27FC236}">
                <a16:creationId xmlns:a16="http://schemas.microsoft.com/office/drawing/2014/main" id="{76582AE0-213F-47A5-8E61-8BCE67982828}"/>
              </a:ext>
            </a:extLst>
          </p:cNvPr>
          <p:cNvSpPr>
            <a:spLocks xmlns:a="http://schemas.openxmlformats.org/drawingml/2006/main" noGrp="1"/>
          </p:cNvSpPr>
          <p:nvPr/>
        </p:nvSpPr>
        <p:spPr>
          <a:xfrm xmlns:a="http://schemas.openxmlformats.org/drawingml/2006/main">
            <a:off x="4810125" y="2400300"/>
            <a:ext cx="2571750" cy="18859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DCF9689-CFFD-494F-8B02-850B5886DF1E}"/>
              </a:ext>
            </a:extLst>
          </p:cNvPr>
          <p:cNvSpPr>
            <a:spLocks xmlns:a="http://schemas.openxmlformats.org/drawingml/2006/main" noGrp="1"/>
          </p:cNvSpPr>
          <p:nvPr/>
        </p:nvSpPr>
        <p:spPr>
          <a:xfrm xmlns:a="http://schemas.openxmlformats.org/drawingml/2006/main" rot="0">
            <a:off x="5095875"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00" b="1">
                <a:solidFill>
                  <a:srgbClr val="FFFFFF"/>
                </a:solidFill>
                <a:latin typeface="Hiragino Sans"/>
                <a:ea typeface="Hiragino Sans"/>
                <a:cs typeface="Hiragino Sans"/>
              </a:defRPr>
            </a:pPr>
            <a:r>
              <a:rPr sz="1800" b="1">
                <a:solidFill>
                  <a:srgbClr val="FFFFFF"/>
                </a:solidFill>
                <a:latin typeface="Hiragino Sans"/>
                <a:ea typeface="Hiragino Sans"/>
                <a:cs typeface="Hiragino Sans"/>
              </a:rPr>
              <a:t>収集・管理</a:t>
            </a:r>
          </a:p>
        </p:txBody>
      </p:sp>
      <p:sp>
        <p:nvSpPr>
          <p:cNvPr id="13" name="">
            <a:extLst xmlns:a="http://schemas.openxmlformats.org/drawingml/2006/main">
              <a:ext uri="{FF2B5EF4-FFF2-40B4-BE49-F238E27FC236}">
                <a16:creationId xmlns:a16="http://schemas.microsoft.com/office/drawing/2014/main" id="{BB34CFC4-5E85-4E33-8615-A88243E05D4F}"/>
              </a:ext>
            </a:extLst>
          </p:cNvPr>
          <p:cNvSpPr>
            <a:spLocks xmlns:a="http://schemas.openxmlformats.org/drawingml/2006/main" noGrp="1"/>
          </p:cNvSpPr>
          <p:nvPr/>
        </p:nvSpPr>
        <p:spPr>
          <a:xfrm xmlns:a="http://schemas.openxmlformats.org/drawingml/2006/main" rot="0">
            <a:off x="5095875" y="32480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現場運用</a:t>
            </a:r>
          </a:p>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データ品質</a:t>
            </a:r>
          </a:p>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販売までの運用</a:t>
            </a:r>
          </a:p>
        </p:txBody>
      </p:sp>
      <p:sp>
        <p:nvSpPr>
          <p:cNvPr id="14" name="">
            <a:extLst xmlns:a="http://schemas.openxmlformats.org/drawingml/2006/main">
              <a:ext uri="{FF2B5EF4-FFF2-40B4-BE49-F238E27FC236}">
                <a16:creationId xmlns:a16="http://schemas.microsoft.com/office/drawing/2014/main" id="{EDE184B4-A045-4378-A85A-B9A53E6E4345}"/>
              </a:ext>
            </a:extLst>
          </p:cNvPr>
          <p:cNvSpPr>
            <a:spLocks xmlns:a="http://schemas.openxmlformats.org/drawingml/2006/main" noGrp="1"/>
          </p:cNvSpPr>
          <p:nvPr/>
        </p:nvSpPr>
        <p:spPr>
          <a:xfrm xmlns:a="http://schemas.openxmlformats.org/drawingml/2006/main">
            <a:off x="8896350" y="2400300"/>
            <a:ext cx="2571750" cy="18859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5" name="">
            <a:extLst xmlns:a="http://schemas.openxmlformats.org/drawingml/2006/main">
              <a:ext uri="{FF2B5EF4-FFF2-40B4-BE49-F238E27FC236}">
                <a16:creationId xmlns:a16="http://schemas.microsoft.com/office/drawing/2014/main" id="{3A3998F9-8349-46C9-B16B-AC9ACA7F91AE}"/>
              </a:ext>
            </a:extLst>
          </p:cNvPr>
          <p:cNvSpPr>
            <a:spLocks xmlns:a="http://schemas.openxmlformats.org/drawingml/2006/main" noGrp="1"/>
          </p:cNvSpPr>
          <p:nvPr/>
        </p:nvSpPr>
        <p:spPr>
          <a:xfrm xmlns:a="http://schemas.openxmlformats.org/drawingml/2006/main" rot="0">
            <a:off x="9182100"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950" b="1">
                <a:solidFill>
                  <a:srgbClr val="15191B"/>
                </a:solidFill>
                <a:latin typeface="Hiragino Sans"/>
                <a:ea typeface="Hiragino Sans"/>
                <a:cs typeface="Hiragino Sans"/>
              </a:defRPr>
            </a:pPr>
            <a:r>
              <a:rPr sz="1950" b="1">
                <a:solidFill>
                  <a:srgbClr val="15191B"/>
                </a:solidFill>
                <a:latin typeface="Hiragino Sans"/>
                <a:ea typeface="Hiragino Sans"/>
                <a:cs typeface="Hiragino Sans"/>
              </a:rPr>
              <a:t>データ購入企業</a:t>
            </a:r>
          </a:p>
        </p:txBody>
      </p:sp>
      <p:sp>
        <p:nvSpPr>
          <p:cNvPr id="16" name="">
            <a:extLst xmlns:a="http://schemas.openxmlformats.org/drawingml/2006/main">
              <a:ext uri="{FF2B5EF4-FFF2-40B4-BE49-F238E27FC236}">
                <a16:creationId xmlns:a16="http://schemas.microsoft.com/office/drawing/2014/main" id="{657B363F-6380-4FE8-8C4B-62877FED36C3}"/>
              </a:ext>
            </a:extLst>
          </p:cNvPr>
          <p:cNvSpPr>
            <a:spLocks xmlns:a="http://schemas.openxmlformats.org/drawingml/2006/main" noGrp="1"/>
          </p:cNvSpPr>
          <p:nvPr/>
        </p:nvSpPr>
        <p:spPr>
          <a:xfrm xmlns:a="http://schemas.openxmlformats.org/drawingml/2006/main" rot="0">
            <a:off x="9182100" y="32480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モデル開発企業</a:t>
            </a:r>
          </a:p>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データ加工企業</a:t>
            </a:r>
          </a:p>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ロボット企業</a:t>
            </a:r>
          </a:p>
        </p:txBody>
      </p:sp>
      <p:sp>
        <p:nvSpPr>
          <p:cNvPr id="17" name="">
            <a:extLst xmlns:a="http://schemas.openxmlformats.org/drawingml/2006/main">
              <a:ext uri="{FF2B5EF4-FFF2-40B4-BE49-F238E27FC236}">
                <a16:creationId xmlns:a16="http://schemas.microsoft.com/office/drawing/2014/main" id="{BA01C398-8D04-45E2-9A3E-8AF3FC21BF77}"/>
              </a:ext>
            </a:extLst>
          </p:cNvPr>
          <p:cNvSpPr>
            <a:spLocks xmlns:a="http://schemas.openxmlformats.org/drawingml/2006/main" noGrp="1"/>
          </p:cNvSpPr>
          <p:nvPr/>
        </p:nvSpPr>
        <p:spPr>
          <a:xfrm xmlns:a="http://schemas.openxmlformats.org/drawingml/2006/main">
            <a:off x="3295650" y="3343275"/>
            <a:ext cx="15144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B25ED8D-E52A-4B5A-A03E-EE48ACDE9F82}"/>
              </a:ext>
            </a:extLst>
          </p:cNvPr>
          <p:cNvSpPr>
            <a:spLocks xmlns:a="http://schemas.openxmlformats.org/drawingml/2006/main" noGrp="1"/>
          </p:cNvSpPr>
          <p:nvPr/>
        </p:nvSpPr>
        <p:spPr>
          <a:xfrm xmlns:a="http://schemas.openxmlformats.org/drawingml/2006/main">
            <a:off x="7381875" y="3343275"/>
            <a:ext cx="15144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0CBF1D87-BF40-4210-B48B-21A5EB251E0B}"/>
              </a:ext>
            </a:extLst>
          </p:cNvPr>
          <p:cNvSpPr>
            <a:spLocks xmlns:a="http://schemas.openxmlformats.org/drawingml/2006/main" noGrp="1"/>
          </p:cNvSpPr>
          <p:nvPr/>
        </p:nvSpPr>
        <p:spPr>
          <a:xfrm xmlns:a="http://schemas.openxmlformats.org/drawingml/2006/main" rot="0">
            <a:off x="3209925" y="3533775"/>
            <a:ext cx="1676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売上の50%を還元</a:t>
            </a:r>
          </a:p>
        </p:txBody>
      </p:sp>
      <p:sp>
        <p:nvSpPr>
          <p:cNvPr id="20" name="">
            <a:extLst xmlns:a="http://schemas.openxmlformats.org/drawingml/2006/main">
              <a:ext uri="{FF2B5EF4-FFF2-40B4-BE49-F238E27FC236}">
                <a16:creationId xmlns:a16="http://schemas.microsoft.com/office/drawing/2014/main" id="{9C66E791-6A5E-44C9-9434-7D5597D49E11}"/>
              </a:ext>
            </a:extLst>
          </p:cNvPr>
          <p:cNvSpPr>
            <a:spLocks xmlns:a="http://schemas.openxmlformats.org/drawingml/2006/main" noGrp="1"/>
          </p:cNvSpPr>
          <p:nvPr/>
        </p:nvSpPr>
        <p:spPr>
          <a:xfrm xmlns:a="http://schemas.openxmlformats.org/drawingml/2006/main" rot="0">
            <a:off x="7458075" y="3533775"/>
            <a:ext cx="1352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データを販売</a:t>
            </a:r>
          </a:p>
        </p:txBody>
      </p:sp>
      <p:sp>
        <p:nvSpPr>
          <p:cNvPr id="21" name="">
            <a:extLst xmlns:a="http://schemas.openxmlformats.org/drawingml/2006/main">
              <a:ext uri="{FF2B5EF4-FFF2-40B4-BE49-F238E27FC236}">
                <a16:creationId xmlns:a16="http://schemas.microsoft.com/office/drawing/2014/main" id="{31DC926F-6F22-4FED-86C2-3D412C8A328E}"/>
              </a:ext>
            </a:extLst>
          </p:cNvPr>
          <p:cNvSpPr>
            <a:spLocks xmlns:a="http://schemas.openxmlformats.org/drawingml/2006/main" noGrp="1"/>
          </p:cNvSpPr>
          <p:nvPr/>
        </p:nvSpPr>
        <p:spPr>
          <a:xfrm xmlns:a="http://schemas.openxmlformats.org/drawingml/2006/main">
            <a:off x="723900" y="4800600"/>
            <a:ext cx="107442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911E918C-2179-41DE-97B4-3BF23A0FEFB2}"/>
              </a:ext>
            </a:extLst>
          </p:cNvPr>
          <p:cNvSpPr>
            <a:spLocks xmlns:a="http://schemas.openxmlformats.org/drawingml/2006/main" noGrp="1"/>
          </p:cNvSpPr>
          <p:nvPr/>
        </p:nvSpPr>
        <p:spPr>
          <a:xfrm xmlns:a="http://schemas.openxmlformats.org/drawingml/2006/main" rot="0">
            <a:off x="723900" y="51911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撮影先と販売先という2種類の市場を開拓する必要があり、両面を同時に開拓することは簡単ではない。現段階では、若干現場開拓が先行している。</a:t>
            </a:r>
          </a:p>
        </p:txBody>
      </p:sp>
    </p:spTree>
    <p:extLst>
      <p:ext uri="{BB962C8B-B14F-4D97-AF65-F5344CB8AC3E}">
        <p14:creationId xmlns:p14="http://schemas.microsoft.com/office/powerpoint/2010/main" val="1068401944"/>
      </p:ext>
    </p:extLst>
  </p:cSld>
</p:sld>
</file>

<file path=ppt/slides/slide1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4DFBB9E-2E96-4B2D-9032-18CBD5ED6CE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843B7EA-575F-4A10-85C1-63A4452F98F7}"/>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これまでの活動実績｜現場開拓</a:t>
            </a:r>
          </a:p>
        </p:txBody>
      </p:sp>
      <p:sp>
        <p:nvSpPr>
          <p:cNvPr id="3" name="">
            <a:extLst xmlns:a="http://schemas.openxmlformats.org/drawingml/2006/main">
              <a:ext uri="{FF2B5EF4-FFF2-40B4-BE49-F238E27FC236}">
                <a16:creationId xmlns:a16="http://schemas.microsoft.com/office/drawing/2014/main" id="{DB0B1C6D-9E44-4B93-9214-887B74027998}"/>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2D2DA64-CC47-4D31-A0EB-45C93D2B94C0}"/>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14</a:t>
            </a:r>
          </a:p>
        </p:txBody>
      </p:sp>
      <p:sp>
        <p:nvSpPr>
          <p:cNvPr id="5" name="">
            <a:extLst xmlns:a="http://schemas.openxmlformats.org/drawingml/2006/main">
              <a:ext uri="{FF2B5EF4-FFF2-40B4-BE49-F238E27FC236}">
                <a16:creationId xmlns:a16="http://schemas.microsoft.com/office/drawing/2014/main" id="{AB435D70-CC60-415A-8759-8E2EF4301FCA}"/>
              </a:ext>
            </a:extLst>
          </p:cNvPr>
          <p:cNvSpPr>
            <a:spLocks xmlns:a="http://schemas.openxmlformats.org/drawingml/2006/main" noGrp="1"/>
          </p:cNvSpPr>
          <p:nvPr/>
        </p:nvSpPr>
        <p:spPr>
          <a:xfrm xmlns:a="http://schemas.openxmlformats.org/drawingml/2006/main" rot="0">
            <a:off x="723900" y="1809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現場への訪問</a:t>
            </a:r>
          </a:p>
        </p:txBody>
      </p:sp>
      <p:sp>
        <p:nvSpPr>
          <p:cNvPr id="6" name="">
            <a:extLst xmlns:a="http://schemas.openxmlformats.org/drawingml/2006/main">
              <a:ext uri="{FF2B5EF4-FFF2-40B4-BE49-F238E27FC236}">
                <a16:creationId xmlns:a16="http://schemas.microsoft.com/office/drawing/2014/main" id="{C4BD70F7-C4BD-459A-A5D7-546EB2F2AEE2}"/>
              </a:ext>
            </a:extLst>
          </p:cNvPr>
          <p:cNvSpPr>
            <a:spLocks xmlns:a="http://schemas.openxmlformats.org/drawingml/2006/main" noGrp="1"/>
          </p:cNvSpPr>
          <p:nvPr/>
        </p:nvSpPr>
        <p:spPr>
          <a:xfrm xmlns:a="http://schemas.openxmlformats.org/drawingml/2006/main" rot="0">
            <a:off x="3714750" y="1790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30件ほどの現場へ訪問。そこで出会ったベーカリー経営者の許可のもと、店舗で実際にデータ収集をテストした。</a:t>
            </a:r>
          </a:p>
        </p:txBody>
      </p:sp>
      <p:sp>
        <p:nvSpPr>
          <p:cNvPr id="7" name="">
            <a:extLst xmlns:a="http://schemas.openxmlformats.org/drawingml/2006/main">
              <a:ext uri="{FF2B5EF4-FFF2-40B4-BE49-F238E27FC236}">
                <a16:creationId xmlns:a16="http://schemas.microsoft.com/office/drawing/2014/main" id="{EB5F0F67-0ABE-4FA3-9C4B-B22405D65C54}"/>
              </a:ext>
            </a:extLst>
          </p:cNvPr>
          <p:cNvSpPr>
            <a:spLocks xmlns:a="http://schemas.openxmlformats.org/drawingml/2006/main" noGrp="1"/>
          </p:cNvSpPr>
          <p:nvPr/>
        </p:nvSpPr>
        <p:spPr>
          <a:xfrm xmlns:a="http://schemas.openxmlformats.org/drawingml/2006/main">
            <a:off x="723900" y="2619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CA56673-01CF-469E-BE78-B2FAFB0EAF84}"/>
              </a:ext>
            </a:extLst>
          </p:cNvPr>
          <p:cNvSpPr>
            <a:spLocks xmlns:a="http://schemas.openxmlformats.org/drawingml/2006/main" noGrp="1"/>
          </p:cNvSpPr>
          <p:nvPr/>
        </p:nvSpPr>
        <p:spPr>
          <a:xfrm xmlns:a="http://schemas.openxmlformats.org/drawingml/2006/main" rot="0">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ベーカリーでの収集</a:t>
            </a:r>
          </a:p>
        </p:txBody>
      </p:sp>
      <p:sp>
        <p:nvSpPr>
          <p:cNvPr id="9" name="">
            <a:extLst xmlns:a="http://schemas.openxmlformats.org/drawingml/2006/main">
              <a:ext uri="{FF2B5EF4-FFF2-40B4-BE49-F238E27FC236}">
                <a16:creationId xmlns:a16="http://schemas.microsoft.com/office/drawing/2014/main" id="{B186BC17-4B1D-45A8-A3B2-E4933487D748}"/>
              </a:ext>
            </a:extLst>
          </p:cNvPr>
          <p:cNvSpPr>
            <a:spLocks xmlns:a="http://schemas.openxmlformats.org/drawingml/2006/main" noGrp="1"/>
          </p:cNvSpPr>
          <p:nvPr/>
        </p:nvSpPr>
        <p:spPr>
          <a:xfrm xmlns:a="http://schemas.openxmlformats.org/drawingml/2006/main" rot="0">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スタッフから逐一フィードバックを受け、撮影機材を改善。合計50時間ほどのデータを収集した。</a:t>
            </a:r>
          </a:p>
        </p:txBody>
      </p:sp>
      <p:sp>
        <p:nvSpPr>
          <p:cNvPr id="10" name="">
            <a:extLst xmlns:a="http://schemas.openxmlformats.org/drawingml/2006/main">
              <a:ext uri="{FF2B5EF4-FFF2-40B4-BE49-F238E27FC236}">
                <a16:creationId xmlns:a16="http://schemas.microsoft.com/office/drawing/2014/main" id="{3673DC70-8461-4DD5-95EB-94C3886A51CC}"/>
              </a:ext>
            </a:extLst>
          </p:cNvPr>
          <p:cNvSpPr>
            <a:spLocks xmlns:a="http://schemas.openxmlformats.org/drawingml/2006/main" noGrp="1"/>
          </p:cNvSpPr>
          <p:nvPr/>
        </p:nvSpPr>
        <p:spPr>
          <a:xfrm xmlns:a="http://schemas.openxmlformats.org/drawingml/2006/main">
            <a:off x="723900" y="35242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AC0C6FE-9F34-49FE-9E13-6C3FB3A07F59}"/>
              </a:ext>
            </a:extLst>
          </p:cNvPr>
          <p:cNvSpPr>
            <a:spLocks xmlns:a="http://schemas.openxmlformats.org/drawingml/2006/main" noGrp="1"/>
          </p:cNvSpPr>
          <p:nvPr/>
        </p:nvSpPr>
        <p:spPr>
          <a:xfrm xmlns:a="http://schemas.openxmlformats.org/drawingml/2006/main" rot="0">
            <a:off x="723900" y="3619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飲食店への打診</a:t>
            </a:r>
          </a:p>
        </p:txBody>
      </p:sp>
      <p:sp>
        <p:nvSpPr>
          <p:cNvPr id="12" name="">
            <a:extLst xmlns:a="http://schemas.openxmlformats.org/drawingml/2006/main">
              <a:ext uri="{FF2B5EF4-FFF2-40B4-BE49-F238E27FC236}">
                <a16:creationId xmlns:a16="http://schemas.microsoft.com/office/drawing/2014/main" id="{EA77BE77-0FA9-4872-85EE-D19B7CE54545}"/>
              </a:ext>
            </a:extLst>
          </p:cNvPr>
          <p:cNvSpPr>
            <a:spLocks xmlns:a="http://schemas.openxmlformats.org/drawingml/2006/main" noGrp="1"/>
          </p:cNvSpPr>
          <p:nvPr/>
        </p:nvSpPr>
        <p:spPr>
          <a:xfrm xmlns:a="http://schemas.openxmlformats.org/drawingml/2006/main" rot="0">
            <a:off x="3714750" y="3600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SNSのDMを通じて複数の飲食店に連絡し、神戸の一社と合意の手続きを進めている。</a:t>
            </a:r>
          </a:p>
        </p:txBody>
      </p:sp>
      <p:sp>
        <p:nvSpPr>
          <p:cNvPr id="13" name="">
            <a:extLst xmlns:a="http://schemas.openxmlformats.org/drawingml/2006/main">
              <a:ext uri="{FF2B5EF4-FFF2-40B4-BE49-F238E27FC236}">
                <a16:creationId xmlns:a16="http://schemas.microsoft.com/office/drawing/2014/main" id="{3FDFAB92-EAB8-4FB9-950B-2AA54F43313B}"/>
              </a:ext>
            </a:extLst>
          </p:cNvPr>
          <p:cNvSpPr>
            <a:spLocks xmlns:a="http://schemas.openxmlformats.org/drawingml/2006/main" noGrp="1"/>
          </p:cNvSpPr>
          <p:nvPr/>
        </p:nvSpPr>
        <p:spPr>
          <a:xfrm xmlns:a="http://schemas.openxmlformats.org/drawingml/2006/main">
            <a:off x="723900" y="4429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F380F33-04AA-4BB6-92FA-F4760578FDFA}"/>
              </a:ext>
            </a:extLst>
          </p:cNvPr>
          <p:cNvSpPr>
            <a:spLocks xmlns:a="http://schemas.openxmlformats.org/drawingml/2006/main" noGrp="1"/>
          </p:cNvSpPr>
          <p:nvPr/>
        </p:nvSpPr>
        <p:spPr>
          <a:xfrm xmlns:a="http://schemas.openxmlformats.org/drawingml/2006/main" rot="0">
            <a:off x="723900" y="4524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小売店への打診</a:t>
            </a:r>
          </a:p>
        </p:txBody>
      </p:sp>
      <p:sp>
        <p:nvSpPr>
          <p:cNvPr id="15" name="">
            <a:extLst xmlns:a="http://schemas.openxmlformats.org/drawingml/2006/main">
              <a:ext uri="{FF2B5EF4-FFF2-40B4-BE49-F238E27FC236}">
                <a16:creationId xmlns:a16="http://schemas.microsoft.com/office/drawing/2014/main" id="{F2F0C156-F80F-4B3C-A6ED-0E80962E856B}"/>
              </a:ext>
            </a:extLst>
          </p:cNvPr>
          <p:cNvSpPr>
            <a:spLocks xmlns:a="http://schemas.openxmlformats.org/drawingml/2006/main" noGrp="1"/>
          </p:cNvSpPr>
          <p:nvPr/>
        </p:nvSpPr>
        <p:spPr>
          <a:xfrm xmlns:a="http://schemas.openxmlformats.org/drawingml/2006/main" rot="0">
            <a:off x="3714750" y="4505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大崎の紹介で関西のとみづやと接触し、撮影協力について9月17日に直接説明する予定。</a:t>
            </a:r>
          </a:p>
        </p:txBody>
      </p:sp>
      <p:sp>
        <p:nvSpPr>
          <p:cNvPr id="16" name="">
            <a:extLst xmlns:a="http://schemas.openxmlformats.org/drawingml/2006/main">
              <a:ext uri="{FF2B5EF4-FFF2-40B4-BE49-F238E27FC236}">
                <a16:creationId xmlns:a16="http://schemas.microsoft.com/office/drawing/2014/main" id="{C04E726B-6EA6-4740-A9F9-E09DD1C8F7C5}"/>
              </a:ext>
            </a:extLst>
          </p:cNvPr>
          <p:cNvSpPr>
            <a:spLocks xmlns:a="http://schemas.openxmlformats.org/drawingml/2006/main" noGrp="1"/>
          </p:cNvSpPr>
          <p:nvPr/>
        </p:nvSpPr>
        <p:spPr>
          <a:xfrm xmlns:a="http://schemas.openxmlformats.org/drawingml/2006/main">
            <a:off x="723900" y="53340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76CF6BF-A445-4D65-BA9B-51C87365A2DD}"/>
              </a:ext>
            </a:extLst>
          </p:cNvPr>
          <p:cNvSpPr>
            <a:spLocks xmlns:a="http://schemas.openxmlformats.org/drawingml/2006/main" noGrp="1"/>
          </p:cNvSpPr>
          <p:nvPr/>
        </p:nvSpPr>
        <p:spPr>
          <a:xfrm xmlns:a="http://schemas.openxmlformats.org/drawingml/2006/main" rot="0">
            <a:off x="723900" y="5572125"/>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ロボット企業への訪問</a:t>
            </a:r>
          </a:p>
        </p:txBody>
      </p:sp>
      <p:sp>
        <p:nvSpPr>
          <p:cNvPr id="18" name="">
            <a:extLst xmlns:a="http://schemas.openxmlformats.org/drawingml/2006/main">
              <a:ext uri="{FF2B5EF4-FFF2-40B4-BE49-F238E27FC236}">
                <a16:creationId xmlns:a16="http://schemas.microsoft.com/office/drawing/2014/main" id="{03410A33-FF0D-4AE9-9A01-3223EE4F8206}"/>
              </a:ext>
            </a:extLst>
          </p:cNvPr>
          <p:cNvSpPr>
            <a:spLocks xmlns:a="http://schemas.openxmlformats.org/drawingml/2006/main" noGrp="1"/>
          </p:cNvSpPr>
          <p:nvPr/>
        </p:nvSpPr>
        <p:spPr>
          <a:xfrm xmlns:a="http://schemas.openxmlformats.org/drawingml/2006/main" rot="0">
            <a:off x="3714750" y="5553075"/>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DENSO WAVEを直接訪問し、産業ロボット領域での協働の可能性を探る。</a:t>
            </a:r>
          </a:p>
        </p:txBody>
      </p:sp>
    </p:spTree>
    <p:extLst>
      <p:ext uri="{BB962C8B-B14F-4D97-AF65-F5344CB8AC3E}">
        <p14:creationId xmlns:p14="http://schemas.microsoft.com/office/powerpoint/2010/main" val="1461174756"/>
      </p:ext>
    </p:extLst>
  </p:cSld>
</p:sld>
</file>

<file path=ppt/slides/slide1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0C9B8CD0-7F8D-4E01-B259-1193E064ACA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67DBD5C-5DC8-40F2-9139-0A1552241909}"/>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これまでの活動実績｜販売先開拓</a:t>
            </a:r>
          </a:p>
        </p:txBody>
      </p:sp>
      <p:sp>
        <p:nvSpPr>
          <p:cNvPr id="3" name="">
            <a:extLst xmlns:a="http://schemas.openxmlformats.org/drawingml/2006/main">
              <a:ext uri="{FF2B5EF4-FFF2-40B4-BE49-F238E27FC236}">
                <a16:creationId xmlns:a16="http://schemas.microsoft.com/office/drawing/2014/main" id="{928FA3A4-DD96-4FBE-AE39-F7AE61B98160}"/>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6AFC552-C415-481E-9A7F-FE8FB483802D}"/>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15</a:t>
            </a:r>
          </a:p>
        </p:txBody>
      </p:sp>
      <p:sp>
        <p:nvSpPr>
          <p:cNvPr id="5" name="">
            <a:extLst xmlns:a="http://schemas.openxmlformats.org/drawingml/2006/main">
              <a:ext uri="{FF2B5EF4-FFF2-40B4-BE49-F238E27FC236}">
                <a16:creationId xmlns:a16="http://schemas.microsoft.com/office/drawing/2014/main" id="{2A1E7F5E-8154-4551-96BC-E5258486E9CB}"/>
              </a:ext>
            </a:extLst>
          </p:cNvPr>
          <p:cNvSpPr>
            <a:spLocks xmlns:a="http://schemas.openxmlformats.org/drawingml/2006/main" noGrp="1"/>
          </p:cNvSpPr>
          <p:nvPr/>
        </p:nvSpPr>
        <p:spPr>
          <a:xfrm xmlns:a="http://schemas.openxmlformats.org/drawingml/2006/main" rot="0">
            <a:off x="723900" y="150495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販売先は確保できる段階にある。残る課題は収集規模だけである</a:t>
            </a:r>
          </a:p>
        </p:txBody>
      </p:sp>
      <p:sp>
        <p:nvSpPr>
          <p:cNvPr id="6" name="">
            <a:extLst xmlns:a="http://schemas.openxmlformats.org/drawingml/2006/main">
              <a:ext uri="{FF2B5EF4-FFF2-40B4-BE49-F238E27FC236}">
                <a16:creationId xmlns:a16="http://schemas.microsoft.com/office/drawing/2014/main" id="{5BCE8E78-6B46-49ED-99C2-A32A507D9694}"/>
              </a:ext>
            </a:extLst>
          </p:cNvPr>
          <p:cNvSpPr>
            <a:spLocks xmlns:a="http://schemas.openxmlformats.org/drawingml/2006/main" noGrp="1"/>
          </p:cNvSpPr>
          <p:nvPr/>
        </p:nvSpPr>
        <p:spPr>
          <a:xfrm xmlns:a="http://schemas.openxmlformats.org/drawingml/2006/main" rot="0">
            <a:off x="857250" y="20002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5191B"/>
                </a:solidFill>
                <a:latin typeface="Hiragino Sans"/>
                <a:ea typeface="Hiragino Sans"/>
                <a:cs typeface="Hiragino Sans"/>
              </a:defRPr>
            </a:pPr>
            <a:r>
              <a:rPr sz="1875" b="1">
                <a:solidFill>
                  <a:srgbClr val="15191B"/>
                </a:solidFill>
                <a:latin typeface="Hiragino Sans"/>
                <a:ea typeface="Hiragino Sans"/>
                <a:cs typeface="Hiragino Sans"/>
              </a:rPr>
              <a:t>海外</a:t>
            </a:r>
          </a:p>
        </p:txBody>
      </p:sp>
      <p:sp>
        <p:nvSpPr>
          <p:cNvPr id="7" name="">
            <a:extLst xmlns:a="http://schemas.openxmlformats.org/drawingml/2006/main">
              <a:ext uri="{FF2B5EF4-FFF2-40B4-BE49-F238E27FC236}">
                <a16:creationId xmlns:a16="http://schemas.microsoft.com/office/drawing/2014/main" id="{50FCCEB3-963D-4846-B413-5C19C1FC2BC0}"/>
              </a:ext>
            </a:extLst>
          </p:cNvPr>
          <p:cNvSpPr>
            <a:spLocks xmlns:a="http://schemas.openxmlformats.org/drawingml/2006/main" noGrp="1"/>
          </p:cNvSpPr>
          <p:nvPr/>
        </p:nvSpPr>
        <p:spPr>
          <a:xfrm xmlns:a="http://schemas.openxmlformats.org/drawingml/2006/main">
            <a:off x="857250" y="2476500"/>
            <a:ext cx="4762500"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5700513-0408-43F8-8B61-131B6E90AC13}"/>
              </a:ext>
            </a:extLst>
          </p:cNvPr>
          <p:cNvSpPr>
            <a:spLocks xmlns:a="http://schemas.openxmlformats.org/drawingml/2006/main" noGrp="1"/>
          </p:cNvSpPr>
          <p:nvPr/>
        </p:nvSpPr>
        <p:spPr>
          <a:xfrm xmlns:a="http://schemas.openxmlformats.org/drawingml/2006/main">
            <a:off x="857250" y="2905125"/>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B5B046B-D001-48A2-B320-86A88E22323A}"/>
              </a:ext>
            </a:extLst>
          </p:cNvPr>
          <p:cNvSpPr>
            <a:spLocks xmlns:a="http://schemas.openxmlformats.org/drawingml/2006/main" noGrp="1"/>
          </p:cNvSpPr>
          <p:nvPr/>
        </p:nvSpPr>
        <p:spPr>
          <a:xfrm xmlns:a="http://schemas.openxmlformats.org/drawingml/2006/main" rot="0">
            <a:off x="1104900" y="2743200"/>
            <a:ext cx="4095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15191B"/>
                </a:solidFill>
                <a:latin typeface="Hiragino Sans"/>
                <a:ea typeface="Hiragino Sans"/>
                <a:cs typeface="Hiragino Sans"/>
              </a:defRPr>
            </a:pPr>
            <a:r>
              <a:rPr sz="1575" b="1">
                <a:solidFill>
                  <a:srgbClr val="15191B"/>
                </a:solidFill>
                <a:latin typeface="Hiragino Sans"/>
                <a:ea typeface="Hiragino Sans"/>
                <a:cs typeface="Hiragino Sans"/>
              </a:rPr>
              <a:t>8社とサンプルのやり取りまで到達</a:t>
            </a:r>
          </a:p>
        </p:txBody>
      </p:sp>
      <p:sp>
        <p:nvSpPr>
          <p:cNvPr id="10" name="">
            <a:extLst xmlns:a="http://schemas.openxmlformats.org/drawingml/2006/main">
              <a:ext uri="{FF2B5EF4-FFF2-40B4-BE49-F238E27FC236}">
                <a16:creationId xmlns:a16="http://schemas.microsoft.com/office/drawing/2014/main" id="{6188B71E-C281-4AB1-B5C8-CD5E41E00327}"/>
              </a:ext>
            </a:extLst>
          </p:cNvPr>
          <p:cNvSpPr>
            <a:spLocks xmlns:a="http://schemas.openxmlformats.org/drawingml/2006/main" noGrp="1"/>
          </p:cNvSpPr>
          <p:nvPr/>
        </p:nvSpPr>
        <p:spPr>
          <a:xfrm xmlns:a="http://schemas.openxmlformats.org/drawingml/2006/main">
            <a:off x="857250" y="3857625"/>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73C3142-2AE8-427A-9B8B-36EC0E4F433F}"/>
              </a:ext>
            </a:extLst>
          </p:cNvPr>
          <p:cNvSpPr>
            <a:spLocks xmlns:a="http://schemas.openxmlformats.org/drawingml/2006/main" noGrp="1"/>
          </p:cNvSpPr>
          <p:nvPr/>
        </p:nvSpPr>
        <p:spPr>
          <a:xfrm xmlns:a="http://schemas.openxmlformats.org/drawingml/2006/main" rot="0">
            <a:off x="1104900" y="3667125"/>
            <a:ext cx="4191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合意に至らない理由は品質ではなく収集規模。</a:t>
            </a:r>
          </a:p>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収集規模を広げれば解決できる</a:t>
            </a:r>
          </a:p>
        </p:txBody>
      </p:sp>
      <p:sp>
        <p:nvSpPr>
          <p:cNvPr id="12" name="">
            <a:extLst xmlns:a="http://schemas.openxmlformats.org/drawingml/2006/main">
              <a:ext uri="{FF2B5EF4-FFF2-40B4-BE49-F238E27FC236}">
                <a16:creationId xmlns:a16="http://schemas.microsoft.com/office/drawing/2014/main" id="{1241B22C-DCC6-4F56-981E-F336F1A96EDA}"/>
              </a:ext>
            </a:extLst>
          </p:cNvPr>
          <p:cNvSpPr>
            <a:spLocks xmlns:a="http://schemas.openxmlformats.org/drawingml/2006/main" noGrp="1"/>
          </p:cNvSpPr>
          <p:nvPr/>
        </p:nvSpPr>
        <p:spPr>
          <a:xfrm xmlns:a="http://schemas.openxmlformats.org/drawingml/2006/main">
            <a:off x="6096000" y="1857375"/>
            <a:ext cx="9525" cy="361950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FB11C1A-9A4C-4C4F-845A-62AEAFE04330}"/>
              </a:ext>
            </a:extLst>
          </p:cNvPr>
          <p:cNvSpPr>
            <a:spLocks xmlns:a="http://schemas.openxmlformats.org/drawingml/2006/main" noGrp="1"/>
          </p:cNvSpPr>
          <p:nvPr/>
        </p:nvSpPr>
        <p:spPr>
          <a:xfrm xmlns:a="http://schemas.openxmlformats.org/drawingml/2006/main" rot="0">
            <a:off x="6572250" y="20002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315C78"/>
                </a:solidFill>
                <a:latin typeface="Hiragino Sans"/>
                <a:ea typeface="Hiragino Sans"/>
                <a:cs typeface="Hiragino Sans"/>
              </a:defRPr>
            </a:pPr>
            <a:r>
              <a:rPr sz="1875" b="1">
                <a:solidFill>
                  <a:srgbClr val="315C78"/>
                </a:solidFill>
                <a:latin typeface="Hiragino Sans"/>
                <a:ea typeface="Hiragino Sans"/>
                <a:cs typeface="Hiragino Sans"/>
              </a:rPr>
              <a:t>国内｜Nextremer</a:t>
            </a:r>
          </a:p>
        </p:txBody>
      </p:sp>
      <p:sp>
        <p:nvSpPr>
          <p:cNvPr id="14" name="">
            <a:extLst xmlns:a="http://schemas.openxmlformats.org/drawingml/2006/main">
              <a:ext uri="{FF2B5EF4-FFF2-40B4-BE49-F238E27FC236}">
                <a16:creationId xmlns:a16="http://schemas.microsoft.com/office/drawing/2014/main" id="{6C3B9751-5678-43B6-83AF-5D24157F218A}"/>
              </a:ext>
            </a:extLst>
          </p:cNvPr>
          <p:cNvSpPr>
            <a:spLocks xmlns:a="http://schemas.openxmlformats.org/drawingml/2006/main" noGrp="1"/>
          </p:cNvSpPr>
          <p:nvPr/>
        </p:nvSpPr>
        <p:spPr>
          <a:xfrm xmlns:a="http://schemas.openxmlformats.org/drawingml/2006/main">
            <a:off x="6572250" y="2476500"/>
            <a:ext cx="4762500"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68DE364-44FA-4B9B-9391-81F98C5266B4}"/>
              </a:ext>
            </a:extLst>
          </p:cNvPr>
          <p:cNvSpPr>
            <a:spLocks xmlns:a="http://schemas.openxmlformats.org/drawingml/2006/main" noGrp="1"/>
          </p:cNvSpPr>
          <p:nvPr/>
        </p:nvSpPr>
        <p:spPr>
          <a:xfrm xmlns:a="http://schemas.openxmlformats.org/drawingml/2006/main">
            <a:off x="6572250" y="2857500"/>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6FDF759-B597-4A0C-B514-01BFF251E1A5}"/>
              </a:ext>
            </a:extLst>
          </p:cNvPr>
          <p:cNvSpPr>
            <a:spLocks xmlns:a="http://schemas.openxmlformats.org/drawingml/2006/main" noGrp="1"/>
          </p:cNvSpPr>
          <p:nvPr/>
        </p:nvSpPr>
        <p:spPr>
          <a:xfrm xmlns:a="http://schemas.openxmlformats.org/drawingml/2006/main" rot="0">
            <a:off x="6819900" y="2686050"/>
            <a:ext cx="4286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315C78"/>
                </a:solidFill>
                <a:latin typeface="Hiragino Sans"/>
                <a:ea typeface="Hiragino Sans"/>
                <a:cs typeface="Hiragino Sans"/>
              </a:defRPr>
            </a:pPr>
            <a:r>
              <a:rPr sz="1425" b="1">
                <a:solidFill>
                  <a:srgbClr val="315C78"/>
                </a:solidFill>
                <a:latin typeface="Hiragino Sans"/>
                <a:ea typeface="Hiragino Sans"/>
                <a:cs typeface="Hiragino Sans"/>
              </a:rPr>
              <a:t>販売手数料なしの売上分配。</a:t>
            </a:r>
          </a:p>
          <a:p xmlns:a="http://schemas.openxmlformats.org/drawingml/2006/main">
            <a:pPr algn="l">
              <a:defRPr sz="1425" b="1">
                <a:solidFill>
                  <a:srgbClr val="315C78"/>
                </a:solidFill>
                <a:latin typeface="Hiragino Sans"/>
                <a:ea typeface="Hiragino Sans"/>
                <a:cs typeface="Hiragino Sans"/>
              </a:defRPr>
            </a:pPr>
            <a:r>
              <a:rPr sz="1425" b="1">
                <a:solidFill>
                  <a:srgbClr val="315C78"/>
                </a:solidFill>
                <a:latin typeface="Hiragino Sans"/>
                <a:ea typeface="Hiragino Sans"/>
                <a:cs typeface="Hiragino Sans"/>
              </a:rPr>
              <a:t>当社は現場開拓とデータ収集に専念できる</a:t>
            </a:r>
          </a:p>
        </p:txBody>
      </p:sp>
      <p:sp>
        <p:nvSpPr>
          <p:cNvPr id="17" name="">
            <a:extLst xmlns:a="http://schemas.openxmlformats.org/drawingml/2006/main">
              <a:ext uri="{FF2B5EF4-FFF2-40B4-BE49-F238E27FC236}">
                <a16:creationId xmlns:a16="http://schemas.microsoft.com/office/drawing/2014/main" id="{8519ABDF-6043-43E6-B934-E2E474E29DE3}"/>
              </a:ext>
            </a:extLst>
          </p:cNvPr>
          <p:cNvSpPr>
            <a:spLocks xmlns:a="http://schemas.openxmlformats.org/drawingml/2006/main" noGrp="1"/>
          </p:cNvSpPr>
          <p:nvPr/>
        </p:nvSpPr>
        <p:spPr>
          <a:xfrm xmlns:a="http://schemas.openxmlformats.org/drawingml/2006/main">
            <a:off x="6572250" y="3714750"/>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7352E63-99AC-44B0-8F1C-D6A2D75496CB}"/>
              </a:ext>
            </a:extLst>
          </p:cNvPr>
          <p:cNvSpPr>
            <a:spLocks xmlns:a="http://schemas.openxmlformats.org/drawingml/2006/main" noGrp="1"/>
          </p:cNvSpPr>
          <p:nvPr/>
        </p:nvSpPr>
        <p:spPr>
          <a:xfrm xmlns:a="http://schemas.openxmlformats.org/drawingml/2006/main" rot="0">
            <a:off x="6819900" y="3543300"/>
            <a:ext cx="4286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データの加工・販売サービスに掲載予定。</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現場合意の手順を共同で構築中</a:t>
            </a:r>
          </a:p>
        </p:txBody>
      </p:sp>
      <p:sp>
        <p:nvSpPr>
          <p:cNvPr id="19" name="">
            <a:extLst xmlns:a="http://schemas.openxmlformats.org/drawingml/2006/main">
              <a:ext uri="{FF2B5EF4-FFF2-40B4-BE49-F238E27FC236}">
                <a16:creationId xmlns:a16="http://schemas.microsoft.com/office/drawing/2014/main" id="{F13D89D3-316D-4C1E-8BF9-E193CE0FC73A}"/>
              </a:ext>
            </a:extLst>
          </p:cNvPr>
          <p:cNvSpPr>
            <a:spLocks xmlns:a="http://schemas.openxmlformats.org/drawingml/2006/main" noGrp="1"/>
          </p:cNvSpPr>
          <p:nvPr/>
        </p:nvSpPr>
        <p:spPr>
          <a:xfrm xmlns:a="http://schemas.openxmlformats.org/drawingml/2006/main">
            <a:off x="6572250" y="4572000"/>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FF766C05-B174-4EE6-A768-1B08A40447C8}"/>
              </a:ext>
            </a:extLst>
          </p:cNvPr>
          <p:cNvSpPr>
            <a:spLocks xmlns:a="http://schemas.openxmlformats.org/drawingml/2006/main" noGrp="1"/>
          </p:cNvSpPr>
          <p:nvPr/>
        </p:nvSpPr>
        <p:spPr>
          <a:xfrm xmlns:a="http://schemas.openxmlformats.org/drawingml/2006/main" rot="0">
            <a:off x="6819900" y="4400550"/>
            <a:ext cx="4286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作業内容などの情報を付けたデータとして</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高単価の販売先にも提案できる</a:t>
            </a:r>
          </a:p>
        </p:txBody>
      </p:sp>
    </p:spTree>
    <p:extLst>
      <p:ext uri="{BB962C8B-B14F-4D97-AF65-F5344CB8AC3E}">
        <p14:creationId xmlns:p14="http://schemas.microsoft.com/office/powerpoint/2010/main" val="836129202"/>
      </p:ext>
    </p:extLst>
  </p:cSld>
</p:sld>
</file>

<file path=ppt/slides/slide1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3E63D7B-CAAD-4A9D-B94B-6C08C75F220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00E67C5-AFC0-4AD0-AB98-D705F9958A41}"/>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チーム体制</a:t>
            </a:r>
          </a:p>
        </p:txBody>
      </p:sp>
      <p:sp>
        <p:nvSpPr>
          <p:cNvPr id="3" name="">
            <a:extLst xmlns:a="http://schemas.openxmlformats.org/drawingml/2006/main">
              <a:ext uri="{FF2B5EF4-FFF2-40B4-BE49-F238E27FC236}">
                <a16:creationId xmlns:a16="http://schemas.microsoft.com/office/drawing/2014/main" id="{2E199FE0-C03C-438A-B8D0-DD815DEB5356}"/>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BB61D20-97E0-411B-B599-0C086BC2EE7A}"/>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16</a:t>
            </a:r>
          </a:p>
        </p:txBody>
      </p:sp>
      <p:sp>
        <p:nvSpPr>
          <p:cNvPr id="5" name="">
            <a:extLst xmlns:a="http://schemas.openxmlformats.org/drawingml/2006/main">
              <a:ext uri="{FF2B5EF4-FFF2-40B4-BE49-F238E27FC236}">
                <a16:creationId xmlns:a16="http://schemas.microsoft.com/office/drawing/2014/main" id="{783B37A1-DAB0-4077-BB5D-937DB00DECE9}"/>
              </a:ext>
            </a:extLst>
          </p:cNvPr>
          <p:cNvSpPr>
            <a:spLocks xmlns:a="http://schemas.openxmlformats.org/drawingml/2006/main" noGrp="1"/>
          </p:cNvSpPr>
          <p:nvPr/>
        </p:nvSpPr>
        <p:spPr>
          <a:xfrm xmlns:a="http://schemas.openxmlformats.org/drawingml/2006/main" rot="0">
            <a:off x="723900" y="1762125"/>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315C78"/>
                </a:solidFill>
                <a:latin typeface="Hiragino Sans"/>
                <a:ea typeface="Hiragino Sans"/>
                <a:cs typeface="Hiragino Sans"/>
              </a:defRPr>
            </a:pPr>
            <a:r>
              <a:rPr sz="1425" b="1">
                <a:solidFill>
                  <a:srgbClr val="315C78"/>
                </a:solidFill>
                <a:latin typeface="Hiragino Sans"/>
                <a:ea typeface="Hiragino Sans"/>
                <a:cs typeface="Hiragino Sans"/>
              </a:rPr>
              <a:t>森雄大</a:t>
            </a:r>
          </a:p>
        </p:txBody>
      </p:sp>
      <p:sp>
        <p:nvSpPr>
          <p:cNvPr id="6" name="">
            <a:extLst xmlns:a="http://schemas.openxmlformats.org/drawingml/2006/main">
              <a:ext uri="{FF2B5EF4-FFF2-40B4-BE49-F238E27FC236}">
                <a16:creationId xmlns:a16="http://schemas.microsoft.com/office/drawing/2014/main" id="{3CAEC136-6FAE-4CF0-B1DB-587F8B7D83FC}"/>
              </a:ext>
            </a:extLst>
          </p:cNvPr>
          <p:cNvSpPr>
            <a:spLocks xmlns:a="http://schemas.openxmlformats.org/drawingml/2006/main" noGrp="1"/>
          </p:cNvSpPr>
          <p:nvPr/>
        </p:nvSpPr>
        <p:spPr>
          <a:xfrm xmlns:a="http://schemas.openxmlformats.org/drawingml/2006/main" rot="0">
            <a:off x="723900" y="2085975"/>
            <a:ext cx="257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共同創業者</a:t>
            </a:r>
          </a:p>
        </p:txBody>
      </p:sp>
      <p:sp>
        <p:nvSpPr>
          <p:cNvPr id="7" name="">
            <a:extLst xmlns:a="http://schemas.openxmlformats.org/drawingml/2006/main">
              <a:ext uri="{FF2B5EF4-FFF2-40B4-BE49-F238E27FC236}">
                <a16:creationId xmlns:a16="http://schemas.microsoft.com/office/drawing/2014/main" id="{45E53B8F-4386-4B5F-8488-AFC9A3BF03A0}"/>
              </a:ext>
            </a:extLst>
          </p:cNvPr>
          <p:cNvSpPr>
            <a:spLocks xmlns:a="http://schemas.openxmlformats.org/drawingml/2006/main" noGrp="1"/>
          </p:cNvSpPr>
          <p:nvPr/>
        </p:nvSpPr>
        <p:spPr>
          <a:xfrm xmlns:a="http://schemas.openxmlformats.org/drawingml/2006/main" rot="0">
            <a:off x="3524250" y="1743075"/>
            <a:ext cx="776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大阪大学基礎工学部卒業後、本事業を立ち上げ。現場開拓、販売先開拓、撮影デバイスの設計・開発、事業全体の推進を担う。</a:t>
            </a:r>
          </a:p>
        </p:txBody>
      </p:sp>
      <p:sp>
        <p:nvSpPr>
          <p:cNvPr id="8" name="">
            <a:extLst xmlns:a="http://schemas.openxmlformats.org/drawingml/2006/main">
              <a:ext uri="{FF2B5EF4-FFF2-40B4-BE49-F238E27FC236}">
                <a16:creationId xmlns:a16="http://schemas.microsoft.com/office/drawing/2014/main" id="{513908D0-EB9C-4EDA-9C4D-1B7C497E8734}"/>
              </a:ext>
            </a:extLst>
          </p:cNvPr>
          <p:cNvSpPr>
            <a:spLocks xmlns:a="http://schemas.openxmlformats.org/drawingml/2006/main" noGrp="1"/>
          </p:cNvSpPr>
          <p:nvPr/>
        </p:nvSpPr>
        <p:spPr>
          <a:xfrm xmlns:a="http://schemas.openxmlformats.org/drawingml/2006/main">
            <a:off x="723900" y="2619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6B9994E-E564-4170-A3C6-FB70C9E3B8C9}"/>
              </a:ext>
            </a:extLst>
          </p:cNvPr>
          <p:cNvSpPr>
            <a:spLocks xmlns:a="http://schemas.openxmlformats.org/drawingml/2006/main" noGrp="1"/>
          </p:cNvSpPr>
          <p:nvPr/>
        </p:nvSpPr>
        <p:spPr>
          <a:xfrm xmlns:a="http://schemas.openxmlformats.org/drawingml/2006/main" rot="0">
            <a:off x="723900" y="2714625"/>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315C78"/>
                </a:solidFill>
                <a:latin typeface="Hiragino Sans"/>
                <a:ea typeface="Hiragino Sans"/>
                <a:cs typeface="Hiragino Sans"/>
              </a:defRPr>
            </a:pPr>
            <a:r>
              <a:rPr sz="1425" b="1">
                <a:solidFill>
                  <a:srgbClr val="315C78"/>
                </a:solidFill>
                <a:latin typeface="Hiragino Sans"/>
                <a:ea typeface="Hiragino Sans"/>
                <a:cs typeface="Hiragino Sans"/>
              </a:rPr>
              <a:t>河野瞭人</a:t>
            </a:r>
          </a:p>
        </p:txBody>
      </p:sp>
      <p:sp>
        <p:nvSpPr>
          <p:cNvPr id="10" name="">
            <a:extLst xmlns:a="http://schemas.openxmlformats.org/drawingml/2006/main">
              <a:ext uri="{FF2B5EF4-FFF2-40B4-BE49-F238E27FC236}">
                <a16:creationId xmlns:a16="http://schemas.microsoft.com/office/drawing/2014/main" id="{AD48F0A9-E87C-488B-A3C2-3440A6767FC0}"/>
              </a:ext>
            </a:extLst>
          </p:cNvPr>
          <p:cNvSpPr>
            <a:spLocks xmlns:a="http://schemas.openxmlformats.org/drawingml/2006/main" noGrp="1"/>
          </p:cNvSpPr>
          <p:nvPr/>
        </p:nvSpPr>
        <p:spPr>
          <a:xfrm xmlns:a="http://schemas.openxmlformats.org/drawingml/2006/main" rot="0">
            <a:off x="723900" y="3038475"/>
            <a:ext cx="257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共同創業者</a:t>
            </a:r>
          </a:p>
        </p:txBody>
      </p:sp>
      <p:sp>
        <p:nvSpPr>
          <p:cNvPr id="11" name="">
            <a:extLst xmlns:a="http://schemas.openxmlformats.org/drawingml/2006/main">
              <a:ext uri="{FF2B5EF4-FFF2-40B4-BE49-F238E27FC236}">
                <a16:creationId xmlns:a16="http://schemas.microsoft.com/office/drawing/2014/main" id="{C1DDA3F2-0E0D-4060-98EB-8AB3144F7CE2}"/>
              </a:ext>
            </a:extLst>
          </p:cNvPr>
          <p:cNvSpPr>
            <a:spLocks xmlns:a="http://schemas.openxmlformats.org/drawingml/2006/main" noGrp="1"/>
          </p:cNvSpPr>
          <p:nvPr/>
        </p:nvSpPr>
        <p:spPr>
          <a:xfrm xmlns:a="http://schemas.openxmlformats.org/drawingml/2006/main" rot="0">
            <a:off x="3524250" y="2695575"/>
            <a:ext cx="776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神戸大学大学院システム情報学研究科で、シミュレーション上で学習した二足歩行を実機へ移す研究に取り組む。事業ではシミュレーション領域を担う。</a:t>
            </a:r>
          </a:p>
        </p:txBody>
      </p:sp>
      <p:sp>
        <p:nvSpPr>
          <p:cNvPr id="12" name="">
            <a:extLst xmlns:a="http://schemas.openxmlformats.org/drawingml/2006/main">
              <a:ext uri="{FF2B5EF4-FFF2-40B4-BE49-F238E27FC236}">
                <a16:creationId xmlns:a16="http://schemas.microsoft.com/office/drawing/2014/main" id="{0293A9EF-AF96-4F08-B8AE-D8B34C58B8E1}"/>
              </a:ext>
            </a:extLst>
          </p:cNvPr>
          <p:cNvSpPr>
            <a:spLocks xmlns:a="http://schemas.openxmlformats.org/drawingml/2006/main" noGrp="1"/>
          </p:cNvSpPr>
          <p:nvPr/>
        </p:nvSpPr>
        <p:spPr>
          <a:xfrm xmlns:a="http://schemas.openxmlformats.org/drawingml/2006/main">
            <a:off x="723900" y="35718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DE770BA-488D-42B4-B4B1-DF7EBB213413}"/>
              </a:ext>
            </a:extLst>
          </p:cNvPr>
          <p:cNvSpPr>
            <a:spLocks xmlns:a="http://schemas.openxmlformats.org/drawingml/2006/main" noGrp="1"/>
          </p:cNvSpPr>
          <p:nvPr/>
        </p:nvSpPr>
        <p:spPr>
          <a:xfrm xmlns:a="http://schemas.openxmlformats.org/drawingml/2006/main" rot="0">
            <a:off x="723900" y="3667125"/>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315C78"/>
                </a:solidFill>
                <a:latin typeface="Hiragino Sans"/>
                <a:ea typeface="Hiragino Sans"/>
                <a:cs typeface="Hiragino Sans"/>
              </a:defRPr>
            </a:pPr>
            <a:r>
              <a:rPr sz="1425" b="1">
                <a:solidFill>
                  <a:srgbClr val="315C78"/>
                </a:solidFill>
                <a:latin typeface="Hiragino Sans"/>
                <a:ea typeface="Hiragino Sans"/>
                <a:cs typeface="Hiragino Sans"/>
              </a:rPr>
              <a:t>川島健二</a:t>
            </a:r>
          </a:p>
        </p:txBody>
      </p:sp>
      <p:sp>
        <p:nvSpPr>
          <p:cNvPr id="14" name="">
            <a:extLst xmlns:a="http://schemas.openxmlformats.org/drawingml/2006/main">
              <a:ext uri="{FF2B5EF4-FFF2-40B4-BE49-F238E27FC236}">
                <a16:creationId xmlns:a16="http://schemas.microsoft.com/office/drawing/2014/main" id="{2C90EFCA-B4C3-4754-9B8E-04C06361C3FE}"/>
              </a:ext>
            </a:extLst>
          </p:cNvPr>
          <p:cNvSpPr>
            <a:spLocks xmlns:a="http://schemas.openxmlformats.org/drawingml/2006/main" noGrp="1"/>
          </p:cNvSpPr>
          <p:nvPr/>
        </p:nvSpPr>
        <p:spPr>
          <a:xfrm xmlns:a="http://schemas.openxmlformats.org/drawingml/2006/main" rot="0">
            <a:off x="723900" y="3990975"/>
            <a:ext cx="257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現場パートナー</a:t>
            </a:r>
          </a:p>
        </p:txBody>
      </p:sp>
      <p:sp>
        <p:nvSpPr>
          <p:cNvPr id="15" name="">
            <a:extLst xmlns:a="http://schemas.openxmlformats.org/drawingml/2006/main">
              <a:ext uri="{FF2B5EF4-FFF2-40B4-BE49-F238E27FC236}">
                <a16:creationId xmlns:a16="http://schemas.microsoft.com/office/drawing/2014/main" id="{22C03528-D8A6-4621-8726-4B5E3ED29BA6}"/>
              </a:ext>
            </a:extLst>
          </p:cNvPr>
          <p:cNvSpPr>
            <a:spLocks xmlns:a="http://schemas.openxmlformats.org/drawingml/2006/main" noGrp="1"/>
          </p:cNvSpPr>
          <p:nvPr/>
        </p:nvSpPr>
        <p:spPr>
          <a:xfrm xmlns:a="http://schemas.openxmlformats.org/drawingml/2006/main" rot="0">
            <a:off x="3524250" y="3648075"/>
            <a:ext cx="776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箕面デニッシュ合同会社。ベーカリー店舗での撮影に協力し、スタッフからのフィードバックと継続収集を通じて、撮影機材と現場運用の改善を支える。</a:t>
            </a:r>
          </a:p>
        </p:txBody>
      </p:sp>
      <p:sp>
        <p:nvSpPr>
          <p:cNvPr id="16" name="">
            <a:extLst xmlns:a="http://schemas.openxmlformats.org/drawingml/2006/main">
              <a:ext uri="{FF2B5EF4-FFF2-40B4-BE49-F238E27FC236}">
                <a16:creationId xmlns:a16="http://schemas.microsoft.com/office/drawing/2014/main" id="{32CA1D59-D456-42E4-A55B-CBB476C67CF5}"/>
              </a:ext>
            </a:extLst>
          </p:cNvPr>
          <p:cNvSpPr>
            <a:spLocks xmlns:a="http://schemas.openxmlformats.org/drawingml/2006/main" noGrp="1"/>
          </p:cNvSpPr>
          <p:nvPr/>
        </p:nvSpPr>
        <p:spPr>
          <a:xfrm xmlns:a="http://schemas.openxmlformats.org/drawingml/2006/main">
            <a:off x="723900" y="4524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37B7BA6-9363-4E5C-A156-17C6A785B7BB}"/>
              </a:ext>
            </a:extLst>
          </p:cNvPr>
          <p:cNvSpPr>
            <a:spLocks xmlns:a="http://schemas.openxmlformats.org/drawingml/2006/main" noGrp="1"/>
          </p:cNvSpPr>
          <p:nvPr/>
        </p:nvSpPr>
        <p:spPr>
          <a:xfrm xmlns:a="http://schemas.openxmlformats.org/drawingml/2006/main" rot="0">
            <a:off x="723900" y="4619625"/>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315C78"/>
                </a:solidFill>
                <a:latin typeface="Hiragino Sans"/>
                <a:ea typeface="Hiragino Sans"/>
                <a:cs typeface="Hiragino Sans"/>
              </a:defRPr>
            </a:pPr>
            <a:r>
              <a:rPr sz="1425" b="1">
                <a:solidFill>
                  <a:srgbClr val="315C78"/>
                </a:solidFill>
                <a:latin typeface="Hiragino Sans"/>
                <a:ea typeface="Hiragino Sans"/>
                <a:cs typeface="Hiragino Sans"/>
              </a:rPr>
              <a:t>大崎操</a:t>
            </a:r>
          </a:p>
        </p:txBody>
      </p:sp>
      <p:sp>
        <p:nvSpPr>
          <p:cNvPr id="18" name="">
            <a:extLst xmlns:a="http://schemas.openxmlformats.org/drawingml/2006/main">
              <a:ext uri="{FF2B5EF4-FFF2-40B4-BE49-F238E27FC236}">
                <a16:creationId xmlns:a16="http://schemas.microsoft.com/office/drawing/2014/main" id="{6178B0CC-9E9F-4EC9-8FE1-906F99F8E2B9}"/>
              </a:ext>
            </a:extLst>
          </p:cNvPr>
          <p:cNvSpPr>
            <a:spLocks xmlns:a="http://schemas.openxmlformats.org/drawingml/2006/main" noGrp="1"/>
          </p:cNvSpPr>
          <p:nvPr/>
        </p:nvSpPr>
        <p:spPr>
          <a:xfrm xmlns:a="http://schemas.openxmlformats.org/drawingml/2006/main" rot="0">
            <a:off x="723900" y="4943475"/>
            <a:ext cx="257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事業支援</a:t>
            </a:r>
          </a:p>
        </p:txBody>
      </p:sp>
      <p:sp>
        <p:nvSpPr>
          <p:cNvPr id="19" name="">
            <a:extLst xmlns:a="http://schemas.openxmlformats.org/drawingml/2006/main">
              <a:ext uri="{FF2B5EF4-FFF2-40B4-BE49-F238E27FC236}">
                <a16:creationId xmlns:a16="http://schemas.microsoft.com/office/drawing/2014/main" id="{902719F0-5A8F-4EFD-8656-A0C3D08EB3C1}"/>
              </a:ext>
            </a:extLst>
          </p:cNvPr>
          <p:cNvSpPr>
            <a:spLocks xmlns:a="http://schemas.openxmlformats.org/drawingml/2006/main" noGrp="1"/>
          </p:cNvSpPr>
          <p:nvPr/>
        </p:nvSpPr>
        <p:spPr>
          <a:xfrm xmlns:a="http://schemas.openxmlformats.org/drawingml/2006/main" rot="0">
            <a:off x="3524250" y="4600575"/>
            <a:ext cx="776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三菱UFJ銀行を経て、関西スーパーマーケットで常務取締役・管理本部長を務めた。会社立ち上げ、契約・合意書、小売・製造のネットワークを使った現場開拓を支援。</a:t>
            </a:r>
          </a:p>
        </p:txBody>
      </p:sp>
    </p:spTree>
    <p:extLst>
      <p:ext uri="{BB962C8B-B14F-4D97-AF65-F5344CB8AC3E}">
        <p14:creationId xmlns:p14="http://schemas.microsoft.com/office/powerpoint/2010/main" val="1136509481"/>
      </p:ext>
    </p:extLst>
  </p:cSld>
</p:sld>
</file>

<file path=ppt/slides/slide17.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DFE1677-51D7-4C4A-9CAC-5BCAB5E5832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93C2B33-E432-464C-A9CE-36C43CDEBFA7}"/>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撮影デバイスの進化</a:t>
            </a:r>
          </a:p>
        </p:txBody>
      </p:sp>
      <p:sp>
        <p:nvSpPr>
          <p:cNvPr id="3" name="">
            <a:extLst xmlns:a="http://schemas.openxmlformats.org/drawingml/2006/main">
              <a:ext uri="{FF2B5EF4-FFF2-40B4-BE49-F238E27FC236}">
                <a16:creationId xmlns:a16="http://schemas.microsoft.com/office/drawing/2014/main" id="{0B06BB7E-0A00-45A0-BDFF-3171D4E959AF}"/>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7A54477-04DF-499D-B6BE-09F42964C01A}"/>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17</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f9a3044878af4eae"/>
          <a:srcRect xmlns:a="http://schemas.openxmlformats.org/drawingml/2006/main" l="0" t="24081" r="0" b="24081"/>
          <a:stretch xmlns:a="http://schemas.openxmlformats.org/drawingml/2006/main">
            <a:fillRect l="0" t="0" r="0" b="0"/>
          </a:stretch>
        </p:blipFill>
        <p:spPr>
          <a:xfrm xmlns:a="http://schemas.openxmlformats.org/drawingml/2006/main">
            <a:off x="723900" y="1857375"/>
            <a:ext cx="3238500" cy="22383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8F8305E-E380-4346-AA70-0C8474D83D17}"/>
              </a:ext>
            </a:extLst>
          </p:cNvPr>
          <p:cNvSpPr>
            <a:spLocks xmlns:a="http://schemas.openxmlformats.org/drawingml/2006/main" noGrp="1"/>
          </p:cNvSpPr>
          <p:nvPr/>
        </p:nvSpPr>
        <p:spPr>
          <a:xfrm xmlns:a="http://schemas.openxmlformats.org/drawingml/2006/main" rot="0">
            <a:off x="723900"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初回</a:t>
            </a:r>
          </a:p>
        </p:txBody>
      </p:sp>
      <p:sp>
        <p:nvSpPr>
          <p:cNvPr id="7" name="">
            <a:extLst xmlns:a="http://schemas.openxmlformats.org/drawingml/2006/main">
              <a:ext uri="{FF2B5EF4-FFF2-40B4-BE49-F238E27FC236}">
                <a16:creationId xmlns:a16="http://schemas.microsoft.com/office/drawing/2014/main" id="{05C58C69-9B42-4CAE-AB70-070DA0228812}"/>
              </a:ext>
            </a:extLst>
          </p:cNvPr>
          <p:cNvSpPr>
            <a:spLocks xmlns:a="http://schemas.openxmlformats.org/drawingml/2006/main" noGrp="1"/>
          </p:cNvSpPr>
          <p:nvPr/>
        </p:nvSpPr>
        <p:spPr>
          <a:xfrm xmlns:a="http://schemas.openxmlformats.org/drawingml/2006/main" rot="0">
            <a:off x="1371600"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ヘルメット</a:t>
            </a:r>
          </a:p>
        </p:txBody>
      </p:sp>
      <p:sp>
        <p:nvSpPr>
          <p:cNvPr id="8" name="">
            <a:extLst xmlns:a="http://schemas.openxmlformats.org/drawingml/2006/main">
              <a:ext uri="{FF2B5EF4-FFF2-40B4-BE49-F238E27FC236}">
                <a16:creationId xmlns:a16="http://schemas.microsoft.com/office/drawing/2014/main" id="{DD5529AB-ADAB-436A-AB44-EA7ADAFFC735}"/>
              </a:ext>
            </a:extLst>
          </p:cNvPr>
          <p:cNvSpPr>
            <a:spLocks xmlns:a="http://schemas.openxmlformats.org/drawingml/2006/main" noGrp="1"/>
          </p:cNvSpPr>
          <p:nvPr/>
        </p:nvSpPr>
        <p:spPr>
          <a:xfrm xmlns:a="http://schemas.openxmlformats.org/drawingml/2006/main" rot="0">
            <a:off x="1371600"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スマートフォンを頭部へ固定</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4734d1cb34aa4493"/>
          <a:srcRect xmlns:a="http://schemas.openxmlformats.org/drawingml/2006/main" l="5872" t="0" r="5872" b="0"/>
          <a:stretch xmlns:a="http://schemas.openxmlformats.org/drawingml/2006/main">
            <a:fillRect l="0" t="0" r="0" b="0"/>
          </a:stretch>
        </p:blipFill>
        <p:spPr>
          <a:xfrm xmlns:a="http://schemas.openxmlformats.org/drawingml/2006/main">
            <a:off x="4314825" y="1857375"/>
            <a:ext cx="3238500" cy="22383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88D560D5-5C4D-4156-AEA4-410101A57DE9}"/>
              </a:ext>
            </a:extLst>
          </p:cNvPr>
          <p:cNvSpPr>
            <a:spLocks xmlns:a="http://schemas.openxmlformats.org/drawingml/2006/main" noGrp="1"/>
          </p:cNvSpPr>
          <p:nvPr/>
        </p:nvSpPr>
        <p:spPr>
          <a:xfrm xmlns:a="http://schemas.openxmlformats.org/drawingml/2006/main" rot="0">
            <a:off x="4314825"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次に</a:t>
            </a:r>
          </a:p>
        </p:txBody>
      </p:sp>
      <p:sp>
        <p:nvSpPr>
          <p:cNvPr id="11" name="">
            <a:extLst xmlns:a="http://schemas.openxmlformats.org/drawingml/2006/main">
              <a:ext uri="{FF2B5EF4-FFF2-40B4-BE49-F238E27FC236}">
                <a16:creationId xmlns:a16="http://schemas.microsoft.com/office/drawing/2014/main" id="{DB5C8F34-A2A0-4F89-87F8-482A9BDC3D0D}"/>
              </a:ext>
            </a:extLst>
          </p:cNvPr>
          <p:cNvSpPr>
            <a:spLocks xmlns:a="http://schemas.openxmlformats.org/drawingml/2006/main" noGrp="1"/>
          </p:cNvSpPr>
          <p:nvPr/>
        </p:nvSpPr>
        <p:spPr>
          <a:xfrm xmlns:a="http://schemas.openxmlformats.org/drawingml/2006/main" rot="0">
            <a:off x="4962525"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RootCap</a:t>
            </a:r>
          </a:p>
        </p:txBody>
      </p:sp>
      <p:sp>
        <p:nvSpPr>
          <p:cNvPr id="12" name="">
            <a:extLst xmlns:a="http://schemas.openxmlformats.org/drawingml/2006/main">
              <a:ext uri="{FF2B5EF4-FFF2-40B4-BE49-F238E27FC236}">
                <a16:creationId xmlns:a16="http://schemas.microsoft.com/office/drawing/2014/main" id="{A4950D26-E2A4-4478-967B-5F30B61DCF54}"/>
              </a:ext>
            </a:extLst>
          </p:cNvPr>
          <p:cNvSpPr>
            <a:spLocks xmlns:a="http://schemas.openxmlformats.org/drawingml/2006/main" noGrp="1"/>
          </p:cNvSpPr>
          <p:nvPr/>
        </p:nvSpPr>
        <p:spPr>
          <a:xfrm xmlns:a="http://schemas.openxmlformats.org/drawingml/2006/main" rot="0">
            <a:off x="4962525"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3Dモデルからマウントを設計</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f8a0c6f406fa49a9"/>
          <a:srcRect xmlns:a="http://schemas.openxmlformats.org/drawingml/2006/main" l="0" t="6438" r="0" b="6438"/>
          <a:stretch xmlns:a="http://schemas.openxmlformats.org/drawingml/2006/main">
            <a:fillRect l="0" t="0" r="0" b="0"/>
          </a:stretch>
        </p:blipFill>
        <p:spPr>
          <a:xfrm xmlns:a="http://schemas.openxmlformats.org/drawingml/2006/main">
            <a:off x="7905750" y="1857375"/>
            <a:ext cx="3238500" cy="223837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D43F72F7-26E8-48C9-9588-6DBC01137358}"/>
              </a:ext>
            </a:extLst>
          </p:cNvPr>
          <p:cNvSpPr>
            <a:spLocks xmlns:a="http://schemas.openxmlformats.org/drawingml/2006/main" noGrp="1"/>
          </p:cNvSpPr>
          <p:nvPr/>
        </p:nvSpPr>
        <p:spPr>
          <a:xfrm xmlns:a="http://schemas.openxmlformats.org/drawingml/2006/main" rot="0">
            <a:off x="7905750"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現在</a:t>
            </a:r>
          </a:p>
        </p:txBody>
      </p:sp>
      <p:sp>
        <p:nvSpPr>
          <p:cNvPr id="15" name="">
            <a:extLst xmlns:a="http://schemas.openxmlformats.org/drawingml/2006/main">
              <a:ext uri="{FF2B5EF4-FFF2-40B4-BE49-F238E27FC236}">
                <a16:creationId xmlns:a16="http://schemas.microsoft.com/office/drawing/2014/main" id="{A87171F0-DB6F-468B-A29D-1D374749CAD2}"/>
              </a:ext>
            </a:extLst>
          </p:cNvPr>
          <p:cNvSpPr>
            <a:spLocks xmlns:a="http://schemas.openxmlformats.org/drawingml/2006/main" noGrp="1"/>
          </p:cNvSpPr>
          <p:nvPr/>
        </p:nvSpPr>
        <p:spPr>
          <a:xfrm xmlns:a="http://schemas.openxmlformats.org/drawingml/2006/main" rot="0">
            <a:off x="8553450"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RootGlass</a:t>
            </a:r>
          </a:p>
        </p:txBody>
      </p:sp>
      <p:sp>
        <p:nvSpPr>
          <p:cNvPr id="16" name="">
            <a:extLst xmlns:a="http://schemas.openxmlformats.org/drawingml/2006/main">
              <a:ext uri="{FF2B5EF4-FFF2-40B4-BE49-F238E27FC236}">
                <a16:creationId xmlns:a16="http://schemas.microsoft.com/office/drawing/2014/main" id="{74E729C9-5EF8-431B-8FC4-38D0E713C3B2}"/>
              </a:ext>
            </a:extLst>
          </p:cNvPr>
          <p:cNvSpPr>
            <a:spLocks xmlns:a="http://schemas.openxmlformats.org/drawingml/2006/main" noGrp="1"/>
          </p:cNvSpPr>
          <p:nvPr/>
        </p:nvSpPr>
        <p:spPr>
          <a:xfrm xmlns:a="http://schemas.openxmlformats.org/drawingml/2006/main" rot="0">
            <a:off x="8553450"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見た目と長時間装着の負担を低減</a:t>
            </a:r>
          </a:p>
        </p:txBody>
      </p:sp>
      <p:sp>
        <p:nvSpPr>
          <p:cNvPr id="17" name="">
            <a:extLst xmlns:a="http://schemas.openxmlformats.org/drawingml/2006/main">
              <a:ext uri="{FF2B5EF4-FFF2-40B4-BE49-F238E27FC236}">
                <a16:creationId xmlns:a16="http://schemas.microsoft.com/office/drawing/2014/main" id="{A6ED5B7E-E59C-48BB-969B-5C6E590DE7AE}"/>
              </a:ext>
            </a:extLst>
          </p:cNvPr>
          <p:cNvSpPr>
            <a:spLocks xmlns:a="http://schemas.openxmlformats.org/drawingml/2006/main" noGrp="1"/>
          </p:cNvSpPr>
          <p:nvPr/>
        </p:nvSpPr>
        <p:spPr>
          <a:xfrm xmlns:a="http://schemas.openxmlformats.org/drawingml/2006/main">
            <a:off x="723900" y="5334000"/>
            <a:ext cx="104203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E178866D-750F-4D31-BF4C-43975B12D7B0}"/>
              </a:ext>
            </a:extLst>
          </p:cNvPr>
          <p:cNvSpPr>
            <a:spLocks xmlns:a="http://schemas.openxmlformats.org/drawingml/2006/main" noGrp="1"/>
          </p:cNvSpPr>
          <p:nvPr/>
        </p:nvSpPr>
        <p:spPr>
          <a:xfrm xmlns:a="http://schemas.openxmlformats.org/drawingml/2006/main" rot="0">
            <a:off x="723900" y="557212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ベーカリーでスマートグラスを試すと、「これならつけてもいい」と言うスタッフが増えた。軽く見た目に違和感が少ないこと、熱・バッテリーを含め長時間装着できることは、想定以上に現場の許可を左右する。</a:t>
            </a:r>
          </a:p>
        </p:txBody>
      </p:sp>
    </p:spTree>
    <p:extLst>
      <p:ext uri="{BB962C8B-B14F-4D97-AF65-F5344CB8AC3E}">
        <p14:creationId xmlns:p14="http://schemas.microsoft.com/office/powerpoint/2010/main" val="1779832296"/>
      </p:ext>
    </p:extLst>
  </p:cSld>
</p:sld>
</file>

<file path=ppt/slides/slide18.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F2D917C-4C51-4961-BCF4-64A4986090E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72ACDA4-9A17-4944-B07B-67B3E66D8089}"/>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1時間あたりの収支｜前提</a:t>
            </a:r>
          </a:p>
        </p:txBody>
      </p:sp>
      <p:sp>
        <p:nvSpPr>
          <p:cNvPr id="3" name="">
            <a:extLst xmlns:a="http://schemas.openxmlformats.org/drawingml/2006/main">
              <a:ext uri="{FF2B5EF4-FFF2-40B4-BE49-F238E27FC236}">
                <a16:creationId xmlns:a16="http://schemas.microsoft.com/office/drawing/2014/main" id="{C8E14A15-BE27-4F17-94BE-EAE413015735}"/>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020E0E7-53C2-4EC4-B216-4B2682271601}"/>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18</a:t>
            </a:r>
          </a:p>
        </p:txBody>
      </p:sp>
      <p:graphicFrame>
        <p:nvGraphicFramePr>
          <p:cNvPr id="11" name=""/>
          <p:cNvGraphicFramePr/>
          <p:nvPr/>
        </p:nvGraphicFramePr>
        <p:xfrm>
          <a:off xmlns:a="http://schemas.openxmlformats.org/drawingml/2006/main" x="723900" y="1809750"/>
          <a:ext xmlns:a="http://schemas.openxmlformats.org/drawingml/2006/main" cx="10572750" cy="3667125"/>
        </p:xfrm>
        <a:graphic xmlns:a="http://schemas.openxmlformats.org/drawingml/2006/main">
          <a:graphicData uri="http://schemas.openxmlformats.org/drawingml/2006/table">
            <a:tbl>
              <a:tblPr/>
              <a:tblGrid>
                <a:gridCol w="3143250"/>
                <a:gridCol w="4286250"/>
                <a:gridCol w="3143250"/>
              </a:tblGrid>
              <a:tr h="523875">
                <a:tc>
                  <a:txBody>
                    <a:bodyPr/>
                    <a:lstStyle/>
                    <a:p>
                      <a:r>
                        <a:rPr sz="1200" b="1">
                          <a:solidFill>
                            <a:srgbClr val="FFFFFF"/>
                          </a:solidFill>
                          <a:latin typeface="Hiragino Sans"/>
                          <a:ea typeface="Hiragino Sans"/>
                          <a:cs typeface="Hiragino Sans"/>
                        </a:rPr>
                        <a:t>項目</a:t>
                      </a:r>
                    </a:p>
                  </a:txBody>
                  <a:tcPr marL="91440" marR="91440" marT="45720" marB="45720">
                    <a:solidFill>
                      <a:srgbClr val="25333A"/>
                    </a:solidFill>
                  </a:tcPr>
                </a:tc>
                <a:tc>
                  <a:txBody>
                    <a:bodyPr/>
                    <a:lstStyle/>
                    <a:p>
                      <a:r>
                        <a:rPr sz="1200" b="1">
                          <a:solidFill>
                            <a:srgbClr val="FFFFFF"/>
                          </a:solidFill>
                          <a:latin typeface="Hiragino Sans"/>
                          <a:ea typeface="Hiragino Sans"/>
                          <a:cs typeface="Hiragino Sans"/>
                        </a:rPr>
                        <a:t>前提</a:t>
                      </a:r>
                    </a:p>
                  </a:txBody>
                  <a:tcPr marL="91440" marR="91440" marT="45720" marB="45720">
                    <a:solidFill>
                      <a:srgbClr val="25333A"/>
                    </a:solidFill>
                  </a:tcPr>
                </a:tc>
                <a:tc>
                  <a:txBody>
                    <a:bodyPr/>
                    <a:lstStyle/>
                    <a:p>
                      <a:r>
                        <a:rPr sz="1200" b="1">
                          <a:solidFill>
                            <a:srgbClr val="FFFFFF"/>
                          </a:solidFill>
                          <a:latin typeface="Hiragino Sans"/>
                          <a:ea typeface="Hiragino Sans"/>
                          <a:cs typeface="Hiragino Sans"/>
                        </a:rPr>
                        <a:t>数値</a:t>
                      </a:r>
                    </a:p>
                  </a:txBody>
                  <a:tcPr marL="91440" marR="91440" marT="45720" marB="45720">
                    <a:solidFill>
                      <a:srgbClr val="25333A"/>
                    </a:solidFill>
                  </a:tcPr>
                </a:tc>
              </a:tr>
              <a:tr h="523875">
                <a:tc>
                  <a:txBody>
                    <a:bodyPr/>
                    <a:lstStyle/>
                    <a:p>
                      <a:r>
                        <a:rPr sz="1275" b="0">
                          <a:solidFill>
                            <a:srgbClr val="15191B"/>
                          </a:solidFill>
                          <a:latin typeface="Hiragino Sans"/>
                          <a:ea typeface="Hiragino Sans"/>
                          <a:cs typeface="Hiragino Sans"/>
                        </a:rPr>
                        <a:t>販売単価</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1時間あたり1,600円（下限）</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1,600円</a:t>
                      </a:r>
                    </a:p>
                  </a:txBody>
                  <a:tcPr marL="91440" marR="91440" marT="45720" marB="45720">
                    <a:solidFill>
                      <a:srgbClr val="FFFFFF"/>
                    </a:solidFill>
                  </a:tcPr>
                </a:tc>
              </a:tr>
              <a:tr h="523875">
                <a:tc>
                  <a:txBody>
                    <a:bodyPr/>
                    <a:lstStyle/>
                    <a:p>
                      <a:r>
                        <a:rPr sz="1275" b="1">
                          <a:solidFill>
                            <a:srgbClr val="15191B"/>
                          </a:solidFill>
                          <a:latin typeface="Hiragino Sans"/>
                          <a:ea typeface="Hiragino Sans"/>
                          <a:cs typeface="Hiragino Sans"/>
                        </a:rPr>
                        <a:t>平均販売回数</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同一データを1回だけ販売</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平均1回（悲観シナリオ）</a:t>
                      </a:r>
                    </a:p>
                  </a:txBody>
                  <a:tcPr marL="91440" marR="91440" marT="45720" marB="45720">
                    <a:solidFill>
                      <a:srgbClr val="DCE8EF"/>
                    </a:solidFill>
                  </a:tcPr>
                </a:tc>
              </a:tr>
              <a:tr h="523875">
                <a:tc>
                  <a:txBody>
                    <a:bodyPr/>
                    <a:lstStyle/>
                    <a:p>
                      <a:r>
                        <a:rPr sz="1275" b="0">
                          <a:solidFill>
                            <a:srgbClr val="15191B"/>
                          </a:solidFill>
                          <a:latin typeface="Hiragino Sans"/>
                          <a:ea typeface="Hiragino Sans"/>
                          <a:cs typeface="Hiragino Sans"/>
                        </a:rPr>
                        <a:t>現場還元</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売上の50%</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800円</a:t>
                      </a:r>
                    </a:p>
                  </a:txBody>
                  <a:tcPr marL="91440" marR="91440" marT="45720" marB="45720">
                    <a:solidFill>
                      <a:srgbClr val="FFFFFF"/>
                    </a:solidFill>
                  </a:tcPr>
                </a:tc>
              </a:tr>
              <a:tr h="523875">
                <a:tc>
                  <a:txBody>
                    <a:bodyPr/>
                    <a:lstStyle/>
                    <a:p>
                      <a:r>
                        <a:rPr sz="1275" b="0">
                          <a:solidFill>
                            <a:srgbClr val="15191B"/>
                          </a:solidFill>
                          <a:latin typeface="Hiragino Sans"/>
                          <a:ea typeface="Hiragino Sans"/>
                          <a:cs typeface="Hiragino Sans"/>
                        </a:rPr>
                        <a:t>会社の取り分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1,600円 − 800円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800円</a:t>
                      </a:r>
                    </a:p>
                  </a:txBody>
                  <a:tcPr marL="91440" marR="91440" marT="45720" marB="45720">
                    <a:solidFill>
                      <a:srgbClr val="FFFFFF"/>
                    </a:solidFill>
                  </a:tcPr>
                </a:tc>
              </a:tr>
              <a:tr h="523875">
                <a:tc>
                  <a:txBody>
                    <a:bodyPr/>
                    <a:lstStyle/>
                    <a:p>
                      <a:r>
                        <a:rPr sz="1275" b="0">
                          <a:solidFill>
                            <a:srgbClr val="15191B"/>
                          </a:solidFill>
                          <a:latin typeface="Hiragino Sans"/>
                          <a:ea typeface="Hiragino Sans"/>
                          <a:cs typeface="Hiragino Sans"/>
                        </a:rPr>
                        <a:t>デバイス費</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8万円/台を10か月で割る</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約73円/時間</a:t>
                      </a:r>
                    </a:p>
                  </a:txBody>
                  <a:tcPr marL="91440" marR="91440" marT="45720" marB="45720">
                    <a:solidFill>
                      <a:srgbClr val="FFFFFF"/>
                    </a:solidFill>
                  </a:tcPr>
                </a:tc>
              </a:tr>
              <a:tr h="523875">
                <a:tc>
                  <a:txBody>
                    <a:bodyPr/>
                    <a:lstStyle/>
                    <a:p>
                      <a:r>
                        <a:rPr sz="1275" b="1">
                          <a:solidFill>
                            <a:srgbClr val="15191B"/>
                          </a:solidFill>
                          <a:latin typeface="Hiragino Sans"/>
                          <a:ea typeface="Hiragino Sans"/>
                          <a:cs typeface="Hiragino Sans"/>
                        </a:rPr>
                        <a:t>デバイス費を引いた後</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800円 − 約73円</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約727円/時間</a:t>
                      </a:r>
                    </a:p>
                  </a:txBody>
                  <a:tcPr marL="91440" marR="91440" marT="45720" marB="45720">
                    <a:solidFill>
                      <a:srgbClr val="DCE8EF"/>
                    </a:solidFill>
                  </a:tcPr>
                </a:tc>
              </a:tr>
            </a:tbl>
          </a:graphicData>
        </a:graphic>
      </p:graphicFrame>
      <p:sp>
        <p:nvSpPr>
          <p:cNvPr id="6" name="">
            <a:extLst xmlns:a="http://schemas.openxmlformats.org/drawingml/2006/main">
              <a:ext uri="{FF2B5EF4-FFF2-40B4-BE49-F238E27FC236}">
                <a16:creationId xmlns:a16="http://schemas.microsoft.com/office/drawing/2014/main" id="{8CC57B84-C333-44AE-81C0-DC2147F1B7D8}"/>
              </a:ext>
            </a:extLst>
          </p:cNvPr>
          <p:cNvSpPr>
            <a:spLocks xmlns:a="http://schemas.openxmlformats.org/drawingml/2006/main" noGrp="1"/>
          </p:cNvSpPr>
          <p:nvPr/>
        </p:nvSpPr>
        <p:spPr>
          <a:xfrm xmlns:a="http://schemas.openxmlformats.org/drawingml/2006/main" rot="0">
            <a:off x="723900" y="58102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1台あたり月間稼働：1日5時間 × 22営業日 ＝ 110時間/月</a:t>
            </a:r>
          </a:p>
        </p:txBody>
      </p:sp>
    </p:spTree>
    <p:extLst>
      <p:ext uri="{BB962C8B-B14F-4D97-AF65-F5344CB8AC3E}">
        <p14:creationId xmlns:p14="http://schemas.microsoft.com/office/powerpoint/2010/main" val="1758032513"/>
      </p:ext>
    </p:extLst>
  </p:cSld>
</p:sld>
</file>

<file path=ppt/slides/slide19.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7883F03-7719-417E-87A5-974105E1E0B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752EA5E-A2C3-4746-83F0-6E5E581554AD}"/>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収集規模別の収支</a:t>
            </a:r>
          </a:p>
        </p:txBody>
      </p:sp>
      <p:sp>
        <p:nvSpPr>
          <p:cNvPr id="3" name="">
            <a:extLst xmlns:a="http://schemas.openxmlformats.org/drawingml/2006/main">
              <a:ext uri="{FF2B5EF4-FFF2-40B4-BE49-F238E27FC236}">
                <a16:creationId xmlns:a16="http://schemas.microsoft.com/office/drawing/2014/main" id="{1349D054-A0EE-47B0-9B16-7409B2650F5B}"/>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75EF965-5810-4F9E-9885-82B5843D81C9}"/>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19</a:t>
            </a:r>
          </a:p>
        </p:txBody>
      </p:sp>
      <p:graphicFrame>
        <p:nvGraphicFramePr>
          <p:cNvPr id="12" name=""/>
          <p:cNvGraphicFramePr/>
          <p:nvPr/>
        </p:nvGraphicFramePr>
        <p:xfrm>
          <a:off xmlns:a="http://schemas.openxmlformats.org/drawingml/2006/main" x="723900" y="1714500"/>
          <a:ext xmlns:a="http://schemas.openxmlformats.org/drawingml/2006/main" cx="10572750" cy="3714750"/>
        </p:xfrm>
        <a:graphic xmlns:a="http://schemas.openxmlformats.org/drawingml/2006/main">
          <a:graphicData uri="http://schemas.openxmlformats.org/drawingml/2006/table">
            <a:tbl>
              <a:tblPr/>
              <a:tblGrid>
                <a:gridCol w="3238500"/>
                <a:gridCol w="2286000"/>
                <a:gridCol w="2286000"/>
                <a:gridCol w="2762250"/>
              </a:tblGrid>
              <a:tr h="464344">
                <a:tc>
                  <a:txBody>
                    <a:bodyPr/>
                    <a:lstStyle/>
                    <a:p>
                      <a:r>
                        <a:rPr sz="1125" b="1">
                          <a:solidFill>
                            <a:srgbClr val="FFFFFF"/>
                          </a:solidFill>
                          <a:latin typeface="Hiragino Sans"/>
                          <a:ea typeface="Hiragino Sans"/>
                          <a:cs typeface="Hiragino Sans"/>
                        </a:rPr>
                        <a:t>月間収集時間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500時間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1,000時間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10,000時間</a:t>
                      </a:r>
                    </a:p>
                  </a:txBody>
                  <a:tcPr marL="91440" marR="91440" marT="45720" marB="45720">
                    <a:solidFill>
                      <a:srgbClr val="25333A"/>
                    </a:solidFill>
                  </a:tcPr>
                </a:tc>
              </a:tr>
              <a:tr h="464344">
                <a:tc>
                  <a:txBody>
                    <a:bodyPr/>
                    <a:lstStyle/>
                    <a:p>
                      <a:r>
                        <a:rPr sz="1200" b="1">
                          <a:solidFill>
                            <a:srgbClr val="15191B"/>
                          </a:solidFill>
                          <a:latin typeface="Hiragino Sans"/>
                          <a:ea typeface="Hiragino Sans"/>
                          <a:cs typeface="Hiragino Sans"/>
                        </a:rPr>
                        <a:t>平均販売回数</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1回</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1回</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1回</a:t>
                      </a:r>
                    </a:p>
                  </a:txBody>
                  <a:tcPr marL="91440" marR="91440" marT="45720" marB="45720">
                    <a:solidFill>
                      <a:srgbClr val="DCE8EF"/>
                    </a:solidFill>
                  </a:tcPr>
                </a:tc>
              </a:tr>
              <a:tr h="464344">
                <a:tc>
                  <a:txBody>
                    <a:bodyPr/>
                    <a:lstStyle/>
                    <a:p>
                      <a:r>
                        <a:rPr sz="1200" b="1">
                          <a:solidFill>
                            <a:srgbClr val="15191B"/>
                          </a:solidFill>
                          <a:latin typeface="Hiragino Sans"/>
                          <a:ea typeface="Hiragino Sans"/>
                          <a:cs typeface="Hiragino Sans"/>
                        </a:rPr>
                        <a:t>必要デバイス</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5台</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10台</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91台</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データ販売額</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160万円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1,600万円</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会社取り分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40万円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800万円</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1か月分のデバイス費</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4万円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72.8万円</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デバイス費を引いた後</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36万円</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72万円</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727.2万円</a:t>
                      </a:r>
                    </a:p>
                  </a:txBody>
                  <a:tcPr marL="91440" marR="91440" marT="45720" marB="45720">
                    <a:solidFill>
                      <a:srgbClr val="DCE8EF"/>
                    </a:solidFill>
                  </a:tcPr>
                </a:tc>
              </a:tr>
              <a:tr h="464344">
                <a:tc>
                  <a:txBody>
                    <a:bodyPr/>
                    <a:lstStyle/>
                    <a:p>
                      <a:r>
                        <a:rPr sz="1200" b="1">
                          <a:solidFill>
                            <a:srgbClr val="15191B"/>
                          </a:solidFill>
                          <a:latin typeface="Hiragino Sans"/>
                          <a:ea typeface="Hiragino Sans"/>
                          <a:cs typeface="Hiragino Sans"/>
                        </a:rPr>
                        <a:t>デバイス購入費</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40万円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728万円</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D872E97B-4F73-49C3-B7DC-F6912332573F}"/>
              </a:ext>
            </a:extLst>
          </p:cNvPr>
          <p:cNvSpPr>
            <a:spLocks xmlns:a="http://schemas.openxmlformats.org/drawingml/2006/main" noGrp="1"/>
          </p:cNvSpPr>
          <p:nvPr/>
        </p:nvSpPr>
        <p:spPr>
          <a:xfrm xmlns:a="http://schemas.openxmlformats.org/drawingml/2006/main" rot="0">
            <a:off x="723900" y="56007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月10,000時間を12か月継続：会社取り分9,600万円、デバイス費を引いた後は約8,726万円。</a:t>
            </a:r>
          </a:p>
        </p:txBody>
      </p:sp>
      <p:sp>
        <p:nvSpPr>
          <p:cNvPr id="7" name="">
            <a:extLst xmlns:a="http://schemas.openxmlformats.org/drawingml/2006/main">
              <a:ext uri="{FF2B5EF4-FFF2-40B4-BE49-F238E27FC236}">
                <a16:creationId xmlns:a16="http://schemas.microsoft.com/office/drawing/2014/main" id="{CF3368FB-03FF-4F49-8027-15807C12A710}"/>
              </a:ext>
            </a:extLst>
          </p:cNvPr>
          <p:cNvSpPr>
            <a:spLocks xmlns:a="http://schemas.openxmlformats.org/drawingml/2006/main" noGrp="1"/>
          </p:cNvSpPr>
          <p:nvPr/>
        </p:nvSpPr>
        <p:spPr>
          <a:xfrm xmlns:a="http://schemas.openxmlformats.org/drawingml/2006/main" rot="0">
            <a:off x="723900" y="59817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データは在庫として積み上がり、過去に収集した分も売り続けられる。平均2回販売なら会社取り分は月1,600万円、3回なら月2,400万円になる。</a:t>
            </a:r>
          </a:p>
        </p:txBody>
      </p:sp>
    </p:spTree>
    <p:extLst>
      <p:ext uri="{BB962C8B-B14F-4D97-AF65-F5344CB8AC3E}">
        <p14:creationId xmlns:p14="http://schemas.microsoft.com/office/powerpoint/2010/main" val="770944861"/>
      </p:ext>
    </p:extLst>
  </p:cSld>
</p:sld>
</file>

<file path=ppt/slides/slide20.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4DEC360-B6A9-4C2B-877A-F4ACD774467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6433DE9-6AB1-4E30-A715-0BD39ADA51BD}"/>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デバイス費以外にかかる費用</a:t>
            </a:r>
          </a:p>
        </p:txBody>
      </p:sp>
      <p:sp>
        <p:nvSpPr>
          <p:cNvPr id="3" name="">
            <a:extLst xmlns:a="http://schemas.openxmlformats.org/drawingml/2006/main">
              <a:ext uri="{FF2B5EF4-FFF2-40B4-BE49-F238E27FC236}">
                <a16:creationId xmlns:a16="http://schemas.microsoft.com/office/drawing/2014/main" id="{ABA17D5B-5518-4054-8411-218FC3B4AFD3}"/>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2625D2B-D19F-4A51-8262-9CE6B612D1FD}"/>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20</a:t>
            </a:r>
          </a:p>
        </p:txBody>
      </p:sp>
      <p:sp>
        <p:nvSpPr>
          <p:cNvPr id="5" name="">
            <a:extLst xmlns:a="http://schemas.openxmlformats.org/drawingml/2006/main">
              <a:ext uri="{FF2B5EF4-FFF2-40B4-BE49-F238E27FC236}">
                <a16:creationId xmlns:a16="http://schemas.microsoft.com/office/drawing/2014/main" id="{2FA34DC3-3A9A-4098-B2DF-969E25F4A991}"/>
              </a:ext>
            </a:extLst>
          </p:cNvPr>
          <p:cNvSpPr>
            <a:spLocks xmlns:a="http://schemas.openxmlformats.org/drawingml/2006/main" noGrp="1"/>
          </p:cNvSpPr>
          <p:nvPr/>
        </p:nvSpPr>
        <p:spPr>
          <a:xfrm xmlns:a="http://schemas.openxmlformats.org/drawingml/2006/main" rot="0">
            <a:off x="723900" y="1762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データ保存・転送費</a:t>
            </a:r>
          </a:p>
        </p:txBody>
      </p:sp>
      <p:sp>
        <p:nvSpPr>
          <p:cNvPr id="6" name="">
            <a:extLst xmlns:a="http://schemas.openxmlformats.org/drawingml/2006/main">
              <a:ext uri="{FF2B5EF4-FFF2-40B4-BE49-F238E27FC236}">
                <a16:creationId xmlns:a16="http://schemas.microsoft.com/office/drawing/2014/main" id="{8D003AE4-5DEE-4E26-A8AF-8ECEADD8A47D}"/>
              </a:ext>
            </a:extLst>
          </p:cNvPr>
          <p:cNvSpPr>
            <a:spLocks xmlns:a="http://schemas.openxmlformats.org/drawingml/2006/main" noGrp="1"/>
          </p:cNvSpPr>
          <p:nvPr/>
        </p:nvSpPr>
        <p:spPr>
          <a:xfrm xmlns:a="http://schemas.openxmlformats.org/drawingml/2006/main" rot="0">
            <a:off x="3714750" y="1743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映像は1時間あたり5〜15GB。月500時間で2.5〜7.5TB、月10,000時間で50〜150TB。Nextremerへ格納し、自社負担を抑える。</a:t>
            </a:r>
          </a:p>
        </p:txBody>
      </p:sp>
      <p:sp>
        <p:nvSpPr>
          <p:cNvPr id="7" name="">
            <a:extLst xmlns:a="http://schemas.openxmlformats.org/drawingml/2006/main">
              <a:ext uri="{FF2B5EF4-FFF2-40B4-BE49-F238E27FC236}">
                <a16:creationId xmlns:a16="http://schemas.microsoft.com/office/drawing/2014/main" id="{D0EDF654-DC69-4C74-8900-28C475FCC1FB}"/>
              </a:ext>
            </a:extLst>
          </p:cNvPr>
          <p:cNvSpPr>
            <a:spLocks xmlns:a="http://schemas.openxmlformats.org/drawingml/2006/main" noGrp="1"/>
          </p:cNvSpPr>
          <p:nvPr/>
        </p:nvSpPr>
        <p:spPr>
          <a:xfrm xmlns:a="http://schemas.openxmlformats.org/drawingml/2006/main">
            <a:off x="723900" y="26003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0A3E8EA-2C3B-494A-AA63-35BDDE8CA786}"/>
              </a:ext>
            </a:extLst>
          </p:cNvPr>
          <p:cNvSpPr>
            <a:spLocks xmlns:a="http://schemas.openxmlformats.org/drawingml/2006/main" noGrp="1"/>
          </p:cNvSpPr>
          <p:nvPr/>
        </p:nvSpPr>
        <p:spPr>
          <a:xfrm xmlns:a="http://schemas.openxmlformats.org/drawingml/2006/main" rot="0">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現場開拓・維持の人件費</a:t>
            </a:r>
          </a:p>
        </p:txBody>
      </p:sp>
      <p:sp>
        <p:nvSpPr>
          <p:cNvPr id="9" name="">
            <a:extLst xmlns:a="http://schemas.openxmlformats.org/drawingml/2006/main">
              <a:ext uri="{FF2B5EF4-FFF2-40B4-BE49-F238E27FC236}">
                <a16:creationId xmlns:a16="http://schemas.microsoft.com/office/drawing/2014/main" id="{DF075478-DC34-48E5-8CC4-80EC9C7B5453}"/>
              </a:ext>
            </a:extLst>
          </p:cNvPr>
          <p:cNvSpPr>
            <a:spLocks xmlns:a="http://schemas.openxmlformats.org/drawingml/2006/main" noGrp="1"/>
          </p:cNvSpPr>
          <p:nvPr/>
        </p:nvSpPr>
        <p:spPr>
          <a:xfrm xmlns:a="http://schemas.openxmlformats.org/drawingml/2006/main" rot="0">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飛び込み営業、契約、機材の配布・回収、スタッフへの説明、トラブル対応、データチェック。現在は創業メンバーの時間で吸収している。</a:t>
            </a:r>
          </a:p>
        </p:txBody>
      </p:sp>
      <p:sp>
        <p:nvSpPr>
          <p:cNvPr id="10" name="">
            <a:extLst xmlns:a="http://schemas.openxmlformats.org/drawingml/2006/main">
              <a:ext uri="{FF2B5EF4-FFF2-40B4-BE49-F238E27FC236}">
                <a16:creationId xmlns:a16="http://schemas.microsoft.com/office/drawing/2014/main" id="{81A0F7D6-5432-459F-817B-8E9B5DA5469D}"/>
              </a:ext>
            </a:extLst>
          </p:cNvPr>
          <p:cNvSpPr>
            <a:spLocks xmlns:a="http://schemas.openxmlformats.org/drawingml/2006/main" noGrp="1"/>
          </p:cNvSpPr>
          <p:nvPr/>
        </p:nvSpPr>
        <p:spPr>
          <a:xfrm xmlns:a="http://schemas.openxmlformats.org/drawingml/2006/main">
            <a:off x="723900" y="36195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038DBB3-1A17-4EEA-BA9F-D1BBFE823163}"/>
              </a:ext>
            </a:extLst>
          </p:cNvPr>
          <p:cNvSpPr>
            <a:spLocks xmlns:a="http://schemas.openxmlformats.org/drawingml/2006/main" noGrp="1"/>
          </p:cNvSpPr>
          <p:nvPr/>
        </p:nvSpPr>
        <p:spPr>
          <a:xfrm xmlns:a="http://schemas.openxmlformats.org/drawingml/2006/main" rot="0">
            <a:off x="723900" y="3762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デバイス破損・紛失</a:t>
            </a:r>
          </a:p>
        </p:txBody>
      </p:sp>
      <p:sp>
        <p:nvSpPr>
          <p:cNvPr id="12" name="">
            <a:extLst xmlns:a="http://schemas.openxmlformats.org/drawingml/2006/main">
              <a:ext uri="{FF2B5EF4-FFF2-40B4-BE49-F238E27FC236}">
                <a16:creationId xmlns:a16="http://schemas.microsoft.com/office/drawing/2014/main" id="{F2D8BCD3-CDB6-4065-9FE3-E80F01350145}"/>
              </a:ext>
            </a:extLst>
          </p:cNvPr>
          <p:cNvSpPr>
            <a:spLocks xmlns:a="http://schemas.openxmlformats.org/drawingml/2006/main" noGrp="1"/>
          </p:cNvSpPr>
          <p:nvPr/>
        </p:nvSpPr>
        <p:spPr>
          <a:xfrm xmlns:a="http://schemas.openxmlformats.org/drawingml/2006/main" rot="0">
            <a:off x="3714750" y="3743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長時間使う消耗品的な性質がある。8〜10か月の償却期間は、実際の使用状況に応じて見直す必要がある。</a:t>
            </a:r>
          </a:p>
        </p:txBody>
      </p:sp>
      <p:sp>
        <p:nvSpPr>
          <p:cNvPr id="13" name="">
            <a:extLst xmlns:a="http://schemas.openxmlformats.org/drawingml/2006/main">
              <a:ext uri="{FF2B5EF4-FFF2-40B4-BE49-F238E27FC236}">
                <a16:creationId xmlns:a16="http://schemas.microsoft.com/office/drawing/2014/main" id="{36D471BA-B4CF-4A83-AD5E-E293CE184481}"/>
              </a:ext>
            </a:extLst>
          </p:cNvPr>
          <p:cNvSpPr>
            <a:spLocks xmlns:a="http://schemas.openxmlformats.org/drawingml/2006/main" noGrp="1"/>
          </p:cNvSpPr>
          <p:nvPr/>
        </p:nvSpPr>
        <p:spPr>
          <a:xfrm xmlns:a="http://schemas.openxmlformats.org/drawingml/2006/main">
            <a:off x="723900" y="46005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3CB6F9F-FA42-4D14-BAA3-D832292F69AC}"/>
              </a:ext>
            </a:extLst>
          </p:cNvPr>
          <p:cNvSpPr>
            <a:spLocks xmlns:a="http://schemas.openxmlformats.org/drawingml/2006/main" noGrp="1"/>
          </p:cNvSpPr>
          <p:nvPr/>
        </p:nvSpPr>
        <p:spPr>
          <a:xfrm xmlns:a="http://schemas.openxmlformats.org/drawingml/2006/main" rot="0">
            <a:off x="723900" y="47148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契約・法務</a:t>
            </a:r>
          </a:p>
        </p:txBody>
      </p:sp>
      <p:sp>
        <p:nvSpPr>
          <p:cNvPr id="15" name="">
            <a:extLst xmlns:a="http://schemas.openxmlformats.org/drawingml/2006/main">
              <a:ext uri="{FF2B5EF4-FFF2-40B4-BE49-F238E27FC236}">
                <a16:creationId xmlns:a16="http://schemas.microsoft.com/office/drawing/2014/main" id="{A6FF11FA-4258-4684-9E44-AE32141DA229}"/>
              </a:ext>
            </a:extLst>
          </p:cNvPr>
          <p:cNvSpPr>
            <a:spLocks xmlns:a="http://schemas.openxmlformats.org/drawingml/2006/main" noGrp="1"/>
          </p:cNvSpPr>
          <p:nvPr/>
        </p:nvSpPr>
        <p:spPr>
          <a:xfrm xmlns:a="http://schemas.openxmlformats.org/drawingml/2006/main" rot="0">
            <a:off x="3714750" y="46958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現段階では大崎が吸収しているが、規模拡大時には法務チームや外部弁護士のコストが発生する。</a:t>
            </a:r>
          </a:p>
        </p:txBody>
      </p:sp>
    </p:spTree>
    <p:extLst>
      <p:ext uri="{BB962C8B-B14F-4D97-AF65-F5344CB8AC3E}">
        <p14:creationId xmlns:p14="http://schemas.microsoft.com/office/powerpoint/2010/main" val="550764747"/>
      </p:ext>
    </p:extLst>
  </p:cSld>
</p:sld>
</file>

<file path=ppt/slides/slide2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88146A8-D54D-44A9-9437-65918A3B546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F314495-D2FA-4728-96B7-29F7ECF8CD85}"/>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月10,000時間まで広げる際の課題</a:t>
            </a:r>
          </a:p>
        </p:txBody>
      </p:sp>
      <p:sp>
        <p:nvSpPr>
          <p:cNvPr id="3" name="">
            <a:extLst xmlns:a="http://schemas.openxmlformats.org/drawingml/2006/main">
              <a:ext uri="{FF2B5EF4-FFF2-40B4-BE49-F238E27FC236}">
                <a16:creationId xmlns:a16="http://schemas.microsoft.com/office/drawing/2014/main" id="{33FF6A89-9C6F-4238-BCC5-60558BC1DA5C}"/>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9053022-E2D4-4C22-B428-B83400D80150}"/>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21</a:t>
            </a:r>
          </a:p>
        </p:txBody>
      </p:sp>
      <p:sp>
        <p:nvSpPr>
          <p:cNvPr id="5" name="">
            <a:extLst xmlns:a="http://schemas.openxmlformats.org/drawingml/2006/main">
              <a:ext uri="{FF2B5EF4-FFF2-40B4-BE49-F238E27FC236}">
                <a16:creationId xmlns:a16="http://schemas.microsoft.com/office/drawing/2014/main" id="{7D03F5C5-FFFD-48C1-B369-1FF249527A18}"/>
              </a:ext>
            </a:extLst>
          </p:cNvPr>
          <p:cNvSpPr>
            <a:spLocks xmlns:a="http://schemas.openxmlformats.org/drawingml/2006/main" noGrp="1"/>
          </p:cNvSpPr>
          <p:nvPr/>
        </p:nvSpPr>
        <p:spPr>
          <a:xfrm xmlns:a="http://schemas.openxmlformats.org/drawingml/2006/main" rot="0">
            <a:off x="723900" y="1952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現場開拓のスピード</a:t>
            </a:r>
          </a:p>
        </p:txBody>
      </p:sp>
      <p:sp>
        <p:nvSpPr>
          <p:cNvPr id="6" name="">
            <a:extLst xmlns:a="http://schemas.openxmlformats.org/drawingml/2006/main">
              <a:ext uri="{FF2B5EF4-FFF2-40B4-BE49-F238E27FC236}">
                <a16:creationId xmlns:a16="http://schemas.microsoft.com/office/drawing/2014/main" id="{0A66980C-5157-485B-BF81-86217659D7B5}"/>
              </a:ext>
            </a:extLst>
          </p:cNvPr>
          <p:cNvSpPr>
            <a:spLocks xmlns:a="http://schemas.openxmlformats.org/drawingml/2006/main" noGrp="1"/>
          </p:cNvSpPr>
          <p:nvPr/>
        </p:nvSpPr>
        <p:spPr>
          <a:xfrm xmlns:a="http://schemas.openxmlformats.org/drawingml/2006/main" rot="0">
            <a:off x="3714750" y="1933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30店舗を確保する営業リソース。1店舗目から2店舗目へ進むにつれ、獲得サイクルが短縮していくか。</a:t>
            </a:r>
          </a:p>
        </p:txBody>
      </p:sp>
      <p:sp>
        <p:nvSpPr>
          <p:cNvPr id="7" name="">
            <a:extLst xmlns:a="http://schemas.openxmlformats.org/drawingml/2006/main">
              <a:ext uri="{FF2B5EF4-FFF2-40B4-BE49-F238E27FC236}">
                <a16:creationId xmlns:a16="http://schemas.microsoft.com/office/drawing/2014/main" id="{F754CE25-3F29-4817-BEFF-00D24E630680}"/>
              </a:ext>
            </a:extLst>
          </p:cNvPr>
          <p:cNvSpPr>
            <a:spLocks xmlns:a="http://schemas.openxmlformats.org/drawingml/2006/main" noGrp="1"/>
          </p:cNvSpPr>
          <p:nvPr/>
        </p:nvSpPr>
        <p:spPr>
          <a:xfrm xmlns:a="http://schemas.openxmlformats.org/drawingml/2006/main">
            <a:off x="723900" y="2905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94B6ACC-B149-48D3-BEF2-809437117149}"/>
              </a:ext>
            </a:extLst>
          </p:cNvPr>
          <p:cNvSpPr>
            <a:spLocks xmlns:a="http://schemas.openxmlformats.org/drawingml/2006/main" noGrp="1"/>
          </p:cNvSpPr>
          <p:nvPr/>
        </p:nvSpPr>
        <p:spPr>
          <a:xfrm xmlns:a="http://schemas.openxmlformats.org/drawingml/2006/main" rot="0">
            <a:off x="723900" y="3095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現場運用の負担</a:t>
            </a:r>
          </a:p>
        </p:txBody>
      </p:sp>
      <p:sp>
        <p:nvSpPr>
          <p:cNvPr id="9" name="">
            <a:extLst xmlns:a="http://schemas.openxmlformats.org/drawingml/2006/main">
              <a:ext uri="{FF2B5EF4-FFF2-40B4-BE49-F238E27FC236}">
                <a16:creationId xmlns:a16="http://schemas.microsoft.com/office/drawing/2014/main" id="{71D2DE8F-12D0-4926-B0CC-E2A3CAFCD5C2}"/>
              </a:ext>
            </a:extLst>
          </p:cNvPr>
          <p:cNvSpPr>
            <a:spLocks xmlns:a="http://schemas.openxmlformats.org/drawingml/2006/main" noGrp="1"/>
          </p:cNvSpPr>
          <p:nvPr/>
        </p:nvSpPr>
        <p:spPr>
          <a:xfrm xmlns:a="http://schemas.openxmlformats.org/drawingml/2006/main" rot="0">
            <a:off x="3714750" y="3076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30店舗へデバイスを配布・回収し、トラブルへ対応する運用体制。店舗数 × 定期訪問になると、人件費が膨らむ。</a:t>
            </a:r>
          </a:p>
        </p:txBody>
      </p:sp>
      <p:sp>
        <p:nvSpPr>
          <p:cNvPr id="10" name="">
            <a:extLst xmlns:a="http://schemas.openxmlformats.org/drawingml/2006/main">
              <a:ext uri="{FF2B5EF4-FFF2-40B4-BE49-F238E27FC236}">
                <a16:creationId xmlns:a16="http://schemas.microsoft.com/office/drawing/2014/main" id="{E34600CC-9E6B-4EA3-B79B-2D074BF3ABC4}"/>
              </a:ext>
            </a:extLst>
          </p:cNvPr>
          <p:cNvSpPr>
            <a:spLocks xmlns:a="http://schemas.openxmlformats.org/drawingml/2006/main" noGrp="1"/>
          </p:cNvSpPr>
          <p:nvPr/>
        </p:nvSpPr>
        <p:spPr>
          <a:xfrm xmlns:a="http://schemas.openxmlformats.org/drawingml/2006/main">
            <a:off x="723900" y="4048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11EBD0C-7F8A-4106-A5F1-F429BC615A19}"/>
              </a:ext>
            </a:extLst>
          </p:cNvPr>
          <p:cNvSpPr>
            <a:spLocks xmlns:a="http://schemas.openxmlformats.org/drawingml/2006/main" noGrp="1"/>
          </p:cNvSpPr>
          <p:nvPr/>
        </p:nvSpPr>
        <p:spPr>
          <a:xfrm xmlns:a="http://schemas.openxmlformats.org/drawingml/2006/main" rot="0">
            <a:off x="723900" y="4238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買い手側の受け入れ規模</a:t>
            </a:r>
          </a:p>
        </p:txBody>
      </p:sp>
      <p:sp>
        <p:nvSpPr>
          <p:cNvPr id="12" name="">
            <a:extLst xmlns:a="http://schemas.openxmlformats.org/drawingml/2006/main">
              <a:ext uri="{FF2B5EF4-FFF2-40B4-BE49-F238E27FC236}">
                <a16:creationId xmlns:a16="http://schemas.microsoft.com/office/drawing/2014/main" id="{4480CAF2-E37D-4240-9188-6786384FABCC}"/>
              </a:ext>
            </a:extLst>
          </p:cNvPr>
          <p:cNvSpPr>
            <a:spLocks xmlns:a="http://schemas.openxmlformats.org/drawingml/2006/main" noGrp="1"/>
          </p:cNvSpPr>
          <p:nvPr/>
        </p:nvSpPr>
        <p:spPr>
          <a:xfrm xmlns:a="http://schemas.openxmlformats.org/drawingml/2006/main" rot="0">
            <a:off x="3714750" y="4219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月10,000時間を継続的に売り切れる販路を、Nextremer、海外、国内需要の組み合わせで確保できるか。</a:t>
            </a:r>
          </a:p>
        </p:txBody>
      </p:sp>
      <p:sp>
        <p:nvSpPr>
          <p:cNvPr id="13" name="">
            <a:extLst xmlns:a="http://schemas.openxmlformats.org/drawingml/2006/main">
              <a:ext uri="{FF2B5EF4-FFF2-40B4-BE49-F238E27FC236}">
                <a16:creationId xmlns:a16="http://schemas.microsoft.com/office/drawing/2014/main" id="{DF843027-D151-44B9-B17B-3F75A6594E86}"/>
              </a:ext>
            </a:extLst>
          </p:cNvPr>
          <p:cNvSpPr>
            <a:spLocks xmlns:a="http://schemas.openxmlformats.org/drawingml/2006/main" noGrp="1"/>
          </p:cNvSpPr>
          <p:nvPr/>
        </p:nvSpPr>
        <p:spPr>
          <a:xfrm xmlns:a="http://schemas.openxmlformats.org/drawingml/2006/main">
            <a:off x="723900" y="5191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Tree>
    <p:extLst>
      <p:ext uri="{BB962C8B-B14F-4D97-AF65-F5344CB8AC3E}">
        <p14:creationId xmlns:p14="http://schemas.microsoft.com/office/powerpoint/2010/main" val="715136078"/>
      </p:ext>
    </p:extLst>
  </p:cSld>
</p:sld>
</file>

<file path=ppt/slides/slide2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77BF6F5C-6320-4169-887C-40E810AC40C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E622937-2137-4CBE-925F-2D4640B60E71}"/>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今後の見通し｜2026 Q4</a:t>
            </a:r>
          </a:p>
        </p:txBody>
      </p:sp>
      <p:sp>
        <p:nvSpPr>
          <p:cNvPr id="3" name="">
            <a:extLst xmlns:a="http://schemas.openxmlformats.org/drawingml/2006/main">
              <a:ext uri="{FF2B5EF4-FFF2-40B4-BE49-F238E27FC236}">
                <a16:creationId xmlns:a16="http://schemas.microsoft.com/office/drawing/2014/main" id="{1FE3DF1C-0250-47D2-807A-1C832A8BC98A}"/>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8A5F747-A72A-481A-BF8A-DF8C08335D2D}"/>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22</a:t>
            </a:r>
          </a:p>
        </p:txBody>
      </p:sp>
      <p:sp>
        <p:nvSpPr>
          <p:cNvPr id="5" name="">
            <a:extLst xmlns:a="http://schemas.openxmlformats.org/drawingml/2006/main">
              <a:ext uri="{FF2B5EF4-FFF2-40B4-BE49-F238E27FC236}">
                <a16:creationId xmlns:a16="http://schemas.microsoft.com/office/drawing/2014/main" id="{4F584CE0-BE60-4064-8361-79F515291D0A}"/>
              </a:ext>
            </a:extLst>
          </p:cNvPr>
          <p:cNvSpPr>
            <a:spLocks xmlns:a="http://schemas.openxmlformats.org/drawingml/2006/main" noGrp="1"/>
          </p:cNvSpPr>
          <p:nvPr/>
        </p:nvSpPr>
        <p:spPr>
          <a:xfrm xmlns:a="http://schemas.openxmlformats.org/drawingml/2006/main">
            <a:off x="723900" y="1714500"/>
            <a:ext cx="2333625" cy="4381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6B8CB92-B915-4052-B0A7-6EAF9897044A}"/>
              </a:ext>
            </a:extLst>
          </p:cNvPr>
          <p:cNvSpPr>
            <a:spLocks xmlns:a="http://schemas.openxmlformats.org/drawingml/2006/main" noGrp="1"/>
          </p:cNvSpPr>
          <p:nvPr/>
        </p:nvSpPr>
        <p:spPr>
          <a:xfrm xmlns:a="http://schemas.openxmlformats.org/drawingml/2006/main" rot="0">
            <a:off x="857250" y="1819275"/>
            <a:ext cx="2066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領域</a:t>
            </a:r>
          </a:p>
        </p:txBody>
      </p:sp>
      <p:sp>
        <p:nvSpPr>
          <p:cNvPr id="7" name="">
            <a:extLst xmlns:a="http://schemas.openxmlformats.org/drawingml/2006/main">
              <a:ext uri="{FF2B5EF4-FFF2-40B4-BE49-F238E27FC236}">
                <a16:creationId xmlns:a16="http://schemas.microsoft.com/office/drawing/2014/main" id="{E57141B1-9192-4E0A-8E5F-462B377FB468}"/>
              </a:ext>
            </a:extLst>
          </p:cNvPr>
          <p:cNvSpPr>
            <a:spLocks xmlns:a="http://schemas.openxmlformats.org/drawingml/2006/main" noGrp="1"/>
          </p:cNvSpPr>
          <p:nvPr/>
        </p:nvSpPr>
        <p:spPr>
          <a:xfrm xmlns:a="http://schemas.openxmlformats.org/drawingml/2006/main">
            <a:off x="3057525" y="1714500"/>
            <a:ext cx="2746375"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3D87EB05-FF89-445F-817B-62CA858B7128}"/>
              </a:ext>
            </a:extLst>
          </p:cNvPr>
          <p:cNvSpPr>
            <a:spLocks xmlns:a="http://schemas.openxmlformats.org/drawingml/2006/main" noGrp="1"/>
          </p:cNvSpPr>
          <p:nvPr/>
        </p:nvSpPr>
        <p:spPr>
          <a:xfrm xmlns:a="http://schemas.openxmlformats.org/drawingml/2006/main" rot="0">
            <a:off x="3057525" y="1819275"/>
            <a:ext cx="2746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10月</a:t>
            </a:r>
          </a:p>
        </p:txBody>
      </p:sp>
      <p:sp>
        <p:nvSpPr>
          <p:cNvPr id="9" name="">
            <a:extLst xmlns:a="http://schemas.openxmlformats.org/drawingml/2006/main">
              <a:ext uri="{FF2B5EF4-FFF2-40B4-BE49-F238E27FC236}">
                <a16:creationId xmlns:a16="http://schemas.microsoft.com/office/drawing/2014/main" id="{81F02733-BD60-4CC8-9BBA-C9CD4A9C8BAF}"/>
              </a:ext>
            </a:extLst>
          </p:cNvPr>
          <p:cNvSpPr>
            <a:spLocks xmlns:a="http://schemas.openxmlformats.org/drawingml/2006/main" noGrp="1"/>
          </p:cNvSpPr>
          <p:nvPr/>
        </p:nvSpPr>
        <p:spPr>
          <a:xfrm xmlns:a="http://schemas.openxmlformats.org/drawingml/2006/main">
            <a:off x="5803900" y="1714500"/>
            <a:ext cx="2746375"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0" name="">
            <a:extLst xmlns:a="http://schemas.openxmlformats.org/drawingml/2006/main">
              <a:ext uri="{FF2B5EF4-FFF2-40B4-BE49-F238E27FC236}">
                <a16:creationId xmlns:a16="http://schemas.microsoft.com/office/drawing/2014/main" id="{DE6173DE-73AD-4B9E-AA35-2EF907B62064}"/>
              </a:ext>
            </a:extLst>
          </p:cNvPr>
          <p:cNvSpPr>
            <a:spLocks xmlns:a="http://schemas.openxmlformats.org/drawingml/2006/main" noGrp="1"/>
          </p:cNvSpPr>
          <p:nvPr/>
        </p:nvSpPr>
        <p:spPr>
          <a:xfrm xmlns:a="http://schemas.openxmlformats.org/drawingml/2006/main" rot="0">
            <a:off x="5803900" y="1819275"/>
            <a:ext cx="2746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11月</a:t>
            </a:r>
          </a:p>
        </p:txBody>
      </p:sp>
      <p:sp>
        <p:nvSpPr>
          <p:cNvPr id="11" name="">
            <a:extLst xmlns:a="http://schemas.openxmlformats.org/drawingml/2006/main">
              <a:ext uri="{FF2B5EF4-FFF2-40B4-BE49-F238E27FC236}">
                <a16:creationId xmlns:a16="http://schemas.microsoft.com/office/drawing/2014/main" id="{B96A1D84-A2BE-4BA6-B48A-63D6AB3D0C33}"/>
              </a:ext>
            </a:extLst>
          </p:cNvPr>
          <p:cNvSpPr>
            <a:spLocks xmlns:a="http://schemas.openxmlformats.org/drawingml/2006/main" noGrp="1"/>
          </p:cNvSpPr>
          <p:nvPr/>
        </p:nvSpPr>
        <p:spPr>
          <a:xfrm xmlns:a="http://schemas.openxmlformats.org/drawingml/2006/main">
            <a:off x="8550275" y="1714500"/>
            <a:ext cx="2746375"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2" name="">
            <a:extLst xmlns:a="http://schemas.openxmlformats.org/drawingml/2006/main">
              <a:ext uri="{FF2B5EF4-FFF2-40B4-BE49-F238E27FC236}">
                <a16:creationId xmlns:a16="http://schemas.microsoft.com/office/drawing/2014/main" id="{7587CF3B-FE03-4B36-875D-0D9F1EEF50CB}"/>
              </a:ext>
            </a:extLst>
          </p:cNvPr>
          <p:cNvSpPr>
            <a:spLocks xmlns:a="http://schemas.openxmlformats.org/drawingml/2006/main" noGrp="1"/>
          </p:cNvSpPr>
          <p:nvPr/>
        </p:nvSpPr>
        <p:spPr>
          <a:xfrm xmlns:a="http://schemas.openxmlformats.org/drawingml/2006/main" rot="0">
            <a:off x="8550275" y="1819275"/>
            <a:ext cx="2746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12月</a:t>
            </a:r>
          </a:p>
        </p:txBody>
      </p:sp>
      <p:sp>
        <p:nvSpPr>
          <p:cNvPr id="13" name="">
            <a:extLst xmlns:a="http://schemas.openxmlformats.org/drawingml/2006/main">
              <a:ext uri="{FF2B5EF4-FFF2-40B4-BE49-F238E27FC236}">
                <a16:creationId xmlns:a16="http://schemas.microsoft.com/office/drawing/2014/main" id="{A20CFF64-98F3-4B94-B32B-104A1D2CAF17}"/>
              </a:ext>
            </a:extLst>
          </p:cNvPr>
          <p:cNvSpPr>
            <a:spLocks xmlns:a="http://schemas.openxmlformats.org/drawingml/2006/main" noGrp="1"/>
          </p:cNvSpPr>
          <p:nvPr/>
        </p:nvSpPr>
        <p:spPr>
          <a:xfrm xmlns:a="http://schemas.openxmlformats.org/drawingml/2006/main">
            <a:off x="723900" y="21526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D417C4DA-78DC-445B-8F6C-43DB56F3FF82}"/>
              </a:ext>
            </a:extLst>
          </p:cNvPr>
          <p:cNvSpPr>
            <a:spLocks xmlns:a="http://schemas.openxmlformats.org/drawingml/2006/main" noGrp="1"/>
          </p:cNvSpPr>
          <p:nvPr/>
        </p:nvSpPr>
        <p:spPr>
          <a:xfrm xmlns:a="http://schemas.openxmlformats.org/drawingml/2006/main" rot="0">
            <a:off x="857250" y="22955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撮影規模・撮影先</a:t>
            </a:r>
          </a:p>
        </p:txBody>
      </p:sp>
      <p:sp>
        <p:nvSpPr>
          <p:cNvPr id="15" name="">
            <a:extLst xmlns:a="http://schemas.openxmlformats.org/drawingml/2006/main">
              <a:ext uri="{FF2B5EF4-FFF2-40B4-BE49-F238E27FC236}">
                <a16:creationId xmlns:a16="http://schemas.microsoft.com/office/drawing/2014/main" id="{8FB4CF3F-DF9A-4CE3-B6F7-FC58F601170E}"/>
              </a:ext>
            </a:extLst>
          </p:cNvPr>
          <p:cNvSpPr>
            <a:spLocks xmlns:a="http://schemas.openxmlformats.org/drawingml/2006/main" noGrp="1"/>
          </p:cNvSpPr>
          <p:nvPr/>
        </p:nvSpPr>
        <p:spPr>
          <a:xfrm xmlns:a="http://schemas.openxmlformats.org/drawingml/2006/main">
            <a:off x="3057525" y="21526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42996E1E-1FF8-47D9-A345-4E974D938A34}"/>
              </a:ext>
            </a:extLst>
          </p:cNvPr>
          <p:cNvSpPr>
            <a:spLocks xmlns:a="http://schemas.openxmlformats.org/drawingml/2006/main" noGrp="1"/>
          </p:cNvSpPr>
          <p:nvPr/>
        </p:nvSpPr>
        <p:spPr>
          <a:xfrm xmlns:a="http://schemas.openxmlformats.org/drawingml/2006/main">
            <a:off x="5803900" y="21526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7" name="">
            <a:extLst xmlns:a="http://schemas.openxmlformats.org/drawingml/2006/main">
              <a:ext uri="{FF2B5EF4-FFF2-40B4-BE49-F238E27FC236}">
                <a16:creationId xmlns:a16="http://schemas.microsoft.com/office/drawing/2014/main" id="{F2BDD46E-6A34-4D35-A4DD-4AC877D81F19}"/>
              </a:ext>
            </a:extLst>
          </p:cNvPr>
          <p:cNvSpPr>
            <a:spLocks xmlns:a="http://schemas.openxmlformats.org/drawingml/2006/main" noGrp="1"/>
          </p:cNvSpPr>
          <p:nvPr/>
        </p:nvSpPr>
        <p:spPr>
          <a:xfrm xmlns:a="http://schemas.openxmlformats.org/drawingml/2006/main">
            <a:off x="8550275" y="21526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41E8E697-543A-446A-8FEC-1ACECC598FD8}"/>
              </a:ext>
            </a:extLst>
          </p:cNvPr>
          <p:cNvSpPr>
            <a:spLocks xmlns:a="http://schemas.openxmlformats.org/drawingml/2006/main" noGrp="1"/>
          </p:cNvSpPr>
          <p:nvPr/>
        </p:nvSpPr>
        <p:spPr>
          <a:xfrm xmlns:a="http://schemas.openxmlformats.org/drawingml/2006/main">
            <a:off x="3133725" y="2238375"/>
            <a:ext cx="259397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9" name="">
            <a:extLst xmlns:a="http://schemas.openxmlformats.org/drawingml/2006/main">
              <a:ext uri="{FF2B5EF4-FFF2-40B4-BE49-F238E27FC236}">
                <a16:creationId xmlns:a16="http://schemas.microsoft.com/office/drawing/2014/main" id="{60BABC50-6EE8-435E-A432-B624D6F92844}"/>
              </a:ext>
            </a:extLst>
          </p:cNvPr>
          <p:cNvSpPr>
            <a:spLocks xmlns:a="http://schemas.openxmlformats.org/drawingml/2006/main" noGrp="1"/>
          </p:cNvSpPr>
          <p:nvPr/>
        </p:nvSpPr>
        <p:spPr>
          <a:xfrm xmlns:a="http://schemas.openxmlformats.org/drawingml/2006/main" rot="0">
            <a:off x="3209925" y="2200275"/>
            <a:ext cx="2441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月500時間</a:t>
            </a:r>
          </a:p>
        </p:txBody>
      </p:sp>
      <p:sp>
        <p:nvSpPr>
          <p:cNvPr id="20" name="">
            <a:extLst xmlns:a="http://schemas.openxmlformats.org/drawingml/2006/main">
              <a:ext uri="{FF2B5EF4-FFF2-40B4-BE49-F238E27FC236}">
                <a16:creationId xmlns:a16="http://schemas.microsoft.com/office/drawing/2014/main" id="{1F8C6260-34D7-43AB-9EB2-54EC135BD669}"/>
              </a:ext>
            </a:extLst>
          </p:cNvPr>
          <p:cNvSpPr>
            <a:spLocks xmlns:a="http://schemas.openxmlformats.org/drawingml/2006/main" noGrp="1"/>
          </p:cNvSpPr>
          <p:nvPr/>
        </p:nvSpPr>
        <p:spPr>
          <a:xfrm xmlns:a="http://schemas.openxmlformats.org/drawingml/2006/main">
            <a:off x="5880100" y="2238375"/>
            <a:ext cx="259397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1" name="">
            <a:extLst xmlns:a="http://schemas.openxmlformats.org/drawingml/2006/main">
              <a:ext uri="{FF2B5EF4-FFF2-40B4-BE49-F238E27FC236}">
                <a16:creationId xmlns:a16="http://schemas.microsoft.com/office/drawing/2014/main" id="{68381368-9A94-453E-A662-8D178C8B9A3A}"/>
              </a:ext>
            </a:extLst>
          </p:cNvPr>
          <p:cNvSpPr>
            <a:spLocks xmlns:a="http://schemas.openxmlformats.org/drawingml/2006/main" noGrp="1"/>
          </p:cNvSpPr>
          <p:nvPr/>
        </p:nvSpPr>
        <p:spPr>
          <a:xfrm xmlns:a="http://schemas.openxmlformats.org/drawingml/2006/main" rot="0">
            <a:off x="5956300" y="2200275"/>
            <a:ext cx="2441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月500時間</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現場の課題を確認</a:t>
            </a:r>
          </a:p>
        </p:txBody>
      </p:sp>
      <p:sp>
        <p:nvSpPr>
          <p:cNvPr id="22" name="">
            <a:extLst xmlns:a="http://schemas.openxmlformats.org/drawingml/2006/main">
              <a:ext uri="{FF2B5EF4-FFF2-40B4-BE49-F238E27FC236}">
                <a16:creationId xmlns:a16="http://schemas.microsoft.com/office/drawing/2014/main" id="{840EE403-1D63-4254-A62A-1C3627B30C7E}"/>
              </a:ext>
            </a:extLst>
          </p:cNvPr>
          <p:cNvSpPr>
            <a:spLocks xmlns:a="http://schemas.openxmlformats.org/drawingml/2006/main" noGrp="1"/>
          </p:cNvSpPr>
          <p:nvPr/>
        </p:nvSpPr>
        <p:spPr>
          <a:xfrm xmlns:a="http://schemas.openxmlformats.org/drawingml/2006/main">
            <a:off x="8626475" y="2238375"/>
            <a:ext cx="259397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3" name="">
            <a:extLst xmlns:a="http://schemas.openxmlformats.org/drawingml/2006/main">
              <a:ext uri="{FF2B5EF4-FFF2-40B4-BE49-F238E27FC236}">
                <a16:creationId xmlns:a16="http://schemas.microsoft.com/office/drawing/2014/main" id="{B7F1E81A-B706-4018-B4B9-65D643D97FBB}"/>
              </a:ext>
            </a:extLst>
          </p:cNvPr>
          <p:cNvSpPr>
            <a:spLocks xmlns:a="http://schemas.openxmlformats.org/drawingml/2006/main" noGrp="1"/>
          </p:cNvSpPr>
          <p:nvPr/>
        </p:nvSpPr>
        <p:spPr>
          <a:xfrm xmlns:a="http://schemas.openxmlformats.org/drawingml/2006/main" rot="0">
            <a:off x="8702675" y="2200275"/>
            <a:ext cx="2441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月1,000時間</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飲食・小売へ拡大</a:t>
            </a:r>
          </a:p>
        </p:txBody>
      </p:sp>
      <p:sp>
        <p:nvSpPr>
          <p:cNvPr id="24" name="">
            <a:extLst xmlns:a="http://schemas.openxmlformats.org/drawingml/2006/main">
              <a:ext uri="{FF2B5EF4-FFF2-40B4-BE49-F238E27FC236}">
                <a16:creationId xmlns:a16="http://schemas.microsoft.com/office/drawing/2014/main" id="{C4BB6171-758B-4CF0-8DF2-2AA22EB04456}"/>
              </a:ext>
            </a:extLst>
          </p:cNvPr>
          <p:cNvSpPr>
            <a:spLocks xmlns:a="http://schemas.openxmlformats.org/drawingml/2006/main" noGrp="1"/>
          </p:cNvSpPr>
          <p:nvPr/>
        </p:nvSpPr>
        <p:spPr>
          <a:xfrm xmlns:a="http://schemas.openxmlformats.org/drawingml/2006/main">
            <a:off x="723900" y="27336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5" name="">
            <a:extLst xmlns:a="http://schemas.openxmlformats.org/drawingml/2006/main">
              <a:ext uri="{FF2B5EF4-FFF2-40B4-BE49-F238E27FC236}">
                <a16:creationId xmlns:a16="http://schemas.microsoft.com/office/drawing/2014/main" id="{0A22CB45-6840-4243-852F-DC1279988B04}"/>
              </a:ext>
            </a:extLst>
          </p:cNvPr>
          <p:cNvSpPr>
            <a:spLocks xmlns:a="http://schemas.openxmlformats.org/drawingml/2006/main" noGrp="1"/>
          </p:cNvSpPr>
          <p:nvPr/>
        </p:nvSpPr>
        <p:spPr>
          <a:xfrm xmlns:a="http://schemas.openxmlformats.org/drawingml/2006/main" rot="0">
            <a:off x="857250" y="28765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データ販売</a:t>
            </a:r>
          </a:p>
        </p:txBody>
      </p:sp>
      <p:sp>
        <p:nvSpPr>
          <p:cNvPr id="26" name="">
            <a:extLst xmlns:a="http://schemas.openxmlformats.org/drawingml/2006/main">
              <a:ext uri="{FF2B5EF4-FFF2-40B4-BE49-F238E27FC236}">
                <a16:creationId xmlns:a16="http://schemas.microsoft.com/office/drawing/2014/main" id="{FA7C1C2F-1CE0-43EF-B938-EDDBC641A5C9}"/>
              </a:ext>
            </a:extLst>
          </p:cNvPr>
          <p:cNvSpPr>
            <a:spLocks xmlns:a="http://schemas.openxmlformats.org/drawingml/2006/main" noGrp="1"/>
          </p:cNvSpPr>
          <p:nvPr/>
        </p:nvSpPr>
        <p:spPr>
          <a:xfrm xmlns:a="http://schemas.openxmlformats.org/drawingml/2006/main">
            <a:off x="3057525" y="27336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7" name="">
            <a:extLst xmlns:a="http://schemas.openxmlformats.org/drawingml/2006/main">
              <a:ext uri="{FF2B5EF4-FFF2-40B4-BE49-F238E27FC236}">
                <a16:creationId xmlns:a16="http://schemas.microsoft.com/office/drawing/2014/main" id="{0DEBD5EB-27CA-4A7C-A409-CD6A83F82FB8}"/>
              </a:ext>
            </a:extLst>
          </p:cNvPr>
          <p:cNvSpPr>
            <a:spLocks xmlns:a="http://schemas.openxmlformats.org/drawingml/2006/main" noGrp="1"/>
          </p:cNvSpPr>
          <p:nvPr/>
        </p:nvSpPr>
        <p:spPr>
          <a:xfrm xmlns:a="http://schemas.openxmlformats.org/drawingml/2006/main">
            <a:off x="5803900" y="27336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8" name="">
            <a:extLst xmlns:a="http://schemas.openxmlformats.org/drawingml/2006/main">
              <a:ext uri="{FF2B5EF4-FFF2-40B4-BE49-F238E27FC236}">
                <a16:creationId xmlns:a16="http://schemas.microsoft.com/office/drawing/2014/main" id="{FA0EEE69-5626-4E07-8718-9EB58DD889D5}"/>
              </a:ext>
            </a:extLst>
          </p:cNvPr>
          <p:cNvSpPr>
            <a:spLocks xmlns:a="http://schemas.openxmlformats.org/drawingml/2006/main" noGrp="1"/>
          </p:cNvSpPr>
          <p:nvPr/>
        </p:nvSpPr>
        <p:spPr>
          <a:xfrm xmlns:a="http://schemas.openxmlformats.org/drawingml/2006/main">
            <a:off x="8550275" y="27336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84B46217-D5FF-42D0-9796-85AD2A95BA5A}"/>
              </a:ext>
            </a:extLst>
          </p:cNvPr>
          <p:cNvSpPr>
            <a:spLocks xmlns:a="http://schemas.openxmlformats.org/drawingml/2006/main" noGrp="1"/>
          </p:cNvSpPr>
          <p:nvPr/>
        </p:nvSpPr>
        <p:spPr>
          <a:xfrm xmlns:a="http://schemas.openxmlformats.org/drawingml/2006/main">
            <a:off x="3133725" y="2819400"/>
            <a:ext cx="808672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0" name="">
            <a:extLst xmlns:a="http://schemas.openxmlformats.org/drawingml/2006/main">
              <a:ext uri="{FF2B5EF4-FFF2-40B4-BE49-F238E27FC236}">
                <a16:creationId xmlns:a16="http://schemas.microsoft.com/office/drawing/2014/main" id="{FA03BFFC-95F3-4AB5-A686-C9C881CDCB9C}"/>
              </a:ext>
            </a:extLst>
          </p:cNvPr>
          <p:cNvSpPr>
            <a:spLocks xmlns:a="http://schemas.openxmlformats.org/drawingml/2006/main" noGrp="1"/>
          </p:cNvSpPr>
          <p:nvPr/>
        </p:nvSpPr>
        <p:spPr>
          <a:xfrm xmlns:a="http://schemas.openxmlformats.org/drawingml/2006/main" rot="0">
            <a:off x="3209925" y="2781300"/>
            <a:ext cx="79343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Nextremerと合意し格納開始</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海外販売先へ再打診</a:t>
            </a:r>
          </a:p>
        </p:txBody>
      </p:sp>
      <p:sp>
        <p:nvSpPr>
          <p:cNvPr id="31" name="">
            <a:extLst xmlns:a="http://schemas.openxmlformats.org/drawingml/2006/main">
              <a:ext uri="{FF2B5EF4-FFF2-40B4-BE49-F238E27FC236}">
                <a16:creationId xmlns:a16="http://schemas.microsoft.com/office/drawing/2014/main" id="{0EFEFD54-92C1-4B23-9FAC-E762A9C064A8}"/>
              </a:ext>
            </a:extLst>
          </p:cNvPr>
          <p:cNvSpPr>
            <a:spLocks xmlns:a="http://schemas.openxmlformats.org/drawingml/2006/main" noGrp="1"/>
          </p:cNvSpPr>
          <p:nvPr/>
        </p:nvSpPr>
        <p:spPr>
          <a:xfrm xmlns:a="http://schemas.openxmlformats.org/drawingml/2006/main">
            <a:off x="723900" y="331470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2" name="">
            <a:extLst xmlns:a="http://schemas.openxmlformats.org/drawingml/2006/main">
              <a:ext uri="{FF2B5EF4-FFF2-40B4-BE49-F238E27FC236}">
                <a16:creationId xmlns:a16="http://schemas.microsoft.com/office/drawing/2014/main" id="{CB35D867-FA72-4574-A5CE-549EA1EF6EA2}"/>
              </a:ext>
            </a:extLst>
          </p:cNvPr>
          <p:cNvSpPr>
            <a:spLocks xmlns:a="http://schemas.openxmlformats.org/drawingml/2006/main" noGrp="1"/>
          </p:cNvSpPr>
          <p:nvPr/>
        </p:nvSpPr>
        <p:spPr>
          <a:xfrm xmlns:a="http://schemas.openxmlformats.org/drawingml/2006/main" rot="0">
            <a:off x="857250" y="345757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撮影デバイス・知財</a:t>
            </a:r>
          </a:p>
        </p:txBody>
      </p:sp>
      <p:sp>
        <p:nvSpPr>
          <p:cNvPr id="33" name="">
            <a:extLst xmlns:a="http://schemas.openxmlformats.org/drawingml/2006/main">
              <a:ext uri="{FF2B5EF4-FFF2-40B4-BE49-F238E27FC236}">
                <a16:creationId xmlns:a16="http://schemas.microsoft.com/office/drawing/2014/main" id="{A5BDCAEC-72A4-4594-9D9A-1DCA2F6B796B}"/>
              </a:ext>
            </a:extLst>
          </p:cNvPr>
          <p:cNvSpPr>
            <a:spLocks xmlns:a="http://schemas.openxmlformats.org/drawingml/2006/main" noGrp="1"/>
          </p:cNvSpPr>
          <p:nvPr/>
        </p:nvSpPr>
        <p:spPr>
          <a:xfrm xmlns:a="http://schemas.openxmlformats.org/drawingml/2006/main">
            <a:off x="3057525" y="331470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4" name="">
            <a:extLst xmlns:a="http://schemas.openxmlformats.org/drawingml/2006/main">
              <a:ext uri="{FF2B5EF4-FFF2-40B4-BE49-F238E27FC236}">
                <a16:creationId xmlns:a16="http://schemas.microsoft.com/office/drawing/2014/main" id="{C88A9B88-BAB7-43CB-BAD5-4B833C6E309D}"/>
              </a:ext>
            </a:extLst>
          </p:cNvPr>
          <p:cNvSpPr>
            <a:spLocks xmlns:a="http://schemas.openxmlformats.org/drawingml/2006/main" noGrp="1"/>
          </p:cNvSpPr>
          <p:nvPr/>
        </p:nvSpPr>
        <p:spPr>
          <a:xfrm xmlns:a="http://schemas.openxmlformats.org/drawingml/2006/main">
            <a:off x="5803900" y="331470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5" name="">
            <a:extLst xmlns:a="http://schemas.openxmlformats.org/drawingml/2006/main">
              <a:ext uri="{FF2B5EF4-FFF2-40B4-BE49-F238E27FC236}">
                <a16:creationId xmlns:a16="http://schemas.microsoft.com/office/drawing/2014/main" id="{3889A2B5-4C14-4764-8C5F-13A68D57AC74}"/>
              </a:ext>
            </a:extLst>
          </p:cNvPr>
          <p:cNvSpPr>
            <a:spLocks xmlns:a="http://schemas.openxmlformats.org/drawingml/2006/main" noGrp="1"/>
          </p:cNvSpPr>
          <p:nvPr/>
        </p:nvSpPr>
        <p:spPr>
          <a:xfrm xmlns:a="http://schemas.openxmlformats.org/drawingml/2006/main">
            <a:off x="8550275" y="331470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6" name="">
            <a:extLst xmlns:a="http://schemas.openxmlformats.org/drawingml/2006/main">
              <a:ext uri="{FF2B5EF4-FFF2-40B4-BE49-F238E27FC236}">
                <a16:creationId xmlns:a16="http://schemas.microsoft.com/office/drawing/2014/main" id="{3251AAB5-D373-4FCA-83DA-F22BC01000FA}"/>
              </a:ext>
            </a:extLst>
          </p:cNvPr>
          <p:cNvSpPr>
            <a:spLocks xmlns:a="http://schemas.openxmlformats.org/drawingml/2006/main" noGrp="1"/>
          </p:cNvSpPr>
          <p:nvPr/>
        </p:nvSpPr>
        <p:spPr>
          <a:xfrm xmlns:a="http://schemas.openxmlformats.org/drawingml/2006/main">
            <a:off x="3133725" y="3400425"/>
            <a:ext cx="808672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7" name="">
            <a:extLst xmlns:a="http://schemas.openxmlformats.org/drawingml/2006/main">
              <a:ext uri="{FF2B5EF4-FFF2-40B4-BE49-F238E27FC236}">
                <a16:creationId xmlns:a16="http://schemas.microsoft.com/office/drawing/2014/main" id="{3CF16566-5687-41AD-B2FD-FB06B593909A}"/>
              </a:ext>
            </a:extLst>
          </p:cNvPr>
          <p:cNvSpPr>
            <a:spLocks xmlns:a="http://schemas.openxmlformats.org/drawingml/2006/main" noGrp="1"/>
          </p:cNvSpPr>
          <p:nvPr/>
        </p:nvSpPr>
        <p:spPr>
          <a:xfrm xmlns:a="http://schemas.openxmlformats.org/drawingml/2006/main" rot="0">
            <a:off x="3209925" y="3362325"/>
            <a:ext cx="79343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設計で協働できる企業へ打診</a:t>
            </a:r>
          </a:p>
        </p:txBody>
      </p:sp>
      <p:sp>
        <p:nvSpPr>
          <p:cNvPr id="38" name="">
            <a:extLst xmlns:a="http://schemas.openxmlformats.org/drawingml/2006/main">
              <a:ext uri="{FF2B5EF4-FFF2-40B4-BE49-F238E27FC236}">
                <a16:creationId xmlns:a16="http://schemas.microsoft.com/office/drawing/2014/main" id="{542F96AD-600E-4930-84A3-A62050010A69}"/>
              </a:ext>
            </a:extLst>
          </p:cNvPr>
          <p:cNvSpPr>
            <a:spLocks xmlns:a="http://schemas.openxmlformats.org/drawingml/2006/main" noGrp="1"/>
          </p:cNvSpPr>
          <p:nvPr/>
        </p:nvSpPr>
        <p:spPr>
          <a:xfrm xmlns:a="http://schemas.openxmlformats.org/drawingml/2006/main">
            <a:off x="723900" y="389572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9" name="">
            <a:extLst xmlns:a="http://schemas.openxmlformats.org/drawingml/2006/main">
              <a:ext uri="{FF2B5EF4-FFF2-40B4-BE49-F238E27FC236}">
                <a16:creationId xmlns:a16="http://schemas.microsoft.com/office/drawing/2014/main" id="{D403ACB9-A6E3-4483-8FAE-C77EBD02A3B8}"/>
              </a:ext>
            </a:extLst>
          </p:cNvPr>
          <p:cNvSpPr>
            <a:spLocks xmlns:a="http://schemas.openxmlformats.org/drawingml/2006/main" noGrp="1"/>
          </p:cNvSpPr>
          <p:nvPr/>
        </p:nvSpPr>
        <p:spPr>
          <a:xfrm xmlns:a="http://schemas.openxmlformats.org/drawingml/2006/main" rot="0">
            <a:off x="857250" y="403860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ロボット企業・大学</a:t>
            </a:r>
          </a:p>
        </p:txBody>
      </p:sp>
      <p:sp>
        <p:nvSpPr>
          <p:cNvPr id="40" name="">
            <a:extLst xmlns:a="http://schemas.openxmlformats.org/drawingml/2006/main">
              <a:ext uri="{FF2B5EF4-FFF2-40B4-BE49-F238E27FC236}">
                <a16:creationId xmlns:a16="http://schemas.microsoft.com/office/drawing/2014/main" id="{A6956AFF-1CEF-46AF-AB2A-42093CE36648}"/>
              </a:ext>
            </a:extLst>
          </p:cNvPr>
          <p:cNvSpPr>
            <a:spLocks xmlns:a="http://schemas.openxmlformats.org/drawingml/2006/main" noGrp="1"/>
          </p:cNvSpPr>
          <p:nvPr/>
        </p:nvSpPr>
        <p:spPr>
          <a:xfrm xmlns:a="http://schemas.openxmlformats.org/drawingml/2006/main">
            <a:off x="3057525" y="389572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1" name="">
            <a:extLst xmlns:a="http://schemas.openxmlformats.org/drawingml/2006/main">
              <a:ext uri="{FF2B5EF4-FFF2-40B4-BE49-F238E27FC236}">
                <a16:creationId xmlns:a16="http://schemas.microsoft.com/office/drawing/2014/main" id="{4FEA0BC6-159B-4C95-8544-0EC6587F55EA}"/>
              </a:ext>
            </a:extLst>
          </p:cNvPr>
          <p:cNvSpPr>
            <a:spLocks xmlns:a="http://schemas.openxmlformats.org/drawingml/2006/main" noGrp="1"/>
          </p:cNvSpPr>
          <p:nvPr/>
        </p:nvSpPr>
        <p:spPr>
          <a:xfrm xmlns:a="http://schemas.openxmlformats.org/drawingml/2006/main">
            <a:off x="5803900" y="389572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2" name="">
            <a:extLst xmlns:a="http://schemas.openxmlformats.org/drawingml/2006/main">
              <a:ext uri="{FF2B5EF4-FFF2-40B4-BE49-F238E27FC236}">
                <a16:creationId xmlns:a16="http://schemas.microsoft.com/office/drawing/2014/main" id="{C5F9EE40-5FC5-4D89-B136-35E831E647A1}"/>
              </a:ext>
            </a:extLst>
          </p:cNvPr>
          <p:cNvSpPr>
            <a:spLocks xmlns:a="http://schemas.openxmlformats.org/drawingml/2006/main" noGrp="1"/>
          </p:cNvSpPr>
          <p:nvPr/>
        </p:nvSpPr>
        <p:spPr>
          <a:xfrm xmlns:a="http://schemas.openxmlformats.org/drawingml/2006/main">
            <a:off x="8550275" y="389572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3" name="">
            <a:extLst xmlns:a="http://schemas.openxmlformats.org/drawingml/2006/main">
              <a:ext uri="{FF2B5EF4-FFF2-40B4-BE49-F238E27FC236}">
                <a16:creationId xmlns:a16="http://schemas.microsoft.com/office/drawing/2014/main" id="{04B93B8E-93B4-4AFA-B398-8D5CACD863EC}"/>
              </a:ext>
            </a:extLst>
          </p:cNvPr>
          <p:cNvSpPr>
            <a:spLocks xmlns:a="http://schemas.openxmlformats.org/drawingml/2006/main" noGrp="1"/>
          </p:cNvSpPr>
          <p:nvPr/>
        </p:nvSpPr>
        <p:spPr>
          <a:xfrm xmlns:a="http://schemas.openxmlformats.org/drawingml/2006/main">
            <a:off x="723900" y="44767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4" name="">
            <a:extLst xmlns:a="http://schemas.openxmlformats.org/drawingml/2006/main">
              <a:ext uri="{FF2B5EF4-FFF2-40B4-BE49-F238E27FC236}">
                <a16:creationId xmlns:a16="http://schemas.microsoft.com/office/drawing/2014/main" id="{52395EEA-1907-425E-BF97-567288A88A87}"/>
              </a:ext>
            </a:extLst>
          </p:cNvPr>
          <p:cNvSpPr>
            <a:spLocks xmlns:a="http://schemas.openxmlformats.org/drawingml/2006/main" noGrp="1"/>
          </p:cNvSpPr>
          <p:nvPr/>
        </p:nvSpPr>
        <p:spPr>
          <a:xfrm xmlns:a="http://schemas.openxmlformats.org/drawingml/2006/main" rot="0">
            <a:off x="857250" y="46196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契約・法務</a:t>
            </a:r>
          </a:p>
        </p:txBody>
      </p:sp>
      <p:sp>
        <p:nvSpPr>
          <p:cNvPr id="45" name="">
            <a:extLst xmlns:a="http://schemas.openxmlformats.org/drawingml/2006/main">
              <a:ext uri="{FF2B5EF4-FFF2-40B4-BE49-F238E27FC236}">
                <a16:creationId xmlns:a16="http://schemas.microsoft.com/office/drawing/2014/main" id="{CACB4027-5AFD-4265-908F-440A8F6D6DEF}"/>
              </a:ext>
            </a:extLst>
          </p:cNvPr>
          <p:cNvSpPr>
            <a:spLocks xmlns:a="http://schemas.openxmlformats.org/drawingml/2006/main" noGrp="1"/>
          </p:cNvSpPr>
          <p:nvPr/>
        </p:nvSpPr>
        <p:spPr>
          <a:xfrm xmlns:a="http://schemas.openxmlformats.org/drawingml/2006/main">
            <a:off x="3057525" y="44767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6" name="">
            <a:extLst xmlns:a="http://schemas.openxmlformats.org/drawingml/2006/main">
              <a:ext uri="{FF2B5EF4-FFF2-40B4-BE49-F238E27FC236}">
                <a16:creationId xmlns:a16="http://schemas.microsoft.com/office/drawing/2014/main" id="{AD5D26EF-E255-4D68-BB5E-3E140BA23EF7}"/>
              </a:ext>
            </a:extLst>
          </p:cNvPr>
          <p:cNvSpPr>
            <a:spLocks xmlns:a="http://schemas.openxmlformats.org/drawingml/2006/main" noGrp="1"/>
          </p:cNvSpPr>
          <p:nvPr/>
        </p:nvSpPr>
        <p:spPr>
          <a:xfrm xmlns:a="http://schemas.openxmlformats.org/drawingml/2006/main">
            <a:off x="5803900" y="44767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7" name="">
            <a:extLst xmlns:a="http://schemas.openxmlformats.org/drawingml/2006/main">
              <a:ext uri="{FF2B5EF4-FFF2-40B4-BE49-F238E27FC236}">
                <a16:creationId xmlns:a16="http://schemas.microsoft.com/office/drawing/2014/main" id="{EE070E96-362D-4278-B7EE-ECA053A557C5}"/>
              </a:ext>
            </a:extLst>
          </p:cNvPr>
          <p:cNvSpPr>
            <a:spLocks xmlns:a="http://schemas.openxmlformats.org/drawingml/2006/main" noGrp="1"/>
          </p:cNvSpPr>
          <p:nvPr/>
        </p:nvSpPr>
        <p:spPr>
          <a:xfrm xmlns:a="http://schemas.openxmlformats.org/drawingml/2006/main">
            <a:off x="8550275" y="44767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8" name="">
            <a:extLst xmlns:a="http://schemas.openxmlformats.org/drawingml/2006/main">
              <a:ext uri="{FF2B5EF4-FFF2-40B4-BE49-F238E27FC236}">
                <a16:creationId xmlns:a16="http://schemas.microsoft.com/office/drawing/2014/main" id="{CCFBEB3A-B93B-4E60-B84E-EB69D600B1D4}"/>
              </a:ext>
            </a:extLst>
          </p:cNvPr>
          <p:cNvSpPr>
            <a:spLocks xmlns:a="http://schemas.openxmlformats.org/drawingml/2006/main" noGrp="1"/>
          </p:cNvSpPr>
          <p:nvPr/>
        </p:nvSpPr>
        <p:spPr>
          <a:xfrm xmlns:a="http://schemas.openxmlformats.org/drawingml/2006/main">
            <a:off x="5880100" y="4562475"/>
            <a:ext cx="259397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9" name="">
            <a:extLst xmlns:a="http://schemas.openxmlformats.org/drawingml/2006/main">
              <a:ext uri="{FF2B5EF4-FFF2-40B4-BE49-F238E27FC236}">
                <a16:creationId xmlns:a16="http://schemas.microsoft.com/office/drawing/2014/main" id="{77CAF64A-53FC-4915-AF56-1893E2CAE2B2}"/>
              </a:ext>
            </a:extLst>
          </p:cNvPr>
          <p:cNvSpPr>
            <a:spLocks xmlns:a="http://schemas.openxmlformats.org/drawingml/2006/main" noGrp="1"/>
          </p:cNvSpPr>
          <p:nvPr/>
        </p:nvSpPr>
        <p:spPr>
          <a:xfrm xmlns:a="http://schemas.openxmlformats.org/drawingml/2006/main" rot="0">
            <a:off x="5956300" y="4524375"/>
            <a:ext cx="2441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合意フローと</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データ取扱いを確認</a:t>
            </a:r>
          </a:p>
        </p:txBody>
      </p:sp>
      <p:sp>
        <p:nvSpPr>
          <p:cNvPr id="50" name="">
            <a:extLst xmlns:a="http://schemas.openxmlformats.org/drawingml/2006/main">
              <a:ext uri="{FF2B5EF4-FFF2-40B4-BE49-F238E27FC236}">
                <a16:creationId xmlns:a16="http://schemas.microsoft.com/office/drawing/2014/main" id="{8ECE13DE-E40C-49E1-B197-4D6BD682756A}"/>
              </a:ext>
            </a:extLst>
          </p:cNvPr>
          <p:cNvSpPr>
            <a:spLocks xmlns:a="http://schemas.openxmlformats.org/drawingml/2006/main" noGrp="1"/>
          </p:cNvSpPr>
          <p:nvPr/>
        </p:nvSpPr>
        <p:spPr>
          <a:xfrm xmlns:a="http://schemas.openxmlformats.org/drawingml/2006/main">
            <a:off x="723900" y="50577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1" name="">
            <a:extLst xmlns:a="http://schemas.openxmlformats.org/drawingml/2006/main">
              <a:ext uri="{FF2B5EF4-FFF2-40B4-BE49-F238E27FC236}">
                <a16:creationId xmlns:a16="http://schemas.microsoft.com/office/drawing/2014/main" id="{FD402AFD-4A8D-400B-9D2B-BF70ECEB65E0}"/>
              </a:ext>
            </a:extLst>
          </p:cNvPr>
          <p:cNvSpPr>
            <a:spLocks xmlns:a="http://schemas.openxmlformats.org/drawingml/2006/main" noGrp="1"/>
          </p:cNvSpPr>
          <p:nvPr/>
        </p:nvSpPr>
        <p:spPr>
          <a:xfrm xmlns:a="http://schemas.openxmlformats.org/drawingml/2006/main" rot="0">
            <a:off x="857250" y="52006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ロボットの導入・開発</a:t>
            </a:r>
          </a:p>
        </p:txBody>
      </p:sp>
      <p:sp>
        <p:nvSpPr>
          <p:cNvPr id="52" name="">
            <a:extLst xmlns:a="http://schemas.openxmlformats.org/drawingml/2006/main">
              <a:ext uri="{FF2B5EF4-FFF2-40B4-BE49-F238E27FC236}">
                <a16:creationId xmlns:a16="http://schemas.microsoft.com/office/drawing/2014/main" id="{9BFAE91C-41CC-4CF3-98C1-9D9F69B06769}"/>
              </a:ext>
            </a:extLst>
          </p:cNvPr>
          <p:cNvSpPr>
            <a:spLocks xmlns:a="http://schemas.openxmlformats.org/drawingml/2006/main" noGrp="1"/>
          </p:cNvSpPr>
          <p:nvPr/>
        </p:nvSpPr>
        <p:spPr>
          <a:xfrm xmlns:a="http://schemas.openxmlformats.org/drawingml/2006/main">
            <a:off x="3057525" y="50577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3" name="">
            <a:extLst xmlns:a="http://schemas.openxmlformats.org/drawingml/2006/main">
              <a:ext uri="{FF2B5EF4-FFF2-40B4-BE49-F238E27FC236}">
                <a16:creationId xmlns:a16="http://schemas.microsoft.com/office/drawing/2014/main" id="{73B5D3B5-0522-439C-9A4F-634149A5CFBC}"/>
              </a:ext>
            </a:extLst>
          </p:cNvPr>
          <p:cNvSpPr>
            <a:spLocks xmlns:a="http://schemas.openxmlformats.org/drawingml/2006/main" noGrp="1"/>
          </p:cNvSpPr>
          <p:nvPr/>
        </p:nvSpPr>
        <p:spPr>
          <a:xfrm xmlns:a="http://schemas.openxmlformats.org/drawingml/2006/main">
            <a:off x="5803900" y="50577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4" name="">
            <a:extLst xmlns:a="http://schemas.openxmlformats.org/drawingml/2006/main">
              <a:ext uri="{FF2B5EF4-FFF2-40B4-BE49-F238E27FC236}">
                <a16:creationId xmlns:a16="http://schemas.microsoft.com/office/drawing/2014/main" id="{05593597-CFDE-4847-A171-8BCF96A022C3}"/>
              </a:ext>
            </a:extLst>
          </p:cNvPr>
          <p:cNvSpPr>
            <a:spLocks xmlns:a="http://schemas.openxmlformats.org/drawingml/2006/main" noGrp="1"/>
          </p:cNvSpPr>
          <p:nvPr/>
        </p:nvSpPr>
        <p:spPr>
          <a:xfrm xmlns:a="http://schemas.openxmlformats.org/drawingml/2006/main">
            <a:off x="8550275" y="50577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Tree>
    <p:extLst>
      <p:ext uri="{BB962C8B-B14F-4D97-AF65-F5344CB8AC3E}">
        <p14:creationId xmlns:p14="http://schemas.microsoft.com/office/powerpoint/2010/main" val="2053291487"/>
      </p:ext>
    </p:extLst>
  </p:cSld>
</p:sld>
</file>

<file path=ppt/slides/slide2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65" name="">
            <a:extLst xmlns:a="http://schemas.openxmlformats.org/drawingml/2006/main">
              <a:ext uri="{FF2B5EF4-FFF2-40B4-BE49-F238E27FC236}">
                <a16:creationId xmlns:a16="http://schemas.microsoft.com/office/drawing/2014/main" id="{FE11BE78-2C60-4643-B5A2-6734EA6755D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5B364E7-E387-438A-A4CF-24746050A122}"/>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今後の見通し｜2027</a:t>
            </a:r>
          </a:p>
        </p:txBody>
      </p:sp>
      <p:sp>
        <p:nvSpPr>
          <p:cNvPr id="3" name="">
            <a:extLst xmlns:a="http://schemas.openxmlformats.org/drawingml/2006/main">
              <a:ext uri="{FF2B5EF4-FFF2-40B4-BE49-F238E27FC236}">
                <a16:creationId xmlns:a16="http://schemas.microsoft.com/office/drawing/2014/main" id="{EEE98247-2E15-40F9-825A-5EA3F14E2306}"/>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9904AC3-A7B8-4D39-B23D-28AE65794442}"/>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23</a:t>
            </a:r>
          </a:p>
        </p:txBody>
      </p:sp>
      <p:sp>
        <p:nvSpPr>
          <p:cNvPr id="5" name="">
            <a:extLst xmlns:a="http://schemas.openxmlformats.org/drawingml/2006/main">
              <a:ext uri="{FF2B5EF4-FFF2-40B4-BE49-F238E27FC236}">
                <a16:creationId xmlns:a16="http://schemas.microsoft.com/office/drawing/2014/main" id="{E5920529-6D51-427E-A36F-1B983F18CE32}"/>
              </a:ext>
            </a:extLst>
          </p:cNvPr>
          <p:cNvSpPr>
            <a:spLocks xmlns:a="http://schemas.openxmlformats.org/drawingml/2006/main" noGrp="1"/>
          </p:cNvSpPr>
          <p:nvPr/>
        </p:nvSpPr>
        <p:spPr>
          <a:xfrm xmlns:a="http://schemas.openxmlformats.org/drawingml/2006/main">
            <a:off x="723900" y="1714500"/>
            <a:ext cx="2333625" cy="4381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DB5846D-1F18-433B-B595-4B3B7F47D1CD}"/>
              </a:ext>
            </a:extLst>
          </p:cNvPr>
          <p:cNvSpPr>
            <a:spLocks xmlns:a="http://schemas.openxmlformats.org/drawingml/2006/main" noGrp="1"/>
          </p:cNvSpPr>
          <p:nvPr/>
        </p:nvSpPr>
        <p:spPr>
          <a:xfrm xmlns:a="http://schemas.openxmlformats.org/drawingml/2006/main" rot="0">
            <a:off x="857250" y="1819275"/>
            <a:ext cx="2066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領域</a:t>
            </a:r>
          </a:p>
        </p:txBody>
      </p:sp>
      <p:sp>
        <p:nvSpPr>
          <p:cNvPr id="7" name="">
            <a:extLst xmlns:a="http://schemas.openxmlformats.org/drawingml/2006/main">
              <a:ext uri="{FF2B5EF4-FFF2-40B4-BE49-F238E27FC236}">
                <a16:creationId xmlns:a16="http://schemas.microsoft.com/office/drawing/2014/main" id="{9AF1DF16-53F7-4578-817E-3E12B8497909}"/>
              </a:ext>
            </a:extLst>
          </p:cNvPr>
          <p:cNvSpPr>
            <a:spLocks xmlns:a="http://schemas.openxmlformats.org/drawingml/2006/main" noGrp="1"/>
          </p:cNvSpPr>
          <p:nvPr/>
        </p:nvSpPr>
        <p:spPr>
          <a:xfrm xmlns:a="http://schemas.openxmlformats.org/drawingml/2006/main">
            <a:off x="3057525"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6D2B1F7B-599E-4C33-8717-3C683A003514}"/>
              </a:ext>
            </a:extLst>
          </p:cNvPr>
          <p:cNvSpPr>
            <a:spLocks xmlns:a="http://schemas.openxmlformats.org/drawingml/2006/main" noGrp="1"/>
          </p:cNvSpPr>
          <p:nvPr/>
        </p:nvSpPr>
        <p:spPr>
          <a:xfrm xmlns:a="http://schemas.openxmlformats.org/drawingml/2006/main" rot="0">
            <a:off x="3057525"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Q1</a:t>
            </a:r>
          </a:p>
        </p:txBody>
      </p:sp>
      <p:sp>
        <p:nvSpPr>
          <p:cNvPr id="9" name="">
            <a:extLst xmlns:a="http://schemas.openxmlformats.org/drawingml/2006/main">
              <a:ext uri="{FF2B5EF4-FFF2-40B4-BE49-F238E27FC236}">
                <a16:creationId xmlns:a16="http://schemas.microsoft.com/office/drawing/2014/main" id="{E2AB6CAE-746A-470C-AA94-18627411F3AF}"/>
              </a:ext>
            </a:extLst>
          </p:cNvPr>
          <p:cNvSpPr>
            <a:spLocks xmlns:a="http://schemas.openxmlformats.org/drawingml/2006/main" noGrp="1"/>
          </p:cNvSpPr>
          <p:nvPr/>
        </p:nvSpPr>
        <p:spPr>
          <a:xfrm xmlns:a="http://schemas.openxmlformats.org/drawingml/2006/main">
            <a:off x="5117306"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0" name="">
            <a:extLst xmlns:a="http://schemas.openxmlformats.org/drawingml/2006/main">
              <a:ext uri="{FF2B5EF4-FFF2-40B4-BE49-F238E27FC236}">
                <a16:creationId xmlns:a16="http://schemas.microsoft.com/office/drawing/2014/main" id="{DC1C1180-37B6-4ADD-87C0-CB0B3D33C0EA}"/>
              </a:ext>
            </a:extLst>
          </p:cNvPr>
          <p:cNvSpPr>
            <a:spLocks xmlns:a="http://schemas.openxmlformats.org/drawingml/2006/main" noGrp="1"/>
          </p:cNvSpPr>
          <p:nvPr/>
        </p:nvSpPr>
        <p:spPr>
          <a:xfrm xmlns:a="http://schemas.openxmlformats.org/drawingml/2006/main" rot="0">
            <a:off x="5117306"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Q2</a:t>
            </a:r>
          </a:p>
        </p:txBody>
      </p:sp>
      <p:sp>
        <p:nvSpPr>
          <p:cNvPr id="11" name="">
            <a:extLst xmlns:a="http://schemas.openxmlformats.org/drawingml/2006/main">
              <a:ext uri="{FF2B5EF4-FFF2-40B4-BE49-F238E27FC236}">
                <a16:creationId xmlns:a16="http://schemas.microsoft.com/office/drawing/2014/main" id="{95ACFFEE-7C62-4780-9D83-0CC4C099F2CB}"/>
              </a:ext>
            </a:extLst>
          </p:cNvPr>
          <p:cNvSpPr>
            <a:spLocks xmlns:a="http://schemas.openxmlformats.org/drawingml/2006/main" noGrp="1"/>
          </p:cNvSpPr>
          <p:nvPr/>
        </p:nvSpPr>
        <p:spPr>
          <a:xfrm xmlns:a="http://schemas.openxmlformats.org/drawingml/2006/main">
            <a:off x="7177088"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2" name="">
            <a:extLst xmlns:a="http://schemas.openxmlformats.org/drawingml/2006/main">
              <a:ext uri="{FF2B5EF4-FFF2-40B4-BE49-F238E27FC236}">
                <a16:creationId xmlns:a16="http://schemas.microsoft.com/office/drawing/2014/main" id="{14B0EB62-4E68-446C-8005-BBFFA66CE505}"/>
              </a:ext>
            </a:extLst>
          </p:cNvPr>
          <p:cNvSpPr>
            <a:spLocks xmlns:a="http://schemas.openxmlformats.org/drawingml/2006/main" noGrp="1"/>
          </p:cNvSpPr>
          <p:nvPr/>
        </p:nvSpPr>
        <p:spPr>
          <a:xfrm xmlns:a="http://schemas.openxmlformats.org/drawingml/2006/main" rot="0">
            <a:off x="7177088"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Q3</a:t>
            </a:r>
          </a:p>
        </p:txBody>
      </p:sp>
      <p:sp>
        <p:nvSpPr>
          <p:cNvPr id="13" name="">
            <a:extLst xmlns:a="http://schemas.openxmlformats.org/drawingml/2006/main">
              <a:ext uri="{FF2B5EF4-FFF2-40B4-BE49-F238E27FC236}">
                <a16:creationId xmlns:a16="http://schemas.microsoft.com/office/drawing/2014/main" id="{E34A46FB-A7FF-4154-91BF-795A713E159C}"/>
              </a:ext>
            </a:extLst>
          </p:cNvPr>
          <p:cNvSpPr>
            <a:spLocks xmlns:a="http://schemas.openxmlformats.org/drawingml/2006/main" noGrp="1"/>
          </p:cNvSpPr>
          <p:nvPr/>
        </p:nvSpPr>
        <p:spPr>
          <a:xfrm xmlns:a="http://schemas.openxmlformats.org/drawingml/2006/main">
            <a:off x="9236869"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4" name="">
            <a:extLst xmlns:a="http://schemas.openxmlformats.org/drawingml/2006/main">
              <a:ext uri="{FF2B5EF4-FFF2-40B4-BE49-F238E27FC236}">
                <a16:creationId xmlns:a16="http://schemas.microsoft.com/office/drawing/2014/main" id="{057F8A01-2BE5-4C7C-8B7A-14DF4A11DD55}"/>
              </a:ext>
            </a:extLst>
          </p:cNvPr>
          <p:cNvSpPr>
            <a:spLocks xmlns:a="http://schemas.openxmlformats.org/drawingml/2006/main" noGrp="1"/>
          </p:cNvSpPr>
          <p:nvPr/>
        </p:nvSpPr>
        <p:spPr>
          <a:xfrm xmlns:a="http://schemas.openxmlformats.org/drawingml/2006/main" rot="0">
            <a:off x="9236869"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Q4</a:t>
            </a:r>
          </a:p>
        </p:txBody>
      </p:sp>
      <p:sp>
        <p:nvSpPr>
          <p:cNvPr id="15" name="">
            <a:extLst xmlns:a="http://schemas.openxmlformats.org/drawingml/2006/main">
              <a:ext uri="{FF2B5EF4-FFF2-40B4-BE49-F238E27FC236}">
                <a16:creationId xmlns:a16="http://schemas.microsoft.com/office/drawing/2014/main" id="{605707BB-FBC7-4955-9407-AC5725699F32}"/>
              </a:ext>
            </a:extLst>
          </p:cNvPr>
          <p:cNvSpPr>
            <a:spLocks xmlns:a="http://schemas.openxmlformats.org/drawingml/2006/main" noGrp="1"/>
          </p:cNvSpPr>
          <p:nvPr/>
        </p:nvSpPr>
        <p:spPr>
          <a:xfrm xmlns:a="http://schemas.openxmlformats.org/drawingml/2006/main">
            <a:off x="723900" y="21526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973526C3-8423-4278-9D90-8753C7D49C23}"/>
              </a:ext>
            </a:extLst>
          </p:cNvPr>
          <p:cNvSpPr>
            <a:spLocks xmlns:a="http://schemas.openxmlformats.org/drawingml/2006/main" noGrp="1"/>
          </p:cNvSpPr>
          <p:nvPr/>
        </p:nvSpPr>
        <p:spPr>
          <a:xfrm xmlns:a="http://schemas.openxmlformats.org/drawingml/2006/main" rot="0">
            <a:off x="857250" y="22955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撮影規模・撮影先</a:t>
            </a:r>
          </a:p>
        </p:txBody>
      </p:sp>
      <p:sp>
        <p:nvSpPr>
          <p:cNvPr id="17" name="">
            <a:extLst xmlns:a="http://schemas.openxmlformats.org/drawingml/2006/main">
              <a:ext uri="{FF2B5EF4-FFF2-40B4-BE49-F238E27FC236}">
                <a16:creationId xmlns:a16="http://schemas.microsoft.com/office/drawing/2014/main" id="{0CD4B2D4-C35D-490D-8C0C-F31419EE0B89}"/>
              </a:ext>
            </a:extLst>
          </p:cNvPr>
          <p:cNvSpPr>
            <a:spLocks xmlns:a="http://schemas.openxmlformats.org/drawingml/2006/main" noGrp="1"/>
          </p:cNvSpPr>
          <p:nvPr/>
        </p:nvSpPr>
        <p:spPr>
          <a:xfrm xmlns:a="http://schemas.openxmlformats.org/drawingml/2006/main">
            <a:off x="3057525"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DA7B75BC-518C-444D-A962-7745D6478E2E}"/>
              </a:ext>
            </a:extLst>
          </p:cNvPr>
          <p:cNvSpPr>
            <a:spLocks xmlns:a="http://schemas.openxmlformats.org/drawingml/2006/main" noGrp="1"/>
          </p:cNvSpPr>
          <p:nvPr/>
        </p:nvSpPr>
        <p:spPr>
          <a:xfrm xmlns:a="http://schemas.openxmlformats.org/drawingml/2006/main">
            <a:off x="5117306"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9" name="">
            <a:extLst xmlns:a="http://schemas.openxmlformats.org/drawingml/2006/main">
              <a:ext uri="{FF2B5EF4-FFF2-40B4-BE49-F238E27FC236}">
                <a16:creationId xmlns:a16="http://schemas.microsoft.com/office/drawing/2014/main" id="{A514B891-AC3B-44F2-8CB4-B61ADFE7D8E0}"/>
              </a:ext>
            </a:extLst>
          </p:cNvPr>
          <p:cNvSpPr>
            <a:spLocks xmlns:a="http://schemas.openxmlformats.org/drawingml/2006/main" noGrp="1"/>
          </p:cNvSpPr>
          <p:nvPr/>
        </p:nvSpPr>
        <p:spPr>
          <a:xfrm xmlns:a="http://schemas.openxmlformats.org/drawingml/2006/main">
            <a:off x="7177088"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0" name="">
            <a:extLst xmlns:a="http://schemas.openxmlformats.org/drawingml/2006/main">
              <a:ext uri="{FF2B5EF4-FFF2-40B4-BE49-F238E27FC236}">
                <a16:creationId xmlns:a16="http://schemas.microsoft.com/office/drawing/2014/main" id="{EBCB4B66-8361-47E5-88E5-65CA675E7177}"/>
              </a:ext>
            </a:extLst>
          </p:cNvPr>
          <p:cNvSpPr>
            <a:spLocks xmlns:a="http://schemas.openxmlformats.org/drawingml/2006/main" noGrp="1"/>
          </p:cNvSpPr>
          <p:nvPr/>
        </p:nvSpPr>
        <p:spPr>
          <a:xfrm xmlns:a="http://schemas.openxmlformats.org/drawingml/2006/main">
            <a:off x="9236869"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1" name="">
            <a:extLst xmlns:a="http://schemas.openxmlformats.org/drawingml/2006/main">
              <a:ext uri="{FF2B5EF4-FFF2-40B4-BE49-F238E27FC236}">
                <a16:creationId xmlns:a16="http://schemas.microsoft.com/office/drawing/2014/main" id="{26AB43BB-D9A5-4542-83D7-B02A538E5394}"/>
              </a:ext>
            </a:extLst>
          </p:cNvPr>
          <p:cNvSpPr>
            <a:spLocks xmlns:a="http://schemas.openxmlformats.org/drawingml/2006/main" noGrp="1"/>
          </p:cNvSpPr>
          <p:nvPr/>
        </p:nvSpPr>
        <p:spPr>
          <a:xfrm xmlns:a="http://schemas.openxmlformats.org/drawingml/2006/main">
            <a:off x="3133725" y="2238375"/>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2" name="">
            <a:extLst xmlns:a="http://schemas.openxmlformats.org/drawingml/2006/main">
              <a:ext uri="{FF2B5EF4-FFF2-40B4-BE49-F238E27FC236}">
                <a16:creationId xmlns:a16="http://schemas.microsoft.com/office/drawing/2014/main" id="{76785D8B-E11E-45B0-B59B-CD7C2515400D}"/>
              </a:ext>
            </a:extLst>
          </p:cNvPr>
          <p:cNvSpPr>
            <a:spLocks xmlns:a="http://schemas.openxmlformats.org/drawingml/2006/main" noGrp="1"/>
          </p:cNvSpPr>
          <p:nvPr/>
        </p:nvSpPr>
        <p:spPr>
          <a:xfrm xmlns:a="http://schemas.openxmlformats.org/drawingml/2006/main" rot="0">
            <a:off x="3209925" y="2200275"/>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宿泊・改装・清掃へ拡大</a:t>
            </a:r>
          </a:p>
        </p:txBody>
      </p:sp>
      <p:sp>
        <p:nvSpPr>
          <p:cNvPr id="23" name="">
            <a:extLst xmlns:a="http://schemas.openxmlformats.org/drawingml/2006/main">
              <a:ext uri="{FF2B5EF4-FFF2-40B4-BE49-F238E27FC236}">
                <a16:creationId xmlns:a16="http://schemas.microsoft.com/office/drawing/2014/main" id="{A36C8094-EF2C-465E-973F-CB750371863C}"/>
              </a:ext>
            </a:extLst>
          </p:cNvPr>
          <p:cNvSpPr>
            <a:spLocks xmlns:a="http://schemas.openxmlformats.org/drawingml/2006/main" noGrp="1"/>
          </p:cNvSpPr>
          <p:nvPr/>
        </p:nvSpPr>
        <p:spPr>
          <a:xfrm xmlns:a="http://schemas.openxmlformats.org/drawingml/2006/main">
            <a:off x="5193506" y="2238375"/>
            <a:ext cx="6026944"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4" name="">
            <a:extLst xmlns:a="http://schemas.openxmlformats.org/drawingml/2006/main">
              <a:ext uri="{FF2B5EF4-FFF2-40B4-BE49-F238E27FC236}">
                <a16:creationId xmlns:a16="http://schemas.microsoft.com/office/drawing/2014/main" id="{7876906B-6B29-47B2-9861-90642DA4C7DC}"/>
              </a:ext>
            </a:extLst>
          </p:cNvPr>
          <p:cNvSpPr>
            <a:spLocks xmlns:a="http://schemas.openxmlformats.org/drawingml/2006/main" noGrp="1"/>
          </p:cNvSpPr>
          <p:nvPr/>
        </p:nvSpPr>
        <p:spPr>
          <a:xfrm xmlns:a="http://schemas.openxmlformats.org/drawingml/2006/main" rot="0">
            <a:off x="5269706" y="2200275"/>
            <a:ext cx="5874544"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介護・医療を含む撮影先の拡大</a:t>
            </a:r>
          </a:p>
        </p:txBody>
      </p:sp>
      <p:sp>
        <p:nvSpPr>
          <p:cNvPr id="25" name="">
            <a:extLst xmlns:a="http://schemas.openxmlformats.org/drawingml/2006/main">
              <a:ext uri="{FF2B5EF4-FFF2-40B4-BE49-F238E27FC236}">
                <a16:creationId xmlns:a16="http://schemas.microsoft.com/office/drawing/2014/main" id="{2562EED9-54CA-4F84-8FAD-1D99FD1D88EF}"/>
              </a:ext>
            </a:extLst>
          </p:cNvPr>
          <p:cNvSpPr>
            <a:spLocks xmlns:a="http://schemas.openxmlformats.org/drawingml/2006/main" noGrp="1"/>
          </p:cNvSpPr>
          <p:nvPr/>
        </p:nvSpPr>
        <p:spPr>
          <a:xfrm xmlns:a="http://schemas.openxmlformats.org/drawingml/2006/main">
            <a:off x="723900" y="27336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6" name="">
            <a:extLst xmlns:a="http://schemas.openxmlformats.org/drawingml/2006/main">
              <a:ext uri="{FF2B5EF4-FFF2-40B4-BE49-F238E27FC236}">
                <a16:creationId xmlns:a16="http://schemas.microsoft.com/office/drawing/2014/main" id="{FC02B48A-F42E-40B1-AC43-7B88266E1A1A}"/>
              </a:ext>
            </a:extLst>
          </p:cNvPr>
          <p:cNvSpPr>
            <a:spLocks xmlns:a="http://schemas.openxmlformats.org/drawingml/2006/main" noGrp="1"/>
          </p:cNvSpPr>
          <p:nvPr/>
        </p:nvSpPr>
        <p:spPr>
          <a:xfrm xmlns:a="http://schemas.openxmlformats.org/drawingml/2006/main" rot="0">
            <a:off x="857250" y="28765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データ販売</a:t>
            </a:r>
          </a:p>
        </p:txBody>
      </p:sp>
      <p:sp>
        <p:nvSpPr>
          <p:cNvPr id="27" name="">
            <a:extLst xmlns:a="http://schemas.openxmlformats.org/drawingml/2006/main">
              <a:ext uri="{FF2B5EF4-FFF2-40B4-BE49-F238E27FC236}">
                <a16:creationId xmlns:a16="http://schemas.microsoft.com/office/drawing/2014/main" id="{D90A53E5-2513-4389-B6A2-A46A41438D9F}"/>
              </a:ext>
            </a:extLst>
          </p:cNvPr>
          <p:cNvSpPr>
            <a:spLocks xmlns:a="http://schemas.openxmlformats.org/drawingml/2006/main" noGrp="1"/>
          </p:cNvSpPr>
          <p:nvPr/>
        </p:nvSpPr>
        <p:spPr>
          <a:xfrm xmlns:a="http://schemas.openxmlformats.org/drawingml/2006/main">
            <a:off x="3057525"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8" name="">
            <a:extLst xmlns:a="http://schemas.openxmlformats.org/drawingml/2006/main">
              <a:ext uri="{FF2B5EF4-FFF2-40B4-BE49-F238E27FC236}">
                <a16:creationId xmlns:a16="http://schemas.microsoft.com/office/drawing/2014/main" id="{AAD131CD-6318-4980-A6D1-20D4C8F7A01F}"/>
              </a:ext>
            </a:extLst>
          </p:cNvPr>
          <p:cNvSpPr>
            <a:spLocks xmlns:a="http://schemas.openxmlformats.org/drawingml/2006/main" noGrp="1"/>
          </p:cNvSpPr>
          <p:nvPr/>
        </p:nvSpPr>
        <p:spPr>
          <a:xfrm xmlns:a="http://schemas.openxmlformats.org/drawingml/2006/main">
            <a:off x="5117306"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CEB97563-7116-4CDB-8922-B85954EB351C}"/>
              </a:ext>
            </a:extLst>
          </p:cNvPr>
          <p:cNvSpPr>
            <a:spLocks xmlns:a="http://schemas.openxmlformats.org/drawingml/2006/main" noGrp="1"/>
          </p:cNvSpPr>
          <p:nvPr/>
        </p:nvSpPr>
        <p:spPr>
          <a:xfrm xmlns:a="http://schemas.openxmlformats.org/drawingml/2006/main">
            <a:off x="7177088"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0" name="">
            <a:extLst xmlns:a="http://schemas.openxmlformats.org/drawingml/2006/main">
              <a:ext uri="{FF2B5EF4-FFF2-40B4-BE49-F238E27FC236}">
                <a16:creationId xmlns:a16="http://schemas.microsoft.com/office/drawing/2014/main" id="{A9C0D415-013D-4F28-959B-3E432EF71685}"/>
              </a:ext>
            </a:extLst>
          </p:cNvPr>
          <p:cNvSpPr>
            <a:spLocks xmlns:a="http://schemas.openxmlformats.org/drawingml/2006/main" noGrp="1"/>
          </p:cNvSpPr>
          <p:nvPr/>
        </p:nvSpPr>
        <p:spPr>
          <a:xfrm xmlns:a="http://schemas.openxmlformats.org/drawingml/2006/main">
            <a:off x="9236869"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1" name="">
            <a:extLst xmlns:a="http://schemas.openxmlformats.org/drawingml/2006/main">
              <a:ext uri="{FF2B5EF4-FFF2-40B4-BE49-F238E27FC236}">
                <a16:creationId xmlns:a16="http://schemas.microsoft.com/office/drawing/2014/main" id="{DEB47222-3636-4A53-AFE2-059DCD485336}"/>
              </a:ext>
            </a:extLst>
          </p:cNvPr>
          <p:cNvSpPr>
            <a:spLocks xmlns:a="http://schemas.openxmlformats.org/drawingml/2006/main" noGrp="1"/>
          </p:cNvSpPr>
          <p:nvPr/>
        </p:nvSpPr>
        <p:spPr>
          <a:xfrm xmlns:a="http://schemas.openxmlformats.org/drawingml/2006/main">
            <a:off x="723900" y="331470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2" name="">
            <a:extLst xmlns:a="http://schemas.openxmlformats.org/drawingml/2006/main">
              <a:ext uri="{FF2B5EF4-FFF2-40B4-BE49-F238E27FC236}">
                <a16:creationId xmlns:a16="http://schemas.microsoft.com/office/drawing/2014/main" id="{FBDFD123-3222-4C3F-A652-3C6E89143721}"/>
              </a:ext>
            </a:extLst>
          </p:cNvPr>
          <p:cNvSpPr>
            <a:spLocks xmlns:a="http://schemas.openxmlformats.org/drawingml/2006/main" noGrp="1"/>
          </p:cNvSpPr>
          <p:nvPr/>
        </p:nvSpPr>
        <p:spPr>
          <a:xfrm xmlns:a="http://schemas.openxmlformats.org/drawingml/2006/main" rot="0">
            <a:off x="857250" y="345757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撮影デバイス・知財</a:t>
            </a:r>
          </a:p>
        </p:txBody>
      </p:sp>
      <p:sp>
        <p:nvSpPr>
          <p:cNvPr id="33" name="">
            <a:extLst xmlns:a="http://schemas.openxmlformats.org/drawingml/2006/main">
              <a:ext uri="{FF2B5EF4-FFF2-40B4-BE49-F238E27FC236}">
                <a16:creationId xmlns:a16="http://schemas.microsoft.com/office/drawing/2014/main" id="{3A4C308C-78EF-48F4-B784-90E1D9FFFA46}"/>
              </a:ext>
            </a:extLst>
          </p:cNvPr>
          <p:cNvSpPr>
            <a:spLocks xmlns:a="http://schemas.openxmlformats.org/drawingml/2006/main" noGrp="1"/>
          </p:cNvSpPr>
          <p:nvPr/>
        </p:nvSpPr>
        <p:spPr>
          <a:xfrm xmlns:a="http://schemas.openxmlformats.org/drawingml/2006/main">
            <a:off x="3057525"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4" name="">
            <a:extLst xmlns:a="http://schemas.openxmlformats.org/drawingml/2006/main">
              <a:ext uri="{FF2B5EF4-FFF2-40B4-BE49-F238E27FC236}">
                <a16:creationId xmlns:a16="http://schemas.microsoft.com/office/drawing/2014/main" id="{B5691A8F-C0AF-44D8-9165-5673072223F8}"/>
              </a:ext>
            </a:extLst>
          </p:cNvPr>
          <p:cNvSpPr>
            <a:spLocks xmlns:a="http://schemas.openxmlformats.org/drawingml/2006/main" noGrp="1"/>
          </p:cNvSpPr>
          <p:nvPr/>
        </p:nvSpPr>
        <p:spPr>
          <a:xfrm xmlns:a="http://schemas.openxmlformats.org/drawingml/2006/main">
            <a:off x="5117306"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5" name="">
            <a:extLst xmlns:a="http://schemas.openxmlformats.org/drawingml/2006/main">
              <a:ext uri="{FF2B5EF4-FFF2-40B4-BE49-F238E27FC236}">
                <a16:creationId xmlns:a16="http://schemas.microsoft.com/office/drawing/2014/main" id="{F321A547-32AA-44FC-9FFE-8DCA84D130BD}"/>
              </a:ext>
            </a:extLst>
          </p:cNvPr>
          <p:cNvSpPr>
            <a:spLocks xmlns:a="http://schemas.openxmlformats.org/drawingml/2006/main" noGrp="1"/>
          </p:cNvSpPr>
          <p:nvPr/>
        </p:nvSpPr>
        <p:spPr>
          <a:xfrm xmlns:a="http://schemas.openxmlformats.org/drawingml/2006/main">
            <a:off x="7177088"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6" name="">
            <a:extLst xmlns:a="http://schemas.openxmlformats.org/drawingml/2006/main">
              <a:ext uri="{FF2B5EF4-FFF2-40B4-BE49-F238E27FC236}">
                <a16:creationId xmlns:a16="http://schemas.microsoft.com/office/drawing/2014/main" id="{C3E2C71E-75CD-482D-A7A9-71232F2FFFD1}"/>
              </a:ext>
            </a:extLst>
          </p:cNvPr>
          <p:cNvSpPr>
            <a:spLocks xmlns:a="http://schemas.openxmlformats.org/drawingml/2006/main" noGrp="1"/>
          </p:cNvSpPr>
          <p:nvPr/>
        </p:nvSpPr>
        <p:spPr>
          <a:xfrm xmlns:a="http://schemas.openxmlformats.org/drawingml/2006/main">
            <a:off x="9236869"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7" name="">
            <a:extLst xmlns:a="http://schemas.openxmlformats.org/drawingml/2006/main">
              <a:ext uri="{FF2B5EF4-FFF2-40B4-BE49-F238E27FC236}">
                <a16:creationId xmlns:a16="http://schemas.microsoft.com/office/drawing/2014/main" id="{FA97B1F2-4F90-4254-BB4B-095BBBE375D7}"/>
              </a:ext>
            </a:extLst>
          </p:cNvPr>
          <p:cNvSpPr>
            <a:spLocks xmlns:a="http://schemas.openxmlformats.org/drawingml/2006/main" noGrp="1"/>
          </p:cNvSpPr>
          <p:nvPr/>
        </p:nvSpPr>
        <p:spPr>
          <a:xfrm xmlns:a="http://schemas.openxmlformats.org/drawingml/2006/main">
            <a:off x="3133725" y="3400425"/>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8" name="">
            <a:extLst xmlns:a="http://schemas.openxmlformats.org/drawingml/2006/main">
              <a:ext uri="{FF2B5EF4-FFF2-40B4-BE49-F238E27FC236}">
                <a16:creationId xmlns:a16="http://schemas.microsoft.com/office/drawing/2014/main" id="{88409539-130C-4CBC-A0B4-0359D5DA2575}"/>
              </a:ext>
            </a:extLst>
          </p:cNvPr>
          <p:cNvSpPr>
            <a:spLocks xmlns:a="http://schemas.openxmlformats.org/drawingml/2006/main" noGrp="1"/>
          </p:cNvSpPr>
          <p:nvPr/>
        </p:nvSpPr>
        <p:spPr>
          <a:xfrm xmlns:a="http://schemas.openxmlformats.org/drawingml/2006/main" rot="0">
            <a:off x="3209925" y="3362325"/>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撮影デバイス開発</a:t>
            </a:r>
          </a:p>
        </p:txBody>
      </p:sp>
      <p:sp>
        <p:nvSpPr>
          <p:cNvPr id="39" name="">
            <a:extLst xmlns:a="http://schemas.openxmlformats.org/drawingml/2006/main">
              <a:ext uri="{FF2B5EF4-FFF2-40B4-BE49-F238E27FC236}">
                <a16:creationId xmlns:a16="http://schemas.microsoft.com/office/drawing/2014/main" id="{4F2DC31B-930D-4C95-B03E-789E175189C1}"/>
              </a:ext>
            </a:extLst>
          </p:cNvPr>
          <p:cNvSpPr>
            <a:spLocks xmlns:a="http://schemas.openxmlformats.org/drawingml/2006/main" noGrp="1"/>
          </p:cNvSpPr>
          <p:nvPr/>
        </p:nvSpPr>
        <p:spPr>
          <a:xfrm xmlns:a="http://schemas.openxmlformats.org/drawingml/2006/main">
            <a:off x="5193506" y="3400425"/>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0" name="">
            <a:extLst xmlns:a="http://schemas.openxmlformats.org/drawingml/2006/main">
              <a:ext uri="{FF2B5EF4-FFF2-40B4-BE49-F238E27FC236}">
                <a16:creationId xmlns:a16="http://schemas.microsoft.com/office/drawing/2014/main" id="{9B81A84D-F83B-4BD9-95E4-95B2B65E1B6B}"/>
              </a:ext>
            </a:extLst>
          </p:cNvPr>
          <p:cNvSpPr>
            <a:spLocks xmlns:a="http://schemas.openxmlformats.org/drawingml/2006/main" noGrp="1"/>
          </p:cNvSpPr>
          <p:nvPr/>
        </p:nvSpPr>
        <p:spPr>
          <a:xfrm xmlns:a="http://schemas.openxmlformats.org/drawingml/2006/main" rot="0">
            <a:off x="5269706" y="3362325"/>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意匠・特許を出願</a:t>
            </a:r>
          </a:p>
        </p:txBody>
      </p:sp>
      <p:sp>
        <p:nvSpPr>
          <p:cNvPr id="41" name="">
            <a:extLst xmlns:a="http://schemas.openxmlformats.org/drawingml/2006/main">
              <a:ext uri="{FF2B5EF4-FFF2-40B4-BE49-F238E27FC236}">
                <a16:creationId xmlns:a16="http://schemas.microsoft.com/office/drawing/2014/main" id="{392211EF-EBB9-4E33-8DA6-C5F0ED167FBF}"/>
              </a:ext>
            </a:extLst>
          </p:cNvPr>
          <p:cNvSpPr>
            <a:spLocks xmlns:a="http://schemas.openxmlformats.org/drawingml/2006/main" noGrp="1"/>
          </p:cNvSpPr>
          <p:nvPr/>
        </p:nvSpPr>
        <p:spPr>
          <a:xfrm xmlns:a="http://schemas.openxmlformats.org/drawingml/2006/main">
            <a:off x="723900" y="389572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2" name="">
            <a:extLst xmlns:a="http://schemas.openxmlformats.org/drawingml/2006/main">
              <a:ext uri="{FF2B5EF4-FFF2-40B4-BE49-F238E27FC236}">
                <a16:creationId xmlns:a16="http://schemas.microsoft.com/office/drawing/2014/main" id="{86329F31-F048-4DF8-A950-E87EB08CFAF4}"/>
              </a:ext>
            </a:extLst>
          </p:cNvPr>
          <p:cNvSpPr>
            <a:spLocks xmlns:a="http://schemas.openxmlformats.org/drawingml/2006/main" noGrp="1"/>
          </p:cNvSpPr>
          <p:nvPr/>
        </p:nvSpPr>
        <p:spPr>
          <a:xfrm xmlns:a="http://schemas.openxmlformats.org/drawingml/2006/main" rot="0">
            <a:off x="857250" y="403860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ロボット企業・大学</a:t>
            </a:r>
          </a:p>
        </p:txBody>
      </p:sp>
      <p:sp>
        <p:nvSpPr>
          <p:cNvPr id="43" name="">
            <a:extLst xmlns:a="http://schemas.openxmlformats.org/drawingml/2006/main">
              <a:ext uri="{FF2B5EF4-FFF2-40B4-BE49-F238E27FC236}">
                <a16:creationId xmlns:a16="http://schemas.microsoft.com/office/drawing/2014/main" id="{FF3F50E5-5DB4-4C5D-AE02-EEF5CC9619B0}"/>
              </a:ext>
            </a:extLst>
          </p:cNvPr>
          <p:cNvSpPr>
            <a:spLocks xmlns:a="http://schemas.openxmlformats.org/drawingml/2006/main" noGrp="1"/>
          </p:cNvSpPr>
          <p:nvPr/>
        </p:nvSpPr>
        <p:spPr>
          <a:xfrm xmlns:a="http://schemas.openxmlformats.org/drawingml/2006/main">
            <a:off x="3057525"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4" name="">
            <a:extLst xmlns:a="http://schemas.openxmlformats.org/drawingml/2006/main">
              <a:ext uri="{FF2B5EF4-FFF2-40B4-BE49-F238E27FC236}">
                <a16:creationId xmlns:a16="http://schemas.microsoft.com/office/drawing/2014/main" id="{269AB619-ABBD-4380-BE2D-A1976CB12ADE}"/>
              </a:ext>
            </a:extLst>
          </p:cNvPr>
          <p:cNvSpPr>
            <a:spLocks xmlns:a="http://schemas.openxmlformats.org/drawingml/2006/main" noGrp="1"/>
          </p:cNvSpPr>
          <p:nvPr/>
        </p:nvSpPr>
        <p:spPr>
          <a:xfrm xmlns:a="http://schemas.openxmlformats.org/drawingml/2006/main">
            <a:off x="5117306"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5" name="">
            <a:extLst xmlns:a="http://schemas.openxmlformats.org/drawingml/2006/main">
              <a:ext uri="{FF2B5EF4-FFF2-40B4-BE49-F238E27FC236}">
                <a16:creationId xmlns:a16="http://schemas.microsoft.com/office/drawing/2014/main" id="{015B195A-A895-4076-A12A-9EA34FC26155}"/>
              </a:ext>
            </a:extLst>
          </p:cNvPr>
          <p:cNvSpPr>
            <a:spLocks xmlns:a="http://schemas.openxmlformats.org/drawingml/2006/main" noGrp="1"/>
          </p:cNvSpPr>
          <p:nvPr/>
        </p:nvSpPr>
        <p:spPr>
          <a:xfrm xmlns:a="http://schemas.openxmlformats.org/drawingml/2006/main">
            <a:off x="7177088"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6" name="">
            <a:extLst xmlns:a="http://schemas.openxmlformats.org/drawingml/2006/main">
              <a:ext uri="{FF2B5EF4-FFF2-40B4-BE49-F238E27FC236}">
                <a16:creationId xmlns:a16="http://schemas.microsoft.com/office/drawing/2014/main" id="{4EDE4062-1B05-4133-86A3-65F291E4EB37}"/>
              </a:ext>
            </a:extLst>
          </p:cNvPr>
          <p:cNvSpPr>
            <a:spLocks xmlns:a="http://schemas.openxmlformats.org/drawingml/2006/main" noGrp="1"/>
          </p:cNvSpPr>
          <p:nvPr/>
        </p:nvSpPr>
        <p:spPr>
          <a:xfrm xmlns:a="http://schemas.openxmlformats.org/drawingml/2006/main">
            <a:off x="9236869"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7" name="">
            <a:extLst xmlns:a="http://schemas.openxmlformats.org/drawingml/2006/main">
              <a:ext uri="{FF2B5EF4-FFF2-40B4-BE49-F238E27FC236}">
                <a16:creationId xmlns:a16="http://schemas.microsoft.com/office/drawing/2014/main" id="{68BCAA30-3061-43D5-BA5E-9916052A9A1E}"/>
              </a:ext>
            </a:extLst>
          </p:cNvPr>
          <p:cNvSpPr>
            <a:spLocks xmlns:a="http://schemas.openxmlformats.org/drawingml/2006/main" noGrp="1"/>
          </p:cNvSpPr>
          <p:nvPr/>
        </p:nvSpPr>
        <p:spPr>
          <a:xfrm xmlns:a="http://schemas.openxmlformats.org/drawingml/2006/main">
            <a:off x="5193506" y="3981450"/>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8" name="">
            <a:extLst xmlns:a="http://schemas.openxmlformats.org/drawingml/2006/main">
              <a:ext uri="{FF2B5EF4-FFF2-40B4-BE49-F238E27FC236}">
                <a16:creationId xmlns:a16="http://schemas.microsoft.com/office/drawing/2014/main" id="{AEC7AAF5-379A-48BB-9F56-6009D021DE09}"/>
              </a:ext>
            </a:extLst>
          </p:cNvPr>
          <p:cNvSpPr>
            <a:spLocks xmlns:a="http://schemas.openxmlformats.org/drawingml/2006/main" noGrp="1"/>
          </p:cNvSpPr>
          <p:nvPr/>
        </p:nvSpPr>
        <p:spPr>
          <a:xfrm xmlns:a="http://schemas.openxmlformats.org/drawingml/2006/main" rot="0">
            <a:off x="5269706" y="3943350"/>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機密性の高い</a:t>
            </a:r>
          </a:p>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現場データの活用を検討</a:t>
            </a:r>
          </a:p>
        </p:txBody>
      </p:sp>
      <p:sp>
        <p:nvSpPr>
          <p:cNvPr id="49" name="">
            <a:extLst xmlns:a="http://schemas.openxmlformats.org/drawingml/2006/main">
              <a:ext uri="{FF2B5EF4-FFF2-40B4-BE49-F238E27FC236}">
                <a16:creationId xmlns:a16="http://schemas.microsoft.com/office/drawing/2014/main" id="{4E33B0FE-7909-4AA9-B96A-C6294F7AECA2}"/>
              </a:ext>
            </a:extLst>
          </p:cNvPr>
          <p:cNvSpPr>
            <a:spLocks xmlns:a="http://schemas.openxmlformats.org/drawingml/2006/main" noGrp="1"/>
          </p:cNvSpPr>
          <p:nvPr/>
        </p:nvSpPr>
        <p:spPr>
          <a:xfrm xmlns:a="http://schemas.openxmlformats.org/drawingml/2006/main">
            <a:off x="7253288" y="3981450"/>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0" name="">
            <a:extLst xmlns:a="http://schemas.openxmlformats.org/drawingml/2006/main">
              <a:ext uri="{FF2B5EF4-FFF2-40B4-BE49-F238E27FC236}">
                <a16:creationId xmlns:a16="http://schemas.microsoft.com/office/drawing/2014/main" id="{1D039FAE-3C70-4C35-82F5-750BDB5A890A}"/>
              </a:ext>
            </a:extLst>
          </p:cNvPr>
          <p:cNvSpPr>
            <a:spLocks xmlns:a="http://schemas.openxmlformats.org/drawingml/2006/main" noGrp="1"/>
          </p:cNvSpPr>
          <p:nvPr/>
        </p:nvSpPr>
        <p:spPr>
          <a:xfrm xmlns:a="http://schemas.openxmlformats.org/drawingml/2006/main" rot="0">
            <a:off x="7329488" y="3943350"/>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企業・政府へ</a:t>
            </a:r>
          </a:p>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データ収集を提案</a:t>
            </a:r>
          </a:p>
        </p:txBody>
      </p:sp>
      <p:sp>
        <p:nvSpPr>
          <p:cNvPr id="51" name="">
            <a:extLst xmlns:a="http://schemas.openxmlformats.org/drawingml/2006/main">
              <a:ext uri="{FF2B5EF4-FFF2-40B4-BE49-F238E27FC236}">
                <a16:creationId xmlns:a16="http://schemas.microsoft.com/office/drawing/2014/main" id="{01D8A684-A651-482C-9099-FC8CC45B588E}"/>
              </a:ext>
            </a:extLst>
          </p:cNvPr>
          <p:cNvSpPr>
            <a:spLocks xmlns:a="http://schemas.openxmlformats.org/drawingml/2006/main" noGrp="1"/>
          </p:cNvSpPr>
          <p:nvPr/>
        </p:nvSpPr>
        <p:spPr>
          <a:xfrm xmlns:a="http://schemas.openxmlformats.org/drawingml/2006/main">
            <a:off x="9313069" y="3981450"/>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2" name="">
            <a:extLst xmlns:a="http://schemas.openxmlformats.org/drawingml/2006/main">
              <a:ext uri="{FF2B5EF4-FFF2-40B4-BE49-F238E27FC236}">
                <a16:creationId xmlns:a16="http://schemas.microsoft.com/office/drawing/2014/main" id="{13D07952-6361-49D7-8086-B0EE5AD79AAA}"/>
              </a:ext>
            </a:extLst>
          </p:cNvPr>
          <p:cNvSpPr>
            <a:spLocks xmlns:a="http://schemas.openxmlformats.org/drawingml/2006/main" noGrp="1"/>
          </p:cNvSpPr>
          <p:nvPr/>
        </p:nvSpPr>
        <p:spPr>
          <a:xfrm xmlns:a="http://schemas.openxmlformats.org/drawingml/2006/main" rot="0">
            <a:off x="9389269" y="3943350"/>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750" b="1">
                <a:solidFill>
                  <a:srgbClr val="15191B"/>
                </a:solidFill>
                <a:latin typeface="Hiragino Sans"/>
                <a:ea typeface="Hiragino Sans"/>
                <a:cs typeface="Hiragino Sans"/>
              </a:defRPr>
            </a:pPr>
            <a:r>
              <a:rPr sz="750" b="1">
                <a:solidFill>
                  <a:srgbClr val="15191B"/>
                </a:solidFill>
                <a:latin typeface="Hiragino Sans"/>
                <a:ea typeface="Hiragino Sans"/>
                <a:cs typeface="Hiragino Sans"/>
              </a:rPr>
              <a:t>大学とロボット学習・</a:t>
            </a:r>
          </a:p>
          <a:p xmlns:a="http://schemas.openxmlformats.org/drawingml/2006/main">
            <a:pPr algn="ctr">
              <a:defRPr sz="750" b="1">
                <a:solidFill>
                  <a:srgbClr val="15191B"/>
                </a:solidFill>
                <a:latin typeface="Hiragino Sans"/>
                <a:ea typeface="Hiragino Sans"/>
                <a:cs typeface="Hiragino Sans"/>
              </a:defRPr>
            </a:pPr>
            <a:r>
              <a:rPr sz="750" b="1">
                <a:solidFill>
                  <a:srgbClr val="15191B"/>
                </a:solidFill>
                <a:latin typeface="Hiragino Sans"/>
                <a:ea typeface="Hiragino Sans"/>
                <a:cs typeface="Hiragino Sans"/>
              </a:rPr>
              <a:t>現場再現の研究を開始</a:t>
            </a:r>
          </a:p>
        </p:txBody>
      </p:sp>
      <p:sp>
        <p:nvSpPr>
          <p:cNvPr id="53" name="">
            <a:extLst xmlns:a="http://schemas.openxmlformats.org/drawingml/2006/main">
              <a:ext uri="{FF2B5EF4-FFF2-40B4-BE49-F238E27FC236}">
                <a16:creationId xmlns:a16="http://schemas.microsoft.com/office/drawing/2014/main" id="{CEEFC71B-1F66-4668-9E83-C334F2AB5FD0}"/>
              </a:ext>
            </a:extLst>
          </p:cNvPr>
          <p:cNvSpPr>
            <a:spLocks xmlns:a="http://schemas.openxmlformats.org/drawingml/2006/main" noGrp="1"/>
          </p:cNvSpPr>
          <p:nvPr/>
        </p:nvSpPr>
        <p:spPr>
          <a:xfrm xmlns:a="http://schemas.openxmlformats.org/drawingml/2006/main">
            <a:off x="723900" y="44767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4" name="">
            <a:extLst xmlns:a="http://schemas.openxmlformats.org/drawingml/2006/main">
              <a:ext uri="{FF2B5EF4-FFF2-40B4-BE49-F238E27FC236}">
                <a16:creationId xmlns:a16="http://schemas.microsoft.com/office/drawing/2014/main" id="{A3A7F6D0-3CC9-40BE-992F-1AA5B4921A04}"/>
              </a:ext>
            </a:extLst>
          </p:cNvPr>
          <p:cNvSpPr>
            <a:spLocks xmlns:a="http://schemas.openxmlformats.org/drawingml/2006/main" noGrp="1"/>
          </p:cNvSpPr>
          <p:nvPr/>
        </p:nvSpPr>
        <p:spPr>
          <a:xfrm xmlns:a="http://schemas.openxmlformats.org/drawingml/2006/main" rot="0">
            <a:off x="857250" y="46196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契約・法務</a:t>
            </a:r>
          </a:p>
        </p:txBody>
      </p:sp>
      <p:sp>
        <p:nvSpPr>
          <p:cNvPr id="55" name="">
            <a:extLst xmlns:a="http://schemas.openxmlformats.org/drawingml/2006/main">
              <a:ext uri="{FF2B5EF4-FFF2-40B4-BE49-F238E27FC236}">
                <a16:creationId xmlns:a16="http://schemas.microsoft.com/office/drawing/2014/main" id="{ACDE714B-97CA-4175-8E1F-946C60F18ED2}"/>
              </a:ext>
            </a:extLst>
          </p:cNvPr>
          <p:cNvSpPr>
            <a:spLocks xmlns:a="http://schemas.openxmlformats.org/drawingml/2006/main" noGrp="1"/>
          </p:cNvSpPr>
          <p:nvPr/>
        </p:nvSpPr>
        <p:spPr>
          <a:xfrm xmlns:a="http://schemas.openxmlformats.org/drawingml/2006/main">
            <a:off x="3057525"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6" name="">
            <a:extLst xmlns:a="http://schemas.openxmlformats.org/drawingml/2006/main">
              <a:ext uri="{FF2B5EF4-FFF2-40B4-BE49-F238E27FC236}">
                <a16:creationId xmlns:a16="http://schemas.microsoft.com/office/drawing/2014/main" id="{BD8232AA-9706-4905-947D-85C9F13BBA22}"/>
              </a:ext>
            </a:extLst>
          </p:cNvPr>
          <p:cNvSpPr>
            <a:spLocks xmlns:a="http://schemas.openxmlformats.org/drawingml/2006/main" noGrp="1"/>
          </p:cNvSpPr>
          <p:nvPr/>
        </p:nvSpPr>
        <p:spPr>
          <a:xfrm xmlns:a="http://schemas.openxmlformats.org/drawingml/2006/main">
            <a:off x="5117306"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7" name="">
            <a:extLst xmlns:a="http://schemas.openxmlformats.org/drawingml/2006/main">
              <a:ext uri="{FF2B5EF4-FFF2-40B4-BE49-F238E27FC236}">
                <a16:creationId xmlns:a16="http://schemas.microsoft.com/office/drawing/2014/main" id="{4DFB4C64-72A6-459F-9E90-0CF6C72B28DE}"/>
              </a:ext>
            </a:extLst>
          </p:cNvPr>
          <p:cNvSpPr>
            <a:spLocks xmlns:a="http://schemas.openxmlformats.org/drawingml/2006/main" noGrp="1"/>
          </p:cNvSpPr>
          <p:nvPr/>
        </p:nvSpPr>
        <p:spPr>
          <a:xfrm xmlns:a="http://schemas.openxmlformats.org/drawingml/2006/main">
            <a:off x="7177088"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8" name="">
            <a:extLst xmlns:a="http://schemas.openxmlformats.org/drawingml/2006/main">
              <a:ext uri="{FF2B5EF4-FFF2-40B4-BE49-F238E27FC236}">
                <a16:creationId xmlns:a16="http://schemas.microsoft.com/office/drawing/2014/main" id="{8BAB2186-F334-4343-B725-D2AF027CA5BD}"/>
              </a:ext>
            </a:extLst>
          </p:cNvPr>
          <p:cNvSpPr>
            <a:spLocks xmlns:a="http://schemas.openxmlformats.org/drawingml/2006/main" noGrp="1"/>
          </p:cNvSpPr>
          <p:nvPr/>
        </p:nvSpPr>
        <p:spPr>
          <a:xfrm xmlns:a="http://schemas.openxmlformats.org/drawingml/2006/main">
            <a:off x="9236869"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9" name="">
            <a:extLst xmlns:a="http://schemas.openxmlformats.org/drawingml/2006/main">
              <a:ext uri="{FF2B5EF4-FFF2-40B4-BE49-F238E27FC236}">
                <a16:creationId xmlns:a16="http://schemas.microsoft.com/office/drawing/2014/main" id="{F572FBFD-012B-411B-A772-17881B7208FF}"/>
              </a:ext>
            </a:extLst>
          </p:cNvPr>
          <p:cNvSpPr>
            <a:spLocks xmlns:a="http://schemas.openxmlformats.org/drawingml/2006/main" noGrp="1"/>
          </p:cNvSpPr>
          <p:nvPr/>
        </p:nvSpPr>
        <p:spPr>
          <a:xfrm xmlns:a="http://schemas.openxmlformats.org/drawingml/2006/main">
            <a:off x="723900" y="50577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60" name="">
            <a:extLst xmlns:a="http://schemas.openxmlformats.org/drawingml/2006/main">
              <a:ext uri="{FF2B5EF4-FFF2-40B4-BE49-F238E27FC236}">
                <a16:creationId xmlns:a16="http://schemas.microsoft.com/office/drawing/2014/main" id="{6EC9537A-F577-4EF1-8F16-295FCA5CDC42}"/>
              </a:ext>
            </a:extLst>
          </p:cNvPr>
          <p:cNvSpPr>
            <a:spLocks xmlns:a="http://schemas.openxmlformats.org/drawingml/2006/main" noGrp="1"/>
          </p:cNvSpPr>
          <p:nvPr/>
        </p:nvSpPr>
        <p:spPr>
          <a:xfrm xmlns:a="http://schemas.openxmlformats.org/drawingml/2006/main" rot="0">
            <a:off x="857250" y="52006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ロボットの導入・開発</a:t>
            </a:r>
          </a:p>
        </p:txBody>
      </p:sp>
      <p:sp>
        <p:nvSpPr>
          <p:cNvPr id="61" name="">
            <a:extLst xmlns:a="http://schemas.openxmlformats.org/drawingml/2006/main">
              <a:ext uri="{FF2B5EF4-FFF2-40B4-BE49-F238E27FC236}">
                <a16:creationId xmlns:a16="http://schemas.microsoft.com/office/drawing/2014/main" id="{F55F79BB-709C-4BA0-96B0-0469E4AA3291}"/>
              </a:ext>
            </a:extLst>
          </p:cNvPr>
          <p:cNvSpPr>
            <a:spLocks xmlns:a="http://schemas.openxmlformats.org/drawingml/2006/main" noGrp="1"/>
          </p:cNvSpPr>
          <p:nvPr/>
        </p:nvSpPr>
        <p:spPr>
          <a:xfrm xmlns:a="http://schemas.openxmlformats.org/drawingml/2006/main">
            <a:off x="3057525"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62" name="">
            <a:extLst xmlns:a="http://schemas.openxmlformats.org/drawingml/2006/main">
              <a:ext uri="{FF2B5EF4-FFF2-40B4-BE49-F238E27FC236}">
                <a16:creationId xmlns:a16="http://schemas.microsoft.com/office/drawing/2014/main" id="{74C887A9-4E38-422B-B384-B2CC6EC2EE61}"/>
              </a:ext>
            </a:extLst>
          </p:cNvPr>
          <p:cNvSpPr>
            <a:spLocks xmlns:a="http://schemas.openxmlformats.org/drawingml/2006/main" noGrp="1"/>
          </p:cNvSpPr>
          <p:nvPr/>
        </p:nvSpPr>
        <p:spPr>
          <a:xfrm xmlns:a="http://schemas.openxmlformats.org/drawingml/2006/main">
            <a:off x="5117306"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63" name="">
            <a:extLst xmlns:a="http://schemas.openxmlformats.org/drawingml/2006/main">
              <a:ext uri="{FF2B5EF4-FFF2-40B4-BE49-F238E27FC236}">
                <a16:creationId xmlns:a16="http://schemas.microsoft.com/office/drawing/2014/main" id="{402B7BA3-7158-4419-B28A-F46789B12356}"/>
              </a:ext>
            </a:extLst>
          </p:cNvPr>
          <p:cNvSpPr>
            <a:spLocks xmlns:a="http://schemas.openxmlformats.org/drawingml/2006/main" noGrp="1"/>
          </p:cNvSpPr>
          <p:nvPr/>
        </p:nvSpPr>
        <p:spPr>
          <a:xfrm xmlns:a="http://schemas.openxmlformats.org/drawingml/2006/main">
            <a:off x="7177088"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64" name="">
            <a:extLst xmlns:a="http://schemas.openxmlformats.org/drawingml/2006/main">
              <a:ext uri="{FF2B5EF4-FFF2-40B4-BE49-F238E27FC236}">
                <a16:creationId xmlns:a16="http://schemas.microsoft.com/office/drawing/2014/main" id="{E5758685-3821-4527-8E76-04C322130D34}"/>
              </a:ext>
            </a:extLst>
          </p:cNvPr>
          <p:cNvSpPr>
            <a:spLocks xmlns:a="http://schemas.openxmlformats.org/drawingml/2006/main" noGrp="1"/>
          </p:cNvSpPr>
          <p:nvPr/>
        </p:nvSpPr>
        <p:spPr>
          <a:xfrm xmlns:a="http://schemas.openxmlformats.org/drawingml/2006/main">
            <a:off x="9236869"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Tree>
    <p:extLst>
      <p:ext uri="{BB962C8B-B14F-4D97-AF65-F5344CB8AC3E}">
        <p14:creationId xmlns:p14="http://schemas.microsoft.com/office/powerpoint/2010/main" val="1944787781"/>
      </p:ext>
    </p:extLst>
  </p:cSld>
</p:sld>
</file>

<file path=ppt/slides/slide2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60" name="">
            <a:extLst xmlns:a="http://schemas.openxmlformats.org/drawingml/2006/main">
              <a:ext uri="{FF2B5EF4-FFF2-40B4-BE49-F238E27FC236}">
                <a16:creationId xmlns:a16="http://schemas.microsoft.com/office/drawing/2014/main" id="{0D46C2E7-8936-4D4E-9C5F-0B15860FDAE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AC9B25E-4CD6-420A-928B-C0EE52B085B1}"/>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今後の見通し｜2028</a:t>
            </a:r>
          </a:p>
        </p:txBody>
      </p:sp>
      <p:sp>
        <p:nvSpPr>
          <p:cNvPr id="3" name="">
            <a:extLst xmlns:a="http://schemas.openxmlformats.org/drawingml/2006/main">
              <a:ext uri="{FF2B5EF4-FFF2-40B4-BE49-F238E27FC236}">
                <a16:creationId xmlns:a16="http://schemas.microsoft.com/office/drawing/2014/main" id="{DDA8F009-09EA-4BDC-9CD2-F738777A15DB}"/>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E568FAB-668F-4025-AB70-FBB5C79B9C95}"/>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24</a:t>
            </a:r>
          </a:p>
        </p:txBody>
      </p:sp>
      <p:sp>
        <p:nvSpPr>
          <p:cNvPr id="5" name="">
            <a:extLst xmlns:a="http://schemas.openxmlformats.org/drawingml/2006/main">
              <a:ext uri="{FF2B5EF4-FFF2-40B4-BE49-F238E27FC236}">
                <a16:creationId xmlns:a16="http://schemas.microsoft.com/office/drawing/2014/main" id="{4A354E6A-C5B5-4454-811C-B7A22DC9EA97}"/>
              </a:ext>
            </a:extLst>
          </p:cNvPr>
          <p:cNvSpPr>
            <a:spLocks xmlns:a="http://schemas.openxmlformats.org/drawingml/2006/main" noGrp="1"/>
          </p:cNvSpPr>
          <p:nvPr/>
        </p:nvSpPr>
        <p:spPr>
          <a:xfrm xmlns:a="http://schemas.openxmlformats.org/drawingml/2006/main">
            <a:off x="723900" y="1714500"/>
            <a:ext cx="2333625" cy="4381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4203018-9EBA-411E-AB9A-F48AC882D47D}"/>
              </a:ext>
            </a:extLst>
          </p:cNvPr>
          <p:cNvSpPr>
            <a:spLocks xmlns:a="http://schemas.openxmlformats.org/drawingml/2006/main" noGrp="1"/>
          </p:cNvSpPr>
          <p:nvPr/>
        </p:nvSpPr>
        <p:spPr>
          <a:xfrm xmlns:a="http://schemas.openxmlformats.org/drawingml/2006/main" rot="0">
            <a:off x="857250" y="1819275"/>
            <a:ext cx="2066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領域</a:t>
            </a:r>
          </a:p>
        </p:txBody>
      </p:sp>
      <p:sp>
        <p:nvSpPr>
          <p:cNvPr id="7" name="">
            <a:extLst xmlns:a="http://schemas.openxmlformats.org/drawingml/2006/main">
              <a:ext uri="{FF2B5EF4-FFF2-40B4-BE49-F238E27FC236}">
                <a16:creationId xmlns:a16="http://schemas.microsoft.com/office/drawing/2014/main" id="{9CEA543C-AB30-4CA3-89D4-5B583E939333}"/>
              </a:ext>
            </a:extLst>
          </p:cNvPr>
          <p:cNvSpPr>
            <a:spLocks xmlns:a="http://schemas.openxmlformats.org/drawingml/2006/main" noGrp="1"/>
          </p:cNvSpPr>
          <p:nvPr/>
        </p:nvSpPr>
        <p:spPr>
          <a:xfrm xmlns:a="http://schemas.openxmlformats.org/drawingml/2006/main">
            <a:off x="3057525"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C31089D2-A904-466B-AC7B-CCA53418A1A2}"/>
              </a:ext>
            </a:extLst>
          </p:cNvPr>
          <p:cNvSpPr>
            <a:spLocks xmlns:a="http://schemas.openxmlformats.org/drawingml/2006/main" noGrp="1"/>
          </p:cNvSpPr>
          <p:nvPr/>
        </p:nvSpPr>
        <p:spPr>
          <a:xfrm xmlns:a="http://schemas.openxmlformats.org/drawingml/2006/main" rot="0">
            <a:off x="3057525"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Q1</a:t>
            </a:r>
          </a:p>
        </p:txBody>
      </p:sp>
      <p:sp>
        <p:nvSpPr>
          <p:cNvPr id="9" name="">
            <a:extLst xmlns:a="http://schemas.openxmlformats.org/drawingml/2006/main">
              <a:ext uri="{FF2B5EF4-FFF2-40B4-BE49-F238E27FC236}">
                <a16:creationId xmlns:a16="http://schemas.microsoft.com/office/drawing/2014/main" id="{30D34BC7-062C-46EF-969E-F7DA35BDF713}"/>
              </a:ext>
            </a:extLst>
          </p:cNvPr>
          <p:cNvSpPr>
            <a:spLocks xmlns:a="http://schemas.openxmlformats.org/drawingml/2006/main" noGrp="1"/>
          </p:cNvSpPr>
          <p:nvPr/>
        </p:nvSpPr>
        <p:spPr>
          <a:xfrm xmlns:a="http://schemas.openxmlformats.org/drawingml/2006/main">
            <a:off x="5117306"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0" name="">
            <a:extLst xmlns:a="http://schemas.openxmlformats.org/drawingml/2006/main">
              <a:ext uri="{FF2B5EF4-FFF2-40B4-BE49-F238E27FC236}">
                <a16:creationId xmlns:a16="http://schemas.microsoft.com/office/drawing/2014/main" id="{30060272-582F-49A0-86D7-E2C1C41F1A48}"/>
              </a:ext>
            </a:extLst>
          </p:cNvPr>
          <p:cNvSpPr>
            <a:spLocks xmlns:a="http://schemas.openxmlformats.org/drawingml/2006/main" noGrp="1"/>
          </p:cNvSpPr>
          <p:nvPr/>
        </p:nvSpPr>
        <p:spPr>
          <a:xfrm xmlns:a="http://schemas.openxmlformats.org/drawingml/2006/main" rot="0">
            <a:off x="5117306"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Q2</a:t>
            </a:r>
          </a:p>
        </p:txBody>
      </p:sp>
      <p:sp>
        <p:nvSpPr>
          <p:cNvPr id="11" name="">
            <a:extLst xmlns:a="http://schemas.openxmlformats.org/drawingml/2006/main">
              <a:ext uri="{FF2B5EF4-FFF2-40B4-BE49-F238E27FC236}">
                <a16:creationId xmlns:a16="http://schemas.microsoft.com/office/drawing/2014/main" id="{727918B3-06AB-4921-81C4-21D987CC4B85}"/>
              </a:ext>
            </a:extLst>
          </p:cNvPr>
          <p:cNvSpPr>
            <a:spLocks xmlns:a="http://schemas.openxmlformats.org/drawingml/2006/main" noGrp="1"/>
          </p:cNvSpPr>
          <p:nvPr/>
        </p:nvSpPr>
        <p:spPr>
          <a:xfrm xmlns:a="http://schemas.openxmlformats.org/drawingml/2006/main">
            <a:off x="7177088"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2" name="">
            <a:extLst xmlns:a="http://schemas.openxmlformats.org/drawingml/2006/main">
              <a:ext uri="{FF2B5EF4-FFF2-40B4-BE49-F238E27FC236}">
                <a16:creationId xmlns:a16="http://schemas.microsoft.com/office/drawing/2014/main" id="{C4EE2C2F-F34D-4B71-926F-DFB1B8B367AF}"/>
              </a:ext>
            </a:extLst>
          </p:cNvPr>
          <p:cNvSpPr>
            <a:spLocks xmlns:a="http://schemas.openxmlformats.org/drawingml/2006/main" noGrp="1"/>
          </p:cNvSpPr>
          <p:nvPr/>
        </p:nvSpPr>
        <p:spPr>
          <a:xfrm xmlns:a="http://schemas.openxmlformats.org/drawingml/2006/main" rot="0">
            <a:off x="7177088"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Q3</a:t>
            </a:r>
          </a:p>
        </p:txBody>
      </p:sp>
      <p:sp>
        <p:nvSpPr>
          <p:cNvPr id="13" name="">
            <a:extLst xmlns:a="http://schemas.openxmlformats.org/drawingml/2006/main">
              <a:ext uri="{FF2B5EF4-FFF2-40B4-BE49-F238E27FC236}">
                <a16:creationId xmlns:a16="http://schemas.microsoft.com/office/drawing/2014/main" id="{7FCB136C-D75E-4F06-94C8-3567B7B16683}"/>
              </a:ext>
            </a:extLst>
          </p:cNvPr>
          <p:cNvSpPr>
            <a:spLocks xmlns:a="http://schemas.openxmlformats.org/drawingml/2006/main" noGrp="1"/>
          </p:cNvSpPr>
          <p:nvPr/>
        </p:nvSpPr>
        <p:spPr>
          <a:xfrm xmlns:a="http://schemas.openxmlformats.org/drawingml/2006/main">
            <a:off x="9236869"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4" name="">
            <a:extLst xmlns:a="http://schemas.openxmlformats.org/drawingml/2006/main">
              <a:ext uri="{FF2B5EF4-FFF2-40B4-BE49-F238E27FC236}">
                <a16:creationId xmlns:a16="http://schemas.microsoft.com/office/drawing/2014/main" id="{E2E6B509-D4D3-4202-9C61-D4710F194693}"/>
              </a:ext>
            </a:extLst>
          </p:cNvPr>
          <p:cNvSpPr>
            <a:spLocks xmlns:a="http://schemas.openxmlformats.org/drawingml/2006/main" noGrp="1"/>
          </p:cNvSpPr>
          <p:nvPr/>
        </p:nvSpPr>
        <p:spPr>
          <a:xfrm xmlns:a="http://schemas.openxmlformats.org/drawingml/2006/main" rot="0">
            <a:off x="9236869"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Q4</a:t>
            </a:r>
          </a:p>
        </p:txBody>
      </p:sp>
      <p:sp>
        <p:nvSpPr>
          <p:cNvPr id="15" name="">
            <a:extLst xmlns:a="http://schemas.openxmlformats.org/drawingml/2006/main">
              <a:ext uri="{FF2B5EF4-FFF2-40B4-BE49-F238E27FC236}">
                <a16:creationId xmlns:a16="http://schemas.microsoft.com/office/drawing/2014/main" id="{6353D34D-4242-47E0-98A3-A88E757F29DA}"/>
              </a:ext>
            </a:extLst>
          </p:cNvPr>
          <p:cNvSpPr>
            <a:spLocks xmlns:a="http://schemas.openxmlformats.org/drawingml/2006/main" noGrp="1"/>
          </p:cNvSpPr>
          <p:nvPr/>
        </p:nvSpPr>
        <p:spPr>
          <a:xfrm xmlns:a="http://schemas.openxmlformats.org/drawingml/2006/main">
            <a:off x="723900" y="21526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645684FF-F08F-41D4-B20D-DC64BA3C939B}"/>
              </a:ext>
            </a:extLst>
          </p:cNvPr>
          <p:cNvSpPr>
            <a:spLocks xmlns:a="http://schemas.openxmlformats.org/drawingml/2006/main" noGrp="1"/>
          </p:cNvSpPr>
          <p:nvPr/>
        </p:nvSpPr>
        <p:spPr>
          <a:xfrm xmlns:a="http://schemas.openxmlformats.org/drawingml/2006/main" rot="0">
            <a:off x="857250" y="22955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撮影規模・撮影先</a:t>
            </a:r>
          </a:p>
        </p:txBody>
      </p:sp>
      <p:sp>
        <p:nvSpPr>
          <p:cNvPr id="17" name="">
            <a:extLst xmlns:a="http://schemas.openxmlformats.org/drawingml/2006/main">
              <a:ext uri="{FF2B5EF4-FFF2-40B4-BE49-F238E27FC236}">
                <a16:creationId xmlns:a16="http://schemas.microsoft.com/office/drawing/2014/main" id="{E4B64E26-0793-4011-B991-17C1EEB671A9}"/>
              </a:ext>
            </a:extLst>
          </p:cNvPr>
          <p:cNvSpPr>
            <a:spLocks xmlns:a="http://schemas.openxmlformats.org/drawingml/2006/main" noGrp="1"/>
          </p:cNvSpPr>
          <p:nvPr/>
        </p:nvSpPr>
        <p:spPr>
          <a:xfrm xmlns:a="http://schemas.openxmlformats.org/drawingml/2006/main">
            <a:off x="3057525"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4938F13B-5282-46E9-92CF-7FE402A71D73}"/>
              </a:ext>
            </a:extLst>
          </p:cNvPr>
          <p:cNvSpPr>
            <a:spLocks xmlns:a="http://schemas.openxmlformats.org/drawingml/2006/main" noGrp="1"/>
          </p:cNvSpPr>
          <p:nvPr/>
        </p:nvSpPr>
        <p:spPr>
          <a:xfrm xmlns:a="http://schemas.openxmlformats.org/drawingml/2006/main">
            <a:off x="5117306"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9" name="">
            <a:extLst xmlns:a="http://schemas.openxmlformats.org/drawingml/2006/main">
              <a:ext uri="{FF2B5EF4-FFF2-40B4-BE49-F238E27FC236}">
                <a16:creationId xmlns:a16="http://schemas.microsoft.com/office/drawing/2014/main" id="{2FF5E7AB-FA53-4CD6-8FEA-628ABA15A19D}"/>
              </a:ext>
            </a:extLst>
          </p:cNvPr>
          <p:cNvSpPr>
            <a:spLocks xmlns:a="http://schemas.openxmlformats.org/drawingml/2006/main" noGrp="1"/>
          </p:cNvSpPr>
          <p:nvPr/>
        </p:nvSpPr>
        <p:spPr>
          <a:xfrm xmlns:a="http://schemas.openxmlformats.org/drawingml/2006/main">
            <a:off x="7177088"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0" name="">
            <a:extLst xmlns:a="http://schemas.openxmlformats.org/drawingml/2006/main">
              <a:ext uri="{FF2B5EF4-FFF2-40B4-BE49-F238E27FC236}">
                <a16:creationId xmlns:a16="http://schemas.microsoft.com/office/drawing/2014/main" id="{18508CA9-4E12-4D1B-8A5C-6E60B3D15D55}"/>
              </a:ext>
            </a:extLst>
          </p:cNvPr>
          <p:cNvSpPr>
            <a:spLocks xmlns:a="http://schemas.openxmlformats.org/drawingml/2006/main" noGrp="1"/>
          </p:cNvSpPr>
          <p:nvPr/>
        </p:nvSpPr>
        <p:spPr>
          <a:xfrm xmlns:a="http://schemas.openxmlformats.org/drawingml/2006/main">
            <a:off x="9236869"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1" name="">
            <a:extLst xmlns:a="http://schemas.openxmlformats.org/drawingml/2006/main">
              <a:ext uri="{FF2B5EF4-FFF2-40B4-BE49-F238E27FC236}">
                <a16:creationId xmlns:a16="http://schemas.microsoft.com/office/drawing/2014/main" id="{FCBCE966-6D87-4A48-852D-7CE8D87ED367}"/>
              </a:ext>
            </a:extLst>
          </p:cNvPr>
          <p:cNvSpPr>
            <a:spLocks xmlns:a="http://schemas.openxmlformats.org/drawingml/2006/main" noGrp="1"/>
          </p:cNvSpPr>
          <p:nvPr/>
        </p:nvSpPr>
        <p:spPr>
          <a:xfrm xmlns:a="http://schemas.openxmlformats.org/drawingml/2006/main">
            <a:off x="3133725" y="2238375"/>
            <a:ext cx="3967163"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2" name="">
            <a:extLst xmlns:a="http://schemas.openxmlformats.org/drawingml/2006/main">
              <a:ext uri="{FF2B5EF4-FFF2-40B4-BE49-F238E27FC236}">
                <a16:creationId xmlns:a16="http://schemas.microsoft.com/office/drawing/2014/main" id="{09BB7E80-884E-403D-9756-5273E15D8A0F}"/>
              </a:ext>
            </a:extLst>
          </p:cNvPr>
          <p:cNvSpPr>
            <a:spLocks xmlns:a="http://schemas.openxmlformats.org/drawingml/2006/main" noGrp="1"/>
          </p:cNvSpPr>
          <p:nvPr/>
        </p:nvSpPr>
        <p:spPr>
          <a:xfrm xmlns:a="http://schemas.openxmlformats.org/drawingml/2006/main" rot="0">
            <a:off x="3209925" y="2200275"/>
            <a:ext cx="3814763"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撮影先と実証に使える現場を拡大</a:t>
            </a:r>
          </a:p>
        </p:txBody>
      </p:sp>
      <p:sp>
        <p:nvSpPr>
          <p:cNvPr id="23" name="">
            <a:extLst xmlns:a="http://schemas.openxmlformats.org/drawingml/2006/main">
              <a:ext uri="{FF2B5EF4-FFF2-40B4-BE49-F238E27FC236}">
                <a16:creationId xmlns:a16="http://schemas.microsoft.com/office/drawing/2014/main" id="{2EBEA2FD-8AA2-41A6-BD44-36FD2366E356}"/>
              </a:ext>
            </a:extLst>
          </p:cNvPr>
          <p:cNvSpPr>
            <a:spLocks xmlns:a="http://schemas.openxmlformats.org/drawingml/2006/main" noGrp="1"/>
          </p:cNvSpPr>
          <p:nvPr/>
        </p:nvSpPr>
        <p:spPr>
          <a:xfrm xmlns:a="http://schemas.openxmlformats.org/drawingml/2006/main">
            <a:off x="7253288" y="2238375"/>
            <a:ext cx="3967163"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4" name="">
            <a:extLst xmlns:a="http://schemas.openxmlformats.org/drawingml/2006/main">
              <a:ext uri="{FF2B5EF4-FFF2-40B4-BE49-F238E27FC236}">
                <a16:creationId xmlns:a16="http://schemas.microsoft.com/office/drawing/2014/main" id="{5324B1CE-5585-44FC-8AAE-486D5905C2AA}"/>
              </a:ext>
            </a:extLst>
          </p:cNvPr>
          <p:cNvSpPr>
            <a:spLocks xmlns:a="http://schemas.openxmlformats.org/drawingml/2006/main" noGrp="1"/>
          </p:cNvSpPr>
          <p:nvPr/>
        </p:nvSpPr>
        <p:spPr>
          <a:xfrm xmlns:a="http://schemas.openxmlformats.org/drawingml/2006/main" rot="0">
            <a:off x="7329488" y="2200275"/>
            <a:ext cx="3814763"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蓄積データから、ロボットを</a:t>
            </a:r>
          </a:p>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導入しやすい業種と現場を絞る</a:t>
            </a:r>
          </a:p>
        </p:txBody>
      </p:sp>
      <p:sp>
        <p:nvSpPr>
          <p:cNvPr id="25" name="">
            <a:extLst xmlns:a="http://schemas.openxmlformats.org/drawingml/2006/main">
              <a:ext uri="{FF2B5EF4-FFF2-40B4-BE49-F238E27FC236}">
                <a16:creationId xmlns:a16="http://schemas.microsoft.com/office/drawing/2014/main" id="{B1592EB7-CF48-446D-83BB-D249A70D97E1}"/>
              </a:ext>
            </a:extLst>
          </p:cNvPr>
          <p:cNvSpPr>
            <a:spLocks xmlns:a="http://schemas.openxmlformats.org/drawingml/2006/main" noGrp="1"/>
          </p:cNvSpPr>
          <p:nvPr/>
        </p:nvSpPr>
        <p:spPr>
          <a:xfrm xmlns:a="http://schemas.openxmlformats.org/drawingml/2006/main">
            <a:off x="723900" y="27336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6" name="">
            <a:extLst xmlns:a="http://schemas.openxmlformats.org/drawingml/2006/main">
              <a:ext uri="{FF2B5EF4-FFF2-40B4-BE49-F238E27FC236}">
                <a16:creationId xmlns:a16="http://schemas.microsoft.com/office/drawing/2014/main" id="{CD1AD4F7-2E7A-4CAA-8DDB-C593E44265D6}"/>
              </a:ext>
            </a:extLst>
          </p:cNvPr>
          <p:cNvSpPr>
            <a:spLocks xmlns:a="http://schemas.openxmlformats.org/drawingml/2006/main" noGrp="1"/>
          </p:cNvSpPr>
          <p:nvPr/>
        </p:nvSpPr>
        <p:spPr>
          <a:xfrm xmlns:a="http://schemas.openxmlformats.org/drawingml/2006/main" rot="0">
            <a:off x="857250" y="28765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データ販売</a:t>
            </a:r>
          </a:p>
        </p:txBody>
      </p:sp>
      <p:sp>
        <p:nvSpPr>
          <p:cNvPr id="27" name="">
            <a:extLst xmlns:a="http://schemas.openxmlformats.org/drawingml/2006/main">
              <a:ext uri="{FF2B5EF4-FFF2-40B4-BE49-F238E27FC236}">
                <a16:creationId xmlns:a16="http://schemas.microsoft.com/office/drawing/2014/main" id="{717D192D-2638-48F9-ACFA-5F8BFA4A0852}"/>
              </a:ext>
            </a:extLst>
          </p:cNvPr>
          <p:cNvSpPr>
            <a:spLocks xmlns:a="http://schemas.openxmlformats.org/drawingml/2006/main" noGrp="1"/>
          </p:cNvSpPr>
          <p:nvPr/>
        </p:nvSpPr>
        <p:spPr>
          <a:xfrm xmlns:a="http://schemas.openxmlformats.org/drawingml/2006/main">
            <a:off x="3057525"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8" name="">
            <a:extLst xmlns:a="http://schemas.openxmlformats.org/drawingml/2006/main">
              <a:ext uri="{FF2B5EF4-FFF2-40B4-BE49-F238E27FC236}">
                <a16:creationId xmlns:a16="http://schemas.microsoft.com/office/drawing/2014/main" id="{94CE387F-EBC1-4DD7-BF57-0CDD4670D1B8}"/>
              </a:ext>
            </a:extLst>
          </p:cNvPr>
          <p:cNvSpPr>
            <a:spLocks xmlns:a="http://schemas.openxmlformats.org/drawingml/2006/main" noGrp="1"/>
          </p:cNvSpPr>
          <p:nvPr/>
        </p:nvSpPr>
        <p:spPr>
          <a:xfrm xmlns:a="http://schemas.openxmlformats.org/drawingml/2006/main">
            <a:off x="5117306"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1F5B0EB3-1F9D-4AB3-965C-5C5E1FD74B78}"/>
              </a:ext>
            </a:extLst>
          </p:cNvPr>
          <p:cNvSpPr>
            <a:spLocks xmlns:a="http://schemas.openxmlformats.org/drawingml/2006/main" noGrp="1"/>
          </p:cNvSpPr>
          <p:nvPr/>
        </p:nvSpPr>
        <p:spPr>
          <a:xfrm xmlns:a="http://schemas.openxmlformats.org/drawingml/2006/main">
            <a:off x="7177088"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0" name="">
            <a:extLst xmlns:a="http://schemas.openxmlformats.org/drawingml/2006/main">
              <a:ext uri="{FF2B5EF4-FFF2-40B4-BE49-F238E27FC236}">
                <a16:creationId xmlns:a16="http://schemas.microsoft.com/office/drawing/2014/main" id="{835DD957-5263-4A2C-9D0E-8C6ACB7353D5}"/>
              </a:ext>
            </a:extLst>
          </p:cNvPr>
          <p:cNvSpPr>
            <a:spLocks xmlns:a="http://schemas.openxmlformats.org/drawingml/2006/main" noGrp="1"/>
          </p:cNvSpPr>
          <p:nvPr/>
        </p:nvSpPr>
        <p:spPr>
          <a:xfrm xmlns:a="http://schemas.openxmlformats.org/drawingml/2006/main">
            <a:off x="9236869"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1" name="">
            <a:extLst xmlns:a="http://schemas.openxmlformats.org/drawingml/2006/main">
              <a:ext uri="{FF2B5EF4-FFF2-40B4-BE49-F238E27FC236}">
                <a16:creationId xmlns:a16="http://schemas.microsoft.com/office/drawing/2014/main" id="{60B6C52F-6DAF-41EE-A40C-BF3A181671F7}"/>
              </a:ext>
            </a:extLst>
          </p:cNvPr>
          <p:cNvSpPr>
            <a:spLocks xmlns:a="http://schemas.openxmlformats.org/drawingml/2006/main" noGrp="1"/>
          </p:cNvSpPr>
          <p:nvPr/>
        </p:nvSpPr>
        <p:spPr>
          <a:xfrm xmlns:a="http://schemas.openxmlformats.org/drawingml/2006/main">
            <a:off x="723900" y="331470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2" name="">
            <a:extLst xmlns:a="http://schemas.openxmlformats.org/drawingml/2006/main">
              <a:ext uri="{FF2B5EF4-FFF2-40B4-BE49-F238E27FC236}">
                <a16:creationId xmlns:a16="http://schemas.microsoft.com/office/drawing/2014/main" id="{4BC64B31-1F4F-4336-B415-06C26C8E6237}"/>
              </a:ext>
            </a:extLst>
          </p:cNvPr>
          <p:cNvSpPr>
            <a:spLocks xmlns:a="http://schemas.openxmlformats.org/drawingml/2006/main" noGrp="1"/>
          </p:cNvSpPr>
          <p:nvPr/>
        </p:nvSpPr>
        <p:spPr>
          <a:xfrm xmlns:a="http://schemas.openxmlformats.org/drawingml/2006/main" rot="0">
            <a:off x="857250" y="345757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撮影デバイス・知財</a:t>
            </a:r>
          </a:p>
        </p:txBody>
      </p:sp>
      <p:sp>
        <p:nvSpPr>
          <p:cNvPr id="33" name="">
            <a:extLst xmlns:a="http://schemas.openxmlformats.org/drawingml/2006/main">
              <a:ext uri="{FF2B5EF4-FFF2-40B4-BE49-F238E27FC236}">
                <a16:creationId xmlns:a16="http://schemas.microsoft.com/office/drawing/2014/main" id="{956CE04C-C512-465D-8834-765FB8E2AF1B}"/>
              </a:ext>
            </a:extLst>
          </p:cNvPr>
          <p:cNvSpPr>
            <a:spLocks xmlns:a="http://schemas.openxmlformats.org/drawingml/2006/main" noGrp="1"/>
          </p:cNvSpPr>
          <p:nvPr/>
        </p:nvSpPr>
        <p:spPr>
          <a:xfrm xmlns:a="http://schemas.openxmlformats.org/drawingml/2006/main">
            <a:off x="3057525"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4" name="">
            <a:extLst xmlns:a="http://schemas.openxmlformats.org/drawingml/2006/main">
              <a:ext uri="{FF2B5EF4-FFF2-40B4-BE49-F238E27FC236}">
                <a16:creationId xmlns:a16="http://schemas.microsoft.com/office/drawing/2014/main" id="{AA25168E-5647-462F-BA22-EB4CB0C67BE6}"/>
              </a:ext>
            </a:extLst>
          </p:cNvPr>
          <p:cNvSpPr>
            <a:spLocks xmlns:a="http://schemas.openxmlformats.org/drawingml/2006/main" noGrp="1"/>
          </p:cNvSpPr>
          <p:nvPr/>
        </p:nvSpPr>
        <p:spPr>
          <a:xfrm xmlns:a="http://schemas.openxmlformats.org/drawingml/2006/main">
            <a:off x="5117306"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5" name="">
            <a:extLst xmlns:a="http://schemas.openxmlformats.org/drawingml/2006/main">
              <a:ext uri="{FF2B5EF4-FFF2-40B4-BE49-F238E27FC236}">
                <a16:creationId xmlns:a16="http://schemas.microsoft.com/office/drawing/2014/main" id="{DF8E5FEA-22D3-4705-8C79-ECD91035CA39}"/>
              </a:ext>
            </a:extLst>
          </p:cNvPr>
          <p:cNvSpPr>
            <a:spLocks xmlns:a="http://schemas.openxmlformats.org/drawingml/2006/main" noGrp="1"/>
          </p:cNvSpPr>
          <p:nvPr/>
        </p:nvSpPr>
        <p:spPr>
          <a:xfrm xmlns:a="http://schemas.openxmlformats.org/drawingml/2006/main">
            <a:off x="7177088"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6" name="">
            <a:extLst xmlns:a="http://schemas.openxmlformats.org/drawingml/2006/main">
              <a:ext uri="{FF2B5EF4-FFF2-40B4-BE49-F238E27FC236}">
                <a16:creationId xmlns:a16="http://schemas.microsoft.com/office/drawing/2014/main" id="{6CAFC788-F715-452E-B798-2BC14CFE72DC}"/>
              </a:ext>
            </a:extLst>
          </p:cNvPr>
          <p:cNvSpPr>
            <a:spLocks xmlns:a="http://schemas.openxmlformats.org/drawingml/2006/main" noGrp="1"/>
          </p:cNvSpPr>
          <p:nvPr/>
        </p:nvSpPr>
        <p:spPr>
          <a:xfrm xmlns:a="http://schemas.openxmlformats.org/drawingml/2006/main">
            <a:off x="9236869"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7" name="">
            <a:extLst xmlns:a="http://schemas.openxmlformats.org/drawingml/2006/main">
              <a:ext uri="{FF2B5EF4-FFF2-40B4-BE49-F238E27FC236}">
                <a16:creationId xmlns:a16="http://schemas.microsoft.com/office/drawing/2014/main" id="{365A359D-73C6-4363-AD65-E698D88F66A8}"/>
              </a:ext>
            </a:extLst>
          </p:cNvPr>
          <p:cNvSpPr>
            <a:spLocks xmlns:a="http://schemas.openxmlformats.org/drawingml/2006/main" noGrp="1"/>
          </p:cNvSpPr>
          <p:nvPr/>
        </p:nvSpPr>
        <p:spPr>
          <a:xfrm xmlns:a="http://schemas.openxmlformats.org/drawingml/2006/main">
            <a:off x="723900" y="389572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8" name="">
            <a:extLst xmlns:a="http://schemas.openxmlformats.org/drawingml/2006/main">
              <a:ext uri="{FF2B5EF4-FFF2-40B4-BE49-F238E27FC236}">
                <a16:creationId xmlns:a16="http://schemas.microsoft.com/office/drawing/2014/main" id="{D21C8679-8A96-4A22-B240-19A517924FCE}"/>
              </a:ext>
            </a:extLst>
          </p:cNvPr>
          <p:cNvSpPr>
            <a:spLocks xmlns:a="http://schemas.openxmlformats.org/drawingml/2006/main" noGrp="1"/>
          </p:cNvSpPr>
          <p:nvPr/>
        </p:nvSpPr>
        <p:spPr>
          <a:xfrm xmlns:a="http://schemas.openxmlformats.org/drawingml/2006/main" rot="0">
            <a:off x="857250" y="403860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ロボット企業・大学</a:t>
            </a:r>
          </a:p>
        </p:txBody>
      </p:sp>
      <p:sp>
        <p:nvSpPr>
          <p:cNvPr id="39" name="">
            <a:extLst xmlns:a="http://schemas.openxmlformats.org/drawingml/2006/main">
              <a:ext uri="{FF2B5EF4-FFF2-40B4-BE49-F238E27FC236}">
                <a16:creationId xmlns:a16="http://schemas.microsoft.com/office/drawing/2014/main" id="{ACC04DD6-4B9C-4AAC-8945-F0F589B84EE1}"/>
              </a:ext>
            </a:extLst>
          </p:cNvPr>
          <p:cNvSpPr>
            <a:spLocks xmlns:a="http://schemas.openxmlformats.org/drawingml/2006/main" noGrp="1"/>
          </p:cNvSpPr>
          <p:nvPr/>
        </p:nvSpPr>
        <p:spPr>
          <a:xfrm xmlns:a="http://schemas.openxmlformats.org/drawingml/2006/main">
            <a:off x="3057525"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0" name="">
            <a:extLst xmlns:a="http://schemas.openxmlformats.org/drawingml/2006/main">
              <a:ext uri="{FF2B5EF4-FFF2-40B4-BE49-F238E27FC236}">
                <a16:creationId xmlns:a16="http://schemas.microsoft.com/office/drawing/2014/main" id="{FC61F1EC-5CF5-4DEC-B708-D5949A798160}"/>
              </a:ext>
            </a:extLst>
          </p:cNvPr>
          <p:cNvSpPr>
            <a:spLocks xmlns:a="http://schemas.openxmlformats.org/drawingml/2006/main" noGrp="1"/>
          </p:cNvSpPr>
          <p:nvPr/>
        </p:nvSpPr>
        <p:spPr>
          <a:xfrm xmlns:a="http://schemas.openxmlformats.org/drawingml/2006/main">
            <a:off x="5117306"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1" name="">
            <a:extLst xmlns:a="http://schemas.openxmlformats.org/drawingml/2006/main">
              <a:ext uri="{FF2B5EF4-FFF2-40B4-BE49-F238E27FC236}">
                <a16:creationId xmlns:a16="http://schemas.microsoft.com/office/drawing/2014/main" id="{E42C95FF-3024-4E03-8A98-039FB20B7522}"/>
              </a:ext>
            </a:extLst>
          </p:cNvPr>
          <p:cNvSpPr>
            <a:spLocks xmlns:a="http://schemas.openxmlformats.org/drawingml/2006/main" noGrp="1"/>
          </p:cNvSpPr>
          <p:nvPr/>
        </p:nvSpPr>
        <p:spPr>
          <a:xfrm xmlns:a="http://schemas.openxmlformats.org/drawingml/2006/main">
            <a:off x="7177088"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2" name="">
            <a:extLst xmlns:a="http://schemas.openxmlformats.org/drawingml/2006/main">
              <a:ext uri="{FF2B5EF4-FFF2-40B4-BE49-F238E27FC236}">
                <a16:creationId xmlns:a16="http://schemas.microsoft.com/office/drawing/2014/main" id="{8BC11E78-12DE-4E1F-B53A-EF7A60667D7C}"/>
              </a:ext>
            </a:extLst>
          </p:cNvPr>
          <p:cNvSpPr>
            <a:spLocks xmlns:a="http://schemas.openxmlformats.org/drawingml/2006/main" noGrp="1"/>
          </p:cNvSpPr>
          <p:nvPr/>
        </p:nvSpPr>
        <p:spPr>
          <a:xfrm xmlns:a="http://schemas.openxmlformats.org/drawingml/2006/main">
            <a:off x="9236869"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3" name="">
            <a:extLst xmlns:a="http://schemas.openxmlformats.org/drawingml/2006/main">
              <a:ext uri="{FF2B5EF4-FFF2-40B4-BE49-F238E27FC236}">
                <a16:creationId xmlns:a16="http://schemas.microsoft.com/office/drawing/2014/main" id="{ED78BB92-C863-4D42-99B0-D8A907152400}"/>
              </a:ext>
            </a:extLst>
          </p:cNvPr>
          <p:cNvSpPr>
            <a:spLocks xmlns:a="http://schemas.openxmlformats.org/drawingml/2006/main" noGrp="1"/>
          </p:cNvSpPr>
          <p:nvPr/>
        </p:nvSpPr>
        <p:spPr>
          <a:xfrm xmlns:a="http://schemas.openxmlformats.org/drawingml/2006/main">
            <a:off x="3133725" y="3981450"/>
            <a:ext cx="3967163"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4" name="">
            <a:extLst xmlns:a="http://schemas.openxmlformats.org/drawingml/2006/main">
              <a:ext uri="{FF2B5EF4-FFF2-40B4-BE49-F238E27FC236}">
                <a16:creationId xmlns:a16="http://schemas.microsoft.com/office/drawing/2014/main" id="{DD2769E2-EF92-43B7-AAE6-8A85DD6C731B}"/>
              </a:ext>
            </a:extLst>
          </p:cNvPr>
          <p:cNvSpPr>
            <a:spLocks xmlns:a="http://schemas.openxmlformats.org/drawingml/2006/main" noGrp="1"/>
          </p:cNvSpPr>
          <p:nvPr/>
        </p:nvSpPr>
        <p:spPr>
          <a:xfrm xmlns:a="http://schemas.openxmlformats.org/drawingml/2006/main" rot="0">
            <a:off x="3209925" y="3943350"/>
            <a:ext cx="3814763"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企業・大学へ実証や研究に使う現場を紹介</a:t>
            </a:r>
          </a:p>
        </p:txBody>
      </p:sp>
      <p:sp>
        <p:nvSpPr>
          <p:cNvPr id="45" name="">
            <a:extLst xmlns:a="http://schemas.openxmlformats.org/drawingml/2006/main">
              <a:ext uri="{FF2B5EF4-FFF2-40B4-BE49-F238E27FC236}">
                <a16:creationId xmlns:a16="http://schemas.microsoft.com/office/drawing/2014/main" id="{6B4E3336-94BC-4A7E-8F92-D7EA70BA9A7B}"/>
              </a:ext>
            </a:extLst>
          </p:cNvPr>
          <p:cNvSpPr>
            <a:spLocks xmlns:a="http://schemas.openxmlformats.org/drawingml/2006/main" noGrp="1"/>
          </p:cNvSpPr>
          <p:nvPr/>
        </p:nvSpPr>
        <p:spPr>
          <a:xfrm xmlns:a="http://schemas.openxmlformats.org/drawingml/2006/main">
            <a:off x="723900" y="44767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6" name="">
            <a:extLst xmlns:a="http://schemas.openxmlformats.org/drawingml/2006/main">
              <a:ext uri="{FF2B5EF4-FFF2-40B4-BE49-F238E27FC236}">
                <a16:creationId xmlns:a16="http://schemas.microsoft.com/office/drawing/2014/main" id="{167A0155-9EC1-498C-BFDB-9EDAF7CEF6B0}"/>
              </a:ext>
            </a:extLst>
          </p:cNvPr>
          <p:cNvSpPr>
            <a:spLocks xmlns:a="http://schemas.openxmlformats.org/drawingml/2006/main" noGrp="1"/>
          </p:cNvSpPr>
          <p:nvPr/>
        </p:nvSpPr>
        <p:spPr>
          <a:xfrm xmlns:a="http://schemas.openxmlformats.org/drawingml/2006/main" rot="0">
            <a:off x="857250" y="46196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契約・法務</a:t>
            </a:r>
          </a:p>
        </p:txBody>
      </p:sp>
      <p:sp>
        <p:nvSpPr>
          <p:cNvPr id="47" name="">
            <a:extLst xmlns:a="http://schemas.openxmlformats.org/drawingml/2006/main">
              <a:ext uri="{FF2B5EF4-FFF2-40B4-BE49-F238E27FC236}">
                <a16:creationId xmlns:a16="http://schemas.microsoft.com/office/drawing/2014/main" id="{4F836CF6-048D-4FA6-879E-AC0343DEE4ED}"/>
              </a:ext>
            </a:extLst>
          </p:cNvPr>
          <p:cNvSpPr>
            <a:spLocks xmlns:a="http://schemas.openxmlformats.org/drawingml/2006/main" noGrp="1"/>
          </p:cNvSpPr>
          <p:nvPr/>
        </p:nvSpPr>
        <p:spPr>
          <a:xfrm xmlns:a="http://schemas.openxmlformats.org/drawingml/2006/main">
            <a:off x="3057525"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8" name="">
            <a:extLst xmlns:a="http://schemas.openxmlformats.org/drawingml/2006/main">
              <a:ext uri="{FF2B5EF4-FFF2-40B4-BE49-F238E27FC236}">
                <a16:creationId xmlns:a16="http://schemas.microsoft.com/office/drawing/2014/main" id="{87E0813D-D082-4F0B-81D2-7836358473EF}"/>
              </a:ext>
            </a:extLst>
          </p:cNvPr>
          <p:cNvSpPr>
            <a:spLocks xmlns:a="http://schemas.openxmlformats.org/drawingml/2006/main" noGrp="1"/>
          </p:cNvSpPr>
          <p:nvPr/>
        </p:nvSpPr>
        <p:spPr>
          <a:xfrm xmlns:a="http://schemas.openxmlformats.org/drawingml/2006/main">
            <a:off x="5117306"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9" name="">
            <a:extLst xmlns:a="http://schemas.openxmlformats.org/drawingml/2006/main">
              <a:ext uri="{FF2B5EF4-FFF2-40B4-BE49-F238E27FC236}">
                <a16:creationId xmlns:a16="http://schemas.microsoft.com/office/drawing/2014/main" id="{7A960245-DF8D-4FE6-A3B5-8D5782715355}"/>
              </a:ext>
            </a:extLst>
          </p:cNvPr>
          <p:cNvSpPr>
            <a:spLocks xmlns:a="http://schemas.openxmlformats.org/drawingml/2006/main" noGrp="1"/>
          </p:cNvSpPr>
          <p:nvPr/>
        </p:nvSpPr>
        <p:spPr>
          <a:xfrm xmlns:a="http://schemas.openxmlformats.org/drawingml/2006/main">
            <a:off x="7177088"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0" name="">
            <a:extLst xmlns:a="http://schemas.openxmlformats.org/drawingml/2006/main">
              <a:ext uri="{FF2B5EF4-FFF2-40B4-BE49-F238E27FC236}">
                <a16:creationId xmlns:a16="http://schemas.microsoft.com/office/drawing/2014/main" id="{D70F30D8-CA28-401A-AD7B-8EF53FDF54EA}"/>
              </a:ext>
            </a:extLst>
          </p:cNvPr>
          <p:cNvSpPr>
            <a:spLocks xmlns:a="http://schemas.openxmlformats.org/drawingml/2006/main" noGrp="1"/>
          </p:cNvSpPr>
          <p:nvPr/>
        </p:nvSpPr>
        <p:spPr>
          <a:xfrm xmlns:a="http://schemas.openxmlformats.org/drawingml/2006/main">
            <a:off x="9236869"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1" name="">
            <a:extLst xmlns:a="http://schemas.openxmlformats.org/drawingml/2006/main">
              <a:ext uri="{FF2B5EF4-FFF2-40B4-BE49-F238E27FC236}">
                <a16:creationId xmlns:a16="http://schemas.microsoft.com/office/drawing/2014/main" id="{090AEA8E-1D61-44DE-A22E-7BD8E818F083}"/>
              </a:ext>
            </a:extLst>
          </p:cNvPr>
          <p:cNvSpPr>
            <a:spLocks xmlns:a="http://schemas.openxmlformats.org/drawingml/2006/main" noGrp="1"/>
          </p:cNvSpPr>
          <p:nvPr/>
        </p:nvSpPr>
        <p:spPr>
          <a:xfrm xmlns:a="http://schemas.openxmlformats.org/drawingml/2006/main">
            <a:off x="723900" y="50577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2" name="">
            <a:extLst xmlns:a="http://schemas.openxmlformats.org/drawingml/2006/main">
              <a:ext uri="{FF2B5EF4-FFF2-40B4-BE49-F238E27FC236}">
                <a16:creationId xmlns:a16="http://schemas.microsoft.com/office/drawing/2014/main" id="{830F9146-F342-49DA-B858-7F54A9242942}"/>
              </a:ext>
            </a:extLst>
          </p:cNvPr>
          <p:cNvSpPr>
            <a:spLocks xmlns:a="http://schemas.openxmlformats.org/drawingml/2006/main" noGrp="1"/>
          </p:cNvSpPr>
          <p:nvPr/>
        </p:nvSpPr>
        <p:spPr>
          <a:xfrm xmlns:a="http://schemas.openxmlformats.org/drawingml/2006/main" rot="0">
            <a:off x="857250" y="52006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ロボットの導入・開発</a:t>
            </a:r>
          </a:p>
        </p:txBody>
      </p:sp>
      <p:sp>
        <p:nvSpPr>
          <p:cNvPr id="53" name="">
            <a:extLst xmlns:a="http://schemas.openxmlformats.org/drawingml/2006/main">
              <a:ext uri="{FF2B5EF4-FFF2-40B4-BE49-F238E27FC236}">
                <a16:creationId xmlns:a16="http://schemas.microsoft.com/office/drawing/2014/main" id="{FFEA3EF6-25BD-4E25-AC84-5030CA85CC34}"/>
              </a:ext>
            </a:extLst>
          </p:cNvPr>
          <p:cNvSpPr>
            <a:spLocks xmlns:a="http://schemas.openxmlformats.org/drawingml/2006/main" noGrp="1"/>
          </p:cNvSpPr>
          <p:nvPr/>
        </p:nvSpPr>
        <p:spPr>
          <a:xfrm xmlns:a="http://schemas.openxmlformats.org/drawingml/2006/main">
            <a:off x="3057525"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4" name="">
            <a:extLst xmlns:a="http://schemas.openxmlformats.org/drawingml/2006/main">
              <a:ext uri="{FF2B5EF4-FFF2-40B4-BE49-F238E27FC236}">
                <a16:creationId xmlns:a16="http://schemas.microsoft.com/office/drawing/2014/main" id="{1A6B829B-0BA8-4A66-834C-E0F94481A412}"/>
              </a:ext>
            </a:extLst>
          </p:cNvPr>
          <p:cNvSpPr>
            <a:spLocks xmlns:a="http://schemas.openxmlformats.org/drawingml/2006/main" noGrp="1"/>
          </p:cNvSpPr>
          <p:nvPr/>
        </p:nvSpPr>
        <p:spPr>
          <a:xfrm xmlns:a="http://schemas.openxmlformats.org/drawingml/2006/main">
            <a:off x="5117306"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5" name="">
            <a:extLst xmlns:a="http://schemas.openxmlformats.org/drawingml/2006/main">
              <a:ext uri="{FF2B5EF4-FFF2-40B4-BE49-F238E27FC236}">
                <a16:creationId xmlns:a16="http://schemas.microsoft.com/office/drawing/2014/main" id="{B230FAFE-CA10-4106-B68D-8CA1079D7298}"/>
              </a:ext>
            </a:extLst>
          </p:cNvPr>
          <p:cNvSpPr>
            <a:spLocks xmlns:a="http://schemas.openxmlformats.org/drawingml/2006/main" noGrp="1"/>
          </p:cNvSpPr>
          <p:nvPr/>
        </p:nvSpPr>
        <p:spPr>
          <a:xfrm xmlns:a="http://schemas.openxmlformats.org/drawingml/2006/main">
            <a:off x="7177088"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6" name="">
            <a:extLst xmlns:a="http://schemas.openxmlformats.org/drawingml/2006/main">
              <a:ext uri="{FF2B5EF4-FFF2-40B4-BE49-F238E27FC236}">
                <a16:creationId xmlns:a16="http://schemas.microsoft.com/office/drawing/2014/main" id="{B83D5CE8-4429-4BBB-AF6A-A2477C9162BA}"/>
              </a:ext>
            </a:extLst>
          </p:cNvPr>
          <p:cNvSpPr>
            <a:spLocks xmlns:a="http://schemas.openxmlformats.org/drawingml/2006/main" noGrp="1"/>
          </p:cNvSpPr>
          <p:nvPr/>
        </p:nvSpPr>
        <p:spPr>
          <a:xfrm xmlns:a="http://schemas.openxmlformats.org/drawingml/2006/main">
            <a:off x="9236869"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7" name="">
            <a:extLst xmlns:a="http://schemas.openxmlformats.org/drawingml/2006/main">
              <a:ext uri="{FF2B5EF4-FFF2-40B4-BE49-F238E27FC236}">
                <a16:creationId xmlns:a16="http://schemas.microsoft.com/office/drawing/2014/main" id="{BD14C03D-36F5-4635-B9A9-439FCD1464AB}"/>
              </a:ext>
            </a:extLst>
          </p:cNvPr>
          <p:cNvSpPr>
            <a:spLocks xmlns:a="http://schemas.openxmlformats.org/drawingml/2006/main" noGrp="1"/>
          </p:cNvSpPr>
          <p:nvPr/>
        </p:nvSpPr>
        <p:spPr>
          <a:xfrm xmlns:a="http://schemas.openxmlformats.org/drawingml/2006/main">
            <a:off x="7253288" y="5143500"/>
            <a:ext cx="3967163"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8" name="">
            <a:extLst xmlns:a="http://schemas.openxmlformats.org/drawingml/2006/main">
              <a:ext uri="{FF2B5EF4-FFF2-40B4-BE49-F238E27FC236}">
                <a16:creationId xmlns:a16="http://schemas.microsoft.com/office/drawing/2014/main" id="{B774F880-552E-4E41-B91A-F7B4CB0AA999}"/>
              </a:ext>
            </a:extLst>
          </p:cNvPr>
          <p:cNvSpPr>
            <a:spLocks xmlns:a="http://schemas.openxmlformats.org/drawingml/2006/main" noGrp="1"/>
          </p:cNvSpPr>
          <p:nvPr/>
        </p:nvSpPr>
        <p:spPr>
          <a:xfrm xmlns:a="http://schemas.openxmlformats.org/drawingml/2006/main" rot="0">
            <a:off x="7329488" y="5105400"/>
            <a:ext cx="3814763"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既存ロボットを現場へ導入し</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作業に合わせて運用を調整</a:t>
            </a:r>
          </a:p>
        </p:txBody>
      </p:sp>
      <p:sp>
        <p:nvSpPr>
          <p:cNvPr id="59" name="">
            <a:extLst xmlns:a="http://schemas.openxmlformats.org/drawingml/2006/main">
              <a:ext uri="{FF2B5EF4-FFF2-40B4-BE49-F238E27FC236}">
                <a16:creationId xmlns:a16="http://schemas.microsoft.com/office/drawing/2014/main" id="{5FE326F0-7D7E-4C43-B7C6-83CE4BBD2983}"/>
              </a:ext>
            </a:extLst>
          </p:cNvPr>
          <p:cNvSpPr>
            <a:spLocks xmlns:a="http://schemas.openxmlformats.org/drawingml/2006/main" noGrp="1"/>
          </p:cNvSpPr>
          <p:nvPr/>
        </p:nvSpPr>
        <p:spPr>
          <a:xfrm xmlns:a="http://schemas.openxmlformats.org/drawingml/2006/main" rot="0">
            <a:off x="723900" y="590550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2028年は既存ロボットの導入から始め、自社でのモデル・実機開発はまだ行わない</a:t>
            </a:r>
          </a:p>
        </p:txBody>
      </p:sp>
    </p:spTree>
    <p:extLst>
      <p:ext uri="{BB962C8B-B14F-4D97-AF65-F5344CB8AC3E}">
        <p14:creationId xmlns:p14="http://schemas.microsoft.com/office/powerpoint/2010/main" val="688908352"/>
      </p:ext>
    </p:extLst>
  </p:cSld>
</p:sld>
</file>

<file path=ppt/slides/slide2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E2CCB84A-FC64-483B-8009-13B3C6519FD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89AFB1F-FD72-4849-8FF2-6BF0F260F254}"/>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今後の見通し｜2029</a:t>
            </a:r>
          </a:p>
        </p:txBody>
      </p:sp>
      <p:sp>
        <p:nvSpPr>
          <p:cNvPr id="3" name="">
            <a:extLst xmlns:a="http://schemas.openxmlformats.org/drawingml/2006/main">
              <a:ext uri="{FF2B5EF4-FFF2-40B4-BE49-F238E27FC236}">
                <a16:creationId xmlns:a16="http://schemas.microsoft.com/office/drawing/2014/main" id="{DBB00B29-1A68-4AE7-B183-0D1D415A8FA1}"/>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38A8D25-F59E-40BB-BF49-31C1A68B3A1F}"/>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25</a:t>
            </a:r>
          </a:p>
        </p:txBody>
      </p:sp>
      <p:sp>
        <p:nvSpPr>
          <p:cNvPr id="5" name="">
            <a:extLst xmlns:a="http://schemas.openxmlformats.org/drawingml/2006/main">
              <a:ext uri="{FF2B5EF4-FFF2-40B4-BE49-F238E27FC236}">
                <a16:creationId xmlns:a16="http://schemas.microsoft.com/office/drawing/2014/main" id="{CE550671-1F5F-41BD-91FB-B456821026D4}"/>
              </a:ext>
            </a:extLst>
          </p:cNvPr>
          <p:cNvSpPr>
            <a:spLocks xmlns:a="http://schemas.openxmlformats.org/drawingml/2006/main" noGrp="1"/>
          </p:cNvSpPr>
          <p:nvPr/>
        </p:nvSpPr>
        <p:spPr>
          <a:xfrm xmlns:a="http://schemas.openxmlformats.org/drawingml/2006/main">
            <a:off x="723900" y="1714500"/>
            <a:ext cx="2333625" cy="4381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62ED4E0-DBD8-480E-A846-9A68FC20F52C}"/>
              </a:ext>
            </a:extLst>
          </p:cNvPr>
          <p:cNvSpPr>
            <a:spLocks xmlns:a="http://schemas.openxmlformats.org/drawingml/2006/main" noGrp="1"/>
          </p:cNvSpPr>
          <p:nvPr/>
        </p:nvSpPr>
        <p:spPr>
          <a:xfrm xmlns:a="http://schemas.openxmlformats.org/drawingml/2006/main" rot="0">
            <a:off x="857250" y="1819275"/>
            <a:ext cx="2066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領域</a:t>
            </a:r>
          </a:p>
        </p:txBody>
      </p:sp>
      <p:sp>
        <p:nvSpPr>
          <p:cNvPr id="7" name="">
            <a:extLst xmlns:a="http://schemas.openxmlformats.org/drawingml/2006/main">
              <a:ext uri="{FF2B5EF4-FFF2-40B4-BE49-F238E27FC236}">
                <a16:creationId xmlns:a16="http://schemas.microsoft.com/office/drawing/2014/main" id="{4CF57FBD-ABD6-4BAD-BC5F-26450693906F}"/>
              </a:ext>
            </a:extLst>
          </p:cNvPr>
          <p:cNvSpPr>
            <a:spLocks xmlns:a="http://schemas.openxmlformats.org/drawingml/2006/main" noGrp="1"/>
          </p:cNvSpPr>
          <p:nvPr/>
        </p:nvSpPr>
        <p:spPr>
          <a:xfrm xmlns:a="http://schemas.openxmlformats.org/drawingml/2006/main">
            <a:off x="3057525"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198AD04C-2C11-4D89-83FA-01B2EB94FDCD}"/>
              </a:ext>
            </a:extLst>
          </p:cNvPr>
          <p:cNvSpPr>
            <a:spLocks xmlns:a="http://schemas.openxmlformats.org/drawingml/2006/main" noGrp="1"/>
          </p:cNvSpPr>
          <p:nvPr/>
        </p:nvSpPr>
        <p:spPr>
          <a:xfrm xmlns:a="http://schemas.openxmlformats.org/drawingml/2006/main" rot="0">
            <a:off x="3057525"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Q1</a:t>
            </a:r>
          </a:p>
        </p:txBody>
      </p:sp>
      <p:sp>
        <p:nvSpPr>
          <p:cNvPr id="9" name="">
            <a:extLst xmlns:a="http://schemas.openxmlformats.org/drawingml/2006/main">
              <a:ext uri="{FF2B5EF4-FFF2-40B4-BE49-F238E27FC236}">
                <a16:creationId xmlns:a16="http://schemas.microsoft.com/office/drawing/2014/main" id="{1B23F99B-657D-457E-B350-FBB889FFD9D0}"/>
              </a:ext>
            </a:extLst>
          </p:cNvPr>
          <p:cNvSpPr>
            <a:spLocks xmlns:a="http://schemas.openxmlformats.org/drawingml/2006/main" noGrp="1"/>
          </p:cNvSpPr>
          <p:nvPr/>
        </p:nvSpPr>
        <p:spPr>
          <a:xfrm xmlns:a="http://schemas.openxmlformats.org/drawingml/2006/main">
            <a:off x="5117306"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0" name="">
            <a:extLst xmlns:a="http://schemas.openxmlformats.org/drawingml/2006/main">
              <a:ext uri="{FF2B5EF4-FFF2-40B4-BE49-F238E27FC236}">
                <a16:creationId xmlns:a16="http://schemas.microsoft.com/office/drawing/2014/main" id="{CE148004-ED50-47CE-8834-473F66A93B1F}"/>
              </a:ext>
            </a:extLst>
          </p:cNvPr>
          <p:cNvSpPr>
            <a:spLocks xmlns:a="http://schemas.openxmlformats.org/drawingml/2006/main" noGrp="1"/>
          </p:cNvSpPr>
          <p:nvPr/>
        </p:nvSpPr>
        <p:spPr>
          <a:xfrm xmlns:a="http://schemas.openxmlformats.org/drawingml/2006/main" rot="0">
            <a:off x="5117306"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Q2</a:t>
            </a:r>
          </a:p>
        </p:txBody>
      </p:sp>
      <p:sp>
        <p:nvSpPr>
          <p:cNvPr id="11" name="">
            <a:extLst xmlns:a="http://schemas.openxmlformats.org/drawingml/2006/main">
              <a:ext uri="{FF2B5EF4-FFF2-40B4-BE49-F238E27FC236}">
                <a16:creationId xmlns:a16="http://schemas.microsoft.com/office/drawing/2014/main" id="{2A94C5F6-7DFA-48E6-84C8-C64DD48810A7}"/>
              </a:ext>
            </a:extLst>
          </p:cNvPr>
          <p:cNvSpPr>
            <a:spLocks xmlns:a="http://schemas.openxmlformats.org/drawingml/2006/main" noGrp="1"/>
          </p:cNvSpPr>
          <p:nvPr/>
        </p:nvSpPr>
        <p:spPr>
          <a:xfrm xmlns:a="http://schemas.openxmlformats.org/drawingml/2006/main">
            <a:off x="7177088"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2" name="">
            <a:extLst xmlns:a="http://schemas.openxmlformats.org/drawingml/2006/main">
              <a:ext uri="{FF2B5EF4-FFF2-40B4-BE49-F238E27FC236}">
                <a16:creationId xmlns:a16="http://schemas.microsoft.com/office/drawing/2014/main" id="{A6797D19-7444-46FF-ACDF-A7EE1B4472D1}"/>
              </a:ext>
            </a:extLst>
          </p:cNvPr>
          <p:cNvSpPr>
            <a:spLocks xmlns:a="http://schemas.openxmlformats.org/drawingml/2006/main" noGrp="1"/>
          </p:cNvSpPr>
          <p:nvPr/>
        </p:nvSpPr>
        <p:spPr>
          <a:xfrm xmlns:a="http://schemas.openxmlformats.org/drawingml/2006/main" rot="0">
            <a:off x="7177088"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Q3</a:t>
            </a:r>
          </a:p>
        </p:txBody>
      </p:sp>
      <p:sp>
        <p:nvSpPr>
          <p:cNvPr id="13" name="">
            <a:extLst xmlns:a="http://schemas.openxmlformats.org/drawingml/2006/main">
              <a:ext uri="{FF2B5EF4-FFF2-40B4-BE49-F238E27FC236}">
                <a16:creationId xmlns:a16="http://schemas.microsoft.com/office/drawing/2014/main" id="{2EAB5405-27F6-4B8B-B94E-1C1D10D90BC0}"/>
              </a:ext>
            </a:extLst>
          </p:cNvPr>
          <p:cNvSpPr>
            <a:spLocks xmlns:a="http://schemas.openxmlformats.org/drawingml/2006/main" noGrp="1"/>
          </p:cNvSpPr>
          <p:nvPr/>
        </p:nvSpPr>
        <p:spPr>
          <a:xfrm xmlns:a="http://schemas.openxmlformats.org/drawingml/2006/main">
            <a:off x="9236869"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4" name="">
            <a:extLst xmlns:a="http://schemas.openxmlformats.org/drawingml/2006/main">
              <a:ext uri="{FF2B5EF4-FFF2-40B4-BE49-F238E27FC236}">
                <a16:creationId xmlns:a16="http://schemas.microsoft.com/office/drawing/2014/main" id="{4B769AA4-8A33-4755-9B2D-C10782396D5C}"/>
              </a:ext>
            </a:extLst>
          </p:cNvPr>
          <p:cNvSpPr>
            <a:spLocks xmlns:a="http://schemas.openxmlformats.org/drawingml/2006/main" noGrp="1"/>
          </p:cNvSpPr>
          <p:nvPr/>
        </p:nvSpPr>
        <p:spPr>
          <a:xfrm xmlns:a="http://schemas.openxmlformats.org/drawingml/2006/main" rot="0">
            <a:off x="9236869"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Q4</a:t>
            </a:r>
          </a:p>
        </p:txBody>
      </p:sp>
      <p:sp>
        <p:nvSpPr>
          <p:cNvPr id="15" name="">
            <a:extLst xmlns:a="http://schemas.openxmlformats.org/drawingml/2006/main">
              <a:ext uri="{FF2B5EF4-FFF2-40B4-BE49-F238E27FC236}">
                <a16:creationId xmlns:a16="http://schemas.microsoft.com/office/drawing/2014/main" id="{28AD87FF-A3A1-48EF-8B83-1F6660A7A6AF}"/>
              </a:ext>
            </a:extLst>
          </p:cNvPr>
          <p:cNvSpPr>
            <a:spLocks xmlns:a="http://schemas.openxmlformats.org/drawingml/2006/main" noGrp="1"/>
          </p:cNvSpPr>
          <p:nvPr/>
        </p:nvSpPr>
        <p:spPr>
          <a:xfrm xmlns:a="http://schemas.openxmlformats.org/drawingml/2006/main">
            <a:off x="723900" y="21526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EAF3FA3F-79C4-4328-A81F-7AE4B1382DC4}"/>
              </a:ext>
            </a:extLst>
          </p:cNvPr>
          <p:cNvSpPr>
            <a:spLocks xmlns:a="http://schemas.openxmlformats.org/drawingml/2006/main" noGrp="1"/>
          </p:cNvSpPr>
          <p:nvPr/>
        </p:nvSpPr>
        <p:spPr>
          <a:xfrm xmlns:a="http://schemas.openxmlformats.org/drawingml/2006/main" rot="0">
            <a:off x="857250" y="22955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撮影規模・撮影先</a:t>
            </a:r>
          </a:p>
        </p:txBody>
      </p:sp>
      <p:sp>
        <p:nvSpPr>
          <p:cNvPr id="17" name="">
            <a:extLst xmlns:a="http://schemas.openxmlformats.org/drawingml/2006/main">
              <a:ext uri="{FF2B5EF4-FFF2-40B4-BE49-F238E27FC236}">
                <a16:creationId xmlns:a16="http://schemas.microsoft.com/office/drawing/2014/main" id="{30FFA4DE-1096-44D2-ACF6-D8C11B9C8161}"/>
              </a:ext>
            </a:extLst>
          </p:cNvPr>
          <p:cNvSpPr>
            <a:spLocks xmlns:a="http://schemas.openxmlformats.org/drawingml/2006/main" noGrp="1"/>
          </p:cNvSpPr>
          <p:nvPr/>
        </p:nvSpPr>
        <p:spPr>
          <a:xfrm xmlns:a="http://schemas.openxmlformats.org/drawingml/2006/main">
            <a:off x="3057525"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2E224F64-06CF-4E57-8649-8A6D41C4BE3C}"/>
              </a:ext>
            </a:extLst>
          </p:cNvPr>
          <p:cNvSpPr>
            <a:spLocks xmlns:a="http://schemas.openxmlformats.org/drawingml/2006/main" noGrp="1"/>
          </p:cNvSpPr>
          <p:nvPr/>
        </p:nvSpPr>
        <p:spPr>
          <a:xfrm xmlns:a="http://schemas.openxmlformats.org/drawingml/2006/main">
            <a:off x="5117306"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9" name="">
            <a:extLst xmlns:a="http://schemas.openxmlformats.org/drawingml/2006/main">
              <a:ext uri="{FF2B5EF4-FFF2-40B4-BE49-F238E27FC236}">
                <a16:creationId xmlns:a16="http://schemas.microsoft.com/office/drawing/2014/main" id="{5F7F1DB5-64F1-4BE2-828E-9CA0038EC0AC}"/>
              </a:ext>
            </a:extLst>
          </p:cNvPr>
          <p:cNvSpPr>
            <a:spLocks xmlns:a="http://schemas.openxmlformats.org/drawingml/2006/main" noGrp="1"/>
          </p:cNvSpPr>
          <p:nvPr/>
        </p:nvSpPr>
        <p:spPr>
          <a:xfrm xmlns:a="http://schemas.openxmlformats.org/drawingml/2006/main">
            <a:off x="7177088"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0" name="">
            <a:extLst xmlns:a="http://schemas.openxmlformats.org/drawingml/2006/main">
              <a:ext uri="{FF2B5EF4-FFF2-40B4-BE49-F238E27FC236}">
                <a16:creationId xmlns:a16="http://schemas.microsoft.com/office/drawing/2014/main" id="{BBF8DF85-E8FB-4D14-BDE7-A9CFB7848A81}"/>
              </a:ext>
            </a:extLst>
          </p:cNvPr>
          <p:cNvSpPr>
            <a:spLocks xmlns:a="http://schemas.openxmlformats.org/drawingml/2006/main" noGrp="1"/>
          </p:cNvSpPr>
          <p:nvPr/>
        </p:nvSpPr>
        <p:spPr>
          <a:xfrm xmlns:a="http://schemas.openxmlformats.org/drawingml/2006/main">
            <a:off x="9236869"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1" name="">
            <a:extLst xmlns:a="http://schemas.openxmlformats.org/drawingml/2006/main">
              <a:ext uri="{FF2B5EF4-FFF2-40B4-BE49-F238E27FC236}">
                <a16:creationId xmlns:a16="http://schemas.microsoft.com/office/drawing/2014/main" id="{4FB61207-59AD-40CA-9F96-58D58569C458}"/>
              </a:ext>
            </a:extLst>
          </p:cNvPr>
          <p:cNvSpPr>
            <a:spLocks xmlns:a="http://schemas.openxmlformats.org/drawingml/2006/main" noGrp="1"/>
          </p:cNvSpPr>
          <p:nvPr/>
        </p:nvSpPr>
        <p:spPr>
          <a:xfrm xmlns:a="http://schemas.openxmlformats.org/drawingml/2006/main">
            <a:off x="3133725" y="2238375"/>
            <a:ext cx="808672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2" name="">
            <a:extLst xmlns:a="http://schemas.openxmlformats.org/drawingml/2006/main">
              <a:ext uri="{FF2B5EF4-FFF2-40B4-BE49-F238E27FC236}">
                <a16:creationId xmlns:a16="http://schemas.microsoft.com/office/drawing/2014/main" id="{4435C336-562C-45C7-89C5-248A9F4F6898}"/>
              </a:ext>
            </a:extLst>
          </p:cNvPr>
          <p:cNvSpPr>
            <a:spLocks xmlns:a="http://schemas.openxmlformats.org/drawingml/2006/main" noGrp="1"/>
          </p:cNvSpPr>
          <p:nvPr/>
        </p:nvSpPr>
        <p:spPr>
          <a:xfrm xmlns:a="http://schemas.openxmlformats.org/drawingml/2006/main" rot="0">
            <a:off x="3209925" y="2200275"/>
            <a:ext cx="79343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ロボット導入先と、各現場の作業データを増やす</a:t>
            </a:r>
          </a:p>
        </p:txBody>
      </p:sp>
      <p:sp>
        <p:nvSpPr>
          <p:cNvPr id="23" name="">
            <a:extLst xmlns:a="http://schemas.openxmlformats.org/drawingml/2006/main">
              <a:ext uri="{FF2B5EF4-FFF2-40B4-BE49-F238E27FC236}">
                <a16:creationId xmlns:a16="http://schemas.microsoft.com/office/drawing/2014/main" id="{ECF2DB5C-91F3-4231-B612-9BADAD830FDF}"/>
              </a:ext>
            </a:extLst>
          </p:cNvPr>
          <p:cNvSpPr>
            <a:spLocks xmlns:a="http://schemas.openxmlformats.org/drawingml/2006/main" noGrp="1"/>
          </p:cNvSpPr>
          <p:nvPr/>
        </p:nvSpPr>
        <p:spPr>
          <a:xfrm xmlns:a="http://schemas.openxmlformats.org/drawingml/2006/main">
            <a:off x="723900" y="27336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4" name="">
            <a:extLst xmlns:a="http://schemas.openxmlformats.org/drawingml/2006/main">
              <a:ext uri="{FF2B5EF4-FFF2-40B4-BE49-F238E27FC236}">
                <a16:creationId xmlns:a16="http://schemas.microsoft.com/office/drawing/2014/main" id="{31A7175A-8825-4521-AD97-7434FCBFAE17}"/>
              </a:ext>
            </a:extLst>
          </p:cNvPr>
          <p:cNvSpPr>
            <a:spLocks xmlns:a="http://schemas.openxmlformats.org/drawingml/2006/main" noGrp="1"/>
          </p:cNvSpPr>
          <p:nvPr/>
        </p:nvSpPr>
        <p:spPr>
          <a:xfrm xmlns:a="http://schemas.openxmlformats.org/drawingml/2006/main" rot="0">
            <a:off x="857250" y="28765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データ販売</a:t>
            </a:r>
          </a:p>
        </p:txBody>
      </p:sp>
      <p:sp>
        <p:nvSpPr>
          <p:cNvPr id="25" name="">
            <a:extLst xmlns:a="http://schemas.openxmlformats.org/drawingml/2006/main">
              <a:ext uri="{FF2B5EF4-FFF2-40B4-BE49-F238E27FC236}">
                <a16:creationId xmlns:a16="http://schemas.microsoft.com/office/drawing/2014/main" id="{D9CF74C9-2B87-4226-9A42-12942B00A68C}"/>
              </a:ext>
            </a:extLst>
          </p:cNvPr>
          <p:cNvSpPr>
            <a:spLocks xmlns:a="http://schemas.openxmlformats.org/drawingml/2006/main" noGrp="1"/>
          </p:cNvSpPr>
          <p:nvPr/>
        </p:nvSpPr>
        <p:spPr>
          <a:xfrm xmlns:a="http://schemas.openxmlformats.org/drawingml/2006/main">
            <a:off x="3057525"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6" name="">
            <a:extLst xmlns:a="http://schemas.openxmlformats.org/drawingml/2006/main">
              <a:ext uri="{FF2B5EF4-FFF2-40B4-BE49-F238E27FC236}">
                <a16:creationId xmlns:a16="http://schemas.microsoft.com/office/drawing/2014/main" id="{91587CAF-10F9-4F60-A7F1-0BABDE2F13F3}"/>
              </a:ext>
            </a:extLst>
          </p:cNvPr>
          <p:cNvSpPr>
            <a:spLocks xmlns:a="http://schemas.openxmlformats.org/drawingml/2006/main" noGrp="1"/>
          </p:cNvSpPr>
          <p:nvPr/>
        </p:nvSpPr>
        <p:spPr>
          <a:xfrm xmlns:a="http://schemas.openxmlformats.org/drawingml/2006/main">
            <a:off x="5117306"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7" name="">
            <a:extLst xmlns:a="http://schemas.openxmlformats.org/drawingml/2006/main">
              <a:ext uri="{FF2B5EF4-FFF2-40B4-BE49-F238E27FC236}">
                <a16:creationId xmlns:a16="http://schemas.microsoft.com/office/drawing/2014/main" id="{BD73DA11-0DEC-4C98-BD2D-A9D0CB9C7CA1}"/>
              </a:ext>
            </a:extLst>
          </p:cNvPr>
          <p:cNvSpPr>
            <a:spLocks xmlns:a="http://schemas.openxmlformats.org/drawingml/2006/main" noGrp="1"/>
          </p:cNvSpPr>
          <p:nvPr/>
        </p:nvSpPr>
        <p:spPr>
          <a:xfrm xmlns:a="http://schemas.openxmlformats.org/drawingml/2006/main">
            <a:off x="7177088"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8" name="">
            <a:extLst xmlns:a="http://schemas.openxmlformats.org/drawingml/2006/main">
              <a:ext uri="{FF2B5EF4-FFF2-40B4-BE49-F238E27FC236}">
                <a16:creationId xmlns:a16="http://schemas.microsoft.com/office/drawing/2014/main" id="{A1C8954C-0883-41B4-AB30-EF75D22AF1E7}"/>
              </a:ext>
            </a:extLst>
          </p:cNvPr>
          <p:cNvSpPr>
            <a:spLocks xmlns:a="http://schemas.openxmlformats.org/drawingml/2006/main" noGrp="1"/>
          </p:cNvSpPr>
          <p:nvPr/>
        </p:nvSpPr>
        <p:spPr>
          <a:xfrm xmlns:a="http://schemas.openxmlformats.org/drawingml/2006/main">
            <a:off x="9236869"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60789E45-4855-4A62-B989-DC24FB8B8E45}"/>
              </a:ext>
            </a:extLst>
          </p:cNvPr>
          <p:cNvSpPr>
            <a:spLocks xmlns:a="http://schemas.openxmlformats.org/drawingml/2006/main" noGrp="1"/>
          </p:cNvSpPr>
          <p:nvPr/>
        </p:nvSpPr>
        <p:spPr>
          <a:xfrm xmlns:a="http://schemas.openxmlformats.org/drawingml/2006/main">
            <a:off x="723900" y="331470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0" name="">
            <a:extLst xmlns:a="http://schemas.openxmlformats.org/drawingml/2006/main">
              <a:ext uri="{FF2B5EF4-FFF2-40B4-BE49-F238E27FC236}">
                <a16:creationId xmlns:a16="http://schemas.microsoft.com/office/drawing/2014/main" id="{3F987E85-7563-491A-B863-393AAAF69E52}"/>
              </a:ext>
            </a:extLst>
          </p:cNvPr>
          <p:cNvSpPr>
            <a:spLocks xmlns:a="http://schemas.openxmlformats.org/drawingml/2006/main" noGrp="1"/>
          </p:cNvSpPr>
          <p:nvPr/>
        </p:nvSpPr>
        <p:spPr>
          <a:xfrm xmlns:a="http://schemas.openxmlformats.org/drawingml/2006/main" rot="0">
            <a:off x="857250" y="345757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撮影デバイス・知財</a:t>
            </a:r>
          </a:p>
        </p:txBody>
      </p:sp>
      <p:sp>
        <p:nvSpPr>
          <p:cNvPr id="31" name="">
            <a:extLst xmlns:a="http://schemas.openxmlformats.org/drawingml/2006/main">
              <a:ext uri="{FF2B5EF4-FFF2-40B4-BE49-F238E27FC236}">
                <a16:creationId xmlns:a16="http://schemas.microsoft.com/office/drawing/2014/main" id="{4E7AE456-1706-4063-8CC1-664C3DB35920}"/>
              </a:ext>
            </a:extLst>
          </p:cNvPr>
          <p:cNvSpPr>
            <a:spLocks xmlns:a="http://schemas.openxmlformats.org/drawingml/2006/main" noGrp="1"/>
          </p:cNvSpPr>
          <p:nvPr/>
        </p:nvSpPr>
        <p:spPr>
          <a:xfrm xmlns:a="http://schemas.openxmlformats.org/drawingml/2006/main">
            <a:off x="3057525"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2" name="">
            <a:extLst xmlns:a="http://schemas.openxmlformats.org/drawingml/2006/main">
              <a:ext uri="{FF2B5EF4-FFF2-40B4-BE49-F238E27FC236}">
                <a16:creationId xmlns:a16="http://schemas.microsoft.com/office/drawing/2014/main" id="{971463AE-01B0-4081-A363-0CCBCD641F71}"/>
              </a:ext>
            </a:extLst>
          </p:cNvPr>
          <p:cNvSpPr>
            <a:spLocks xmlns:a="http://schemas.openxmlformats.org/drawingml/2006/main" noGrp="1"/>
          </p:cNvSpPr>
          <p:nvPr/>
        </p:nvSpPr>
        <p:spPr>
          <a:xfrm xmlns:a="http://schemas.openxmlformats.org/drawingml/2006/main">
            <a:off x="5117306"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3" name="">
            <a:extLst xmlns:a="http://schemas.openxmlformats.org/drawingml/2006/main">
              <a:ext uri="{FF2B5EF4-FFF2-40B4-BE49-F238E27FC236}">
                <a16:creationId xmlns:a16="http://schemas.microsoft.com/office/drawing/2014/main" id="{6B796880-5B6A-48E8-9B71-D9FC2D760FEB}"/>
              </a:ext>
            </a:extLst>
          </p:cNvPr>
          <p:cNvSpPr>
            <a:spLocks xmlns:a="http://schemas.openxmlformats.org/drawingml/2006/main" noGrp="1"/>
          </p:cNvSpPr>
          <p:nvPr/>
        </p:nvSpPr>
        <p:spPr>
          <a:xfrm xmlns:a="http://schemas.openxmlformats.org/drawingml/2006/main">
            <a:off x="7177088"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4" name="">
            <a:extLst xmlns:a="http://schemas.openxmlformats.org/drawingml/2006/main">
              <a:ext uri="{FF2B5EF4-FFF2-40B4-BE49-F238E27FC236}">
                <a16:creationId xmlns:a16="http://schemas.microsoft.com/office/drawing/2014/main" id="{F081F10A-075D-4B84-AD04-C4FCBAD91E73}"/>
              </a:ext>
            </a:extLst>
          </p:cNvPr>
          <p:cNvSpPr>
            <a:spLocks xmlns:a="http://schemas.openxmlformats.org/drawingml/2006/main" noGrp="1"/>
          </p:cNvSpPr>
          <p:nvPr/>
        </p:nvSpPr>
        <p:spPr>
          <a:xfrm xmlns:a="http://schemas.openxmlformats.org/drawingml/2006/main">
            <a:off x="9236869"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5" name="">
            <a:extLst xmlns:a="http://schemas.openxmlformats.org/drawingml/2006/main">
              <a:ext uri="{FF2B5EF4-FFF2-40B4-BE49-F238E27FC236}">
                <a16:creationId xmlns:a16="http://schemas.microsoft.com/office/drawing/2014/main" id="{3EC26307-0CA6-461A-AAD2-A987EB7345B1}"/>
              </a:ext>
            </a:extLst>
          </p:cNvPr>
          <p:cNvSpPr>
            <a:spLocks xmlns:a="http://schemas.openxmlformats.org/drawingml/2006/main" noGrp="1"/>
          </p:cNvSpPr>
          <p:nvPr/>
        </p:nvSpPr>
        <p:spPr>
          <a:xfrm xmlns:a="http://schemas.openxmlformats.org/drawingml/2006/main">
            <a:off x="723900" y="389572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6" name="">
            <a:extLst xmlns:a="http://schemas.openxmlformats.org/drawingml/2006/main">
              <a:ext uri="{FF2B5EF4-FFF2-40B4-BE49-F238E27FC236}">
                <a16:creationId xmlns:a16="http://schemas.microsoft.com/office/drawing/2014/main" id="{C6CA6455-6DA3-44E7-B9CC-8DEE78D0AAAD}"/>
              </a:ext>
            </a:extLst>
          </p:cNvPr>
          <p:cNvSpPr>
            <a:spLocks xmlns:a="http://schemas.openxmlformats.org/drawingml/2006/main" noGrp="1"/>
          </p:cNvSpPr>
          <p:nvPr/>
        </p:nvSpPr>
        <p:spPr>
          <a:xfrm xmlns:a="http://schemas.openxmlformats.org/drawingml/2006/main" rot="0">
            <a:off x="857250" y="403860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ロボット企業・大学</a:t>
            </a:r>
          </a:p>
        </p:txBody>
      </p:sp>
      <p:sp>
        <p:nvSpPr>
          <p:cNvPr id="37" name="">
            <a:extLst xmlns:a="http://schemas.openxmlformats.org/drawingml/2006/main">
              <a:ext uri="{FF2B5EF4-FFF2-40B4-BE49-F238E27FC236}">
                <a16:creationId xmlns:a16="http://schemas.microsoft.com/office/drawing/2014/main" id="{60962F3A-9A58-4774-B5BF-ED371F6BF221}"/>
              </a:ext>
            </a:extLst>
          </p:cNvPr>
          <p:cNvSpPr>
            <a:spLocks xmlns:a="http://schemas.openxmlformats.org/drawingml/2006/main" noGrp="1"/>
          </p:cNvSpPr>
          <p:nvPr/>
        </p:nvSpPr>
        <p:spPr>
          <a:xfrm xmlns:a="http://schemas.openxmlformats.org/drawingml/2006/main">
            <a:off x="3057525"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8" name="">
            <a:extLst xmlns:a="http://schemas.openxmlformats.org/drawingml/2006/main">
              <a:ext uri="{FF2B5EF4-FFF2-40B4-BE49-F238E27FC236}">
                <a16:creationId xmlns:a16="http://schemas.microsoft.com/office/drawing/2014/main" id="{13EF810D-4751-470E-BFB9-9F65BF8A3EC5}"/>
              </a:ext>
            </a:extLst>
          </p:cNvPr>
          <p:cNvSpPr>
            <a:spLocks xmlns:a="http://schemas.openxmlformats.org/drawingml/2006/main" noGrp="1"/>
          </p:cNvSpPr>
          <p:nvPr/>
        </p:nvSpPr>
        <p:spPr>
          <a:xfrm xmlns:a="http://schemas.openxmlformats.org/drawingml/2006/main">
            <a:off x="5117306"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9" name="">
            <a:extLst xmlns:a="http://schemas.openxmlformats.org/drawingml/2006/main">
              <a:ext uri="{FF2B5EF4-FFF2-40B4-BE49-F238E27FC236}">
                <a16:creationId xmlns:a16="http://schemas.microsoft.com/office/drawing/2014/main" id="{0F4529D5-6E24-4121-91A3-2064A00100EF}"/>
              </a:ext>
            </a:extLst>
          </p:cNvPr>
          <p:cNvSpPr>
            <a:spLocks xmlns:a="http://schemas.openxmlformats.org/drawingml/2006/main" noGrp="1"/>
          </p:cNvSpPr>
          <p:nvPr/>
        </p:nvSpPr>
        <p:spPr>
          <a:xfrm xmlns:a="http://schemas.openxmlformats.org/drawingml/2006/main">
            <a:off x="7177088"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0" name="">
            <a:extLst xmlns:a="http://schemas.openxmlformats.org/drawingml/2006/main">
              <a:ext uri="{FF2B5EF4-FFF2-40B4-BE49-F238E27FC236}">
                <a16:creationId xmlns:a16="http://schemas.microsoft.com/office/drawing/2014/main" id="{41F7F469-9899-4CED-9693-B532DFC4EF67}"/>
              </a:ext>
            </a:extLst>
          </p:cNvPr>
          <p:cNvSpPr>
            <a:spLocks xmlns:a="http://schemas.openxmlformats.org/drawingml/2006/main" noGrp="1"/>
          </p:cNvSpPr>
          <p:nvPr/>
        </p:nvSpPr>
        <p:spPr>
          <a:xfrm xmlns:a="http://schemas.openxmlformats.org/drawingml/2006/main">
            <a:off x="9236869"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1" name="">
            <a:extLst xmlns:a="http://schemas.openxmlformats.org/drawingml/2006/main">
              <a:ext uri="{FF2B5EF4-FFF2-40B4-BE49-F238E27FC236}">
                <a16:creationId xmlns:a16="http://schemas.microsoft.com/office/drawing/2014/main" id="{88778F85-7761-43AD-8C5C-283B5ADF6FA9}"/>
              </a:ext>
            </a:extLst>
          </p:cNvPr>
          <p:cNvSpPr>
            <a:spLocks xmlns:a="http://schemas.openxmlformats.org/drawingml/2006/main" noGrp="1"/>
          </p:cNvSpPr>
          <p:nvPr/>
        </p:nvSpPr>
        <p:spPr>
          <a:xfrm xmlns:a="http://schemas.openxmlformats.org/drawingml/2006/main">
            <a:off x="723900" y="44767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2" name="">
            <a:extLst xmlns:a="http://schemas.openxmlformats.org/drawingml/2006/main">
              <a:ext uri="{FF2B5EF4-FFF2-40B4-BE49-F238E27FC236}">
                <a16:creationId xmlns:a16="http://schemas.microsoft.com/office/drawing/2014/main" id="{05952C84-FFD4-489D-9910-9D89AB4D80E0}"/>
              </a:ext>
            </a:extLst>
          </p:cNvPr>
          <p:cNvSpPr>
            <a:spLocks xmlns:a="http://schemas.openxmlformats.org/drawingml/2006/main" noGrp="1"/>
          </p:cNvSpPr>
          <p:nvPr/>
        </p:nvSpPr>
        <p:spPr>
          <a:xfrm xmlns:a="http://schemas.openxmlformats.org/drawingml/2006/main" rot="0">
            <a:off x="857250" y="46196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契約・法務</a:t>
            </a:r>
          </a:p>
        </p:txBody>
      </p:sp>
      <p:sp>
        <p:nvSpPr>
          <p:cNvPr id="43" name="">
            <a:extLst xmlns:a="http://schemas.openxmlformats.org/drawingml/2006/main">
              <a:ext uri="{FF2B5EF4-FFF2-40B4-BE49-F238E27FC236}">
                <a16:creationId xmlns:a16="http://schemas.microsoft.com/office/drawing/2014/main" id="{27F8E4A6-DC62-4387-8A56-F9A3C5198BFB}"/>
              </a:ext>
            </a:extLst>
          </p:cNvPr>
          <p:cNvSpPr>
            <a:spLocks xmlns:a="http://schemas.openxmlformats.org/drawingml/2006/main" noGrp="1"/>
          </p:cNvSpPr>
          <p:nvPr/>
        </p:nvSpPr>
        <p:spPr>
          <a:xfrm xmlns:a="http://schemas.openxmlformats.org/drawingml/2006/main">
            <a:off x="3057525"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4" name="">
            <a:extLst xmlns:a="http://schemas.openxmlformats.org/drawingml/2006/main">
              <a:ext uri="{FF2B5EF4-FFF2-40B4-BE49-F238E27FC236}">
                <a16:creationId xmlns:a16="http://schemas.microsoft.com/office/drawing/2014/main" id="{973ED542-DCBA-4F03-A8C0-B7DB11F2F005}"/>
              </a:ext>
            </a:extLst>
          </p:cNvPr>
          <p:cNvSpPr>
            <a:spLocks xmlns:a="http://schemas.openxmlformats.org/drawingml/2006/main" noGrp="1"/>
          </p:cNvSpPr>
          <p:nvPr/>
        </p:nvSpPr>
        <p:spPr>
          <a:xfrm xmlns:a="http://schemas.openxmlformats.org/drawingml/2006/main">
            <a:off x="5117306"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5" name="">
            <a:extLst xmlns:a="http://schemas.openxmlformats.org/drawingml/2006/main">
              <a:ext uri="{FF2B5EF4-FFF2-40B4-BE49-F238E27FC236}">
                <a16:creationId xmlns:a16="http://schemas.microsoft.com/office/drawing/2014/main" id="{CD8A7166-1C3D-433F-B272-0B096A38D01E}"/>
              </a:ext>
            </a:extLst>
          </p:cNvPr>
          <p:cNvSpPr>
            <a:spLocks xmlns:a="http://schemas.openxmlformats.org/drawingml/2006/main" noGrp="1"/>
          </p:cNvSpPr>
          <p:nvPr/>
        </p:nvSpPr>
        <p:spPr>
          <a:xfrm xmlns:a="http://schemas.openxmlformats.org/drawingml/2006/main">
            <a:off x="7177088"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6" name="">
            <a:extLst xmlns:a="http://schemas.openxmlformats.org/drawingml/2006/main">
              <a:ext uri="{FF2B5EF4-FFF2-40B4-BE49-F238E27FC236}">
                <a16:creationId xmlns:a16="http://schemas.microsoft.com/office/drawing/2014/main" id="{27125F79-02EC-421A-A651-7633149C6213}"/>
              </a:ext>
            </a:extLst>
          </p:cNvPr>
          <p:cNvSpPr>
            <a:spLocks xmlns:a="http://schemas.openxmlformats.org/drawingml/2006/main" noGrp="1"/>
          </p:cNvSpPr>
          <p:nvPr/>
        </p:nvSpPr>
        <p:spPr>
          <a:xfrm xmlns:a="http://schemas.openxmlformats.org/drawingml/2006/main">
            <a:off x="9236869"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7" name="">
            <a:extLst xmlns:a="http://schemas.openxmlformats.org/drawingml/2006/main">
              <a:ext uri="{FF2B5EF4-FFF2-40B4-BE49-F238E27FC236}">
                <a16:creationId xmlns:a16="http://schemas.microsoft.com/office/drawing/2014/main" id="{FC3F9563-B204-45EF-869E-3AA6E314222F}"/>
              </a:ext>
            </a:extLst>
          </p:cNvPr>
          <p:cNvSpPr>
            <a:spLocks xmlns:a="http://schemas.openxmlformats.org/drawingml/2006/main" noGrp="1"/>
          </p:cNvSpPr>
          <p:nvPr/>
        </p:nvSpPr>
        <p:spPr>
          <a:xfrm xmlns:a="http://schemas.openxmlformats.org/drawingml/2006/main">
            <a:off x="723900" y="50577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8" name="">
            <a:extLst xmlns:a="http://schemas.openxmlformats.org/drawingml/2006/main">
              <a:ext uri="{FF2B5EF4-FFF2-40B4-BE49-F238E27FC236}">
                <a16:creationId xmlns:a16="http://schemas.microsoft.com/office/drawing/2014/main" id="{48DB39EB-F4DF-4DE1-A9A0-267C8AB7B4F3}"/>
              </a:ext>
            </a:extLst>
          </p:cNvPr>
          <p:cNvSpPr>
            <a:spLocks xmlns:a="http://schemas.openxmlformats.org/drawingml/2006/main" noGrp="1"/>
          </p:cNvSpPr>
          <p:nvPr/>
        </p:nvSpPr>
        <p:spPr>
          <a:xfrm xmlns:a="http://schemas.openxmlformats.org/drawingml/2006/main" rot="0">
            <a:off x="857250" y="52006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ロボットの導入・開発</a:t>
            </a:r>
          </a:p>
        </p:txBody>
      </p:sp>
      <p:sp>
        <p:nvSpPr>
          <p:cNvPr id="49" name="">
            <a:extLst xmlns:a="http://schemas.openxmlformats.org/drawingml/2006/main">
              <a:ext uri="{FF2B5EF4-FFF2-40B4-BE49-F238E27FC236}">
                <a16:creationId xmlns:a16="http://schemas.microsoft.com/office/drawing/2014/main" id="{E4A00F95-B4C6-473D-BAF0-82434F278CDE}"/>
              </a:ext>
            </a:extLst>
          </p:cNvPr>
          <p:cNvSpPr>
            <a:spLocks xmlns:a="http://schemas.openxmlformats.org/drawingml/2006/main" noGrp="1"/>
          </p:cNvSpPr>
          <p:nvPr/>
        </p:nvSpPr>
        <p:spPr>
          <a:xfrm xmlns:a="http://schemas.openxmlformats.org/drawingml/2006/main">
            <a:off x="3057525"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0" name="">
            <a:extLst xmlns:a="http://schemas.openxmlformats.org/drawingml/2006/main">
              <a:ext uri="{FF2B5EF4-FFF2-40B4-BE49-F238E27FC236}">
                <a16:creationId xmlns:a16="http://schemas.microsoft.com/office/drawing/2014/main" id="{C4991064-D858-46F0-8643-43467E5F0A46}"/>
              </a:ext>
            </a:extLst>
          </p:cNvPr>
          <p:cNvSpPr>
            <a:spLocks xmlns:a="http://schemas.openxmlformats.org/drawingml/2006/main" noGrp="1"/>
          </p:cNvSpPr>
          <p:nvPr/>
        </p:nvSpPr>
        <p:spPr>
          <a:xfrm xmlns:a="http://schemas.openxmlformats.org/drawingml/2006/main">
            <a:off x="5117306"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1" name="">
            <a:extLst xmlns:a="http://schemas.openxmlformats.org/drawingml/2006/main">
              <a:ext uri="{FF2B5EF4-FFF2-40B4-BE49-F238E27FC236}">
                <a16:creationId xmlns:a16="http://schemas.microsoft.com/office/drawing/2014/main" id="{E99B6F4F-DBD0-47F9-A0B4-AD284E5E00CB}"/>
              </a:ext>
            </a:extLst>
          </p:cNvPr>
          <p:cNvSpPr>
            <a:spLocks xmlns:a="http://schemas.openxmlformats.org/drawingml/2006/main" noGrp="1"/>
          </p:cNvSpPr>
          <p:nvPr/>
        </p:nvSpPr>
        <p:spPr>
          <a:xfrm xmlns:a="http://schemas.openxmlformats.org/drawingml/2006/main">
            <a:off x="7177088"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2" name="">
            <a:extLst xmlns:a="http://schemas.openxmlformats.org/drawingml/2006/main">
              <a:ext uri="{FF2B5EF4-FFF2-40B4-BE49-F238E27FC236}">
                <a16:creationId xmlns:a16="http://schemas.microsoft.com/office/drawing/2014/main" id="{4223C044-5A20-40B3-8E57-2FE852BD4A3B}"/>
              </a:ext>
            </a:extLst>
          </p:cNvPr>
          <p:cNvSpPr>
            <a:spLocks xmlns:a="http://schemas.openxmlformats.org/drawingml/2006/main" noGrp="1"/>
          </p:cNvSpPr>
          <p:nvPr/>
        </p:nvSpPr>
        <p:spPr>
          <a:xfrm xmlns:a="http://schemas.openxmlformats.org/drawingml/2006/main">
            <a:off x="9236869"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3" name="">
            <a:extLst xmlns:a="http://schemas.openxmlformats.org/drawingml/2006/main">
              <a:ext uri="{FF2B5EF4-FFF2-40B4-BE49-F238E27FC236}">
                <a16:creationId xmlns:a16="http://schemas.microsoft.com/office/drawing/2014/main" id="{6AB26ABD-16B7-4714-8396-236082193505}"/>
              </a:ext>
            </a:extLst>
          </p:cNvPr>
          <p:cNvSpPr>
            <a:spLocks xmlns:a="http://schemas.openxmlformats.org/drawingml/2006/main" noGrp="1"/>
          </p:cNvSpPr>
          <p:nvPr/>
        </p:nvSpPr>
        <p:spPr>
          <a:xfrm xmlns:a="http://schemas.openxmlformats.org/drawingml/2006/main">
            <a:off x="3133725" y="5143500"/>
            <a:ext cx="808672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4" name="">
            <a:extLst xmlns:a="http://schemas.openxmlformats.org/drawingml/2006/main">
              <a:ext uri="{FF2B5EF4-FFF2-40B4-BE49-F238E27FC236}">
                <a16:creationId xmlns:a16="http://schemas.microsoft.com/office/drawing/2014/main" id="{281FD9B3-8A10-4778-B40D-6F2AD335EE79}"/>
              </a:ext>
            </a:extLst>
          </p:cNvPr>
          <p:cNvSpPr>
            <a:spLocks xmlns:a="http://schemas.openxmlformats.org/drawingml/2006/main" noGrp="1"/>
          </p:cNvSpPr>
          <p:nvPr/>
        </p:nvSpPr>
        <p:spPr>
          <a:xfrm xmlns:a="http://schemas.openxmlformats.org/drawingml/2006/main" rot="0">
            <a:off x="3209925" y="5105400"/>
            <a:ext cx="79343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既存ロボットの導入を拡大し、現場データを使った</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動作モデルと実機の改良に自社で着手</a:t>
            </a:r>
          </a:p>
        </p:txBody>
      </p:sp>
      <p:sp>
        <p:nvSpPr>
          <p:cNvPr id="55" name="">
            <a:extLst xmlns:a="http://schemas.openxmlformats.org/drawingml/2006/main">
              <a:ext uri="{FF2B5EF4-FFF2-40B4-BE49-F238E27FC236}">
                <a16:creationId xmlns:a16="http://schemas.microsoft.com/office/drawing/2014/main" id="{0DC511A2-E741-48AB-9458-696872CEB51A}"/>
              </a:ext>
            </a:extLst>
          </p:cNvPr>
          <p:cNvSpPr>
            <a:spLocks xmlns:a="http://schemas.openxmlformats.org/drawingml/2006/main" noGrp="1"/>
          </p:cNvSpPr>
          <p:nvPr/>
        </p:nvSpPr>
        <p:spPr>
          <a:xfrm xmlns:a="http://schemas.openxmlformats.org/drawingml/2006/main" rot="0">
            <a:off x="723900" y="590550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2029年から、ロボットの動作モデルと実機の開発を自社の事業へ加える</a:t>
            </a:r>
          </a:p>
        </p:txBody>
      </p:sp>
    </p:spTree>
    <p:extLst>
      <p:ext uri="{BB962C8B-B14F-4D97-AF65-F5344CB8AC3E}">
        <p14:creationId xmlns:p14="http://schemas.microsoft.com/office/powerpoint/2010/main" val="15409489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2026-09-15T04:49:09.5410000Z</dcterms:created>
  <dcterms:modified xsi:type="dcterms:W3CDTF">2026-09-15T04:49:09.5420000Z</dcterms:modified>
</coreProperties>
</file>